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sldIdLst>
    <p:sldId id="293" r:id="rId2"/>
    <p:sldId id="319" r:id="rId3"/>
    <p:sldId id="317" r:id="rId4"/>
    <p:sldId id="318" r:id="rId5"/>
    <p:sldId id="295" r:id="rId6"/>
    <p:sldId id="314" r:id="rId7"/>
    <p:sldId id="260" r:id="rId8"/>
    <p:sldId id="277" r:id="rId9"/>
    <p:sldId id="313" r:id="rId10"/>
    <p:sldId id="296" r:id="rId11"/>
    <p:sldId id="261" r:id="rId12"/>
    <p:sldId id="263" r:id="rId13"/>
    <p:sldId id="320" r:id="rId14"/>
    <p:sldId id="285" r:id="rId15"/>
    <p:sldId id="321" r:id="rId16"/>
    <p:sldId id="322" r:id="rId17"/>
    <p:sldId id="323" r:id="rId18"/>
    <p:sldId id="324" r:id="rId19"/>
    <p:sldId id="297" r:id="rId20"/>
    <p:sldId id="298" r:id="rId21"/>
    <p:sldId id="300" r:id="rId22"/>
    <p:sldId id="301" r:id="rId23"/>
    <p:sldId id="302" r:id="rId24"/>
    <p:sldId id="304" r:id="rId25"/>
    <p:sldId id="310" r:id="rId26"/>
    <p:sldId id="311" r:id="rId27"/>
    <p:sldId id="31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4660"/>
  </p:normalViewPr>
  <p:slideViewPr>
    <p:cSldViewPr>
      <p:cViewPr varScale="1">
        <p:scale>
          <a:sx n="95" d="100"/>
          <a:sy n="95" d="100"/>
        </p:scale>
        <p:origin x="103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92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9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8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58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7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70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77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21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18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05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93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11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18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5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10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70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38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95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6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5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95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7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36C6-EC74-4B26-B397-AE73996F4E32}" type="datetime1">
              <a:rPr lang="en-US" smtClean="0"/>
              <a:t>2/19/2024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9556-06C0-4F46-8E7A-A2D677A23318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D235C-5B6F-4F1D-AA99-DCB313C22914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79D4-1E5C-48DE-89E5-DE90116E8416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DFD8-BDE7-4951-99E3-A5DDAEC3FBD6}" type="datetime1">
              <a:rPr lang="en-US" smtClean="0"/>
              <a:t>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A944-5043-4FC0-A0A4-0357402EAFB9}" type="datetime1">
              <a:rPr lang="en-US" smtClean="0"/>
              <a:t>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D538-EAEC-4B96-850D-09EE868DBA33}" type="datetime1">
              <a:rPr lang="en-US" smtClean="0"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E34-41BC-4045-A9EA-B965599E5C40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2412-1756-475B-BAF8-7360C26B42F2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E40B-4884-4DA9-BDF7-D27DFFB215CE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1A27-D19D-455D-B4C7-F3AAA6B1C73F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0B2A8-6D09-450C-BB56-7861EE5202A3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5419E5-483C-49DE-85A1-E18ED70805F7}" type="datetime1">
              <a:rPr lang="en-US" smtClean="0"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4.w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8.wmf"/><Relationship Id="rId12" Type="http://schemas.openxmlformats.org/officeDocument/2006/relationships/image" Target="../media/image3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7.png"/><Relationship Id="rId10" Type="http://schemas.openxmlformats.org/officeDocument/2006/relationships/image" Target="../media/image29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21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1.wmf"/><Relationship Id="rId9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35.png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35.png"/><Relationship Id="rId7" Type="http://schemas.openxmlformats.org/officeDocument/2006/relationships/image" Target="../media/image4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5.png"/><Relationship Id="rId4" Type="http://schemas.openxmlformats.org/officeDocument/2006/relationships/image" Target="../media/image41.wmf"/><Relationship Id="rId9" Type="http://schemas.openxmlformats.org/officeDocument/2006/relationships/image" Target="../media/image4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47.png"/><Relationship Id="rId7" Type="http://schemas.openxmlformats.org/officeDocument/2006/relationships/image" Target="../media/image4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oleObject" Target="../embeddings/oleObject40.bin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6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63.png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6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oleObject" Target="../embeddings/oleObject50.bin"/><Relationship Id="rId3" Type="http://schemas.openxmlformats.org/officeDocument/2006/relationships/image" Target="../media/image64.png"/><Relationship Id="rId7" Type="http://schemas.openxmlformats.org/officeDocument/2006/relationships/image" Target="../media/image66.wmf"/><Relationship Id="rId12" Type="http://schemas.openxmlformats.org/officeDocument/2006/relationships/image" Target="../media/image70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oleObject" Target="../embeddings/oleObject49.bin"/><Relationship Id="rId5" Type="http://schemas.openxmlformats.org/officeDocument/2006/relationships/image" Target="../media/image65.wmf"/><Relationship Id="rId10" Type="http://schemas.openxmlformats.org/officeDocument/2006/relationships/image" Target="../media/image69.png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8.png"/><Relationship Id="rId14" Type="http://schemas.openxmlformats.org/officeDocument/2006/relationships/image" Target="../media/image7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10"/>
          <p:cNvGrpSpPr>
            <a:grpSpLocks/>
          </p:cNvGrpSpPr>
          <p:nvPr/>
        </p:nvGrpSpPr>
        <p:grpSpPr bwMode="auto">
          <a:xfrm>
            <a:off x="0" y="0"/>
            <a:ext cx="9144000" cy="6553200"/>
            <a:chOff x="0" y="0"/>
            <a:chExt cx="9144000" cy="6553200"/>
          </a:xfrm>
        </p:grpSpPr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3505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524000" y="609600"/>
              <a:ext cx="7620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2400">
                  <a:solidFill>
                    <a:srgbClr val="401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HỌC VIỆN CÔNG NGHỆ BƯU CHÍNH VIỄN THÔNG</a:t>
              </a:r>
            </a:p>
          </p:txBody>
        </p:sp>
        <p:pic>
          <p:nvPicPr>
            <p:cNvPr id="39" name="Picture 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219200"/>
              <a:ext cx="9144000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21"/>
            <p:cNvSpPr txBox="1">
              <a:spLocks noChangeArrowheads="1"/>
            </p:cNvSpPr>
            <p:nvPr/>
          </p:nvSpPr>
          <p:spPr bwMode="auto">
            <a:xfrm>
              <a:off x="457200" y="4800600"/>
              <a:ext cx="8458200" cy="144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sz="2200">
                  <a:latin typeface="Arial" panose="020B0604020202020204" pitchFamily="34" charset="0"/>
                </a:rPr>
                <a:t>Giảng viên:         TS. Nguyễn Lương Nhật</a:t>
              </a:r>
            </a:p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sz="2200">
                  <a:latin typeface="Arial" panose="020B0604020202020204" pitchFamily="34" charset="0"/>
                </a:rPr>
                <a:t>Bộ môn:              Điện tử máy tính</a:t>
              </a:r>
            </a:p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sz="2200">
                  <a:latin typeface="Arial" panose="020B0604020202020204" pitchFamily="34" charset="0"/>
                </a:rPr>
                <a:t>Khoa:                  Kỹ Thuật Điện Tử 2</a:t>
              </a:r>
            </a:p>
          </p:txBody>
        </p:sp>
        <p:sp>
          <p:nvSpPr>
            <p:cNvPr id="41" name="Text Box 23"/>
            <p:cNvSpPr txBox="1">
              <a:spLocks noChangeArrowheads="1"/>
            </p:cNvSpPr>
            <p:nvPr/>
          </p:nvSpPr>
          <p:spPr bwMode="auto">
            <a:xfrm>
              <a:off x="4038600" y="2286000"/>
              <a:ext cx="4572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sz="2400">
                  <a:solidFill>
                    <a:srgbClr val="4019E7"/>
                  </a:solidFill>
                  <a:latin typeface="Arial" panose="020B0604020202020204" pitchFamily="34" charset="0"/>
                </a:rPr>
                <a:t>SLIDE SHOW</a:t>
              </a:r>
              <a:endParaRPr lang="en-US" sz="2800">
                <a:solidFill>
                  <a:srgbClr val="4019E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Text Box 26"/>
            <p:cNvSpPr txBox="1">
              <a:spLocks noChangeArrowheads="1"/>
            </p:cNvSpPr>
            <p:nvPr/>
          </p:nvSpPr>
          <p:spPr bwMode="auto">
            <a:xfrm>
              <a:off x="3810000" y="2833688"/>
              <a:ext cx="5029200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sz="4400" b="1">
                  <a:solidFill>
                    <a:srgbClr val="401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</a:p>
          </p:txBody>
        </p:sp>
        <p:sp>
          <p:nvSpPr>
            <p:cNvPr id="43" name="Rectangle 27"/>
            <p:cNvSpPr>
              <a:spLocks noChangeArrowheads="1"/>
            </p:cNvSpPr>
            <p:nvPr/>
          </p:nvSpPr>
          <p:spPr bwMode="auto">
            <a:xfrm>
              <a:off x="8382000" y="6248400"/>
              <a:ext cx="304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/>
          <a:p>
            <a:fld id="{DEA9B1F9-F562-4738-914B-3ECD1CF941CB}" type="slidenum">
              <a:rPr lang="en-US" smtClean="0">
                <a:solidFill>
                  <a:schemeClr val="bg1"/>
                </a:solidFill>
              </a:rPr>
              <a:pPr/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65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501650"/>
          </a:xfrm>
        </p:spPr>
        <p:txBody>
          <a:bodyPr lIns="0" tIns="0" rIns="0" bIns="0">
            <a:normAutofit/>
          </a:bodyPr>
          <a:lstStyle/>
          <a:p>
            <a:pPr marL="2114550" indent="-2114550" algn="ctr" eaLnBrk="1" hangingPunct="1"/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 SỐ ĐIỂM THÀNH PHẦN MÔN HỌC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848600" cy="3886200"/>
          </a:xfrm>
          <a:noFill/>
        </p:spPr>
        <p:txBody>
          <a:bodyPr lIns="0" tIns="0" rIns="0" bIns="0">
            <a:noAutofit/>
          </a:bodyPr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1.  Chuyên cần:                      10%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2.  Bài tập:     		      20%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3.  Kiểm tra giữa kỳ: 	      20%</a:t>
            </a:r>
          </a:p>
          <a:p>
            <a:pPr marL="457200" indent="-457200" algn="just">
              <a:lnSpc>
                <a:spcPct val="150000"/>
              </a:lnSpc>
              <a:buNone/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4.  Thi cuối kỳ: 		      50%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014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501650"/>
          </a:xfrm>
        </p:spPr>
        <p:txBody>
          <a:bodyPr lIns="0" tIns="0" rIns="0" bIns="0">
            <a:normAutofit/>
          </a:bodyPr>
          <a:lstStyle/>
          <a:p>
            <a:pPr marL="2114550" indent="-2114550" algn="ctr" eaLnBrk="1" hangingPunct="1"/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 LIỆU THAM KHẢO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09700"/>
            <a:ext cx="8229600" cy="3162299"/>
          </a:xfrm>
          <a:noFill/>
        </p:spPr>
        <p:txBody>
          <a:bodyPr lIns="0" tIns="0" rIns="0" bIns="0">
            <a:noAutofit/>
          </a:bodyPr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1.  Slide “Mạch điện”, Học viện CNBCVT, cơ sở tại Tp. HCM</a:t>
            </a:r>
          </a:p>
          <a:p>
            <a:pPr marL="457200" indent="-457200" algn="just">
              <a:lnSpc>
                <a:spcPct val="150000"/>
              </a:lnSpc>
              <a:buNone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2. “Mạch điện” (2 tập), ĐH BK TP. HCM, Phạm Thị Cư, Trương Trọng Tuấn Mỹ.</a:t>
            </a:r>
          </a:p>
          <a:p>
            <a:pPr marL="457200" indent="-457200" algn="just">
              <a:lnSpc>
                <a:spcPct val="150000"/>
              </a:lnSpc>
              <a:buNone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3. “Bài tập Mạch điện” (2 tập), ĐH BK TP. HCM, Phạm Thị Cư, Trương Trọng Tuấn Mỹ.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887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153400" cy="501650"/>
          </a:xfrm>
        </p:spPr>
        <p:txBody>
          <a:bodyPr lIns="0" tIns="0" rIns="0" bIns="0">
            <a:normAutofit/>
          </a:bodyPr>
          <a:lstStyle/>
          <a:p>
            <a:pPr marL="2114550" indent="-2114550" algn="ctr" eaLnBrk="1" hangingPunct="1"/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 CƯƠNG HỌC PHẦN - MẠCH ĐIỆN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09700"/>
            <a:ext cx="8077200" cy="4076697"/>
          </a:xfrm>
          <a:noFill/>
        </p:spPr>
        <p:txBody>
          <a:bodyPr lIns="0" tIns="0" rIns="0" bIns="0">
            <a:noAutofit/>
          </a:bodyPr>
          <a:lstStyle/>
          <a:p>
            <a:pPr marL="533400" indent="-533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1: Những khái niệm cơ bản về mạch điện </a:t>
            </a:r>
          </a:p>
          <a:p>
            <a:pPr marL="1828800" indent="-1828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2: Mạch xác lập điều hòa</a:t>
            </a:r>
          </a:p>
          <a:p>
            <a:pPr marL="1828800" indent="-1828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3: Các phương pháp phân tích mạch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4: Quá trình quá độ trong mạch điện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5: Mạch ba pha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Chương 6: Mạng bốn cực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117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501650"/>
          </a:xfrm>
        </p:spPr>
        <p:txBody>
          <a:bodyPr lIns="0" tIns="0" rIns="0" bIns="0">
            <a:normAutofit/>
          </a:bodyPr>
          <a:lstStyle/>
          <a:p>
            <a:pPr marL="2114550" indent="-2114550" algn="l" eaLnBrk="1" hangingPunct="1"/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1: NHỮNG KHÁI NIỆM CƠ BẢN VỀ MĐ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09700"/>
            <a:ext cx="8077200" cy="3314699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1.1  Các phần tử của mạch điện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1.2  Phân loại &amp; trạng thái làm việc của mạch điện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1.3  Công suất và năng lượng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1.4  Các định Kirchhoff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1.5  Biến đổi tương đương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229600" cy="569387"/>
          </a:xfrm>
        </p:spPr>
        <p:txBody>
          <a:bodyPr anchor="t" anchorCtr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itchFamily="34" charset="0"/>
              </a:rPr>
              <a:t>1.1 CÁC PHẦN TỬ CỦA MẠCH ĐIỆN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066800"/>
            <a:ext cx="4530811" cy="1905000"/>
          </a:xfrm>
          <a:prstGeom prst="rect">
            <a:avLst/>
          </a:prstGeom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74904" y="3276600"/>
            <a:ext cx="8242300" cy="288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lnSpc>
                <a:spcPct val="130000"/>
              </a:lnSpc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Mạch điện được cấu trúc từ các phần tử riêng rẽ, mô hình các phần tử trong mạch điện được xem là lý tưởng.</a:t>
            </a:r>
          </a:p>
          <a:p>
            <a:pPr marL="342900" lvl="0" indent="-342900" fontAlgn="base">
              <a:lnSpc>
                <a:spcPct val="130000"/>
              </a:lnSpc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Mạch điện bao gồm các phần tử: Thụ động &amp; Tác động</a:t>
            </a:r>
          </a:p>
          <a:p>
            <a:pPr marL="342900" lvl="0" indent="-342900" algn="just" fontAlgn="base">
              <a:lnSpc>
                <a:spcPct val="130000"/>
              </a:lnSpc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kumimoji="0" lang="en-US" sz="2400" b="1" i="0" u="none" strike="noStrike" cap="none" normalizeH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 phần tử thụ động:</a:t>
            </a:r>
            <a:r>
              <a:rPr kumimoji="0" lang="en-US" sz="240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 Tiêu tán và tích phóng năng lượng điện từ trường.</a:t>
            </a:r>
          </a:p>
          <a:p>
            <a:pPr marL="342900" lvl="0" indent="-342900" fontAlgn="base">
              <a:lnSpc>
                <a:spcPct val="130000"/>
              </a:lnSpc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 b="1" baseline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phần tử tác động:</a:t>
            </a:r>
            <a:r>
              <a:rPr lang="en-US" sz="2400">
                <a:latin typeface="Arial" panose="020B0604020202020204" pitchFamily="34" charset="0"/>
                <a:cs typeface="Arial" pitchFamily="34" charset="0"/>
              </a:rPr>
              <a:t> Cung cấp năng lượng cho mạch.</a:t>
            </a:r>
            <a:endParaRPr kumimoji="0" 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181600" y="1600200"/>
            <a:ext cx="35814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28600" lvl="0" indent="-228600" fontAlgn="base">
              <a:lnSpc>
                <a:spcPct val="150000"/>
              </a:lnSpc>
              <a:spcAft>
                <a:spcPct val="0"/>
              </a:spcAft>
            </a:pP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R,</a:t>
            </a:r>
            <a:r>
              <a:rPr kumimoji="0" lang="en-US" sz="2400" b="1" i="1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L, C:</a:t>
            </a:r>
            <a:r>
              <a:rPr kumimoji="0" lang="en-US" sz="2400" i="1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Phần</a:t>
            </a:r>
            <a:r>
              <a:rPr kumimoji="0" lang="en-US" sz="2400" i="1" u="none" strike="noStrike" cap="none" normalizeH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 tử thụ động</a:t>
            </a:r>
          </a:p>
          <a:p>
            <a:pPr marL="228600" lvl="0" indent="-228600" fontAlgn="base">
              <a:lnSpc>
                <a:spcPct val="150000"/>
              </a:lnSpc>
              <a:spcAft>
                <a:spcPct val="0"/>
              </a:spcAft>
            </a:pP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e(t), j(t):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 </a:t>
            </a:r>
            <a:r>
              <a:rPr lang="en-US" sz="24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Phần tử tác động</a:t>
            </a:r>
            <a:endParaRPr kumimoji="0" lang="en-US" sz="2400" i="1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0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81000" y="996178"/>
            <a:ext cx="3429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>
                <a:solidFill>
                  <a:srgbClr val="C00000"/>
                </a:solidFill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a.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Phần tử điện trở:</a:t>
            </a:r>
            <a:endParaRPr kumimoji="0" lang="en-US" sz="2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758845"/>
              </p:ext>
            </p:extLst>
          </p:nvPr>
        </p:nvGraphicFramePr>
        <p:xfrm>
          <a:off x="685801" y="4726634"/>
          <a:ext cx="3352799" cy="78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720" imgH="393480" progId="Equation.DSMT4">
                  <p:embed/>
                </p:oleObj>
              </mc:Choice>
              <mc:Fallback>
                <p:oleObj name="Equation" r:id="rId3" imgW="1485720" imgH="39348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1" y="4726634"/>
                        <a:ext cx="3352799" cy="7867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20700" y="1494870"/>
            <a:ext cx="8242300" cy="910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28600" lvl="0" indent="-228600" fontAlgn="base">
              <a:lnSpc>
                <a:spcPct val="130000"/>
              </a:lnSpc>
              <a:spcAft>
                <a:spcPct val="0"/>
              </a:spcAft>
            </a:pP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Điện trở là phần tử 2 cực đặc trưng cho hiện tượng tiêu tán năng lượng điện từ.</a:t>
            </a:r>
            <a:endParaRPr kumimoji="0" 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1390" name="Group 101389"/>
          <p:cNvGrpSpPr/>
          <p:nvPr/>
        </p:nvGrpSpPr>
        <p:grpSpPr>
          <a:xfrm>
            <a:off x="685801" y="5456239"/>
            <a:ext cx="7867649" cy="742950"/>
            <a:chOff x="596388" y="3282950"/>
            <a:chExt cx="6490212" cy="742950"/>
          </a:xfrm>
        </p:grpSpPr>
        <p:sp>
          <p:nvSpPr>
            <p:cNvPr id="26" name="Text Box 3"/>
            <p:cNvSpPr txBox="1">
              <a:spLocks noChangeArrowheads="1"/>
            </p:cNvSpPr>
            <p:nvPr/>
          </p:nvSpPr>
          <p:spPr bwMode="auto">
            <a:xfrm>
              <a:off x="1566555" y="3476458"/>
              <a:ext cx="552004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: giá</a:t>
              </a:r>
              <a:r>
                <a:rPr kumimoji="0" lang="en-US" sz="240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 trị điện dẫn, đ</a:t>
              </a:r>
              <a:r>
                <a:rPr lang="en-US" sz="2400">
                  <a:latin typeface="Arial" pitchFamily="34" charset="0"/>
                  <a:cs typeface="Arial" pitchFamily="34" charset="0"/>
                </a:rPr>
                <a:t>ơn vị siemen (S) hay mho (Ʊ) </a:t>
              </a:r>
              <a:endParaRPr kumimoji="0" 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10138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3046126"/>
                </p:ext>
              </p:extLst>
            </p:nvPr>
          </p:nvGraphicFramePr>
          <p:xfrm>
            <a:off x="596388" y="3282950"/>
            <a:ext cx="880029" cy="742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44240" imgH="393480" progId="Equation.DSMT4">
                    <p:embed/>
                  </p:oleObj>
                </mc:Choice>
                <mc:Fallback>
                  <p:oleObj name="Equation" r:id="rId5" imgW="444240" imgH="39348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388" y="3282950"/>
                          <a:ext cx="880029" cy="7429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Title 1"/>
          <p:cNvSpPr txBox="1">
            <a:spLocks/>
          </p:cNvSpPr>
          <p:nvPr/>
        </p:nvSpPr>
        <p:spPr>
          <a:xfrm>
            <a:off x="304800" y="457200"/>
            <a:ext cx="8229600" cy="369332"/>
          </a:xfrm>
          <a:prstGeom prst="rect">
            <a:avLst/>
          </a:prstGeom>
        </p:spPr>
        <p:txBody>
          <a:bodyPr tIns="0" bIns="0" anchor="ctr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itchFamily="34" charset="0"/>
              </a:rPr>
              <a:t>1.1.1 CÁC PHẦN TỬ THỤ ĐỘNG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33400" y="2557248"/>
            <a:ext cx="8229600" cy="947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30000"/>
              </a:lnSpc>
              <a:spcAft>
                <a:spcPct val="0"/>
              </a:spcAft>
            </a:pP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Quan hệ điện áp và dòng điện trên điện trở tuyến tính:</a:t>
            </a:r>
          </a:p>
          <a:p>
            <a:pPr lvl="0" fontAlgn="base">
              <a:lnSpc>
                <a:spcPct val="130000"/>
              </a:lnSpc>
              <a:spcAft>
                <a:spcPct val="0"/>
              </a:spcAft>
            </a:pPr>
            <a:r>
              <a:rPr lang="en-US" sz="2400" b="1" i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</a:t>
            </a:r>
            <a:r>
              <a:rPr lang="en-US" sz="26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u(t) = R.i(t)</a:t>
            </a:r>
            <a:endParaRPr kumimoji="0" 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533400" y="3657600"/>
            <a:ext cx="5505450" cy="910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30000"/>
              </a:lnSpc>
              <a:spcAft>
                <a:spcPct val="0"/>
              </a:spcAft>
            </a:pP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với R - Điện trở, đơn vị là Ohm (</a:t>
            </a:r>
            <a:r>
              <a:rPr lang="en-US" sz="240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)</a:t>
            </a:r>
          </a:p>
          <a:p>
            <a:pPr lvl="0" fontAlgn="base">
              <a:lnSpc>
                <a:spcPct val="130000"/>
              </a:lnSpc>
              <a:spcAft>
                <a:spcPct val="0"/>
              </a:spcAft>
            </a:pPr>
            <a:r>
              <a:rPr kumimoji="0" 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 Trên</a:t>
            </a:r>
            <a:r>
              <a:rPr kumimoji="0" lang="en-US" sz="240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R dòng điện và điện áp cùng pha</a:t>
            </a:r>
            <a:endParaRPr kumimoji="0" 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3176519"/>
            <a:ext cx="1748006" cy="176481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2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" name="Rectangle 10"/>
          <p:cNvSpPr>
            <a:spLocks noChangeArrowheads="1"/>
          </p:cNvSpPr>
          <p:nvPr/>
        </p:nvSpPr>
        <p:spPr bwMode="auto">
          <a:xfrm>
            <a:off x="381000" y="365611"/>
            <a:ext cx="38862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Phần tử điện dung:</a:t>
            </a:r>
            <a:endParaRPr kumimoji="0" lang="en-US" sz="2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543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81000" y="4717262"/>
            <a:ext cx="8119809" cy="168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i="1">
                <a:latin typeface="Arial" pitchFamily="34" charset="0"/>
                <a:cs typeface="Arial" pitchFamily="34" charset="0"/>
              </a:rPr>
              <a:t>C</a:t>
            </a:r>
            <a:r>
              <a:rPr lang="en-US" sz="2400">
                <a:latin typeface="Arial" pitchFamily="34" charset="0"/>
                <a:cs typeface="Arial" pitchFamily="34" charset="0"/>
              </a:rPr>
              <a:t> : Thông số điện dung, đơn vị Farad (F)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Mạch ở trạng thái xác lập 1 chiều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u(t)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=const 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i(t)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tụ điện xem như hở mạch.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74189"/>
              </p:ext>
            </p:extLst>
          </p:nvPr>
        </p:nvGraphicFramePr>
        <p:xfrm>
          <a:off x="838200" y="3733800"/>
          <a:ext cx="1987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31640" progId="Equation.DSMT4">
                  <p:embed/>
                </p:oleObj>
              </mc:Choice>
              <mc:Fallback>
                <p:oleObj name="Equation" r:id="rId3" imgW="1079280" imgH="43164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98755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381000" y="914400"/>
            <a:ext cx="8382000" cy="1609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Điện dung là phần tử 2 cực đặc trưng cho hiện tượng tích phóng năng lượng điện trường.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Điện dung là mô hình lý tưởng của tụ điện.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31870"/>
              </p:ext>
            </p:extLst>
          </p:nvPr>
        </p:nvGraphicFramePr>
        <p:xfrm>
          <a:off x="838200" y="2794000"/>
          <a:ext cx="1682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431640" progId="Equation.DSMT4">
                  <p:embed/>
                </p:oleObj>
              </mc:Choice>
              <mc:Fallback>
                <p:oleObj name="Equation" r:id="rId5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94000"/>
                        <a:ext cx="168275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150" y="2847976"/>
            <a:ext cx="1924050" cy="16764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638800" y="2867825"/>
            <a:ext cx="3048000" cy="1605751"/>
            <a:chOff x="5562600" y="2915449"/>
            <a:chExt cx="3048000" cy="1605751"/>
          </a:xfrm>
        </p:grpSpPr>
        <p:sp>
          <p:nvSpPr>
            <p:cNvPr id="16" name="Right Arrow 15"/>
            <p:cNvSpPr/>
            <p:nvPr/>
          </p:nvSpPr>
          <p:spPr>
            <a:xfrm>
              <a:off x="5562600" y="3627983"/>
              <a:ext cx="1219200" cy="15706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 Box 3"/>
            <p:cNvSpPr txBox="1">
              <a:spLocks noChangeArrowheads="1"/>
            </p:cNvSpPr>
            <p:nvPr/>
          </p:nvSpPr>
          <p:spPr bwMode="auto">
            <a:xfrm>
              <a:off x="5617494" y="3124200"/>
              <a:ext cx="1164306" cy="1039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28600" lvl="0" indent="-228600" fontAlgn="base">
                <a:lnSpc>
                  <a:spcPct val="150000"/>
                </a:lnSpc>
                <a:spcAft>
                  <a:spcPct val="0"/>
                </a:spcAft>
              </a:pPr>
              <a:r>
                <a:rPr kumimoji="0" lang="en-US" sz="24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Xác</a:t>
              </a:r>
              <a:r>
                <a:rPr kumimoji="0" lang="en-US" sz="240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 lập</a:t>
              </a:r>
            </a:p>
            <a:p>
              <a:pPr marL="228600" lvl="0" indent="-228600" fontAlgn="base">
                <a:lnSpc>
                  <a:spcPct val="150000"/>
                </a:lnSpc>
                <a:spcAft>
                  <a:spcPct val="0"/>
                </a:spcAft>
              </a:pPr>
              <a:r>
                <a:rPr lang="en-US" sz="2400" baseline="0">
                  <a:latin typeface="Arial" pitchFamily="34" charset="0"/>
                  <a:cs typeface="Arial" pitchFamily="34" charset="0"/>
                </a:rPr>
                <a:t>1</a:t>
              </a:r>
              <a:r>
                <a:rPr lang="en-US" sz="2400">
                  <a:latin typeface="Arial" pitchFamily="34" charset="0"/>
                  <a:cs typeface="Arial" pitchFamily="34" charset="0"/>
                </a:rPr>
                <a:t> chiều</a:t>
              </a:r>
              <a:endParaRPr kumimoji="0" 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58980" y="2915449"/>
              <a:ext cx="1551620" cy="1605751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381000" y="426422"/>
            <a:ext cx="38862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c. 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Phần tử điện cảm:</a:t>
            </a:r>
            <a:endParaRPr kumimoji="0" lang="en-US" sz="2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542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543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4600576"/>
            <a:ext cx="8119809" cy="168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i="1">
                <a:latin typeface="Arial" pitchFamily="34" charset="0"/>
                <a:cs typeface="Arial" pitchFamily="34" charset="0"/>
              </a:rPr>
              <a:t>L</a:t>
            </a:r>
            <a:r>
              <a:rPr lang="en-US" sz="2400">
                <a:latin typeface="Arial" pitchFamily="34" charset="0"/>
                <a:cs typeface="Arial" pitchFamily="34" charset="0"/>
              </a:rPr>
              <a:t> : Thông số điện cảm, đơn vị Henry (H)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Mạch ở trạng thái xác lập 1 chiều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i(t)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=const 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u(t)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cuộn dây xem như ngắn mạch.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714844"/>
              </p:ext>
            </p:extLst>
          </p:nvPr>
        </p:nvGraphicFramePr>
        <p:xfrm>
          <a:off x="850900" y="3733800"/>
          <a:ext cx="19399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431640" progId="Equation.DSMT4">
                  <p:embed/>
                </p:oleObj>
              </mc:Choice>
              <mc:Fallback>
                <p:oleObj name="Equation" r:id="rId3" imgW="1054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3733800"/>
                        <a:ext cx="1939925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381000" y="914400"/>
            <a:ext cx="8382000" cy="1609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Điện cảm là phần tử 2 cực đặc trưng cho hiện tượng tích phóng năng lượng từ trường.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latin typeface="Arial" pitchFamily="34" charset="0"/>
                <a:cs typeface="Arial" pitchFamily="34" charset="0"/>
              </a:rPr>
              <a:t>Điện cảm là mô hình lý tưởng của cuộn dây.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344293"/>
              </p:ext>
            </p:extLst>
          </p:nvPr>
        </p:nvGraphicFramePr>
        <p:xfrm>
          <a:off x="838200" y="2794000"/>
          <a:ext cx="16605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431640" progId="Equation.DSMT4">
                  <p:embed/>
                </p:oleObj>
              </mc:Choice>
              <mc:Fallback>
                <p:oleObj name="Equation" r:id="rId5" imgW="901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94000"/>
                        <a:ext cx="1660525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681288"/>
            <a:ext cx="1847850" cy="181927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638800" y="2794420"/>
            <a:ext cx="2877678" cy="1600200"/>
            <a:chOff x="5638800" y="2946399"/>
            <a:chExt cx="2877678" cy="1600200"/>
          </a:xfrm>
        </p:grpSpPr>
        <p:sp>
          <p:nvSpPr>
            <p:cNvPr id="4" name="Right Arrow 3"/>
            <p:cNvSpPr/>
            <p:nvPr/>
          </p:nvSpPr>
          <p:spPr>
            <a:xfrm>
              <a:off x="5638800" y="3655268"/>
              <a:ext cx="1219200" cy="15706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 Box 3"/>
            <p:cNvSpPr txBox="1">
              <a:spLocks noChangeArrowheads="1"/>
            </p:cNvSpPr>
            <p:nvPr/>
          </p:nvSpPr>
          <p:spPr bwMode="auto">
            <a:xfrm>
              <a:off x="5751972" y="3151485"/>
              <a:ext cx="1164306" cy="1039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28600" lvl="0" indent="-228600" fontAlgn="base">
                <a:lnSpc>
                  <a:spcPct val="150000"/>
                </a:lnSpc>
                <a:spcAft>
                  <a:spcPct val="0"/>
                </a:spcAft>
              </a:pPr>
              <a:r>
                <a:rPr kumimoji="0" lang="en-US" sz="24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Xác</a:t>
              </a:r>
              <a:r>
                <a:rPr kumimoji="0" lang="en-US" sz="240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 lập</a:t>
              </a:r>
            </a:p>
            <a:p>
              <a:pPr marL="228600" lvl="0" indent="-228600" fontAlgn="base">
                <a:lnSpc>
                  <a:spcPct val="150000"/>
                </a:lnSpc>
                <a:spcAft>
                  <a:spcPct val="0"/>
                </a:spcAft>
              </a:pPr>
              <a:r>
                <a:rPr lang="en-US" sz="2400" baseline="0">
                  <a:latin typeface="Arial" pitchFamily="34" charset="0"/>
                  <a:cs typeface="Arial" pitchFamily="34" charset="0"/>
                </a:rPr>
                <a:t>1</a:t>
              </a:r>
              <a:r>
                <a:rPr lang="en-US" sz="2400">
                  <a:latin typeface="Arial" pitchFamily="34" charset="0"/>
                  <a:cs typeface="Arial" pitchFamily="34" charset="0"/>
                </a:rPr>
                <a:t> chiều</a:t>
              </a:r>
              <a:endParaRPr kumimoji="0" 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211" y="2946399"/>
              <a:ext cx="1583267" cy="1600200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5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04800" y="5467985"/>
            <a:ext cx="8104320" cy="1009015"/>
            <a:chOff x="304800" y="5047921"/>
            <a:chExt cx="8104320" cy="1009015"/>
          </a:xfrm>
        </p:grpSpPr>
        <p:sp>
          <p:nvSpPr>
            <p:cNvPr id="26" name="Rectangle 25"/>
            <p:cNvSpPr/>
            <p:nvPr/>
          </p:nvSpPr>
          <p:spPr>
            <a:xfrm>
              <a:off x="304800" y="5047921"/>
              <a:ext cx="8104320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sz="2400">
                  <a:latin typeface="Arial" panose="020B0604020202020204" pitchFamily="34" charset="0"/>
                  <a:ea typeface="Times New Roman" pitchFamily="18" charset="0"/>
                  <a:cs typeface="Arial" pitchFamily="34" charset="0"/>
                </a:rPr>
                <a:t>Trong đó: </a:t>
              </a:r>
              <a:r>
                <a:rPr lang="en-US" sz="2400" b="1">
                  <a:latin typeface="Arial" panose="020B0604020202020204" pitchFamily="34" charset="0"/>
                  <a:ea typeface="Times New Roman" pitchFamily="18" charset="0"/>
                  <a:cs typeface="Arial" pitchFamily="34" charset="0"/>
                </a:rPr>
                <a:t>M</a:t>
              </a:r>
              <a:r>
                <a:rPr lang="en-US" sz="2400">
                  <a:latin typeface="Arial" panose="020B0604020202020204" pitchFamily="34" charset="0"/>
                  <a:ea typeface="Times New Roman" pitchFamily="18" charset="0"/>
                  <a:cs typeface="Arial" pitchFamily="34" charset="0"/>
                </a:rPr>
                <a:t> là hệ số hỗ cảm, đơn vị là Henry (H)</a:t>
              </a:r>
            </a:p>
            <a:p>
              <a:pPr lvl="0" fontAlgn="base">
                <a:spcBef>
                  <a:spcPts val="1200"/>
                </a:spcBef>
                <a:spcAft>
                  <a:spcPct val="0"/>
                </a:spcAft>
              </a:pPr>
              <a:r>
                <a:rPr lang="en-US" sz="2400">
                  <a:latin typeface="Arial" panose="020B0604020202020204" pitchFamily="34" charset="0"/>
                  <a:ea typeface="Times New Roman" pitchFamily="18" charset="0"/>
                  <a:cs typeface="Arial" pitchFamily="34" charset="0"/>
                </a:rPr>
                <a:t>                                         và </a:t>
              </a:r>
              <a:r>
                <a:rPr lang="en-US" sz="2400" b="1" i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2400">
                  <a:latin typeface="Arial" panose="020B0604020202020204" pitchFamily="34" charset="0"/>
                  <a:ea typeface="Times New Roman" pitchFamily="18" charset="0"/>
                  <a:cs typeface="Arial" pitchFamily="34" charset="0"/>
                </a:rPr>
                <a:t> là hệ số ghép hỗ cảm, </a:t>
              </a:r>
              <a:r>
                <a:rPr lang="en-US" sz="2400" b="1" i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en-US" sz="2400" i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 1</a:t>
              </a:r>
              <a:endParaRPr lang="en-US" sz="2400" i="1"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9318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592833"/>
                </p:ext>
              </p:extLst>
            </p:nvPr>
          </p:nvGraphicFramePr>
          <p:xfrm>
            <a:off x="1976199" y="5505121"/>
            <a:ext cx="1786414" cy="551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279360" progId="Equation.DSMT4">
                    <p:embed/>
                  </p:oleObj>
                </mc:Choice>
                <mc:Fallback>
                  <p:oleObj name="Equation" r:id="rId3" imgW="91440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199" y="5505121"/>
                          <a:ext cx="1786414" cy="5518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18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116707"/>
              </p:ext>
            </p:extLst>
          </p:nvPr>
        </p:nvGraphicFramePr>
        <p:xfrm>
          <a:off x="617537" y="3733800"/>
          <a:ext cx="2506663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901440" progId="Equation.DSMT4">
                  <p:embed/>
                </p:oleObj>
              </mc:Choice>
              <mc:Fallback>
                <p:oleObj name="Equation" r:id="rId5" imgW="13968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7" y="3733800"/>
                        <a:ext cx="2506663" cy="161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1" name="Rectangle 17"/>
          <p:cNvSpPr>
            <a:spLocks noChangeArrowheads="1"/>
          </p:cNvSpPr>
          <p:nvPr/>
        </p:nvSpPr>
        <p:spPr bwMode="auto">
          <a:xfrm>
            <a:off x="532439" y="365611"/>
            <a:ext cx="268855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d. Ghép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hỗ cảm</a:t>
            </a:r>
            <a:endParaRPr kumimoji="0" lang="en-US" sz="2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3210" name="Rectangle 26"/>
          <p:cNvSpPr>
            <a:spLocks noChangeArrowheads="1"/>
          </p:cNvSpPr>
          <p:nvPr/>
        </p:nvSpPr>
        <p:spPr bwMode="auto">
          <a:xfrm>
            <a:off x="304800" y="921603"/>
            <a:ext cx="8230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Xét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 h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ai cuộn dây </a:t>
            </a:r>
            <a:r>
              <a:rPr lang="en-US" sz="240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được ghép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hỗ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 cảm, điện áp trên 02 cuộn dây được xác định: 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066800" y="1895535"/>
            <a:ext cx="7086600" cy="1685865"/>
            <a:chOff x="1066800" y="1793022"/>
            <a:chExt cx="7086600" cy="168586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6800" y="1793022"/>
              <a:ext cx="7086600" cy="1323975"/>
            </a:xfrm>
            <a:prstGeom prst="rect">
              <a:avLst/>
            </a:prstGeom>
          </p:spPr>
        </p:pic>
        <p:sp>
          <p:nvSpPr>
            <p:cNvPr id="11" name="Rectangle 28"/>
            <p:cNvSpPr>
              <a:spLocks noChangeArrowheads="1"/>
            </p:cNvSpPr>
            <p:nvPr/>
          </p:nvSpPr>
          <p:spPr bwMode="auto">
            <a:xfrm>
              <a:off x="1905000" y="3078777"/>
              <a:ext cx="1295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627063" marR="0" lvl="0" indent="-627063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Hình</a:t>
              </a:r>
              <a:r>
                <a:rPr kumimoji="0" lang="en-US" sz="2000" b="1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1</a:t>
              </a: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5943600" y="3048496"/>
              <a:ext cx="1295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627063" marR="0" lvl="0" indent="-627063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Hình</a:t>
              </a:r>
              <a:r>
                <a:rPr kumimoji="0" lang="en-US" sz="2000" b="1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2</a:t>
              </a: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4" name="Rectangle 28">
            <a:extLst>
              <a:ext uri="{FF2B5EF4-FFF2-40B4-BE49-F238E27FC236}">
                <a16:creationId xmlns:a16="http://schemas.microsoft.com/office/drawing/2014/main" id="{B65B0D88-DB22-1FEF-54F9-CB091A48F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764577"/>
            <a:ext cx="5410200" cy="150810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27063" marR="0" lvl="0" indent="-6270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(+):</a:t>
            </a:r>
            <a:r>
              <a:rPr kumimoji="0" lang="en-US" sz="23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Nếu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dòng </a:t>
            </a:r>
            <a:r>
              <a:rPr kumimoji="0" lang="en-US" sz="23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0" lang="en-US" sz="23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và </a:t>
            </a:r>
            <a:r>
              <a:rPr kumimoji="0" lang="en-US" sz="23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0" lang="en-US" sz="23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cùng đi vào (hoặc</a:t>
            </a:r>
            <a:r>
              <a:rPr kumimoji="0" lang="en-US" sz="23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cùng đi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ra) các cực cùng tính (tên) ký hiệu: dấu  hay </a:t>
            </a:r>
            <a:r>
              <a:rPr kumimoji="0" lang="en-US" sz="23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 (</a:t>
            </a:r>
            <a:r>
              <a:rPr kumimoji="0" lang="en-US" sz="2300" b="0" i="1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hình 1)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3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(-):  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Ngược lại (</a:t>
            </a:r>
            <a:r>
              <a:rPr kumimoji="0" lang="en-US" sz="2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hình</a:t>
            </a:r>
            <a:r>
              <a:rPr kumimoji="0" lang="en-US" sz="2300" b="0" i="1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2)</a:t>
            </a:r>
            <a:r>
              <a:rPr kumimoji="0" lang="en-US" sz="2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61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6" name="Rectangle 18"/>
          <p:cNvSpPr>
            <a:spLocks noChangeArrowheads="1"/>
          </p:cNvSpPr>
          <p:nvPr/>
        </p:nvSpPr>
        <p:spPr bwMode="auto">
          <a:xfrm>
            <a:off x="325101" y="1422161"/>
            <a:ext cx="828549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 </a:t>
            </a:r>
            <a:r>
              <a:rPr lang="en-US" sz="2400" b="1">
                <a:latin typeface="Arial" pitchFamily="34" charset="0"/>
                <a:ea typeface="Times New Roman" pitchFamily="18" charset="0"/>
                <a:cs typeface="Arial" pitchFamily="34" charset="0"/>
              </a:rPr>
              <a:t>điện </a:t>
            </a: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áp độc lập: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341313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 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điện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áp độc lập là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phần tử 2 cực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mà 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điện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áp của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nó cung cấp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không phụ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thuộc vào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dòng 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điện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đi qua nó.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04800" y="914400"/>
            <a:ext cx="5105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Nguồn độc lập</a:t>
            </a:r>
            <a:endParaRPr kumimoji="0" lang="en-US" sz="2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304800" y="4648200"/>
            <a:ext cx="8305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 dòng </a:t>
            </a:r>
            <a:r>
              <a:rPr lang="en-US" sz="2400" b="1">
                <a:latin typeface="Arial" pitchFamily="34" charset="0"/>
                <a:ea typeface="Times New Roman" pitchFamily="18" charset="0"/>
                <a:cs typeface="Arial" pitchFamily="34" charset="0"/>
              </a:rPr>
              <a:t>điện </a:t>
            </a: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độc lập: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1313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 dòng điện độc lập là phần tử hai cực mà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dòng điện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do nó cung cấp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không phụ thuộc vào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điện áp trên hai cực của nó.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Rectangle 1"/>
          <p:cNvSpPr>
            <a:spLocks noChangeArrowheads="1"/>
          </p:cNvSpPr>
          <p:nvPr/>
        </p:nvSpPr>
        <p:spPr bwMode="auto">
          <a:xfrm>
            <a:off x="228600" y="376535"/>
            <a:ext cx="510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>
                <a:latin typeface="Arial" pitchFamily="34" charset="0"/>
                <a:ea typeface="Times New Roman" pitchFamily="18" charset="0"/>
                <a:cs typeface="Arial" pitchFamily="34" charset="0"/>
              </a:rPr>
              <a:t>1.1</a:t>
            </a:r>
            <a:r>
              <a:rPr kumimoji="0" lang="en-US" sz="2400" b="1" i="0" u="none" strike="noStrike" cap="none" normalizeH="0" baseline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.2 CÁC</a:t>
            </a:r>
            <a:r>
              <a:rPr kumimoji="0" lang="en-US" sz="2400" b="1" i="0" u="none" strike="noStrike" cap="none" normalizeH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PHẦN TỬ TÁC ĐỘNG</a:t>
            </a:r>
            <a:endParaRPr kumimoji="0" lang="en-US" sz="2400" b="1" i="0" u="none" strike="noStrike" cap="none" normalizeH="0" baseline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067997" y="2683424"/>
            <a:ext cx="7264200" cy="1888576"/>
            <a:chOff x="1067997" y="2743200"/>
            <a:chExt cx="7264200" cy="1888576"/>
          </a:xfrm>
        </p:grpSpPr>
        <p:grpSp>
          <p:nvGrpSpPr>
            <p:cNvPr id="39" name="Group 38"/>
            <p:cNvGrpSpPr/>
            <p:nvPr/>
          </p:nvGrpSpPr>
          <p:grpSpPr>
            <a:xfrm>
              <a:off x="1079862" y="2908846"/>
              <a:ext cx="825138" cy="1265730"/>
              <a:chOff x="0" y="0"/>
              <a:chExt cx="1105905" cy="1696177"/>
            </a:xfrm>
          </p:grpSpPr>
          <p:sp>
            <p:nvSpPr>
              <p:cNvPr id="40" name="Text Box 92"/>
              <p:cNvSpPr txBox="1">
                <a:spLocks noChangeArrowheads="1"/>
              </p:cNvSpPr>
              <p:nvPr/>
            </p:nvSpPr>
            <p:spPr bwMode="auto">
              <a:xfrm>
                <a:off x="542611" y="597877"/>
                <a:ext cx="563294" cy="3758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e(t)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" name="Line 75"/>
              <p:cNvCxnSpPr>
                <a:cxnSpLocks noChangeShapeType="1"/>
              </p:cNvCxnSpPr>
              <p:nvPr/>
            </p:nvCxnSpPr>
            <p:spPr bwMode="auto">
              <a:xfrm>
                <a:off x="246184" y="0"/>
                <a:ext cx="0" cy="16961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2" name="Group 41"/>
              <p:cNvGrpSpPr>
                <a:grpSpLocks/>
              </p:cNvGrpSpPr>
              <p:nvPr/>
            </p:nvGrpSpPr>
            <p:grpSpPr bwMode="auto">
              <a:xfrm>
                <a:off x="0" y="577780"/>
                <a:ext cx="469411" cy="469804"/>
                <a:chOff x="1884" y="2304"/>
                <a:chExt cx="360" cy="360"/>
              </a:xfrm>
            </p:grpSpPr>
            <p:sp>
              <p:nvSpPr>
                <p:cNvPr id="43" name="Oval 42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cxnSp>
              <p:nvCxnSpPr>
                <p:cNvPr id="44" name="Line 86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5" name="Line 87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6" name="Line 88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52" name="Group 51"/>
            <p:cNvGrpSpPr/>
            <p:nvPr/>
          </p:nvGrpSpPr>
          <p:grpSpPr>
            <a:xfrm>
              <a:off x="2286000" y="2768088"/>
              <a:ext cx="1542416" cy="1456424"/>
              <a:chOff x="0" y="0"/>
              <a:chExt cx="1542421" cy="1456424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0" y="748602"/>
                <a:ext cx="140144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/>
              <p:cNvGrpSpPr/>
              <p:nvPr/>
            </p:nvGrpSpPr>
            <p:grpSpPr>
              <a:xfrm>
                <a:off x="105507" y="0"/>
                <a:ext cx="1436914" cy="1456424"/>
                <a:chOff x="0" y="0"/>
                <a:chExt cx="1436914" cy="1456424"/>
              </a:xfrm>
            </p:grpSpPr>
            <p:sp>
              <p:nvSpPr>
                <p:cNvPr id="57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75363" y="0"/>
                  <a:ext cx="216039" cy="34329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u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0" y="130628"/>
                  <a:ext cx="1336040" cy="1325796"/>
                </a:xfrm>
                <a:custGeom>
                  <a:avLst/>
                  <a:gdLst>
                    <a:gd name="connsiteX0" fmla="*/ 0 w 1336431"/>
                    <a:gd name="connsiteY0" fmla="*/ 0 h 1547447"/>
                    <a:gd name="connsiteX1" fmla="*/ 0 w 1336431"/>
                    <a:gd name="connsiteY1" fmla="*/ 1547447 h 1547447"/>
                    <a:gd name="connsiteX2" fmla="*/ 1336431 w 1336431"/>
                    <a:gd name="connsiteY2" fmla="*/ 1547447 h 1547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6431" h="1547447">
                      <a:moveTo>
                        <a:pt x="0" y="0"/>
                      </a:moveTo>
                      <a:lnTo>
                        <a:pt x="0" y="1547447"/>
                      </a:lnTo>
                      <a:lnTo>
                        <a:pt x="1336431" y="154744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stealth"/>
                  <a:tailEnd type="stealt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59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220875" y="1125415"/>
                  <a:ext cx="216039" cy="29642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5218" y="447151"/>
                  <a:ext cx="216039" cy="282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8" name="Group 67"/>
            <p:cNvGrpSpPr/>
            <p:nvPr/>
          </p:nvGrpSpPr>
          <p:grpSpPr>
            <a:xfrm>
              <a:off x="6934200" y="2743200"/>
              <a:ext cx="1337242" cy="1425920"/>
              <a:chOff x="0" y="0"/>
              <a:chExt cx="1436369" cy="1532185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0" y="0"/>
                <a:ext cx="1436369" cy="1456055"/>
                <a:chOff x="0" y="0"/>
                <a:chExt cx="1436914" cy="1456424"/>
              </a:xfrm>
            </p:grpSpPr>
            <p:sp>
              <p:nvSpPr>
                <p:cNvPr id="71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75363" y="0"/>
                  <a:ext cx="216039" cy="34329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u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Freeform 71"/>
                <p:cNvSpPr/>
                <p:nvPr/>
              </p:nvSpPr>
              <p:spPr>
                <a:xfrm>
                  <a:off x="0" y="130628"/>
                  <a:ext cx="1336040" cy="1325796"/>
                </a:xfrm>
                <a:custGeom>
                  <a:avLst/>
                  <a:gdLst>
                    <a:gd name="connsiteX0" fmla="*/ 0 w 1336431"/>
                    <a:gd name="connsiteY0" fmla="*/ 0 h 1547447"/>
                    <a:gd name="connsiteX1" fmla="*/ 0 w 1336431"/>
                    <a:gd name="connsiteY1" fmla="*/ 1547447 h 1547447"/>
                    <a:gd name="connsiteX2" fmla="*/ 1336431 w 1336431"/>
                    <a:gd name="connsiteY2" fmla="*/ 1547447 h 1547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6431" h="1547447">
                      <a:moveTo>
                        <a:pt x="0" y="0"/>
                      </a:moveTo>
                      <a:lnTo>
                        <a:pt x="0" y="1547447"/>
                      </a:lnTo>
                      <a:lnTo>
                        <a:pt x="1336431" y="154744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stealth"/>
                  <a:tailEnd type="stealt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73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220875" y="1125415"/>
                  <a:ext cx="216039" cy="29642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7281" y="1085496"/>
                  <a:ext cx="186165" cy="35770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j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0" name="Straight Connector 69"/>
              <p:cNvCxnSpPr/>
              <p:nvPr/>
            </p:nvCxnSpPr>
            <p:spPr>
              <a:xfrm>
                <a:off x="462225" y="492369"/>
                <a:ext cx="0" cy="10398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/>
            <p:cNvGrpSpPr/>
            <p:nvPr/>
          </p:nvGrpSpPr>
          <p:grpSpPr>
            <a:xfrm>
              <a:off x="5486400" y="2909298"/>
              <a:ext cx="791816" cy="1265278"/>
              <a:chOff x="0" y="0"/>
              <a:chExt cx="969223" cy="1549301"/>
            </a:xfrm>
          </p:grpSpPr>
          <p:cxnSp>
            <p:nvCxnSpPr>
              <p:cNvPr id="84" name="Line 75"/>
              <p:cNvCxnSpPr>
                <a:cxnSpLocks noChangeShapeType="1"/>
              </p:cNvCxnSpPr>
              <p:nvPr/>
            </p:nvCxnSpPr>
            <p:spPr bwMode="auto">
              <a:xfrm>
                <a:off x="216039" y="0"/>
                <a:ext cx="0" cy="15493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5" name="Oval 84"/>
              <p:cNvSpPr>
                <a:spLocks noChangeArrowheads="1"/>
              </p:cNvSpPr>
              <p:nvPr/>
            </p:nvSpPr>
            <p:spPr bwMode="auto">
              <a:xfrm>
                <a:off x="0" y="527538"/>
                <a:ext cx="428625" cy="42862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86" name="Straight Arrow Connector 85"/>
              <p:cNvCxnSpPr/>
              <p:nvPr/>
            </p:nvCxnSpPr>
            <p:spPr>
              <a:xfrm flipV="1">
                <a:off x="216039" y="607925"/>
                <a:ext cx="0" cy="2461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 Box 92"/>
              <p:cNvSpPr txBox="1">
                <a:spLocks noChangeArrowheads="1"/>
              </p:cNvSpPr>
              <p:nvPr/>
            </p:nvSpPr>
            <p:spPr bwMode="auto">
              <a:xfrm>
                <a:off x="447152" y="552659"/>
                <a:ext cx="522071" cy="4035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i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j(t)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8" name="Text Box 3"/>
            <p:cNvSpPr txBox="1">
              <a:spLocks noChangeArrowheads="1"/>
            </p:cNvSpPr>
            <p:nvPr/>
          </p:nvSpPr>
          <p:spPr bwMode="auto">
            <a:xfrm>
              <a:off x="1067997" y="4323999"/>
              <a:ext cx="274200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điện áp </a:t>
              </a:r>
              <a:r>
                <a:rPr lang="en-US" sz="2000" i="1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độc lập</a:t>
              </a: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0" name="Text Box 3"/>
            <p:cNvSpPr txBox="1">
              <a:spLocks noChangeArrowheads="1"/>
            </p:cNvSpPr>
            <p:nvPr/>
          </p:nvSpPr>
          <p:spPr bwMode="auto">
            <a:xfrm>
              <a:off x="5381145" y="4285606"/>
              <a:ext cx="29510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dòng điện </a:t>
              </a:r>
              <a:r>
                <a:rPr lang="en-US" sz="2000" i="1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độc lập</a:t>
              </a: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 noChangeArrowheads="1"/>
          </p:cNvSpPr>
          <p:nvPr/>
        </p:nvSpPr>
        <p:spPr bwMode="auto">
          <a:xfrm>
            <a:off x="457200" y="304800"/>
            <a:ext cx="82296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b. Nguồn phụ thuộc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 phụ thuộc có tính chất là giá trị của nguồn phụ thuộc vào </a:t>
            </a:r>
            <a:r>
              <a:rPr lang="en-US" sz="2200">
                <a:latin typeface="Arial" pitchFamily="34" charset="0"/>
                <a:ea typeface="Times New Roman" pitchFamily="18" charset="0"/>
                <a:cs typeface="Arial" pitchFamily="34" charset="0"/>
              </a:rPr>
              <a:t>giá trị </a:t>
            </a:r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dòng điện</a:t>
            </a:r>
            <a:r>
              <a:rPr kumimoji="0" lang="en-US" sz="2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hay điện áp trên</a:t>
            </a:r>
            <a:r>
              <a:rPr kumimoji="0" lang="en-US" sz="2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các nhánh của</a:t>
            </a:r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mạch.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sz="2200">
                <a:latin typeface="Arial" pitchFamily="34" charset="0"/>
                <a:cs typeface="Arial" pitchFamily="34" charset="0"/>
              </a:rPr>
              <a:t>Có 04 dạng nguồn phụ thuộc:</a:t>
            </a:r>
            <a:endParaRPr kumimoji="0" 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5" name="Line 176"/>
          <p:cNvCxnSpPr>
            <a:cxnSpLocks noChangeShapeType="1"/>
          </p:cNvCxnSpPr>
          <p:nvPr/>
        </p:nvCxnSpPr>
        <p:spPr bwMode="auto">
          <a:xfrm>
            <a:off x="2077699" y="-7733504"/>
            <a:ext cx="0" cy="1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1" name="Group 10"/>
          <p:cNvGrpSpPr/>
          <p:nvPr/>
        </p:nvGrpSpPr>
        <p:grpSpPr>
          <a:xfrm>
            <a:off x="457200" y="2286000"/>
            <a:ext cx="7848600" cy="1678569"/>
            <a:chOff x="457200" y="2055231"/>
            <a:chExt cx="7848600" cy="1678569"/>
          </a:xfrm>
        </p:grpSpPr>
        <p:sp>
          <p:nvSpPr>
            <p:cNvPr id="36" name="Text Box 3"/>
            <p:cNvSpPr txBox="1">
              <a:spLocks noChangeArrowheads="1"/>
            </p:cNvSpPr>
            <p:nvPr/>
          </p:nvSpPr>
          <p:spPr bwMode="auto">
            <a:xfrm>
              <a:off x="457200" y="3344141"/>
              <a:ext cx="3429000" cy="372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áp phụ thuộc áp</a:t>
              </a:r>
              <a:endParaRPr kumimoji="0" lang="en-US" sz="20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Text Box 3"/>
            <p:cNvSpPr txBox="1">
              <a:spLocks noChangeArrowheads="1"/>
            </p:cNvSpPr>
            <p:nvPr/>
          </p:nvSpPr>
          <p:spPr bwMode="auto">
            <a:xfrm>
              <a:off x="4876800" y="3361411"/>
              <a:ext cx="3429000" cy="372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áp phụ thuộc </a:t>
              </a:r>
              <a:r>
                <a:rPr lang="en-US" sz="2000" i="1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dòng</a:t>
              </a:r>
              <a:endParaRPr kumimoji="0" lang="en-US" sz="20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486400" y="2055231"/>
              <a:ext cx="2400110" cy="1161151"/>
              <a:chOff x="5486400" y="2055231"/>
              <a:chExt cx="2400110" cy="1161151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5486400" y="2123535"/>
                <a:ext cx="2400110" cy="1092847"/>
                <a:chOff x="5181600" y="2123535"/>
                <a:chExt cx="2400110" cy="828675"/>
              </a:xfrm>
            </p:grpSpPr>
            <p:cxnSp>
              <p:nvCxnSpPr>
                <p:cNvPr id="39" name="Line 137"/>
                <p:cNvCxnSpPr>
                  <a:cxnSpLocks noChangeShapeType="1"/>
                </p:cNvCxnSpPr>
                <p:nvPr/>
              </p:nvCxnSpPr>
              <p:spPr bwMode="auto">
                <a:xfrm>
                  <a:off x="5181600" y="2952210"/>
                  <a:ext cx="1202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9" name="Freeform 48"/>
                <p:cNvSpPr>
                  <a:spLocks/>
                </p:cNvSpPr>
                <p:nvPr/>
              </p:nvSpPr>
              <p:spPr bwMode="auto">
                <a:xfrm>
                  <a:off x="6534480" y="2123535"/>
                  <a:ext cx="841792" cy="822960"/>
                </a:xfrm>
                <a:custGeom>
                  <a:avLst/>
                  <a:gdLst>
                    <a:gd name="T0" fmla="*/ 1008 w 1008"/>
                    <a:gd name="T1" fmla="*/ 0 h 1296"/>
                    <a:gd name="T2" fmla="*/ 0 w 1008"/>
                    <a:gd name="T3" fmla="*/ 0 h 1296"/>
                    <a:gd name="T4" fmla="*/ 0 w 1008"/>
                    <a:gd name="T5" fmla="*/ 1296 h 1296"/>
                    <a:gd name="T6" fmla="*/ 1008 w 1008"/>
                    <a:gd name="T7" fmla="*/ 1296 h 1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08" h="1296">
                      <a:moveTo>
                        <a:pt x="1008" y="0"/>
                      </a:moveTo>
                      <a:lnTo>
                        <a:pt x="0" y="0"/>
                      </a:lnTo>
                      <a:lnTo>
                        <a:pt x="0" y="1296"/>
                      </a:lnTo>
                      <a:lnTo>
                        <a:pt x="1008" y="129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5569927" y="2228310"/>
                  <a:ext cx="240512" cy="19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6697327" y="2428335"/>
                  <a:ext cx="381646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ri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2" name="Group 51"/>
                <p:cNvGrpSpPr>
                  <a:grpSpLocks/>
                </p:cNvGrpSpPr>
                <p:nvPr/>
              </p:nvGrpSpPr>
              <p:grpSpPr bwMode="auto">
                <a:xfrm>
                  <a:off x="6396687" y="2352135"/>
                  <a:ext cx="240512" cy="365760"/>
                  <a:chOff x="4608" y="2880"/>
                  <a:chExt cx="288" cy="576"/>
                </a:xfrm>
              </p:grpSpPr>
              <p:sp>
                <p:nvSpPr>
                  <p:cNvPr id="68" name="AutoShape 123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2880"/>
                    <a:ext cx="288" cy="576"/>
                  </a:xfrm>
                  <a:prstGeom prst="diamond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69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4706" y="3072"/>
                    <a:ext cx="114" cy="184"/>
                    <a:chOff x="4695" y="3055"/>
                    <a:chExt cx="114" cy="184"/>
                  </a:xfrm>
                </p:grpSpPr>
                <p:cxnSp>
                  <p:nvCxnSpPr>
                    <p:cNvPr id="70" name="Line 12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695" y="3239"/>
                      <a:ext cx="11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grpSp>
                  <p:nvGrpSpPr>
                    <p:cNvPr id="71" name="Group 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96" y="3055"/>
                      <a:ext cx="113" cy="113"/>
                      <a:chOff x="10171" y="3476"/>
                      <a:chExt cx="113" cy="113"/>
                    </a:xfrm>
                  </p:grpSpPr>
                  <p:cxnSp>
                    <p:nvCxnSpPr>
                      <p:cNvPr id="72" name="Line 12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171" y="3528"/>
                        <a:ext cx="113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73" name="Line 12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16" y="3476"/>
                        <a:ext cx="0" cy="11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</p:grpSp>
            </p:grpSp>
            <p:sp>
              <p:nvSpPr>
                <p:cNvPr id="53" name="Freeform 52"/>
                <p:cNvSpPr>
                  <a:spLocks/>
                </p:cNvSpPr>
                <p:nvPr/>
              </p:nvSpPr>
              <p:spPr bwMode="auto">
                <a:xfrm>
                  <a:off x="5369500" y="2123535"/>
                  <a:ext cx="721536" cy="822960"/>
                </a:xfrm>
                <a:custGeom>
                  <a:avLst/>
                  <a:gdLst>
                    <a:gd name="T0" fmla="*/ 0 w 864"/>
                    <a:gd name="T1" fmla="*/ 0 h 1296"/>
                    <a:gd name="T2" fmla="*/ 864 w 864"/>
                    <a:gd name="T3" fmla="*/ 0 h 1296"/>
                    <a:gd name="T4" fmla="*/ 864 w 864"/>
                    <a:gd name="T5" fmla="*/ 1296 h 1296"/>
                    <a:gd name="T6" fmla="*/ 0 w 864"/>
                    <a:gd name="T7" fmla="*/ 1296 h 1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64" h="1296">
                      <a:moveTo>
                        <a:pt x="0" y="0"/>
                      </a:moveTo>
                      <a:lnTo>
                        <a:pt x="864" y="0"/>
                      </a:lnTo>
                      <a:lnTo>
                        <a:pt x="864" y="1296"/>
                      </a:lnTo>
                      <a:lnTo>
                        <a:pt x="0" y="129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58" name="Line 141"/>
                <p:cNvCxnSpPr>
                  <a:cxnSpLocks noChangeShapeType="1"/>
                </p:cNvCxnSpPr>
                <p:nvPr/>
              </p:nvCxnSpPr>
              <p:spPr bwMode="auto">
                <a:xfrm>
                  <a:off x="7461454" y="2952210"/>
                  <a:ext cx="1202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2" name="Line 120"/>
                <p:cNvCxnSpPr>
                  <a:cxnSpLocks noChangeShapeType="1"/>
                </p:cNvCxnSpPr>
                <p:nvPr/>
              </p:nvCxnSpPr>
              <p:spPr bwMode="auto">
                <a:xfrm>
                  <a:off x="5469714" y="2199735"/>
                  <a:ext cx="36076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7774818" y="2055231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20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1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8" name="Group 7"/>
            <p:cNvGrpSpPr/>
            <p:nvPr/>
          </p:nvGrpSpPr>
          <p:grpSpPr>
            <a:xfrm>
              <a:off x="1215219" y="2068674"/>
              <a:ext cx="2149576" cy="1152791"/>
              <a:chOff x="1215219" y="2068674"/>
              <a:chExt cx="2149576" cy="1152791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1215219" y="2123535"/>
                <a:ext cx="2149576" cy="1097930"/>
                <a:chOff x="1215219" y="2123535"/>
                <a:chExt cx="2149576" cy="822960"/>
              </a:xfrm>
            </p:grpSpPr>
            <p:sp>
              <p:nvSpPr>
                <p:cNvPr id="43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1578492" y="2437860"/>
                  <a:ext cx="240512" cy="19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u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Freeform 43"/>
                <p:cNvSpPr>
                  <a:spLocks/>
                </p:cNvSpPr>
                <p:nvPr/>
              </p:nvSpPr>
              <p:spPr bwMode="auto">
                <a:xfrm>
                  <a:off x="1215219" y="2123535"/>
                  <a:ext cx="721536" cy="181610"/>
                </a:xfrm>
                <a:custGeom>
                  <a:avLst/>
                  <a:gdLst>
                    <a:gd name="T0" fmla="*/ 0 w 1008"/>
                    <a:gd name="T1" fmla="*/ 0 h 288"/>
                    <a:gd name="T2" fmla="*/ 1008 w 1008"/>
                    <a:gd name="T3" fmla="*/ 0 h 288"/>
                    <a:gd name="T4" fmla="*/ 1008 w 1008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08" h="288">
                      <a:moveTo>
                        <a:pt x="0" y="0"/>
                      </a:moveTo>
                      <a:lnTo>
                        <a:pt x="1008" y="0"/>
                      </a:lnTo>
                      <a:lnTo>
                        <a:pt x="1008" y="288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44"/>
                <p:cNvSpPr>
                  <a:spLocks/>
                </p:cNvSpPr>
                <p:nvPr/>
              </p:nvSpPr>
              <p:spPr bwMode="auto">
                <a:xfrm>
                  <a:off x="1215219" y="2761710"/>
                  <a:ext cx="721536" cy="184150"/>
                </a:xfrm>
                <a:custGeom>
                  <a:avLst/>
                  <a:gdLst>
                    <a:gd name="T0" fmla="*/ 0 w 1008"/>
                    <a:gd name="T1" fmla="*/ 432 h 432"/>
                    <a:gd name="T2" fmla="*/ 1008 w 1008"/>
                    <a:gd name="T3" fmla="*/ 432 h 432"/>
                    <a:gd name="T4" fmla="*/ 1008 w 1008"/>
                    <a:gd name="T5" fmla="*/ 0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08" h="432">
                      <a:moveTo>
                        <a:pt x="0" y="432"/>
                      </a:moveTo>
                      <a:lnTo>
                        <a:pt x="1008" y="432"/>
                      </a:lnTo>
                      <a:lnTo>
                        <a:pt x="1008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2455359" y="2418810"/>
                  <a:ext cx="381646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</a:t>
                  </a: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u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Freeform 46"/>
                <p:cNvSpPr>
                  <a:spLocks/>
                </p:cNvSpPr>
                <p:nvPr/>
              </p:nvSpPr>
              <p:spPr bwMode="auto">
                <a:xfrm>
                  <a:off x="2267459" y="2123535"/>
                  <a:ext cx="871856" cy="822960"/>
                </a:xfrm>
                <a:custGeom>
                  <a:avLst/>
                  <a:gdLst>
                    <a:gd name="T0" fmla="*/ 1152 w 1152"/>
                    <a:gd name="T1" fmla="*/ 0 h 1296"/>
                    <a:gd name="T2" fmla="*/ 0 w 1152"/>
                    <a:gd name="T3" fmla="*/ 0 h 1296"/>
                    <a:gd name="T4" fmla="*/ 0 w 1152"/>
                    <a:gd name="T5" fmla="*/ 1296 h 1296"/>
                    <a:gd name="T6" fmla="*/ 1152 w 1152"/>
                    <a:gd name="T7" fmla="*/ 1296 h 1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52" h="1296">
                      <a:moveTo>
                        <a:pt x="1152" y="0"/>
                      </a:moveTo>
                      <a:lnTo>
                        <a:pt x="0" y="0"/>
                      </a:lnTo>
                      <a:lnTo>
                        <a:pt x="0" y="1296"/>
                      </a:lnTo>
                      <a:lnTo>
                        <a:pt x="1152" y="129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48" name="Group 47"/>
                <p:cNvGrpSpPr>
                  <a:grpSpLocks/>
                </p:cNvGrpSpPr>
                <p:nvPr/>
              </p:nvGrpSpPr>
              <p:grpSpPr bwMode="auto">
                <a:xfrm>
                  <a:off x="2154719" y="2323560"/>
                  <a:ext cx="240512" cy="365760"/>
                  <a:chOff x="4608" y="2880"/>
                  <a:chExt cx="288" cy="576"/>
                </a:xfrm>
              </p:grpSpPr>
              <p:sp>
                <p:nvSpPr>
                  <p:cNvPr id="74" name="AutoShape 111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2880"/>
                    <a:ext cx="288" cy="576"/>
                  </a:xfrm>
                  <a:prstGeom prst="diamond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75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4706" y="3072"/>
                    <a:ext cx="114" cy="184"/>
                    <a:chOff x="4695" y="3055"/>
                    <a:chExt cx="114" cy="184"/>
                  </a:xfrm>
                </p:grpSpPr>
                <p:cxnSp>
                  <p:nvCxnSpPr>
                    <p:cNvPr id="76" name="Line 11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695" y="3239"/>
                      <a:ext cx="11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grpSp>
                  <p:nvGrpSpPr>
                    <p:cNvPr id="77" name="Group 7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96" y="3055"/>
                      <a:ext cx="113" cy="113"/>
                      <a:chOff x="10171" y="3476"/>
                      <a:chExt cx="113" cy="113"/>
                    </a:xfrm>
                  </p:grpSpPr>
                  <p:cxnSp>
                    <p:nvCxnSpPr>
                      <p:cNvPr id="78" name="Line 115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171" y="3528"/>
                        <a:ext cx="113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79" name="Line 116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16" y="3476"/>
                        <a:ext cx="0" cy="11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</p:grpSp>
            </p:grpSp>
            <p:cxnSp>
              <p:nvCxnSpPr>
                <p:cNvPr id="55" name="Line 133"/>
                <p:cNvCxnSpPr>
                  <a:cxnSpLocks noChangeShapeType="1"/>
                </p:cNvCxnSpPr>
                <p:nvPr/>
              </p:nvCxnSpPr>
              <p:spPr bwMode="auto">
                <a:xfrm>
                  <a:off x="3244539" y="2942685"/>
                  <a:ext cx="1202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Line 145"/>
                <p:cNvCxnSpPr>
                  <a:cxnSpLocks noChangeShapeType="1"/>
                </p:cNvCxnSpPr>
                <p:nvPr/>
              </p:nvCxnSpPr>
              <p:spPr bwMode="auto">
                <a:xfrm>
                  <a:off x="1741339" y="2761710"/>
                  <a:ext cx="1202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22" name="Group 121"/>
              <p:cNvGrpSpPr/>
              <p:nvPr/>
            </p:nvGrpSpPr>
            <p:grpSpPr>
              <a:xfrm>
                <a:off x="3216290" y="2068674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23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4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31" name="Group 130"/>
              <p:cNvGrpSpPr/>
              <p:nvPr/>
            </p:nvGrpSpPr>
            <p:grpSpPr>
              <a:xfrm>
                <a:off x="1745683" y="2362200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32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3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grpSp>
        <p:nvGrpSpPr>
          <p:cNvPr id="10" name="Group 9"/>
          <p:cNvGrpSpPr/>
          <p:nvPr/>
        </p:nvGrpSpPr>
        <p:grpSpPr>
          <a:xfrm>
            <a:off x="536258" y="4343400"/>
            <a:ext cx="7836787" cy="1778907"/>
            <a:chOff x="536258" y="4240893"/>
            <a:chExt cx="7836787" cy="1778907"/>
          </a:xfrm>
        </p:grpSpPr>
        <p:grpSp>
          <p:nvGrpSpPr>
            <p:cNvPr id="6" name="Group 5"/>
            <p:cNvGrpSpPr/>
            <p:nvPr/>
          </p:nvGrpSpPr>
          <p:grpSpPr>
            <a:xfrm>
              <a:off x="5680921" y="4334302"/>
              <a:ext cx="2041132" cy="1087621"/>
              <a:chOff x="4297745" y="3896426"/>
              <a:chExt cx="2153937" cy="1291761"/>
            </a:xfrm>
          </p:grpSpPr>
          <p:sp>
            <p:nvSpPr>
              <p:cNvPr id="101" name="Freeform 100"/>
              <p:cNvSpPr>
                <a:spLocks/>
              </p:cNvSpPr>
              <p:nvPr/>
            </p:nvSpPr>
            <p:spPr bwMode="auto">
              <a:xfrm>
                <a:off x="5478514" y="3950550"/>
                <a:ext cx="781843" cy="1237637"/>
              </a:xfrm>
              <a:custGeom>
                <a:avLst/>
                <a:gdLst>
                  <a:gd name="T0" fmla="*/ 1008 w 1008"/>
                  <a:gd name="T1" fmla="*/ 0 h 1296"/>
                  <a:gd name="T2" fmla="*/ 0 w 1008"/>
                  <a:gd name="T3" fmla="*/ 0 h 1296"/>
                  <a:gd name="T4" fmla="*/ 0 w 1008"/>
                  <a:gd name="T5" fmla="*/ 1296 h 1296"/>
                  <a:gd name="T6" fmla="*/ 1008 w 1008"/>
                  <a:gd name="T7" fmla="*/ 1296 h 1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8" h="1296">
                    <a:moveTo>
                      <a:pt x="1008" y="0"/>
                    </a:moveTo>
                    <a:lnTo>
                      <a:pt x="0" y="0"/>
                    </a:lnTo>
                    <a:lnTo>
                      <a:pt x="0" y="1296"/>
                    </a:lnTo>
                    <a:lnTo>
                      <a:pt x="1008" y="1296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3" name="Text Box 162"/>
              <p:cNvSpPr txBox="1">
                <a:spLocks noChangeArrowheads="1"/>
              </p:cNvSpPr>
              <p:nvPr/>
            </p:nvSpPr>
            <p:spPr bwMode="auto">
              <a:xfrm>
                <a:off x="4859563" y="4369526"/>
                <a:ext cx="223383" cy="286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b="1" i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</a:t>
                </a:r>
                <a:r>
                  <a:rPr lang="en-US" sz="1800" b="1" i="1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Text Box 163"/>
              <p:cNvSpPr txBox="1">
                <a:spLocks noChangeArrowheads="1"/>
              </p:cNvSpPr>
              <p:nvPr/>
            </p:nvSpPr>
            <p:spPr bwMode="auto">
              <a:xfrm>
                <a:off x="5640394" y="4398093"/>
                <a:ext cx="354467" cy="2750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b="1" i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gu</a:t>
                </a:r>
                <a:r>
                  <a:rPr lang="en-US" sz="1800" b="1" i="1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AutoShape 164"/>
              <p:cNvSpPr>
                <a:spLocks noChangeArrowheads="1"/>
              </p:cNvSpPr>
              <p:nvPr/>
            </p:nvSpPr>
            <p:spPr bwMode="auto">
              <a:xfrm>
                <a:off x="5364247" y="4283827"/>
                <a:ext cx="223383" cy="550060"/>
              </a:xfrm>
              <a:prstGeom prst="diamond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6" name="Freeform 105"/>
              <p:cNvSpPr>
                <a:spLocks/>
              </p:cNvSpPr>
              <p:nvPr/>
            </p:nvSpPr>
            <p:spPr bwMode="auto">
              <a:xfrm>
                <a:off x="4297745" y="3950550"/>
                <a:ext cx="670151" cy="275031"/>
              </a:xfrm>
              <a:custGeom>
                <a:avLst/>
                <a:gdLst>
                  <a:gd name="T0" fmla="*/ 0 w 864"/>
                  <a:gd name="T1" fmla="*/ 0 h 288"/>
                  <a:gd name="T2" fmla="*/ 864 w 864"/>
                  <a:gd name="T3" fmla="*/ 0 h 288"/>
                  <a:gd name="T4" fmla="*/ 864 w 864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4" h="288">
                    <a:moveTo>
                      <a:pt x="0" y="0"/>
                    </a:moveTo>
                    <a:lnTo>
                      <a:pt x="864" y="0"/>
                    </a:lnTo>
                    <a:lnTo>
                      <a:pt x="864" y="28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4297745" y="4912290"/>
                <a:ext cx="670151" cy="275031"/>
              </a:xfrm>
              <a:custGeom>
                <a:avLst/>
                <a:gdLst>
                  <a:gd name="T0" fmla="*/ 0 w 864"/>
                  <a:gd name="T1" fmla="*/ 288 h 288"/>
                  <a:gd name="T2" fmla="*/ 864 w 864"/>
                  <a:gd name="T3" fmla="*/ 288 h 288"/>
                  <a:gd name="T4" fmla="*/ 864 w 864"/>
                  <a:gd name="T5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4" h="288">
                    <a:moveTo>
                      <a:pt x="0" y="288"/>
                    </a:moveTo>
                    <a:lnTo>
                      <a:pt x="864" y="288"/>
                    </a:lnTo>
                    <a:lnTo>
                      <a:pt x="864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09" name="Line 177"/>
              <p:cNvCxnSpPr>
                <a:cxnSpLocks noChangeShapeType="1"/>
              </p:cNvCxnSpPr>
              <p:nvPr/>
            </p:nvCxnSpPr>
            <p:spPr bwMode="auto">
              <a:xfrm>
                <a:off x="6326002" y="5178911"/>
                <a:ext cx="1116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0" name="Line 184"/>
              <p:cNvCxnSpPr>
                <a:cxnSpLocks noChangeShapeType="1"/>
              </p:cNvCxnSpPr>
              <p:nvPr/>
            </p:nvCxnSpPr>
            <p:spPr bwMode="auto">
              <a:xfrm>
                <a:off x="4745295" y="4217171"/>
                <a:ext cx="1116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1" name="Line 185"/>
              <p:cNvCxnSpPr>
                <a:cxnSpLocks noChangeShapeType="1"/>
              </p:cNvCxnSpPr>
              <p:nvPr/>
            </p:nvCxnSpPr>
            <p:spPr bwMode="auto">
              <a:xfrm>
                <a:off x="4802429" y="4150516"/>
                <a:ext cx="0" cy="1375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Line 165"/>
              <p:cNvCxnSpPr>
                <a:cxnSpLocks noChangeShapeType="1"/>
              </p:cNvCxnSpPr>
              <p:nvPr/>
            </p:nvCxnSpPr>
            <p:spPr bwMode="auto">
              <a:xfrm>
                <a:off x="5478515" y="4426659"/>
                <a:ext cx="0" cy="2750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3" name="Line 186"/>
              <p:cNvCxnSpPr>
                <a:cxnSpLocks noChangeShapeType="1"/>
              </p:cNvCxnSpPr>
              <p:nvPr/>
            </p:nvCxnSpPr>
            <p:spPr bwMode="auto">
              <a:xfrm>
                <a:off x="4764340" y="4912290"/>
                <a:ext cx="1116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5" name="Group 4"/>
              <p:cNvGrpSpPr/>
              <p:nvPr/>
            </p:nvGrpSpPr>
            <p:grpSpPr>
              <a:xfrm>
                <a:off x="6339990" y="3896426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16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7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7" name="Group 6"/>
            <p:cNvGrpSpPr/>
            <p:nvPr/>
          </p:nvGrpSpPr>
          <p:grpSpPr>
            <a:xfrm>
              <a:off x="1091443" y="4240893"/>
              <a:ext cx="2185157" cy="1166208"/>
              <a:chOff x="1031308" y="4043960"/>
              <a:chExt cx="2185157" cy="1166208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047938" y="4100566"/>
                <a:ext cx="2168527" cy="1109602"/>
                <a:chOff x="1093874" y="4098500"/>
                <a:chExt cx="2168527" cy="1266207"/>
              </a:xfrm>
            </p:grpSpPr>
            <p:sp>
              <p:nvSpPr>
                <p:cNvPr id="83" name="Freeform 82"/>
                <p:cNvSpPr>
                  <a:spLocks/>
                </p:cNvSpPr>
                <p:nvPr/>
              </p:nvSpPr>
              <p:spPr bwMode="auto">
                <a:xfrm>
                  <a:off x="2236560" y="4127067"/>
                  <a:ext cx="781847" cy="1237640"/>
                </a:xfrm>
                <a:custGeom>
                  <a:avLst/>
                  <a:gdLst>
                    <a:gd name="T0" fmla="*/ 1008 w 1008"/>
                    <a:gd name="T1" fmla="*/ 0 h 1296"/>
                    <a:gd name="T2" fmla="*/ 0 w 1008"/>
                    <a:gd name="T3" fmla="*/ 0 h 1296"/>
                    <a:gd name="T4" fmla="*/ 0 w 1008"/>
                    <a:gd name="T5" fmla="*/ 1296 h 1296"/>
                    <a:gd name="T6" fmla="*/ 1008 w 1008"/>
                    <a:gd name="T7" fmla="*/ 1296 h 1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08" h="1296">
                      <a:moveTo>
                        <a:pt x="1008" y="0"/>
                      </a:moveTo>
                      <a:lnTo>
                        <a:pt x="0" y="0"/>
                      </a:lnTo>
                      <a:lnTo>
                        <a:pt x="0" y="1296"/>
                      </a:lnTo>
                      <a:lnTo>
                        <a:pt x="1008" y="129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1408113" y="4241333"/>
                  <a:ext cx="223384" cy="28649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Freeform 84"/>
                <p:cNvSpPr>
                  <a:spLocks/>
                </p:cNvSpPr>
                <p:nvPr/>
              </p:nvSpPr>
              <p:spPr bwMode="auto">
                <a:xfrm>
                  <a:off x="1255755" y="4098500"/>
                  <a:ext cx="670154" cy="581577"/>
                </a:xfrm>
                <a:custGeom>
                  <a:avLst/>
                  <a:gdLst>
                    <a:gd name="T0" fmla="*/ 0 w 1008"/>
                    <a:gd name="T1" fmla="*/ 0 h 288"/>
                    <a:gd name="T2" fmla="*/ 1008 w 1008"/>
                    <a:gd name="T3" fmla="*/ 0 h 288"/>
                    <a:gd name="T4" fmla="*/ 1008 w 1008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08" h="288">
                      <a:moveTo>
                        <a:pt x="0" y="0"/>
                      </a:moveTo>
                      <a:lnTo>
                        <a:pt x="1008" y="0"/>
                      </a:lnTo>
                      <a:lnTo>
                        <a:pt x="1008" y="288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Freeform 85"/>
                <p:cNvSpPr>
                  <a:spLocks/>
                </p:cNvSpPr>
                <p:nvPr/>
              </p:nvSpPr>
              <p:spPr bwMode="auto">
                <a:xfrm>
                  <a:off x="1255755" y="4546044"/>
                  <a:ext cx="670154" cy="793579"/>
                </a:xfrm>
                <a:custGeom>
                  <a:avLst/>
                  <a:gdLst>
                    <a:gd name="T0" fmla="*/ 0 w 1008"/>
                    <a:gd name="T1" fmla="*/ 432 h 432"/>
                    <a:gd name="T2" fmla="*/ 1008 w 1008"/>
                    <a:gd name="T3" fmla="*/ 432 h 432"/>
                    <a:gd name="T4" fmla="*/ 1008 w 1008"/>
                    <a:gd name="T5" fmla="*/ 0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08" h="432">
                      <a:moveTo>
                        <a:pt x="0" y="432"/>
                      </a:moveTo>
                      <a:lnTo>
                        <a:pt x="1008" y="432"/>
                      </a:lnTo>
                      <a:lnTo>
                        <a:pt x="1008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407962" y="4527000"/>
                  <a:ext cx="354468" cy="27503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</a:t>
                  </a:r>
                  <a:r>
                    <a:rPr lang="en-US" sz="1800" b="1" i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.i</a:t>
                  </a:r>
                  <a:r>
                    <a:rPr lang="en-US" sz="1800" b="1" i="1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AutoShape 158"/>
                <p:cNvSpPr>
                  <a:spLocks noChangeArrowheads="1"/>
                </p:cNvSpPr>
                <p:nvPr/>
              </p:nvSpPr>
              <p:spPr bwMode="auto">
                <a:xfrm>
                  <a:off x="2131813" y="4403211"/>
                  <a:ext cx="223384" cy="550062"/>
                </a:xfrm>
                <a:prstGeom prst="diamond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89" name="Line 159"/>
                <p:cNvCxnSpPr>
                  <a:cxnSpLocks noChangeShapeType="1"/>
                </p:cNvCxnSpPr>
                <p:nvPr/>
              </p:nvCxnSpPr>
              <p:spPr bwMode="auto">
                <a:xfrm>
                  <a:off x="2255604" y="4555566"/>
                  <a:ext cx="0" cy="27503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1" name="Line 172"/>
                <p:cNvCxnSpPr>
                  <a:cxnSpLocks noChangeShapeType="1"/>
                </p:cNvCxnSpPr>
                <p:nvPr/>
              </p:nvCxnSpPr>
              <p:spPr bwMode="auto">
                <a:xfrm>
                  <a:off x="3150708" y="5355432"/>
                  <a:ext cx="11169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3" name="Line 182"/>
                <p:cNvCxnSpPr>
                  <a:cxnSpLocks noChangeShapeType="1"/>
                </p:cNvCxnSpPr>
                <p:nvPr/>
              </p:nvCxnSpPr>
              <p:spPr bwMode="auto">
                <a:xfrm>
                  <a:off x="1093874" y="5345910"/>
                  <a:ext cx="11169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4" name="Line 156"/>
                <p:cNvCxnSpPr>
                  <a:cxnSpLocks noChangeShapeType="1"/>
                </p:cNvCxnSpPr>
                <p:nvPr/>
              </p:nvCxnSpPr>
              <p:spPr bwMode="auto">
                <a:xfrm>
                  <a:off x="1379546" y="4174678"/>
                  <a:ext cx="33507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25" name="Group 124"/>
              <p:cNvGrpSpPr/>
              <p:nvPr/>
            </p:nvGrpSpPr>
            <p:grpSpPr>
              <a:xfrm>
                <a:off x="3048000" y="4053485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26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7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28" name="Group 127"/>
              <p:cNvGrpSpPr/>
              <p:nvPr/>
            </p:nvGrpSpPr>
            <p:grpSpPr>
              <a:xfrm>
                <a:off x="1031308" y="4043960"/>
                <a:ext cx="111692" cy="137515"/>
                <a:chOff x="6212908" y="4038600"/>
                <a:chExt cx="111692" cy="137515"/>
              </a:xfrm>
            </p:grpSpPr>
            <p:cxnSp>
              <p:nvCxnSpPr>
                <p:cNvPr id="129" name="Line 184"/>
                <p:cNvCxnSpPr>
                  <a:cxnSpLocks noChangeShapeType="1"/>
                </p:cNvCxnSpPr>
                <p:nvPr/>
              </p:nvCxnSpPr>
              <p:spPr bwMode="auto">
                <a:xfrm>
                  <a:off x="6212908" y="4105255"/>
                  <a:ext cx="1116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0" name="Line 185"/>
                <p:cNvCxnSpPr>
                  <a:cxnSpLocks noChangeShapeType="1"/>
                </p:cNvCxnSpPr>
                <p:nvPr/>
              </p:nvCxnSpPr>
              <p:spPr bwMode="auto">
                <a:xfrm>
                  <a:off x="6270042" y="4038600"/>
                  <a:ext cx="0" cy="1375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38" name="Text Box 3"/>
            <p:cNvSpPr txBox="1">
              <a:spLocks noChangeArrowheads="1"/>
            </p:cNvSpPr>
            <p:nvPr/>
          </p:nvSpPr>
          <p:spPr bwMode="auto">
            <a:xfrm>
              <a:off x="536258" y="5647411"/>
              <a:ext cx="3496245" cy="372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dòng phụ thuộc dòng</a:t>
              </a:r>
              <a:endParaRPr kumimoji="0" lang="en-US" sz="20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9" name="Text Box 3"/>
            <p:cNvSpPr txBox="1">
              <a:spLocks noChangeArrowheads="1"/>
            </p:cNvSpPr>
            <p:nvPr/>
          </p:nvSpPr>
          <p:spPr bwMode="auto">
            <a:xfrm>
              <a:off x="4876800" y="5634429"/>
              <a:ext cx="3496245" cy="372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Nguồn dòng phụ thuộc </a:t>
              </a:r>
              <a:r>
                <a:rPr lang="en-US" sz="2000" i="1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áp</a:t>
              </a:r>
              <a:endParaRPr kumimoji="0" lang="en-US" sz="20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457200" y="457201"/>
            <a:ext cx="81534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68375" lvl="0" indent="-968375" fontAlgn="base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 dirty="0" err="1">
                <a:latin typeface="Arial" panose="020B0604020202020204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</a:t>
            </a:r>
            <a:r>
              <a:rPr lang="en-US" sz="2400" b="1" u="sng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b="1" u="sng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dụ</a:t>
            </a: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Cho mạch điện ở trạng thái xác lập. Tìm dòng điện qua điện trở 3</a:t>
            </a:r>
            <a:r>
              <a:rPr lang="en-US" sz="24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, biết </a:t>
            </a:r>
            <a:r>
              <a:rPr lang="en-US" sz="2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J = 5(A</a:t>
            </a:r>
            <a:r>
              <a:rPr lang="en-US" sz="24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- nguồn một chiều.</a:t>
            </a:r>
            <a:endParaRPr kumimoji="0" lang="en-US" sz="2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102" name="Object 101"/>
          <p:cNvGraphicFramePr>
            <a:graphicFrameLocks noChangeAspect="1"/>
          </p:cNvGraphicFramePr>
          <p:nvPr/>
        </p:nvGraphicFramePr>
        <p:xfrm>
          <a:off x="6022975" y="3521075"/>
          <a:ext cx="22066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393480" progId="Equation.DSMT4">
                  <p:embed/>
                </p:oleObj>
              </mc:Choice>
              <mc:Fallback>
                <p:oleObj name="Equation" r:id="rId3" imgW="1231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3521075"/>
                        <a:ext cx="2206625" cy="746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41"/>
          <p:cNvGrpSpPr/>
          <p:nvPr/>
        </p:nvGrpSpPr>
        <p:grpSpPr>
          <a:xfrm>
            <a:off x="381000" y="1371600"/>
            <a:ext cx="3886200" cy="1922616"/>
            <a:chOff x="2422502" y="552489"/>
            <a:chExt cx="3408606" cy="1686336"/>
          </a:xfrm>
        </p:grpSpPr>
        <p:cxnSp>
          <p:nvCxnSpPr>
            <p:cNvPr id="43" name="Line 47"/>
            <p:cNvCxnSpPr>
              <a:cxnSpLocks noChangeShapeType="1"/>
            </p:cNvCxnSpPr>
            <p:nvPr/>
          </p:nvCxnSpPr>
          <p:spPr bwMode="auto">
            <a:xfrm>
              <a:off x="3447597" y="1069463"/>
              <a:ext cx="5877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54"/>
            <p:cNvCxnSpPr>
              <a:cxnSpLocks noChangeShapeType="1"/>
            </p:cNvCxnSpPr>
            <p:nvPr/>
          </p:nvCxnSpPr>
          <p:spPr bwMode="auto">
            <a:xfrm>
              <a:off x="5003241" y="1059676"/>
              <a:ext cx="0" cy="337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Line 55"/>
            <p:cNvCxnSpPr>
              <a:cxnSpLocks noChangeShapeType="1"/>
            </p:cNvCxnSpPr>
            <p:nvPr/>
          </p:nvCxnSpPr>
          <p:spPr bwMode="auto">
            <a:xfrm>
              <a:off x="5013670" y="1783926"/>
              <a:ext cx="0" cy="4548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6" name="Group 45"/>
            <p:cNvGrpSpPr>
              <a:grpSpLocks/>
            </p:cNvGrpSpPr>
            <p:nvPr/>
          </p:nvGrpSpPr>
          <p:grpSpPr bwMode="auto">
            <a:xfrm rot="16200000">
              <a:off x="2599865" y="1330626"/>
              <a:ext cx="475539" cy="111770"/>
              <a:chOff x="2448" y="1728"/>
              <a:chExt cx="571" cy="143"/>
            </a:xfrm>
          </p:grpSpPr>
          <p:sp>
            <p:nvSpPr>
              <p:cNvPr id="119" name="Freeform 118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20" name="Freeform 119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21" name="Freeform 120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22" name="Freeform 121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23" name="Line 22"/>
              <p:cNvCxnSpPr>
                <a:cxnSpLocks noChangeShapeType="1"/>
              </p:cNvCxnSpPr>
              <p:nvPr/>
            </p:nvCxn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4" name="Line 23"/>
              <p:cNvCxnSpPr>
                <a:cxnSpLocks noChangeShapeType="1"/>
              </p:cNvCxnSpPr>
              <p:nvPr/>
            </p:nvCxn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8" name="Group 47"/>
            <p:cNvGrpSpPr>
              <a:grpSpLocks/>
            </p:cNvGrpSpPr>
            <p:nvPr/>
          </p:nvGrpSpPr>
          <p:grpSpPr bwMode="auto">
            <a:xfrm>
              <a:off x="4048637" y="814996"/>
              <a:ext cx="649597" cy="506486"/>
              <a:chOff x="9964" y="3024"/>
              <a:chExt cx="780" cy="648"/>
            </a:xfrm>
          </p:grpSpPr>
          <p:grpSp>
            <p:nvGrpSpPr>
              <p:cNvPr id="94" name="Group 93"/>
              <p:cNvGrpSpPr>
                <a:grpSpLocks/>
              </p:cNvGrpSpPr>
              <p:nvPr/>
            </p:nvGrpSpPr>
            <p:grpSpPr bwMode="auto">
              <a:xfrm>
                <a:off x="10072" y="3456"/>
                <a:ext cx="574" cy="216"/>
                <a:chOff x="2307" y="1614"/>
                <a:chExt cx="567" cy="216"/>
              </a:xfrm>
            </p:grpSpPr>
            <p:grpSp>
              <p:nvGrpSpPr>
                <p:cNvPr id="114" name="Group 113"/>
                <p:cNvGrpSpPr>
                  <a:grpSpLocks/>
                </p:cNvGrpSpPr>
                <p:nvPr/>
              </p:nvGrpSpPr>
              <p:grpSpPr bwMode="auto">
                <a:xfrm>
                  <a:off x="2554" y="1614"/>
                  <a:ext cx="74" cy="216"/>
                  <a:chOff x="7702" y="4896"/>
                  <a:chExt cx="74" cy="216"/>
                </a:xfrm>
              </p:grpSpPr>
              <p:cxnSp>
                <p:nvCxnSpPr>
                  <p:cNvPr id="117" name="Line 3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76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8" name="Line 3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02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115" name="Line 36"/>
                <p:cNvCxnSpPr>
                  <a:cxnSpLocks noChangeShapeType="1"/>
                </p:cNvCxnSpPr>
                <p:nvPr/>
              </p:nvCxnSpPr>
              <p:spPr bwMode="auto">
                <a:xfrm>
                  <a:off x="2307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6" name="Line 37"/>
                <p:cNvCxnSpPr>
                  <a:cxnSpLocks noChangeShapeType="1"/>
                </p:cNvCxnSpPr>
                <p:nvPr/>
              </p:nvCxnSpPr>
              <p:spPr bwMode="auto">
                <a:xfrm>
                  <a:off x="2629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95" name="Group 94"/>
              <p:cNvGrpSpPr>
                <a:grpSpLocks/>
              </p:cNvGrpSpPr>
              <p:nvPr/>
            </p:nvGrpSpPr>
            <p:grpSpPr bwMode="auto">
              <a:xfrm>
                <a:off x="10080" y="3024"/>
                <a:ext cx="571" cy="143"/>
                <a:chOff x="2448" y="1728"/>
                <a:chExt cx="571" cy="143"/>
              </a:xfrm>
            </p:grpSpPr>
            <p:sp>
              <p:nvSpPr>
                <p:cNvPr id="108" name="Freeform 107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109" name="Freeform 108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110" name="Freeform 109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111" name="Freeform 110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cxnSp>
              <p:nvCxnSpPr>
                <p:cNvPr id="112" name="Line 43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3" name="Line 44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06" name="Freeform 105"/>
              <p:cNvSpPr>
                <a:spLocks/>
              </p:cNvSpPr>
              <p:nvPr/>
            </p:nvSpPr>
            <p:spPr bwMode="auto">
              <a:xfrm>
                <a:off x="9964" y="3126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 rot="10800000">
                <a:off x="10600" y="3122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</p:grpSp>
        <p:cxnSp>
          <p:nvCxnSpPr>
            <p:cNvPr id="49" name="Line 51"/>
            <p:cNvCxnSpPr>
              <a:cxnSpLocks noChangeShapeType="1"/>
            </p:cNvCxnSpPr>
            <p:nvPr/>
          </p:nvCxnSpPr>
          <p:spPr bwMode="auto">
            <a:xfrm>
              <a:off x="3562309" y="1059676"/>
              <a:ext cx="0" cy="6073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Line 52"/>
            <p:cNvCxnSpPr>
              <a:cxnSpLocks noChangeShapeType="1"/>
            </p:cNvCxnSpPr>
            <p:nvPr/>
          </p:nvCxnSpPr>
          <p:spPr bwMode="auto">
            <a:xfrm>
              <a:off x="3562309" y="1734989"/>
              <a:ext cx="0" cy="4909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" name="Freeform 50"/>
            <p:cNvSpPr>
              <a:spLocks/>
            </p:cNvSpPr>
            <p:nvPr/>
          </p:nvSpPr>
          <p:spPr bwMode="auto">
            <a:xfrm rot="5400000">
              <a:off x="4788564" y="1534817"/>
              <a:ext cx="450210" cy="14407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52" name="Text Box 69"/>
            <p:cNvSpPr txBox="1">
              <a:spLocks noChangeArrowheads="1"/>
            </p:cNvSpPr>
            <p:nvPr/>
          </p:nvSpPr>
          <p:spPr bwMode="auto">
            <a:xfrm>
              <a:off x="4544395" y="1558820"/>
              <a:ext cx="359777" cy="2251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70"/>
            <p:cNvSpPr txBox="1">
              <a:spLocks noChangeArrowheads="1"/>
            </p:cNvSpPr>
            <p:nvPr/>
          </p:nvSpPr>
          <p:spPr bwMode="auto">
            <a:xfrm>
              <a:off x="3708960" y="1567223"/>
              <a:ext cx="641342" cy="2437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0.25F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71"/>
            <p:cNvSpPr txBox="1">
              <a:spLocks noChangeArrowheads="1"/>
            </p:cNvSpPr>
            <p:nvPr/>
          </p:nvSpPr>
          <p:spPr bwMode="auto">
            <a:xfrm>
              <a:off x="3014783" y="1719408"/>
              <a:ext cx="359777" cy="2251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72"/>
            <p:cNvSpPr txBox="1">
              <a:spLocks noChangeArrowheads="1"/>
            </p:cNvSpPr>
            <p:nvPr/>
          </p:nvSpPr>
          <p:spPr bwMode="auto">
            <a:xfrm>
              <a:off x="4179576" y="552489"/>
              <a:ext cx="479703" cy="202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0.5H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73"/>
            <p:cNvSpPr txBox="1">
              <a:spLocks noChangeArrowheads="1"/>
            </p:cNvSpPr>
            <p:nvPr/>
          </p:nvSpPr>
          <p:spPr bwMode="auto">
            <a:xfrm>
              <a:off x="4073942" y="1314142"/>
              <a:ext cx="600395" cy="194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0.25F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75"/>
            <p:cNvSpPr txBox="1">
              <a:spLocks noChangeArrowheads="1"/>
            </p:cNvSpPr>
            <p:nvPr/>
          </p:nvSpPr>
          <p:spPr bwMode="auto">
            <a:xfrm>
              <a:off x="2950308" y="1272967"/>
              <a:ext cx="408170" cy="2753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1H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3426740" y="1676267"/>
              <a:ext cx="2398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3426740" y="1725203"/>
              <a:ext cx="2398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4700821" y="1049889"/>
              <a:ext cx="3098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 68"/>
            <p:cNvSpPr>
              <a:spLocks/>
            </p:cNvSpPr>
            <p:nvPr/>
          </p:nvSpPr>
          <p:spPr bwMode="auto">
            <a:xfrm rot="5400000">
              <a:off x="2631579" y="1769536"/>
              <a:ext cx="450210" cy="14407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2847703" y="1071154"/>
              <a:ext cx="740228" cy="78377"/>
            </a:xfrm>
            <a:custGeom>
              <a:avLst/>
              <a:gdLst>
                <a:gd name="connsiteX0" fmla="*/ 0 w 740228"/>
                <a:gd name="connsiteY0" fmla="*/ 78377 h 78377"/>
                <a:gd name="connsiteX1" fmla="*/ 8708 w 740228"/>
                <a:gd name="connsiteY1" fmla="*/ 0 h 78377"/>
                <a:gd name="connsiteX2" fmla="*/ 740228 w 740228"/>
                <a:gd name="connsiteY2" fmla="*/ 0 h 7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0228" h="78377">
                  <a:moveTo>
                    <a:pt x="0" y="78377"/>
                  </a:moveTo>
                  <a:lnTo>
                    <a:pt x="8708" y="0"/>
                  </a:lnTo>
                  <a:lnTo>
                    <a:pt x="74022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2856411" y="2037804"/>
              <a:ext cx="2159726" cy="191589"/>
            </a:xfrm>
            <a:custGeom>
              <a:avLst/>
              <a:gdLst>
                <a:gd name="connsiteX0" fmla="*/ 0 w 2159726"/>
                <a:gd name="connsiteY0" fmla="*/ 0 h 191589"/>
                <a:gd name="connsiteX1" fmla="*/ 0 w 2159726"/>
                <a:gd name="connsiteY1" fmla="*/ 191589 h 191589"/>
                <a:gd name="connsiteX2" fmla="*/ 2159726 w 2159726"/>
                <a:gd name="connsiteY2" fmla="*/ 191589 h 19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9726" h="191589">
                  <a:moveTo>
                    <a:pt x="0" y="0"/>
                  </a:moveTo>
                  <a:lnTo>
                    <a:pt x="0" y="191589"/>
                  </a:lnTo>
                  <a:lnTo>
                    <a:pt x="2159726" y="191589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5007429" y="1053737"/>
              <a:ext cx="670560" cy="1166948"/>
            </a:xfrm>
            <a:custGeom>
              <a:avLst/>
              <a:gdLst>
                <a:gd name="connsiteX0" fmla="*/ 0 w 670560"/>
                <a:gd name="connsiteY0" fmla="*/ 0 h 1193074"/>
                <a:gd name="connsiteX1" fmla="*/ 0 w 670560"/>
                <a:gd name="connsiteY1" fmla="*/ 0 h 1193074"/>
                <a:gd name="connsiteX2" fmla="*/ 670560 w 670560"/>
                <a:gd name="connsiteY2" fmla="*/ 0 h 1193074"/>
                <a:gd name="connsiteX3" fmla="*/ 670560 w 670560"/>
                <a:gd name="connsiteY3" fmla="*/ 1193074 h 1193074"/>
                <a:gd name="connsiteX4" fmla="*/ 8708 w 670560"/>
                <a:gd name="connsiteY4" fmla="*/ 1193074 h 119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560" h="1193074">
                  <a:moveTo>
                    <a:pt x="0" y="0"/>
                  </a:moveTo>
                  <a:lnTo>
                    <a:pt x="0" y="0"/>
                  </a:lnTo>
                  <a:lnTo>
                    <a:pt x="670560" y="0"/>
                  </a:lnTo>
                  <a:lnTo>
                    <a:pt x="670560" y="1193074"/>
                  </a:lnTo>
                  <a:lnTo>
                    <a:pt x="8708" y="119307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5509593" y="1455313"/>
              <a:ext cx="321515" cy="321515"/>
              <a:chOff x="5840517" y="1376932"/>
              <a:chExt cx="321515" cy="321515"/>
            </a:xfrm>
          </p:grpSpPr>
          <p:sp>
            <p:nvSpPr>
              <p:cNvPr id="92" name="Oval 91"/>
              <p:cNvSpPr/>
              <p:nvPr/>
            </p:nvSpPr>
            <p:spPr>
              <a:xfrm>
                <a:off x="5840517" y="1376932"/>
                <a:ext cx="321515" cy="321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93" name="Straight Connector 92"/>
              <p:cNvCxnSpPr>
                <a:cxnSpLocks noChangeShapeType="1"/>
              </p:cNvCxnSpPr>
              <p:nvPr/>
            </p:nvCxnSpPr>
            <p:spPr bwMode="auto">
              <a:xfrm flipV="1">
                <a:off x="6008714" y="1423166"/>
                <a:ext cx="0" cy="204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4" name="Text Box 6"/>
            <p:cNvSpPr txBox="1">
              <a:spLocks noChangeArrowheads="1"/>
            </p:cNvSpPr>
            <p:nvPr/>
          </p:nvSpPr>
          <p:spPr bwMode="auto">
            <a:xfrm>
              <a:off x="2422502" y="1734989"/>
              <a:ext cx="242090" cy="3028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2"/>
            <p:cNvSpPr txBox="1">
              <a:spLocks noChangeArrowheads="1"/>
            </p:cNvSpPr>
            <p:nvPr/>
          </p:nvSpPr>
          <p:spPr bwMode="auto">
            <a:xfrm>
              <a:off x="5259969" y="1491529"/>
              <a:ext cx="203391" cy="2750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endPara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2720786" y="1662166"/>
              <a:ext cx="0" cy="427887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ight Arrow 3"/>
          <p:cNvSpPr/>
          <p:nvPr/>
        </p:nvSpPr>
        <p:spPr>
          <a:xfrm>
            <a:off x="4648200" y="2378412"/>
            <a:ext cx="381000" cy="38907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ight Arrow 140"/>
          <p:cNvSpPr/>
          <p:nvPr/>
        </p:nvSpPr>
        <p:spPr>
          <a:xfrm>
            <a:off x="5572539" y="3687148"/>
            <a:ext cx="190500" cy="42765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341889" y="1939836"/>
            <a:ext cx="3040111" cy="1212807"/>
            <a:chOff x="5257800" y="1939836"/>
            <a:chExt cx="3040111" cy="1212807"/>
          </a:xfrm>
        </p:grpSpPr>
        <p:cxnSp>
          <p:nvCxnSpPr>
            <p:cNvPr id="126" name="Straight Connector 125"/>
            <p:cNvCxnSpPr>
              <a:cxnSpLocks noChangeShapeType="1"/>
            </p:cNvCxnSpPr>
            <p:nvPr/>
          </p:nvCxnSpPr>
          <p:spPr bwMode="auto">
            <a:xfrm flipV="1">
              <a:off x="6888499" y="1956766"/>
              <a:ext cx="0" cy="342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Straight Connector 126"/>
            <p:cNvCxnSpPr>
              <a:cxnSpLocks noChangeShapeType="1"/>
              <a:stCxn id="130" idx="9"/>
            </p:cNvCxnSpPr>
            <p:nvPr/>
          </p:nvCxnSpPr>
          <p:spPr bwMode="auto">
            <a:xfrm flipH="1">
              <a:off x="6884680" y="2712507"/>
              <a:ext cx="5365" cy="440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9" name="Text Box 2"/>
            <p:cNvSpPr txBox="1">
              <a:spLocks noChangeArrowheads="1"/>
            </p:cNvSpPr>
            <p:nvPr/>
          </p:nvSpPr>
          <p:spPr bwMode="auto">
            <a:xfrm>
              <a:off x="7543800" y="2325369"/>
              <a:ext cx="259942" cy="351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</a:t>
              </a:r>
              <a:endPara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 rot="5400000">
              <a:off x="6572084" y="2390383"/>
              <a:ext cx="635921" cy="220300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31" name="Text Box 6"/>
            <p:cNvSpPr txBox="1">
              <a:spLocks noChangeArrowheads="1"/>
            </p:cNvSpPr>
            <p:nvPr/>
          </p:nvSpPr>
          <p:spPr bwMode="auto">
            <a:xfrm>
              <a:off x="7076877" y="2327663"/>
              <a:ext cx="466923" cy="284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000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 Box 6"/>
            <p:cNvSpPr txBox="1">
              <a:spLocks noChangeArrowheads="1"/>
            </p:cNvSpPr>
            <p:nvPr/>
          </p:nvSpPr>
          <p:spPr bwMode="auto">
            <a:xfrm>
              <a:off x="6435636" y="2344782"/>
              <a:ext cx="245683" cy="284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8" name="Straight Arrow Connector 137"/>
            <p:cNvCxnSpPr/>
            <p:nvPr/>
          </p:nvCxnSpPr>
          <p:spPr>
            <a:xfrm>
              <a:off x="6731727" y="2301316"/>
              <a:ext cx="0" cy="418469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cxnSpLocks noChangeShapeType="1"/>
            </p:cNvCxnSpPr>
            <p:nvPr/>
          </p:nvCxnSpPr>
          <p:spPr bwMode="auto">
            <a:xfrm flipV="1">
              <a:off x="5817830" y="1948545"/>
              <a:ext cx="0" cy="342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Straight Connector 143"/>
            <p:cNvCxnSpPr>
              <a:cxnSpLocks noChangeShapeType="1"/>
              <a:stCxn id="145" idx="9"/>
            </p:cNvCxnSpPr>
            <p:nvPr/>
          </p:nvCxnSpPr>
          <p:spPr bwMode="auto">
            <a:xfrm flipH="1">
              <a:off x="5817711" y="2704286"/>
              <a:ext cx="1477" cy="440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5" name="Freeform 144"/>
            <p:cNvSpPr>
              <a:spLocks/>
            </p:cNvSpPr>
            <p:nvPr/>
          </p:nvSpPr>
          <p:spPr bwMode="auto">
            <a:xfrm rot="5400000">
              <a:off x="5501227" y="2382162"/>
              <a:ext cx="635921" cy="220300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46" name="Text Box 6"/>
            <p:cNvSpPr txBox="1">
              <a:spLocks noChangeArrowheads="1"/>
            </p:cNvSpPr>
            <p:nvPr/>
          </p:nvSpPr>
          <p:spPr bwMode="auto">
            <a:xfrm>
              <a:off x="6009253" y="2339354"/>
              <a:ext cx="466923" cy="284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VNI-Times" pitchFamily="2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3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 Box 6"/>
            <p:cNvSpPr txBox="1">
              <a:spLocks noChangeArrowheads="1"/>
            </p:cNvSpPr>
            <p:nvPr/>
          </p:nvSpPr>
          <p:spPr bwMode="auto">
            <a:xfrm>
              <a:off x="5257800" y="2342729"/>
              <a:ext cx="408644" cy="284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8" name="Straight Arrow Connector 147"/>
            <p:cNvCxnSpPr/>
            <p:nvPr/>
          </p:nvCxnSpPr>
          <p:spPr>
            <a:xfrm>
              <a:off x="5619207" y="2342149"/>
              <a:ext cx="0" cy="418469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5808617" y="1939836"/>
              <a:ext cx="2299063" cy="1201783"/>
            </a:xfrm>
            <a:custGeom>
              <a:avLst/>
              <a:gdLst>
                <a:gd name="connsiteX0" fmla="*/ 0 w 2299063"/>
                <a:gd name="connsiteY0" fmla="*/ 0 h 1201783"/>
                <a:gd name="connsiteX1" fmla="*/ 2299063 w 2299063"/>
                <a:gd name="connsiteY1" fmla="*/ 0 h 1201783"/>
                <a:gd name="connsiteX2" fmla="*/ 2299063 w 2299063"/>
                <a:gd name="connsiteY2" fmla="*/ 1201783 h 1201783"/>
                <a:gd name="connsiteX3" fmla="*/ 0 w 2299063"/>
                <a:gd name="connsiteY3" fmla="*/ 1201783 h 120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063" h="1201783">
                  <a:moveTo>
                    <a:pt x="0" y="0"/>
                  </a:moveTo>
                  <a:lnTo>
                    <a:pt x="2299063" y="0"/>
                  </a:lnTo>
                  <a:lnTo>
                    <a:pt x="2299063" y="1201783"/>
                  </a:lnTo>
                  <a:lnTo>
                    <a:pt x="0" y="120178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7" name="Group 136"/>
            <p:cNvGrpSpPr/>
            <p:nvPr/>
          </p:nvGrpSpPr>
          <p:grpSpPr>
            <a:xfrm>
              <a:off x="7887002" y="2286000"/>
              <a:ext cx="410909" cy="410909"/>
              <a:chOff x="5840517" y="1376932"/>
              <a:chExt cx="321515" cy="321515"/>
            </a:xfrm>
          </p:grpSpPr>
          <p:sp>
            <p:nvSpPr>
              <p:cNvPr id="139" name="Oval 138"/>
              <p:cNvSpPr/>
              <p:nvPr/>
            </p:nvSpPr>
            <p:spPr>
              <a:xfrm>
                <a:off x="5840517" y="1376932"/>
                <a:ext cx="321515" cy="321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140" name="Straight Connector 139"/>
              <p:cNvCxnSpPr>
                <a:cxnSpLocks noChangeShapeType="1"/>
              </p:cNvCxnSpPr>
              <p:nvPr/>
            </p:nvCxnSpPr>
            <p:spPr bwMode="auto">
              <a:xfrm flipV="1">
                <a:off x="6008714" y="1423166"/>
                <a:ext cx="0" cy="204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6908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1.2 PHÂN LOẠI &amp; TRẠNG THÁI LÀM VIỆC MĐ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95300" y="1066800"/>
            <a:ext cx="8229600" cy="5143500"/>
          </a:xfrm>
        </p:spPr>
        <p:txBody>
          <a:bodyPr>
            <a:normAutofit/>
          </a:bodyPr>
          <a:lstStyle/>
          <a:p>
            <a:pPr>
              <a:buClrTx/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Phân loại theo mạch điện:</a:t>
            </a:r>
          </a:p>
          <a:p>
            <a:pPr lvl="1"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Mạch tuyến tính, phi tuyến</a:t>
            </a:r>
          </a:p>
          <a:p>
            <a:pPr lvl="1"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Mạch có thông số tập trung, phân bố</a:t>
            </a:r>
          </a:p>
          <a:p>
            <a:pPr lvl="1"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Mạch tương hỗ, không tương hỗ</a:t>
            </a:r>
          </a:p>
          <a:p>
            <a:pPr>
              <a:spcBef>
                <a:spcPts val="1200"/>
              </a:spcBef>
              <a:buClrTx/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loại trạng thái làm việc của mạch điện:</a:t>
            </a:r>
          </a:p>
          <a:p>
            <a:pPr lvl="1"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Trạng thái xác lập: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u(t), i(t) trong mạch đã ổn định và biến thiên theo quy luật nguồn tác động.</a:t>
            </a:r>
          </a:p>
          <a:p>
            <a:pPr lvl="1"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Trạng thái quá độ: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u(t), i(t) chưa ổn định và biến thiên không theo quy luật nguồn tác động.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219200" y="5410200"/>
            <a:ext cx="6705600" cy="685800"/>
            <a:chOff x="1219200" y="5334000"/>
            <a:chExt cx="6705600" cy="685800"/>
          </a:xfrm>
        </p:grpSpPr>
        <p:sp>
          <p:nvSpPr>
            <p:cNvPr id="3" name="Rounded Rectangle 2"/>
            <p:cNvSpPr/>
            <p:nvPr/>
          </p:nvSpPr>
          <p:spPr>
            <a:xfrm>
              <a:off x="1219200" y="5334000"/>
              <a:ext cx="1600200" cy="68580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Trạng thái xác lập 1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324600" y="5334000"/>
              <a:ext cx="1600200" cy="68580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Trạng thái xác lập 2</a:t>
              </a:r>
            </a:p>
          </p:txBody>
        </p:sp>
        <p:cxnSp>
          <p:nvCxnSpPr>
            <p:cNvPr id="5" name="Straight Arrow Connector 4"/>
            <p:cNvCxnSpPr>
              <a:stCxn id="3" idx="3"/>
              <a:endCxn id="29" idx="1"/>
            </p:cNvCxnSpPr>
            <p:nvPr/>
          </p:nvCxnSpPr>
          <p:spPr>
            <a:xfrm>
              <a:off x="2819400" y="5676900"/>
              <a:ext cx="350520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3749802" y="5334000"/>
              <a:ext cx="1600200" cy="685800"/>
            </a:xfrm>
            <a:prstGeom prst="roundRect">
              <a:avLst/>
            </a:prstGeom>
            <a:solidFill>
              <a:schemeClr val="bg1"/>
            </a:solidFill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Trạng thái quá độ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2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1.3 CÔNG SUẤT &amp; NĂNG LƯỢNG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95299" y="914400"/>
            <a:ext cx="6936923" cy="838199"/>
          </a:xfrm>
        </p:spPr>
        <p:txBody>
          <a:bodyPr>
            <a:normAutofit/>
          </a:bodyPr>
          <a:lstStyle/>
          <a:p>
            <a:pPr marL="0" indent="0">
              <a:buClr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Năng lượng (nhận được) của phần mạch trong khoảng thời gian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là: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2A6D3E-7CBD-8701-F602-C81CD6BF801B}"/>
              </a:ext>
            </a:extLst>
          </p:cNvPr>
          <p:cNvGrpSpPr/>
          <p:nvPr/>
        </p:nvGrpSpPr>
        <p:grpSpPr>
          <a:xfrm>
            <a:off x="7674120" y="928008"/>
            <a:ext cx="1165080" cy="2198752"/>
            <a:chOff x="6576363" y="676970"/>
            <a:chExt cx="1165080" cy="21987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84D06A-0F44-74B6-A562-1C3D68DE7C63}"/>
                </a:ext>
              </a:extLst>
            </p:cNvPr>
            <p:cNvSpPr/>
            <p:nvPr/>
          </p:nvSpPr>
          <p:spPr>
            <a:xfrm>
              <a:off x="7436643" y="1625475"/>
              <a:ext cx="3048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2F3C1211-FF2A-B5E7-F201-5E07C75083FF}"/>
                </a:ext>
              </a:extLst>
            </p:cNvPr>
            <p:cNvSpPr/>
            <p:nvPr/>
          </p:nvSpPr>
          <p:spPr>
            <a:xfrm>
              <a:off x="6629401" y="1205948"/>
              <a:ext cx="964096" cy="424069"/>
            </a:xfrm>
            <a:custGeom>
              <a:avLst/>
              <a:gdLst>
                <a:gd name="connsiteX0" fmla="*/ 0 w 702365"/>
                <a:gd name="connsiteY0" fmla="*/ 0 h 424069"/>
                <a:gd name="connsiteX1" fmla="*/ 702365 w 702365"/>
                <a:gd name="connsiteY1" fmla="*/ 0 h 424069"/>
                <a:gd name="connsiteX2" fmla="*/ 702365 w 702365"/>
                <a:gd name="connsiteY2" fmla="*/ 424069 h 42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2365" h="424069">
                  <a:moveTo>
                    <a:pt x="0" y="0"/>
                  </a:moveTo>
                  <a:lnTo>
                    <a:pt x="702365" y="0"/>
                  </a:lnTo>
                  <a:lnTo>
                    <a:pt x="702365" y="424069"/>
                  </a:lnTo>
                </a:path>
              </a:pathLst>
            </a:custGeom>
            <a:noFill/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B1ECFB24-5698-BDA0-A8E7-22330D32CD90}"/>
                </a:ext>
              </a:extLst>
            </p:cNvPr>
            <p:cNvSpPr/>
            <p:nvPr/>
          </p:nvSpPr>
          <p:spPr>
            <a:xfrm>
              <a:off x="6629401" y="2491409"/>
              <a:ext cx="964095" cy="384313"/>
            </a:xfrm>
            <a:custGeom>
              <a:avLst/>
              <a:gdLst>
                <a:gd name="connsiteX0" fmla="*/ 649357 w 649357"/>
                <a:gd name="connsiteY0" fmla="*/ 0 h 384313"/>
                <a:gd name="connsiteX1" fmla="*/ 649357 w 649357"/>
                <a:gd name="connsiteY1" fmla="*/ 384313 h 384313"/>
                <a:gd name="connsiteX2" fmla="*/ 0 w 649357"/>
                <a:gd name="connsiteY2" fmla="*/ 384313 h 38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9357" h="384313">
                  <a:moveTo>
                    <a:pt x="649357" y="0"/>
                  </a:moveTo>
                  <a:lnTo>
                    <a:pt x="649357" y="384313"/>
                  </a:lnTo>
                  <a:lnTo>
                    <a:pt x="0" y="384313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F5DC95C-7A73-C67C-D6B4-559278389F64}"/>
                </a:ext>
              </a:extLst>
            </p:cNvPr>
            <p:cNvCxnSpPr/>
            <p:nvPr/>
          </p:nvCxnSpPr>
          <p:spPr>
            <a:xfrm>
              <a:off x="6858000" y="1066800"/>
              <a:ext cx="578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B7DB179A-FF10-CE35-830A-EE943B3D0D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783148"/>
                </p:ext>
              </p:extLst>
            </p:nvPr>
          </p:nvGraphicFramePr>
          <p:xfrm>
            <a:off x="7055643" y="676970"/>
            <a:ext cx="228600" cy="391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8560" imgH="164880" progId="Equation.DSMT4">
                    <p:embed/>
                  </p:oleObj>
                </mc:Choice>
                <mc:Fallback>
                  <p:oleObj name="Equation" r:id="rId3" imgW="88560" imgH="164880" progId="Equation.DSMT4">
                    <p:embed/>
                    <p:pic>
                      <p:nvPicPr>
                        <p:cNvPr id="1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55643" y="676970"/>
                          <a:ext cx="228600" cy="3918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A12D467C-3FCB-07BF-C933-D453E4D199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003760"/>
                </p:ext>
              </p:extLst>
            </p:nvPr>
          </p:nvGraphicFramePr>
          <p:xfrm>
            <a:off x="6626546" y="1925424"/>
            <a:ext cx="304800" cy="341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720" imgH="139680" progId="Equation.DSMT4">
                    <p:embed/>
                  </p:oleObj>
                </mc:Choice>
                <mc:Fallback>
                  <p:oleObj name="Equation" r:id="rId5" imgW="126720" imgH="139680" progId="Equation.DSMT4">
                    <p:embed/>
                    <p:pic>
                      <p:nvPicPr>
                        <p:cNvPr id="1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6546" y="1925424"/>
                          <a:ext cx="304800" cy="34162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ED0718A-CF4B-F70B-121B-3C852FEEF61B}"/>
                </a:ext>
              </a:extLst>
            </p:cNvPr>
            <p:cNvCxnSpPr/>
            <p:nvPr/>
          </p:nvCxnSpPr>
          <p:spPr>
            <a:xfrm>
              <a:off x="6576363" y="1327087"/>
              <a:ext cx="0" cy="13564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711F6C2-FDC3-A1FE-188F-89806310BF33}"/>
              </a:ext>
            </a:extLst>
          </p:cNvPr>
          <p:cNvSpPr txBox="1">
            <a:spLocks/>
          </p:cNvSpPr>
          <p:nvPr/>
        </p:nvSpPr>
        <p:spPr>
          <a:xfrm>
            <a:off x="495299" y="2209800"/>
            <a:ext cx="6936923" cy="1371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tức thời (nhận được) của phần mạch: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05CFEBA-B7B0-519F-B850-45671F3C2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473041"/>
              </p:ext>
            </p:extLst>
          </p:nvPr>
        </p:nvGraphicFramePr>
        <p:xfrm>
          <a:off x="2484438" y="2635250"/>
          <a:ext cx="20494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431640" progId="Equation.DSMT4">
                  <p:embed/>
                </p:oleObj>
              </mc:Choice>
              <mc:Fallback>
                <p:oleObj name="Equation" r:id="rId7" imgW="1015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4438" y="2635250"/>
                        <a:ext cx="2049462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311BD39-463F-FF66-CFDC-2C1B63776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7367"/>
              </p:ext>
            </p:extLst>
          </p:nvPr>
        </p:nvGraphicFramePr>
        <p:xfrm>
          <a:off x="2773363" y="1716156"/>
          <a:ext cx="14843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190440" progId="Equation.DSMT4">
                  <p:embed/>
                </p:oleObj>
              </mc:Choice>
              <mc:Fallback>
                <p:oleObj name="Equation" r:id="rId9" imgW="736560" imgH="1904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05CFEBA-B7B0-519F-B850-45671F3C2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73363" y="1716156"/>
                        <a:ext cx="1484312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575DC4-8292-DDCC-0E06-85D1C961FE15}"/>
              </a:ext>
            </a:extLst>
          </p:cNvPr>
          <p:cNvSpPr txBox="1">
            <a:spLocks/>
          </p:cNvSpPr>
          <p:nvPr/>
        </p:nvSpPr>
        <p:spPr>
          <a:xfrm>
            <a:off x="477078" y="3505200"/>
            <a:ext cx="8234053" cy="1371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Năng lượng (nhận được) của phần mạch trong khoảng    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4D93DC9D-E44B-FE5C-E1B7-BAB26466F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933901"/>
              </p:ext>
            </p:extLst>
          </p:nvPr>
        </p:nvGraphicFramePr>
        <p:xfrm>
          <a:off x="1219200" y="3954462"/>
          <a:ext cx="54800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17640" imgH="571320" progId="Equation.DSMT4">
                  <p:embed/>
                </p:oleObj>
              </mc:Choice>
              <mc:Fallback>
                <p:oleObj name="Equation" r:id="rId11" imgW="2717640" imgH="5713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05CFEBA-B7B0-519F-B850-45671F3C2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19200" y="3954462"/>
                        <a:ext cx="5480050" cy="1150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5FC73759-5755-23F8-202D-C7C787478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824452"/>
              </p:ext>
            </p:extLst>
          </p:nvPr>
        </p:nvGraphicFramePr>
        <p:xfrm>
          <a:off x="8004417" y="3561522"/>
          <a:ext cx="4095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040" imgH="177480" progId="Equation.DSMT4">
                  <p:embed/>
                </p:oleObj>
              </mc:Choice>
              <mc:Fallback>
                <p:oleObj name="Equation" r:id="rId13" imgW="203040" imgH="1774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311BD39-463F-FF66-CFDC-2C1B63776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04417" y="3561522"/>
                        <a:ext cx="409575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882FA7-C7C2-217F-4C9D-D7B9CAE20987}"/>
              </a:ext>
            </a:extLst>
          </p:cNvPr>
          <p:cNvSpPr txBox="1">
            <a:spLocks/>
          </p:cNvSpPr>
          <p:nvPr/>
        </p:nvSpPr>
        <p:spPr>
          <a:xfrm>
            <a:off x="457200" y="5710535"/>
            <a:ext cx="8497358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Đơn vị công suất – Watt (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), đ/vị của năng lượng là Joule (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D4A299-9F8C-B628-6D6A-CC900AAEA592}"/>
              </a:ext>
            </a:extLst>
          </p:cNvPr>
          <p:cNvGrpSpPr/>
          <p:nvPr/>
        </p:nvGrpSpPr>
        <p:grpSpPr>
          <a:xfrm>
            <a:off x="457200" y="5097069"/>
            <a:ext cx="8382000" cy="465531"/>
            <a:chOff x="457200" y="5329535"/>
            <a:chExt cx="8382000" cy="465531"/>
          </a:xfrm>
        </p:grpSpPr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D964A316-BC9E-C136-5EC5-F03B994F80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961559"/>
                </p:ext>
              </p:extLst>
            </p:nvPr>
          </p:nvGraphicFramePr>
          <p:xfrm>
            <a:off x="1941512" y="5360091"/>
            <a:ext cx="1792288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88840" imgH="215640" progId="Equation.DSMT4">
                    <p:embed/>
                  </p:oleObj>
                </mc:Choice>
                <mc:Fallback>
                  <p:oleObj name="Equation" r:id="rId15" imgW="888840" imgH="215640" progId="Equation.DSMT4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29A73F3D-BB17-1313-DE2D-2D95C80152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41512" y="5360091"/>
                          <a:ext cx="1792288" cy="434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001D4093-1593-451C-021C-3EC38D32C599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5329535"/>
              <a:ext cx="8382000" cy="461665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Trong đó:                       - công suất tức thời tại thời điểm 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972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81000"/>
            <a:ext cx="8153400" cy="437539"/>
          </a:xfrm>
        </p:spPr>
        <p:txBody>
          <a:bodyPr anchor="t" anchorCtr="0">
            <a:noAutofit/>
          </a:bodyPr>
          <a:lstStyle/>
          <a:p>
            <a:pPr marL="347663" indent="-347663" algn="l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Công suất và năng lượng trên các thụ động: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711F6C2-FDC3-A1FE-188F-89806310BF33}"/>
              </a:ext>
            </a:extLst>
          </p:cNvPr>
          <p:cNvSpPr txBox="1">
            <a:spLocks/>
          </p:cNvSpPr>
          <p:nvPr/>
        </p:nvSpPr>
        <p:spPr>
          <a:xfrm>
            <a:off x="430697" y="910534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tức thời tiêu hao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311BD39-463F-FF66-CFDC-2C1B63776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390457"/>
              </p:ext>
            </p:extLst>
          </p:nvPr>
        </p:nvGraphicFramePr>
        <p:xfrm>
          <a:off x="408160" y="1355034"/>
          <a:ext cx="447833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266400" progId="Equation.DSMT4">
                  <p:embed/>
                </p:oleObj>
              </mc:Choice>
              <mc:Fallback>
                <p:oleObj name="Equation" r:id="rId3" imgW="2222280" imgH="2664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311BD39-463F-FF66-CFDC-2C1B63776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8160" y="1355034"/>
                        <a:ext cx="4478337" cy="53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06F82222-0DD8-C1B2-ACF8-EE1A53AAB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594" y="978387"/>
            <a:ext cx="1748006" cy="1764813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65D8A8C-DF94-6D8A-3BA6-BB92321C8AD0}"/>
              </a:ext>
            </a:extLst>
          </p:cNvPr>
          <p:cNvSpPr txBox="1">
            <a:spLocks/>
          </p:cNvSpPr>
          <p:nvPr/>
        </p:nvSpPr>
        <p:spPr>
          <a:xfrm>
            <a:off x="430696" y="1934817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Năng lượng tiêu tán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F7A5FC0B-DCAE-A85A-E624-58DB0780B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611724"/>
              </p:ext>
            </p:extLst>
          </p:nvPr>
        </p:nvGraphicFramePr>
        <p:xfrm>
          <a:off x="533400" y="2307880"/>
          <a:ext cx="4967288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571320" progId="Equation.DSMT4">
                  <p:embed/>
                </p:oleObj>
              </mc:Choice>
              <mc:Fallback>
                <p:oleObj name="Equation" r:id="rId6" imgW="2463480" imgH="57132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4D93DC9D-E44B-FE5C-E1B7-BAB26466F5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3400" y="2307880"/>
                        <a:ext cx="4967288" cy="1150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E13EB974-F1E3-0F81-BC15-387CF1D7C1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445" y="3505200"/>
            <a:ext cx="1924050" cy="1676400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FBDA435-D746-10F7-7505-B31052DE5159}"/>
              </a:ext>
            </a:extLst>
          </p:cNvPr>
          <p:cNvSpPr txBox="1">
            <a:spLocks/>
          </p:cNvSpPr>
          <p:nvPr/>
        </p:nvSpPr>
        <p:spPr>
          <a:xfrm>
            <a:off x="416409" y="3531151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tức thời hấp thu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A09992E0-201D-DD18-6787-67DCF68C0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866741"/>
              </p:ext>
            </p:extLst>
          </p:nvPr>
        </p:nvGraphicFramePr>
        <p:xfrm>
          <a:off x="457200" y="3912497"/>
          <a:ext cx="383857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31640" progId="Equation.DSMT4">
                  <p:embed/>
                </p:oleObj>
              </mc:Choice>
              <mc:Fallback>
                <p:oleObj name="Equation" r:id="rId9" imgW="1904760" imgH="4316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311BD39-463F-FF66-CFDC-2C1B63776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00" y="3912497"/>
                        <a:ext cx="3838575" cy="87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9F99C51-C946-423C-F3E1-FD29FFA22B0D}"/>
              </a:ext>
            </a:extLst>
          </p:cNvPr>
          <p:cNvSpPr txBox="1">
            <a:spLocks/>
          </p:cNvSpPr>
          <p:nvPr/>
        </p:nvSpPr>
        <p:spPr>
          <a:xfrm>
            <a:off x="416408" y="4754217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Năng lượng tích lũy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1D2A5219-AA6E-ED86-DDBE-65A7B51F9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907447"/>
              </p:ext>
            </p:extLst>
          </p:nvPr>
        </p:nvGraphicFramePr>
        <p:xfrm>
          <a:off x="439738" y="5181600"/>
          <a:ext cx="8399462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41520" imgH="520560" progId="Equation.DSMT4">
                  <p:embed/>
                </p:oleObj>
              </mc:Choice>
              <mc:Fallback>
                <p:oleObj name="Equation" r:id="rId11" imgW="4241520" imgH="52056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F7A5FC0B-DCAE-A85A-E624-58DB0780B4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9738" y="5181600"/>
                        <a:ext cx="8399462" cy="1049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58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81000"/>
            <a:ext cx="8153400" cy="437539"/>
          </a:xfrm>
        </p:spPr>
        <p:txBody>
          <a:bodyPr anchor="t" anchorCtr="0">
            <a:noAutofit/>
          </a:bodyPr>
          <a:lstStyle/>
          <a:p>
            <a:pPr marL="347663" indent="-347663" algn="l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Công suất và năng lượng trên các thụ động: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FBDA435-D746-10F7-7505-B31052DE5159}"/>
              </a:ext>
            </a:extLst>
          </p:cNvPr>
          <p:cNvSpPr txBox="1">
            <a:spLocks/>
          </p:cNvSpPr>
          <p:nvPr/>
        </p:nvSpPr>
        <p:spPr>
          <a:xfrm>
            <a:off x="416409" y="838200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tức thời hấp thu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A09992E0-201D-DD18-6787-67DCF68C0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165768"/>
              </p:ext>
            </p:extLst>
          </p:nvPr>
        </p:nvGraphicFramePr>
        <p:xfrm>
          <a:off x="533400" y="1219200"/>
          <a:ext cx="36591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840" imgH="431640" progId="Equation.DSMT4">
                  <p:embed/>
                </p:oleObj>
              </mc:Choice>
              <mc:Fallback>
                <p:oleObj name="Equation" r:id="rId3" imgW="1815840" imgH="43164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A09992E0-201D-DD18-6787-67DCF68C0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1219200"/>
                        <a:ext cx="3659188" cy="87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9F99C51-C946-423C-F3E1-FD29FFA22B0D}"/>
              </a:ext>
            </a:extLst>
          </p:cNvPr>
          <p:cNvSpPr txBox="1">
            <a:spLocks/>
          </p:cNvSpPr>
          <p:nvPr/>
        </p:nvSpPr>
        <p:spPr>
          <a:xfrm>
            <a:off x="416408" y="2061266"/>
            <a:ext cx="4903304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Năng lượng tích lũy trên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2346325">
              <a:buClrTx/>
              <a:buFont typeface="Wingdings 2"/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1D2A5219-AA6E-ED86-DDBE-65A7B51F9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253152"/>
              </p:ext>
            </p:extLst>
          </p:nvPr>
        </p:nvGraphicFramePr>
        <p:xfrm>
          <a:off x="469900" y="2532063"/>
          <a:ext cx="80645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00320" imgH="520560" progId="Equation.DSMT4">
                  <p:embed/>
                </p:oleObj>
              </mc:Choice>
              <mc:Fallback>
                <p:oleObj name="Equation" r:id="rId5" imgW="4000320" imgH="52056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1D2A5219-AA6E-ED86-DDBE-65A7B51F9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900" y="2532063"/>
                        <a:ext cx="8064500" cy="1049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88D65A2-1521-D88F-7CA3-29892A81BA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7550" y="771525"/>
            <a:ext cx="1847850" cy="18192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6648642-5AC2-CD7E-F618-3BD1F3C55119}"/>
              </a:ext>
            </a:extLst>
          </p:cNvPr>
          <p:cNvSpPr txBox="1">
            <a:spLocks/>
          </p:cNvSpPr>
          <p:nvPr/>
        </p:nvSpPr>
        <p:spPr>
          <a:xfrm>
            <a:off x="85725" y="3677261"/>
            <a:ext cx="8153400" cy="437539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7663" indent="-347663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Phần tử thụ động và phần tử tích cực: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5FCF213-72C5-4A82-6ECD-CBED1B2BBF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55826"/>
              </p:ext>
            </p:extLst>
          </p:nvPr>
        </p:nvGraphicFramePr>
        <p:xfrm>
          <a:off x="487604" y="4114800"/>
          <a:ext cx="4760912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61960" imgH="520560" progId="Equation.DSMT4">
                  <p:embed/>
                </p:oleObj>
              </mc:Choice>
              <mc:Fallback>
                <p:oleObj name="Equation" r:id="rId8" imgW="2361960" imgH="52056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1D2A5219-AA6E-ED86-DDBE-65A7B51F9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7604" y="4114800"/>
                        <a:ext cx="4760912" cy="1049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DFC2DA-EB86-1E0E-91C5-A175A8C0F9EF}"/>
              </a:ext>
            </a:extLst>
          </p:cNvPr>
          <p:cNvSpPr txBox="1">
            <a:spLocks/>
          </p:cNvSpPr>
          <p:nvPr/>
        </p:nvSpPr>
        <p:spPr>
          <a:xfrm>
            <a:off x="264008" y="5188059"/>
            <a:ext cx="5755792" cy="907941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- Phần tử mạch là thụ động, nếu: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W(t)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</a:t>
            </a:r>
          </a:p>
          <a:p>
            <a:pPr marL="0" indent="0">
              <a:buClr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- Phần tử mạch là tích cực, nếu: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W(t)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</a:t>
            </a:r>
          </a:p>
        </p:txBody>
      </p:sp>
    </p:spTree>
    <p:extLst>
      <p:ext uri="{BB962C8B-B14F-4D97-AF65-F5344CB8AC3E}">
        <p14:creationId xmlns:p14="http://schemas.microsoft.com/office/powerpoint/2010/main" val="1754937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6629"/>
            <a:ext cx="8153400" cy="1128771"/>
          </a:xfrm>
        </p:spPr>
        <p:txBody>
          <a:bodyPr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1.4 CÁC ĐỊNH LUẬT KIRCHHOFF</a:t>
            </a:r>
            <a:b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1.4.1. CÁC YẾU TỐ HÌNH HỌC CỦA MẠCH ĐIỆN</a:t>
            </a:r>
            <a:endParaRPr lang="en-US" sz="28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7962900" cy="1828800"/>
          </a:xfrm>
        </p:spPr>
        <p:txBody>
          <a:bodyPr>
            <a:normAutofit/>
          </a:bodyPr>
          <a:lstStyle/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Nhánh: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chứa các phần tử mắc nối tiếp</a:t>
            </a:r>
            <a:endParaRPr lang="en-US" sz="240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Nút: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điểm giao nhau giữa các nhánh 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Vòng: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lối đi khép kín qua các nhánh</a:t>
            </a:r>
            <a:endParaRPr lang="en-US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Mắt lưới: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vòng mà không chứa vòng nào bên trong</a:t>
            </a:r>
            <a:endParaRPr lang="en-US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447800" y="3200400"/>
            <a:ext cx="4876800" cy="3429000"/>
            <a:chOff x="1447800" y="2895600"/>
            <a:chExt cx="5164146" cy="384855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800" y="2895600"/>
              <a:ext cx="5164146" cy="384855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971800" y="5257800"/>
              <a:ext cx="3810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I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76800" y="5257799"/>
              <a:ext cx="3810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II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5750" y="3657600"/>
              <a:ext cx="47625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III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418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1.4.2 ĐỊNH LUẬT KIRCHHOFF 1 (Về dòng điện)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828800"/>
            <a:ext cx="4004505" cy="3049044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676400" y="1524000"/>
            <a:ext cx="2057400" cy="829791"/>
            <a:chOff x="1262064" y="1600198"/>
            <a:chExt cx="2133600" cy="928393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1262064" y="1600198"/>
            <a:ext cx="2133600" cy="615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76240" imgH="253800" progId="Equation.DSMT4">
                    <p:embed/>
                  </p:oleObj>
                </mc:Choice>
                <mc:Fallback>
                  <p:oleObj name="Equation" r:id="rId4" imgW="876240" imgH="253800" progId="Equation.DSMT4">
                    <p:embed/>
                    <p:pic>
                      <p:nvPicPr>
                        <p:cNvPr id="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2064" y="1600198"/>
                          <a:ext cx="2133600" cy="6151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Content Placeholder 2"/>
            <p:cNvSpPr txBox="1">
              <a:spLocks/>
            </p:cNvSpPr>
            <p:nvPr/>
          </p:nvSpPr>
          <p:spPr>
            <a:xfrm>
              <a:off x="1262064" y="2112955"/>
              <a:ext cx="762000" cy="415636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Nút</a:t>
              </a:r>
            </a:p>
          </p:txBody>
        </p:sp>
      </p:grp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990600"/>
            <a:ext cx="8390184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đại số các dòng điện tại một nút bất kỳ thì bằng không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498563"/>
              </p:ext>
            </p:extLst>
          </p:nvPr>
        </p:nvGraphicFramePr>
        <p:xfrm>
          <a:off x="700087" y="3810000"/>
          <a:ext cx="3033713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685800" progId="Equation.DSMT4">
                  <p:embed/>
                </p:oleObj>
              </mc:Choice>
              <mc:Fallback>
                <p:oleObj name="Equation" r:id="rId6" imgW="1752480" imgH="6858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" y="3810000"/>
                        <a:ext cx="3033713" cy="1189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319213" y="5181600"/>
          <a:ext cx="2239962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280" imgH="711000" progId="Equation.DSMT4">
                  <p:embed/>
                </p:oleObj>
              </mc:Choice>
              <mc:Fallback>
                <p:oleObj name="Equation" r:id="rId8" imgW="1295280" imgH="71100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5181600"/>
                        <a:ext cx="2239962" cy="1231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/>
          <p:cNvSpPr txBox="1">
            <a:spLocks/>
          </p:cNvSpPr>
          <p:nvPr/>
        </p:nvSpPr>
        <p:spPr>
          <a:xfrm>
            <a:off x="381000" y="2438400"/>
            <a:ext cx="4419600" cy="11345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Chiều dòng điện chọn bất kỳ </a:t>
            </a:r>
          </a:p>
          <a:p>
            <a:pPr algn="just">
              <a:buClrTx/>
              <a:buFont typeface="Wingdings" panose="05000000000000000000" pitchFamily="2" charset="2"/>
              <a:buChar char="ü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Chiều dòng đi vào &amp; dòng đi ra có dấu ngược nhau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" y="5483225"/>
            <a:ext cx="304800" cy="4572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74884" y="5367920"/>
            <a:ext cx="4488116" cy="877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   Tổng dòng điện đi vào nút</a:t>
            </a:r>
          </a:p>
          <a:p>
            <a:pPr marL="0" indent="0">
              <a:buClrTx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= tổng dòng điện đi ra khỏi nút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64629" y="5597525"/>
            <a:ext cx="304800" cy="4572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 animBg="1"/>
      <p:bldP spid="14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1" y="364962"/>
            <a:ext cx="4191874" cy="3191708"/>
          </a:xfrm>
          <a:prstGeom prst="rect">
            <a:avLst/>
          </a:prstGeom>
          <a:noFill/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456326" y="3738887"/>
            <a:ext cx="8383748" cy="609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300" i="1">
                <a:latin typeface="Arial" panose="020B0604020202020204" pitchFamily="34" charset="0"/>
                <a:cs typeface="Arial" panose="020B0604020202020204" pitchFamily="34" charset="0"/>
              </a:rPr>
              <a:t>Tổng đại số các dòng điện đi vào, ra bề mặt kín thì bằng không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371888"/>
              </p:ext>
            </p:extLst>
          </p:nvPr>
        </p:nvGraphicFramePr>
        <p:xfrm>
          <a:off x="485486" y="519388"/>
          <a:ext cx="3568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457200" progId="Equation.DSMT4">
                  <p:embed/>
                </p:oleObj>
              </mc:Choice>
              <mc:Fallback>
                <p:oleObj name="Equation" r:id="rId4" imgW="1892160" imgH="4572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86" y="519388"/>
                        <a:ext cx="3568700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4648200" y="1194470"/>
            <a:ext cx="2286000" cy="1066800"/>
          </a:xfrm>
          <a:prstGeom prst="ellipse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47255" y="1366748"/>
            <a:ext cx="3892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198281"/>
              </p:ext>
            </p:extLst>
          </p:nvPr>
        </p:nvGraphicFramePr>
        <p:xfrm>
          <a:off x="1069975" y="1423070"/>
          <a:ext cx="3425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228600" progId="Equation.DSMT4">
                  <p:embed/>
                </p:oleObj>
              </mc:Choice>
              <mc:Fallback>
                <p:oleObj name="Equation" r:id="rId6" imgW="1815840" imgH="228600" progId="Equation.DSMT4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1423070"/>
                        <a:ext cx="3425825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1674812" y="2261270"/>
            <a:ext cx="2057400" cy="829791"/>
            <a:chOff x="1262064" y="1600198"/>
            <a:chExt cx="2133600" cy="928393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1262064" y="1600198"/>
            <a:ext cx="2133600" cy="615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76240" imgH="253800" progId="Equation.DSMT4">
                    <p:embed/>
                  </p:oleObj>
                </mc:Choice>
                <mc:Fallback>
                  <p:oleObj name="Equation" r:id="rId8" imgW="876240" imgH="25380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2064" y="1600198"/>
                          <a:ext cx="2133600" cy="6151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Content Placeholder 2"/>
            <p:cNvSpPr txBox="1">
              <a:spLocks/>
            </p:cNvSpPr>
            <p:nvPr/>
          </p:nvSpPr>
          <p:spPr>
            <a:xfrm>
              <a:off x="1262064" y="2112956"/>
              <a:ext cx="1203743" cy="415635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Bề mặt</a:t>
              </a:r>
            </a:p>
          </p:txBody>
        </p:sp>
      </p:grpSp>
      <p:sp>
        <p:nvSpPr>
          <p:cNvPr id="20" name="Down Arrow 19"/>
          <p:cNvSpPr/>
          <p:nvPr/>
        </p:nvSpPr>
        <p:spPr>
          <a:xfrm>
            <a:off x="2209800" y="1920353"/>
            <a:ext cx="491295" cy="340918"/>
          </a:xfrm>
          <a:prstGeom prst="down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D2868F-D566-330F-F944-A320B1F40A04}"/>
              </a:ext>
            </a:extLst>
          </p:cNvPr>
          <p:cNvSpPr txBox="1">
            <a:spLocks/>
          </p:cNvSpPr>
          <p:nvPr/>
        </p:nvSpPr>
        <p:spPr>
          <a:xfrm>
            <a:off x="485486" y="4643735"/>
            <a:ext cx="815427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Mạch điện có 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nút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có (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PT dòng điện độc lập.</a:t>
            </a:r>
          </a:p>
        </p:txBody>
      </p:sp>
    </p:spTree>
    <p:extLst>
      <p:ext uri="{BB962C8B-B14F-4D97-AF65-F5344CB8AC3E}">
        <p14:creationId xmlns:p14="http://schemas.microsoft.com/office/powerpoint/2010/main" val="296576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animBg="1"/>
      <p:bldP spid="20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7277100" cy="457200"/>
          </a:xfrm>
        </p:spPr>
        <p:txBody>
          <a:bodyPr>
            <a:noAutofit/>
          </a:bodyPr>
          <a:lstStyle/>
          <a:p>
            <a:pPr marL="0" indent="0">
              <a:buClrTx/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1.4.3. ĐỊNH LUẬT KIRCHHOFF 2 (về điện áp)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057400" y="1905000"/>
            <a:ext cx="2146300" cy="829789"/>
            <a:chOff x="2057400" y="1295400"/>
            <a:chExt cx="2146300" cy="829789"/>
          </a:xfrm>
        </p:grpSpPr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2057400" y="1295400"/>
            <a:ext cx="2146300" cy="549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253800" progId="Equation.DSMT4">
                    <p:embed/>
                  </p:oleObj>
                </mc:Choice>
                <mc:Fallback>
                  <p:oleObj name="Equation" r:id="rId3" imgW="914400" imgH="253800" progId="Equation.DSMT4">
                    <p:embed/>
                    <p:pic>
                      <p:nvPicPr>
                        <p:cNvPr id="33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1295400"/>
                          <a:ext cx="2146300" cy="54927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Content Placeholder 2"/>
            <p:cNvSpPr txBox="1">
              <a:spLocks/>
            </p:cNvSpPr>
            <p:nvPr/>
          </p:nvSpPr>
          <p:spPr>
            <a:xfrm>
              <a:off x="2101850" y="1753698"/>
              <a:ext cx="1295400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Vòng kín</a:t>
              </a:r>
            </a:p>
          </p:txBody>
        </p:sp>
      </p:grpSp>
      <p:sp>
        <p:nvSpPr>
          <p:cNvPr id="35" name="Content Placeholder 2"/>
          <p:cNvSpPr txBox="1">
            <a:spLocks/>
          </p:cNvSpPr>
          <p:nvPr/>
        </p:nvSpPr>
        <p:spPr>
          <a:xfrm>
            <a:off x="457199" y="990599"/>
            <a:ext cx="8500305" cy="8080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đại số các điện áp trên các phần tử trong vòng kín bất kỳ thì bằng không</a:t>
            </a:r>
          </a:p>
        </p:txBody>
      </p:sp>
      <p:sp>
        <p:nvSpPr>
          <p:cNvPr id="36" name="Content Placeholder 2"/>
          <p:cNvSpPr txBox="1">
            <a:spLocks/>
          </p:cNvSpPr>
          <p:nvPr/>
        </p:nvSpPr>
        <p:spPr>
          <a:xfrm>
            <a:off x="457200" y="2964345"/>
            <a:ext cx="4127823" cy="19806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Chiều của vòng chọn bất kỳ </a:t>
            </a:r>
          </a:p>
          <a:p>
            <a:pPr algn="just">
              <a:buClrTx/>
              <a:buFont typeface="Wingdings" panose="05000000000000000000" pitchFamily="2" charset="2"/>
              <a:buChar char="ü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Chiều đi từ cực (+)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(-) </a:t>
            </a:r>
            <a:r>
              <a:rPr lang="en-US" sz="22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(dựa vào chiều của dòng điện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thì điện áp lấy dấu (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, ngược lại lấy dấu (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644209" y="1905000"/>
            <a:ext cx="4423591" cy="3276600"/>
            <a:chOff x="4644209" y="2015837"/>
            <a:chExt cx="4423591" cy="3276600"/>
          </a:xfrm>
        </p:grpSpPr>
        <p:grpSp>
          <p:nvGrpSpPr>
            <p:cNvPr id="12" name="Group 11"/>
            <p:cNvGrpSpPr/>
            <p:nvPr/>
          </p:nvGrpSpPr>
          <p:grpSpPr>
            <a:xfrm>
              <a:off x="4644209" y="2015837"/>
              <a:ext cx="4423591" cy="3276600"/>
              <a:chOff x="4644209" y="2015837"/>
              <a:chExt cx="4423591" cy="3276600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64431" y="2015837"/>
                <a:ext cx="4303369" cy="3276600"/>
              </a:xfrm>
              <a:prstGeom prst="rect">
                <a:avLst/>
              </a:prstGeom>
            </p:spPr>
          </p:pic>
          <p:sp>
            <p:nvSpPr>
              <p:cNvPr id="23" name="Content Placeholder 2"/>
              <p:cNvSpPr txBox="1">
                <a:spLocks/>
              </p:cNvSpPr>
              <p:nvPr/>
            </p:nvSpPr>
            <p:spPr>
              <a:xfrm>
                <a:off x="4644209" y="3613954"/>
                <a:ext cx="660350" cy="371492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1800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  <p:sp>
            <p:nvSpPr>
              <p:cNvPr id="2" name="Arc 1"/>
              <p:cNvSpPr/>
              <p:nvPr/>
            </p:nvSpPr>
            <p:spPr>
              <a:xfrm>
                <a:off x="5473750" y="3820391"/>
                <a:ext cx="914400" cy="914400"/>
              </a:xfrm>
              <a:prstGeom prst="arc">
                <a:avLst>
                  <a:gd name="adj1" fmla="val 8607116"/>
                  <a:gd name="adj2" fmla="val 3161635"/>
                </a:avLst>
              </a:prstGeom>
              <a:ln w="25400"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>
                    <a:solidFill>
                      <a:srgbClr val="C00000"/>
                    </a:solidFill>
                  </a:rPr>
                  <a:t>I</a:t>
                </a:r>
                <a:endParaRPr lang="en-US" sz="16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6" name="Arc 15"/>
            <p:cNvSpPr/>
            <p:nvPr/>
          </p:nvSpPr>
          <p:spPr>
            <a:xfrm>
              <a:off x="7107686" y="3886200"/>
              <a:ext cx="914400" cy="914400"/>
            </a:xfrm>
            <a:prstGeom prst="arc">
              <a:avLst>
                <a:gd name="adj1" fmla="val 8795549"/>
                <a:gd name="adj2" fmla="val 4170007"/>
              </a:avLst>
            </a:prstGeom>
            <a:ln w="25400">
              <a:headEnd type="arrow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II</a:t>
              </a:r>
              <a:endParaRPr lang="en-US" sz="1600" b="1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763711"/>
              </p:ext>
            </p:extLst>
          </p:nvPr>
        </p:nvGraphicFramePr>
        <p:xfrm>
          <a:off x="1931480" y="5276461"/>
          <a:ext cx="4012120" cy="502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5200" imgH="228600" progId="Equation.DSMT4">
                  <p:embed/>
                </p:oleObj>
              </mc:Choice>
              <mc:Fallback>
                <p:oleObj name="Equation" r:id="rId6" imgW="2235200" imgH="2286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480" y="5276461"/>
                        <a:ext cx="4012120" cy="5027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593840"/>
              </p:ext>
            </p:extLst>
          </p:nvPr>
        </p:nvGraphicFramePr>
        <p:xfrm>
          <a:off x="1898609" y="5826243"/>
          <a:ext cx="4044991" cy="49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73300" imgH="228600" progId="Equation.DSMT4">
                  <p:embed/>
                </p:oleObj>
              </mc:Choice>
              <mc:Fallback>
                <p:oleObj name="Equation" r:id="rId8" imgW="2273300" imgH="2286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09" y="5826243"/>
                        <a:ext cx="4044991" cy="4983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"/>
          <p:cNvSpPr txBox="1">
            <a:spLocks/>
          </p:cNvSpPr>
          <p:nvPr/>
        </p:nvSpPr>
        <p:spPr>
          <a:xfrm>
            <a:off x="762000" y="5327076"/>
            <a:ext cx="1310788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I: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693382" y="5871744"/>
            <a:ext cx="1364018" cy="430583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II: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5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2"/>
          <p:cNvSpPr txBox="1">
            <a:spLocks/>
          </p:cNvSpPr>
          <p:nvPr/>
        </p:nvSpPr>
        <p:spPr>
          <a:xfrm>
            <a:off x="387927" y="1524000"/>
            <a:ext cx="8500305" cy="91549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Tx/>
              <a:buNone/>
            </a:pP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đại số điện áp của các nguồn trong một vòng kín thì bằng tổng đại số điện áp trên các phần tử khác trong vòng đó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286000" y="2487119"/>
            <a:ext cx="3467099" cy="1008572"/>
            <a:chOff x="2286000" y="2487119"/>
            <a:chExt cx="3467099" cy="1008572"/>
          </a:xfrm>
        </p:grpSpPr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2391423" y="2487119"/>
            <a:ext cx="3214687" cy="6260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73120" imgH="253800" progId="Equation.DSMT4">
                    <p:embed/>
                  </p:oleObj>
                </mc:Choice>
                <mc:Fallback>
                  <p:oleObj name="Equation" r:id="rId3" imgW="1473120" imgH="253800" progId="Equation.DSMT4">
                    <p:embed/>
                    <p:pic>
                      <p:nvPicPr>
                        <p:cNvPr id="33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423" y="2487119"/>
                          <a:ext cx="3214687" cy="6260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Content Placeholder 2"/>
            <p:cNvSpPr txBox="1">
              <a:spLocks/>
            </p:cNvSpPr>
            <p:nvPr/>
          </p:nvSpPr>
          <p:spPr>
            <a:xfrm>
              <a:off x="2286000" y="3124200"/>
              <a:ext cx="1295400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Nguồn</a:t>
              </a:r>
            </a:p>
          </p:txBody>
        </p:sp>
        <p:sp>
          <p:nvSpPr>
            <p:cNvPr id="21" name="Content Placeholder 2"/>
            <p:cNvSpPr txBox="1">
              <a:spLocks/>
            </p:cNvSpPr>
            <p:nvPr/>
          </p:nvSpPr>
          <p:spPr>
            <a:xfrm>
              <a:off x="4019549" y="3124200"/>
              <a:ext cx="1733550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Phần tử khác</a:t>
              </a:r>
            </a:p>
          </p:txBody>
        </p:sp>
      </p:grpSp>
      <p:sp>
        <p:nvSpPr>
          <p:cNvPr id="41" name="Content Placeholder 2"/>
          <p:cNvSpPr txBox="1">
            <a:spLocks/>
          </p:cNvSpPr>
          <p:nvPr/>
        </p:nvSpPr>
        <p:spPr>
          <a:xfrm>
            <a:off x="381000" y="352564"/>
            <a:ext cx="1581156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(I+II):</a:t>
            </a:r>
          </a:p>
        </p:txBody>
      </p: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1884821" y="304800"/>
          <a:ext cx="5773279" cy="478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200" imgH="228600" progId="Equation.DSMT4">
                  <p:embed/>
                </p:oleObj>
              </mc:Choice>
              <mc:Fallback>
                <p:oleObj name="Equation" r:id="rId5" imgW="3251200" imgH="22860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821" y="304800"/>
                        <a:ext cx="5773279" cy="4789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ight Arrow 42"/>
          <p:cNvSpPr/>
          <p:nvPr/>
        </p:nvSpPr>
        <p:spPr>
          <a:xfrm>
            <a:off x="1286205" y="880730"/>
            <a:ext cx="304800" cy="4572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1881188" y="858505"/>
          <a:ext cx="50530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44720" imgH="228600" progId="Equation.DSMT4">
                  <p:embed/>
                </p:oleObj>
              </mc:Choice>
              <mc:Fallback>
                <p:oleObj name="Equation" r:id="rId7" imgW="2844720" imgH="228600" progId="Equation.DSMT4">
                  <p:embed/>
                  <p:pic>
                    <p:nvPicPr>
                      <p:cNvPr id="4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858505"/>
                        <a:ext cx="5053012" cy="4794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Content Placeholder 2"/>
          <p:cNvSpPr txBox="1">
            <a:spLocks/>
          </p:cNvSpPr>
          <p:nvPr/>
        </p:nvSpPr>
        <p:spPr>
          <a:xfrm>
            <a:off x="380999" y="3647847"/>
            <a:ext cx="8382001" cy="8470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Tx/>
              <a:buFont typeface="Wingdings 2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Mạch điện có 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nhánh và 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nút thì sẽ có (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n-d+1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phương trình điện áp độc lập.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1FDC6D-DDC2-E20D-A558-CC439B294C4C}"/>
              </a:ext>
            </a:extLst>
          </p:cNvPr>
          <p:cNvSpPr txBox="1">
            <a:spLocks/>
          </p:cNvSpPr>
          <p:nvPr/>
        </p:nvSpPr>
        <p:spPr>
          <a:xfrm>
            <a:off x="415094" y="4572000"/>
            <a:ext cx="8500305" cy="1765823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Tx/>
              <a:buFont typeface="Wingdings 2"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Số PT độc lập theo ĐL K1: (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d-1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>
              <a:buClrTx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Số PT độc lập theo ĐL K2: (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n-d+1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>
              <a:buClrTx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Số PT độc lập theo 2 ĐL K1+K2: 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= số nhánh = 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 dòng điện trên các nhánh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tìm được dòng trên các nhánh</a:t>
            </a:r>
            <a:endParaRPr lang="en-US" sz="2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40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3" grpId="0" animBg="1"/>
      <p:bldP spid="4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4"/>
          <p:cNvSpPr>
            <a:spLocks noChangeArrowheads="1"/>
          </p:cNvSpPr>
          <p:nvPr/>
        </p:nvSpPr>
        <p:spPr bwMode="auto">
          <a:xfrm>
            <a:off x="280557" y="469395"/>
            <a:ext cx="433174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trên các nhánh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509657" y="554525"/>
            <a:ext cx="4558143" cy="2286000"/>
            <a:chOff x="4712743" y="152400"/>
            <a:chExt cx="4417402" cy="210133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2743" y="152400"/>
              <a:ext cx="4417402" cy="2101334"/>
            </a:xfrm>
            <a:prstGeom prst="rect">
              <a:avLst/>
            </a:prstGeom>
          </p:spPr>
        </p:pic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5992091" y="1143000"/>
              <a:ext cx="332510" cy="51794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9" name="Content Placeholder 2"/>
            <p:cNvSpPr txBox="1">
              <a:spLocks/>
            </p:cNvSpPr>
            <p:nvPr/>
          </p:nvSpPr>
          <p:spPr>
            <a:xfrm>
              <a:off x="7616538" y="1203067"/>
              <a:ext cx="332510" cy="51794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II</a:t>
              </a:r>
            </a:p>
          </p:txBody>
        </p:sp>
      </p:grp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130475"/>
              </p:ext>
            </p:extLst>
          </p:nvPr>
        </p:nvGraphicFramePr>
        <p:xfrm>
          <a:off x="1680679" y="1392238"/>
          <a:ext cx="17430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28600" progId="Equation.DSMT4">
                  <p:embed/>
                </p:oleObj>
              </mc:Choice>
              <mc:Fallback>
                <p:oleObj name="Equation" r:id="rId4" imgW="901440" imgH="2286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679" y="1392238"/>
                        <a:ext cx="1743075" cy="439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353247"/>
              </p:ext>
            </p:extLst>
          </p:nvPr>
        </p:nvGraphicFramePr>
        <p:xfrm>
          <a:off x="1715604" y="2400300"/>
          <a:ext cx="256381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228600" progId="Equation.DSMT4">
                  <p:embed/>
                </p:oleObj>
              </mc:Choice>
              <mc:Fallback>
                <p:oleObj name="Equation" r:id="rId6" imgW="1333440" imgH="2286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5604" y="2400300"/>
                        <a:ext cx="2563813" cy="439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94969"/>
              </p:ext>
            </p:extLst>
          </p:nvPr>
        </p:nvGraphicFramePr>
        <p:xfrm>
          <a:off x="1594954" y="1893888"/>
          <a:ext cx="26098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228600" progId="Equation.DSMT4">
                  <p:embed/>
                </p:oleObj>
              </mc:Choice>
              <mc:Fallback>
                <p:oleObj name="Equation" r:id="rId8" imgW="1384200" imgH="228600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4954" y="1893888"/>
                        <a:ext cx="2609850" cy="430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ontent Placeholder 2"/>
          <p:cNvSpPr txBox="1">
            <a:spLocks/>
          </p:cNvSpPr>
          <p:nvPr/>
        </p:nvSpPr>
        <p:spPr>
          <a:xfrm>
            <a:off x="432957" y="1859433"/>
            <a:ext cx="1143000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I: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432956" y="2357229"/>
            <a:ext cx="1281059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II: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85357" y="1361637"/>
            <a:ext cx="1143000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Nút 1: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32957" y="2992925"/>
            <a:ext cx="304800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245632"/>
              </p:ext>
            </p:extLst>
          </p:nvPr>
        </p:nvGraphicFramePr>
        <p:xfrm>
          <a:off x="823429" y="2992925"/>
          <a:ext cx="3648128" cy="43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600" imgH="228600" progId="Equation.DSMT4">
                  <p:embed/>
                </p:oleObj>
              </mc:Choice>
              <mc:Fallback>
                <p:oleObj name="Equation" r:id="rId10" imgW="2006600" imgH="228600" progId="Equation.DSMT4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29" y="2992925"/>
                        <a:ext cx="3648128" cy="4360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5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30" grpId="0"/>
      <p:bldP spid="31" grpId="0"/>
      <p:bldP spid="32" grpId="0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04D4D0-7171-259C-F65E-7B7712CBBA73}"/>
              </a:ext>
            </a:extLst>
          </p:cNvPr>
          <p:cNvSpPr txBox="1">
            <a:spLocks/>
          </p:cNvSpPr>
          <p:nvPr/>
        </p:nvSpPr>
        <p:spPr>
          <a:xfrm>
            <a:off x="381000" y="619033"/>
            <a:ext cx="8305800" cy="4469237"/>
          </a:xfrm>
          <a:prstGeom prst="rect">
            <a:avLst/>
          </a:prstGeom>
          <a:noFill/>
          <a:ln>
            <a:noFill/>
          </a:ln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Nhờ 2 định luật Kirchhoff 1, 2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có thể tìm dòng điện trên tất cả các nhánh -&gt; tìm các thông số khác như điện áp, công suất…của bất kỳ mạch điện nào khi biết trước các thông số của nó.</a:t>
            </a:r>
          </a:p>
          <a:p>
            <a:pPr algn="just">
              <a:lnSpc>
                <a:spcPct val="13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Đối với mạch điện có nhiều nhánh, nhiều vòng thì dựa trên 2 định luật Kirchhoff 1, 2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số phương trình nhiều  thời gian giải p/trình để tìm đáp ứng i(t),u(t) khá lâu.</a:t>
            </a:r>
          </a:p>
          <a:p>
            <a:pPr algn="just">
              <a:lnSpc>
                <a:spcPct val="13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Để giảm bớt thời gian giải theo 2 định luật K1,2  cần áp dụng các phương pháp phân tích mạch.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88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8486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1.5 BIẾN ĐỔI TƯƠNG ĐƯƠNG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414717" y="914400"/>
            <a:ext cx="43858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a. Mắc nối tiếp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65315"/>
              </p:ext>
            </p:extLst>
          </p:nvPr>
        </p:nvGraphicFramePr>
        <p:xfrm>
          <a:off x="5638800" y="1434548"/>
          <a:ext cx="2895600" cy="57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28600" progId="Equation.DSMT4">
                  <p:embed/>
                </p:oleObj>
              </mc:Choice>
              <mc:Fallback>
                <p:oleObj name="Equation" r:id="rId3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34548"/>
                        <a:ext cx="2895600" cy="576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7282070" cy="1066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514600"/>
            <a:ext cx="7391400" cy="1000794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81000" y="3663886"/>
            <a:ext cx="43858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b. Mắc song song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15394"/>
            <a:ext cx="4156532" cy="241041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778" y="4022120"/>
            <a:ext cx="3727222" cy="237868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6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>
            <a:spLocks/>
          </p:cNvSpPr>
          <p:nvPr/>
        </p:nvSpPr>
        <p:spPr>
          <a:xfrm>
            <a:off x="414717" y="304800"/>
            <a:ext cx="50716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c. Biến đổi: hình sao </a:t>
            </a: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 tam giác</a:t>
            </a:r>
            <a:endParaRPr lang="en-US" sz="24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778374"/>
              </p:ext>
            </p:extLst>
          </p:nvPr>
        </p:nvGraphicFramePr>
        <p:xfrm>
          <a:off x="444534" y="3898724"/>
          <a:ext cx="2617569" cy="82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444500" progId="Equation.DSMT4">
                  <p:embed/>
                </p:oleObj>
              </mc:Choice>
              <mc:Fallback>
                <p:oleObj name="Equation" r:id="rId3" imgW="1422400" imgH="4445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4" y="3898724"/>
                        <a:ext cx="2617569" cy="825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020405"/>
              </p:ext>
            </p:extLst>
          </p:nvPr>
        </p:nvGraphicFramePr>
        <p:xfrm>
          <a:off x="3505200" y="3859308"/>
          <a:ext cx="2609854" cy="80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59866" imgH="444307" progId="Equation.DSMT4">
                  <p:embed/>
                </p:oleObj>
              </mc:Choice>
              <mc:Fallback>
                <p:oleObj name="Equation" r:id="rId5" imgW="1459866" imgH="44430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59308"/>
                        <a:ext cx="2609854" cy="801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089929"/>
              </p:ext>
            </p:extLst>
          </p:nvPr>
        </p:nvGraphicFramePr>
        <p:xfrm>
          <a:off x="6457949" y="3859271"/>
          <a:ext cx="2472519" cy="78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09088" imgH="444307" progId="Equation.DSMT4">
                  <p:embed/>
                </p:oleObj>
              </mc:Choice>
              <mc:Fallback>
                <p:oleObj name="Equation" r:id="rId7" imgW="1409088" imgH="44430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49" y="3859271"/>
                        <a:ext cx="2472519" cy="7851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531281"/>
              </p:ext>
            </p:extLst>
          </p:nvPr>
        </p:nvGraphicFramePr>
        <p:xfrm>
          <a:off x="381000" y="5410200"/>
          <a:ext cx="2572808" cy="845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310" imgH="444307" progId="Equation.DSMT4">
                  <p:embed/>
                </p:oleObj>
              </mc:Choice>
              <mc:Fallback>
                <p:oleObj name="Equation" r:id="rId9" imgW="1358310" imgH="44430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10200"/>
                        <a:ext cx="2572808" cy="845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902601"/>
              </p:ext>
            </p:extLst>
          </p:nvPr>
        </p:nvGraphicFramePr>
        <p:xfrm>
          <a:off x="3352800" y="5410200"/>
          <a:ext cx="2590800" cy="845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444500" progId="Equation.DSMT4">
                  <p:embed/>
                </p:oleObj>
              </mc:Choice>
              <mc:Fallback>
                <p:oleObj name="Equation" r:id="rId11" imgW="1371600" imgH="444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10200"/>
                        <a:ext cx="2590800" cy="845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131434"/>
              </p:ext>
            </p:extLst>
          </p:nvPr>
        </p:nvGraphicFramePr>
        <p:xfrm>
          <a:off x="6248400" y="5402792"/>
          <a:ext cx="2590800" cy="845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71600" imgH="444500" progId="Equation.DSMT4">
                  <p:embed/>
                </p:oleObj>
              </mc:Choice>
              <mc:Fallback>
                <p:oleObj name="Equation" r:id="rId13" imgW="13716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402792"/>
                        <a:ext cx="2590800" cy="845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62000"/>
            <a:ext cx="6705600" cy="2327324"/>
          </a:xfrm>
          <a:prstGeom prst="rect">
            <a:avLst/>
          </a:prstGeom>
        </p:spPr>
      </p:pic>
      <p:sp>
        <p:nvSpPr>
          <p:cNvPr id="27" name="Title 1"/>
          <p:cNvSpPr txBox="1">
            <a:spLocks/>
          </p:cNvSpPr>
          <p:nvPr/>
        </p:nvSpPr>
        <p:spPr>
          <a:xfrm>
            <a:off x="339817" y="3359086"/>
            <a:ext cx="50716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Biến đổi: sao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tam giác</a:t>
            </a:r>
            <a:endParaRPr lang="en-US" sz="22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315034" y="4876800"/>
            <a:ext cx="50716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Biến đổi: tam giác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sao</a:t>
            </a:r>
            <a:endParaRPr lang="en-US" sz="22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0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1" y="685800"/>
            <a:ext cx="7284693" cy="2295887"/>
          </a:xfrm>
          <a:prstGeom prst="rect">
            <a:avLst/>
          </a:prstGeom>
        </p:spPr>
      </p:pic>
      <p:sp>
        <p:nvSpPr>
          <p:cNvPr id="31" name="Title 1"/>
          <p:cNvSpPr txBox="1">
            <a:spLocks/>
          </p:cNvSpPr>
          <p:nvPr/>
        </p:nvSpPr>
        <p:spPr>
          <a:xfrm>
            <a:off x="414717" y="304800"/>
            <a:ext cx="84244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d. Nguồn điện áp </a:t>
            </a:r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 nguồn dòng điện</a:t>
            </a:r>
            <a:endParaRPr lang="en-US" sz="24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278070"/>
              </p:ext>
            </p:extLst>
          </p:nvPr>
        </p:nvGraphicFramePr>
        <p:xfrm>
          <a:off x="7877411" y="1495651"/>
          <a:ext cx="885589" cy="86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419040" progId="Equation.DSMT4">
                  <p:embed/>
                </p:oleObj>
              </mc:Choice>
              <mc:Fallback>
                <p:oleObj name="Equation" r:id="rId4" imgW="431640" imgH="419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411" y="1495651"/>
                        <a:ext cx="885589" cy="86591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912068"/>
              </p:ext>
            </p:extLst>
          </p:nvPr>
        </p:nvGraphicFramePr>
        <p:xfrm>
          <a:off x="3200400" y="1665758"/>
          <a:ext cx="10937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203040" progId="Equation.DSMT4">
                  <p:embed/>
                </p:oleObj>
              </mc:Choice>
              <mc:Fallback>
                <p:oleObj name="Equation" r:id="rId6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65758"/>
                        <a:ext cx="1093787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itle 1"/>
          <p:cNvSpPr txBox="1">
            <a:spLocks/>
          </p:cNvSpPr>
          <p:nvPr/>
        </p:nvSpPr>
        <p:spPr>
          <a:xfrm>
            <a:off x="344722" y="2819400"/>
            <a:ext cx="8424483" cy="45091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e. Khử hỗ cảm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093756"/>
            <a:ext cx="2834845" cy="170684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933451"/>
            <a:ext cx="2934457" cy="176681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572000"/>
            <a:ext cx="2720399" cy="156745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V="1">
            <a:off x="6111445" y="5164515"/>
            <a:ext cx="594155" cy="414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88380" y="3863950"/>
            <a:ext cx="717220" cy="566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462904"/>
              </p:ext>
            </p:extLst>
          </p:nvPr>
        </p:nvGraphicFramePr>
        <p:xfrm>
          <a:off x="392112" y="3362687"/>
          <a:ext cx="2136467" cy="151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30040" imgH="787320" progId="Equation.DSMT4">
                  <p:embed/>
                </p:oleObj>
              </mc:Choice>
              <mc:Fallback>
                <p:oleObj name="Equation" r:id="rId11" imgW="11300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" y="3362687"/>
                        <a:ext cx="2136467" cy="1514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232105"/>
              </p:ext>
            </p:extLst>
          </p:nvPr>
        </p:nvGraphicFramePr>
        <p:xfrm>
          <a:off x="381000" y="4933451"/>
          <a:ext cx="2202338" cy="1543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3000" imgH="787320" progId="Equation.DSMT4">
                  <p:embed/>
                </p:oleObj>
              </mc:Choice>
              <mc:Fallback>
                <p:oleObj name="Equation" r:id="rId13" imgW="114300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933451"/>
                        <a:ext cx="2202338" cy="1543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Left Arrow 43"/>
          <p:cNvSpPr/>
          <p:nvPr/>
        </p:nvSpPr>
        <p:spPr>
          <a:xfrm>
            <a:off x="2564680" y="3923009"/>
            <a:ext cx="483320" cy="345434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Arrow 44"/>
          <p:cNvSpPr/>
          <p:nvPr/>
        </p:nvSpPr>
        <p:spPr>
          <a:xfrm>
            <a:off x="2629657" y="5486400"/>
            <a:ext cx="418343" cy="345434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4" grpId="0" animBg="1"/>
      <p:bldP spid="4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tx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rot="0" vert="horz" wrap="square" lIns="0" tIns="0" rIns="0" bIns="0" anchor="t" anchorCtr="0" upright="1">
        <a:spAutoFit/>
      </a:bodyPr>
      <a:lstStyle>
        <a:defPPr marL="0" marR="0" algn="ctr">
          <a:lnSpc>
            <a:spcPct val="107000"/>
          </a:lnSpc>
          <a:spcBef>
            <a:spcPts val="0"/>
          </a:spcBef>
          <a:spcAft>
            <a:spcPts val="800"/>
          </a:spcAft>
          <a:defRPr smtClean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7855</TotalTime>
  <Words>1823</Words>
  <Application>Microsoft Office PowerPoint</Application>
  <PresentationFormat>On-screen Show (4:3)</PresentationFormat>
  <Paragraphs>245</Paragraphs>
  <Slides>27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Arial </vt:lpstr>
      <vt:lpstr>Calibri</vt:lpstr>
      <vt:lpstr>Franklin Gothic Book</vt:lpstr>
      <vt:lpstr>Perpetua</vt:lpstr>
      <vt:lpstr>Times New Roman</vt:lpstr>
      <vt:lpstr>VNI-Times</vt:lpstr>
      <vt:lpstr>Wingdings</vt:lpstr>
      <vt:lpstr>Wingdings 2</vt:lpstr>
      <vt:lpstr>Equity</vt:lpstr>
      <vt:lpstr>Equation</vt:lpstr>
      <vt:lpstr>PowerPoint Presentation</vt:lpstr>
      <vt:lpstr>TRỌNG SỐ ĐIỂM THÀNH PHẦN MÔN HỌC</vt:lpstr>
      <vt:lpstr>TÀI LIỆU THAM KHẢO</vt:lpstr>
      <vt:lpstr>ĐỀ CƯƠNG HỌC PHẦN - MẠCH ĐIỆN</vt:lpstr>
      <vt:lpstr>Chương 1: NHỮNG KHÁI NIỆM CƠ BẢN VỀ MĐ</vt:lpstr>
      <vt:lpstr>1.1 CÁC PHẦN TỬ CỦA MẠCH ĐIỆN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1.2 PHÂN LOẠI &amp; TRẠNG THÁI LÀM VIỆC MĐ</vt:lpstr>
      <vt:lpstr>1.3 CÔNG SUẤT &amp; NĂNG LƯỢNG</vt:lpstr>
      <vt:lpstr>Công suất và năng lượng trên các thụ động:</vt:lpstr>
      <vt:lpstr>Công suất và năng lượng trên các thụ động:</vt:lpstr>
      <vt:lpstr>1.4 CÁC ĐỊNH LUẬT KIRCHHOFF 1.4.1. CÁC YẾU TỐ HÌNH HỌC CỦA MẠCH ĐIỆN</vt:lpstr>
      <vt:lpstr>1.4.2 ĐỊNH LUẬT KIRCHHOFF 1 (Về dòng điện)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1.5 BIẾN ĐỔI TƯƠNG ĐƯƠNG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327</cp:revision>
  <dcterms:created xsi:type="dcterms:W3CDTF">2012-02-20T01:11:37Z</dcterms:created>
  <dcterms:modified xsi:type="dcterms:W3CDTF">2024-02-19T09:24:02Z</dcterms:modified>
</cp:coreProperties>
</file>