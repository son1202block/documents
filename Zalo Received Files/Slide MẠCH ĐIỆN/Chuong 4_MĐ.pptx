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7"/>
  </p:notesMasterIdLst>
  <p:sldIdLst>
    <p:sldId id="295" r:id="rId2"/>
    <p:sldId id="285" r:id="rId3"/>
    <p:sldId id="352" r:id="rId4"/>
    <p:sldId id="359" r:id="rId5"/>
    <p:sldId id="353" r:id="rId6"/>
    <p:sldId id="354" r:id="rId7"/>
    <p:sldId id="355" r:id="rId8"/>
    <p:sldId id="356" r:id="rId9"/>
    <p:sldId id="357" r:id="rId10"/>
    <p:sldId id="358" r:id="rId11"/>
    <p:sldId id="360" r:id="rId12"/>
    <p:sldId id="361" r:id="rId13"/>
    <p:sldId id="362" r:id="rId14"/>
    <p:sldId id="363" r:id="rId15"/>
    <p:sldId id="364" r:id="rId16"/>
    <p:sldId id="366" r:id="rId17"/>
    <p:sldId id="367" r:id="rId18"/>
    <p:sldId id="370" r:id="rId19"/>
    <p:sldId id="368" r:id="rId20"/>
    <p:sldId id="371" r:id="rId21"/>
    <p:sldId id="369" r:id="rId22"/>
    <p:sldId id="372" r:id="rId23"/>
    <p:sldId id="373" r:id="rId24"/>
    <p:sldId id="374" r:id="rId25"/>
    <p:sldId id="375" r:id="rId26"/>
    <p:sldId id="389" r:id="rId27"/>
    <p:sldId id="390" r:id="rId28"/>
    <p:sldId id="391" r:id="rId29"/>
    <p:sldId id="392" r:id="rId30"/>
    <p:sldId id="394" r:id="rId31"/>
    <p:sldId id="395" r:id="rId32"/>
    <p:sldId id="396" r:id="rId33"/>
    <p:sldId id="376" r:id="rId34"/>
    <p:sldId id="393" r:id="rId35"/>
    <p:sldId id="38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0000FF"/>
    <a:srgbClr val="FFCCFF"/>
    <a:srgbClr val="FFFFFF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63" autoAdjust="0"/>
    <p:restoredTop sz="94799" autoAdjust="0"/>
  </p:normalViewPr>
  <p:slideViewPr>
    <p:cSldViewPr>
      <p:cViewPr varScale="1">
        <p:scale>
          <a:sx n="88" d="100"/>
          <a:sy n="88" d="100"/>
        </p:scale>
        <p:origin x="1253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4AFFA-AB63-47FD-BF3D-6CDA75445A21}" type="datetimeFigureOut">
              <a:rPr lang="en-US" smtClean="0"/>
              <a:pPr/>
              <a:t>3/27/2024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1B820-7C1D-42E1-9512-9CE160CEC9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0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654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18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3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7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531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67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50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599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333ED0-7760-4CA6-8177-19488377DB0C}" type="slidenum">
              <a:rPr lang="en-US" smtClean="0">
                <a:cs typeface="Arial" charset="0"/>
              </a:rPr>
              <a:pPr/>
              <a:t>9</a:t>
            </a:fld>
            <a:endParaRPr lang="en-US">
              <a:cs typeface="Arial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200150" cy="27463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85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02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19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868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06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166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996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52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486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00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33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972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35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157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610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8412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92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91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017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763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640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01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492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41B820-7C1D-42E1-9512-9CE160CEC9C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813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33F8B7-372A-432B-9DBE-0A6FFAB3EA0C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031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33F8B7-372A-432B-9DBE-0A6FFAB3EA0C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895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7B4F6B-31D5-4599-859E-4A5221D6F928}" type="slidenum">
              <a:rPr lang="en-US" smtClean="0">
                <a:latin typeface="Arial" pitchFamily="34" charset="0"/>
                <a:cs typeface="Arial" pitchFamily="34" charset="0"/>
              </a:rPr>
              <a:pPr/>
              <a:t>35</a:t>
            </a:fld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96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D8B14-6D47-436B-8C0C-EDDA73713A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79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24300"/>
            <a:ext cx="40386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2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D52AC-7026-4B85-837A-407C5F9AF0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2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A9B1F9-F562-4738-914B-3ECD1CF941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8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5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2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3.wmf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6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1.wmf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6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8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6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7.wmf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4.wmf"/><Relationship Id="rId17" Type="http://schemas.openxmlformats.org/officeDocument/2006/relationships/oleObject" Target="../embeddings/oleObject76.bin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7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10" Type="http://schemas.openxmlformats.org/officeDocument/2006/relationships/image" Target="../media/image73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9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wmf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87.wmf"/><Relationship Id="rId4" Type="http://schemas.openxmlformats.org/officeDocument/2006/relationships/image" Target="../media/image84.wmf"/><Relationship Id="rId9" Type="http://schemas.openxmlformats.org/officeDocument/2006/relationships/oleObject" Target="../embeddings/oleObject8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2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oleObject" Target="../embeddings/oleObject98.bin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98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w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9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04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109.bin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09.wmf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1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08.wmf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10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6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2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24.bin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25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2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31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31.bin"/><Relationship Id="rId7" Type="http://schemas.openxmlformats.org/officeDocument/2006/relationships/oleObject" Target="../embeddings/oleObject133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32.bin"/><Relationship Id="rId10" Type="http://schemas.openxmlformats.org/officeDocument/2006/relationships/image" Target="../media/image128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39.wmf"/><Relationship Id="rId3" Type="http://schemas.openxmlformats.org/officeDocument/2006/relationships/oleObject" Target="../embeddings/oleObject135.bin"/><Relationship Id="rId7" Type="http://schemas.openxmlformats.org/officeDocument/2006/relationships/image" Target="../media/image136.wmf"/><Relationship Id="rId12" Type="http://schemas.openxmlformats.org/officeDocument/2006/relationships/oleObject" Target="../embeddings/oleObject139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38.wmf"/><Relationship Id="rId5" Type="http://schemas.openxmlformats.org/officeDocument/2006/relationships/image" Target="../media/image135.png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138.bin"/><Relationship Id="rId4" Type="http://schemas.openxmlformats.org/officeDocument/2006/relationships/image" Target="../media/image134.wmf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4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45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45.bin"/><Relationship Id="rId5" Type="http://schemas.openxmlformats.org/officeDocument/2006/relationships/oleObject" Target="../embeddings/oleObject142.bin"/><Relationship Id="rId10" Type="http://schemas.openxmlformats.org/officeDocument/2006/relationships/image" Target="../media/image144.wmf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4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wmf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49.wmf"/><Relationship Id="rId4" Type="http://schemas.openxmlformats.org/officeDocument/2006/relationships/image" Target="../media/image146.wmf"/><Relationship Id="rId9" Type="http://schemas.openxmlformats.org/officeDocument/2006/relationships/oleObject" Target="../embeddings/oleObject14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51.bin"/><Relationship Id="rId10" Type="http://schemas.openxmlformats.org/officeDocument/2006/relationships/image" Target="../media/image153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5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5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3" Type="http://schemas.openxmlformats.org/officeDocument/2006/relationships/image" Target="../media/image157.png"/><Relationship Id="rId7" Type="http://schemas.openxmlformats.org/officeDocument/2006/relationships/image" Target="../media/image159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61.wmf"/><Relationship Id="rId5" Type="http://schemas.openxmlformats.org/officeDocument/2006/relationships/image" Target="../media/image158.wmf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6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686800" cy="430887"/>
          </a:xfrm>
        </p:spPr>
        <p:txBody>
          <a:bodyPr lIns="0" tIns="0" rIns="0" bIns="0">
            <a:spAutoFit/>
          </a:bodyPr>
          <a:lstStyle/>
          <a:p>
            <a:pPr marL="3370263" indent="-3370263"/>
            <a:r>
              <a:rPr lang="en-US" sz="2800" u="sng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4</a:t>
            </a:r>
            <a:r>
              <a:rPr lang="en-US" sz="28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QUÁ TRÌNH QUÁ ĐỘ TRONG MẠCH RLC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19200"/>
            <a:ext cx="8077200" cy="4191000"/>
          </a:xfrm>
          <a:noFill/>
        </p:spPr>
        <p:txBody>
          <a:bodyPr lIns="0" tIns="0" rIns="0" bIns="0">
            <a:noAutofit/>
          </a:bodyPr>
          <a:lstStyle/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4.1  Đáp ứng của mạch ở trạng thái quá độ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4.2  Biến đổi Laplace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4.3  Tính liên tục của dòng điện, điện áp trên L,C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4.4  Sơ đồ tương đương các phần tử dạng toán tử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4.5  Các định luật, phương pháp dạng toán tử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4.6  Phân tích mạch quá độ dùng biến đổi Laplace</a:t>
            </a:r>
          </a:p>
          <a:p>
            <a:pPr marL="533400" indent="-533400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en-US">
                <a:latin typeface="Arial "/>
              </a:rPr>
              <a:t>4.7  Trạng thái quá độ của mạch RL,RC, RLC</a:t>
            </a:r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2"/>
          </p:nvPr>
        </p:nvSpPr>
        <p:spPr bwMode="auto">
          <a:solidFill>
            <a:schemeClr val="accent1"/>
          </a:solidFill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24DB8A-C316-4528-8FD3-B6B01D41C440}" type="slidenum">
              <a:rPr lang="en-US" sz="1200" smtClean="0">
                <a:solidFill>
                  <a:schemeClr val="bg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sz="12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>
            <a:off x="70104" y="950986"/>
            <a:ext cx="89976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5752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4.1 ĐÁP ỨNG CỦA MẠCH TRẠNG THÁI QUÁ ĐỘ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20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64832341"/>
              </p:ext>
            </p:extLst>
          </p:nvPr>
        </p:nvGraphicFramePr>
        <p:xfrm>
          <a:off x="762000" y="3200400"/>
          <a:ext cx="765862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559040" imgH="419040" progId="Equation.DSMT4">
                  <p:embed/>
                </p:oleObj>
              </mc:Choice>
              <mc:Fallback>
                <p:oleObj name="Equation" r:id="rId3" imgW="4559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7658622" cy="762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Down Arrow 11"/>
          <p:cNvSpPr/>
          <p:nvPr/>
        </p:nvSpPr>
        <p:spPr>
          <a:xfrm>
            <a:off x="4686822" y="4012504"/>
            <a:ext cx="533400" cy="267222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54430296"/>
              </p:ext>
            </p:extLst>
          </p:nvPr>
        </p:nvGraphicFramePr>
        <p:xfrm>
          <a:off x="3315222" y="4343400"/>
          <a:ext cx="3162822" cy="639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93760" imgH="241200" progId="Equation.DSMT4">
                  <p:embed/>
                </p:oleObj>
              </mc:Choice>
              <mc:Fallback>
                <p:oleObj name="Equation" r:id="rId5" imgW="1193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5222" y="4343400"/>
                        <a:ext cx="3162822" cy="63922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1730101" y="5263790"/>
            <a:ext cx="2483118" cy="50377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 thuần nhất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68123" y="5295378"/>
            <a:ext cx="1981200" cy="50377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Nghiệm riêng</a:t>
            </a:r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46304" y="889348"/>
            <a:ext cx="89214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/>
          <p:cNvGrpSpPr/>
          <p:nvPr/>
        </p:nvGrpSpPr>
        <p:grpSpPr>
          <a:xfrm>
            <a:off x="762000" y="2321490"/>
            <a:ext cx="7620000" cy="802710"/>
            <a:chOff x="762000" y="2321490"/>
            <a:chExt cx="7620000" cy="802710"/>
          </a:xfrm>
        </p:grpSpPr>
        <p:sp>
          <p:nvSpPr>
            <p:cNvPr id="5" name="Rectangle 4"/>
            <p:cNvSpPr/>
            <p:nvPr/>
          </p:nvSpPr>
          <p:spPr>
            <a:xfrm>
              <a:off x="4038600" y="2321490"/>
              <a:ext cx="1828800" cy="76408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quá độ 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5867400" y="2514600"/>
              <a:ext cx="724422" cy="38100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62000" y="2323578"/>
              <a:ext cx="2483118" cy="762000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Nguồn tác động x(t):</a:t>
              </a:r>
            </a:p>
            <a:p>
              <a:pPr algn="ctr"/>
              <a:r>
                <a:rPr lang="en-US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e(t), j(t)</a:t>
              </a:r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629400" y="2362200"/>
              <a:ext cx="1752600" cy="762000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Đáp ứng y(t):</a:t>
              </a:r>
            </a:p>
            <a:p>
              <a:pPr algn="ctr"/>
              <a:r>
                <a:rPr lang="en-US" sz="20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i(t), u(t)</a:t>
              </a:r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43" name="Right Arrow 42"/>
            <p:cNvSpPr/>
            <p:nvPr/>
          </p:nvSpPr>
          <p:spPr>
            <a:xfrm>
              <a:off x="3251548" y="2514600"/>
              <a:ext cx="755904" cy="38100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1410222" y="1191595"/>
            <a:ext cx="6971778" cy="789605"/>
            <a:chOff x="1410222" y="1191595"/>
            <a:chExt cx="6971778" cy="789605"/>
          </a:xfrm>
        </p:grpSpPr>
        <p:sp>
          <p:nvSpPr>
            <p:cNvPr id="6" name="Right Arrow 5"/>
            <p:cNvSpPr/>
            <p:nvPr/>
          </p:nvSpPr>
          <p:spPr>
            <a:xfrm>
              <a:off x="3250504" y="1363124"/>
              <a:ext cx="750518" cy="38100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410222" y="1191595"/>
              <a:ext cx="1828800" cy="7648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xác lập 1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038600" y="1205235"/>
              <a:ext cx="1828800" cy="7648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quá độ 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629400" y="1216322"/>
              <a:ext cx="1752600" cy="7648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  <a:r>
                <a:rPr lang="en-US"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xác lập 2 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5867400" y="1390912"/>
              <a:ext cx="762000" cy="38100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" name="Straight Arrow Connector 3"/>
          <p:cNvCxnSpPr/>
          <p:nvPr/>
        </p:nvCxnSpPr>
        <p:spPr>
          <a:xfrm>
            <a:off x="5715000" y="4982623"/>
            <a:ext cx="0" cy="3127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ight Arrow 6"/>
          <p:cNvSpPr/>
          <p:nvPr/>
        </p:nvSpPr>
        <p:spPr>
          <a:xfrm>
            <a:off x="6675627" y="5354354"/>
            <a:ext cx="457200" cy="47218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7223640" y="5227330"/>
            <a:ext cx="1386959" cy="792470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Trạng thái xác lập</a:t>
            </a:r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250505" y="4876800"/>
            <a:ext cx="1436317" cy="3869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92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 animBg="1"/>
      <p:bldP spid="25" grpId="1" animBg="1"/>
      <p:bldP spid="27" grpId="0" animBg="1"/>
      <p:bldP spid="7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7" name="Title 1"/>
          <p:cNvSpPr txBox="1">
            <a:spLocks/>
          </p:cNvSpPr>
          <p:nvPr/>
        </p:nvSpPr>
        <p:spPr>
          <a:xfrm>
            <a:off x="406427" y="577214"/>
            <a:ext cx="4433814" cy="8705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350" indent="-1149350"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 1: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Tại t=0 đóng khóa K,  tìm dòng điện qua L?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2819400" y="1752600"/>
            <a:ext cx="2939361" cy="2634723"/>
            <a:chOff x="2819400" y="2064603"/>
            <a:chExt cx="2939361" cy="2634723"/>
          </a:xfrm>
        </p:grpSpPr>
        <p:sp>
          <p:nvSpPr>
            <p:cNvPr id="194" name="Right Arrow 193"/>
            <p:cNvSpPr/>
            <p:nvPr/>
          </p:nvSpPr>
          <p:spPr>
            <a:xfrm>
              <a:off x="2819400" y="3115724"/>
              <a:ext cx="958374" cy="38100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3815352" y="2957835"/>
              <a:ext cx="1828800" cy="7648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quá độ 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3700327" y="2064603"/>
              <a:ext cx="205843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 </a:t>
              </a: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0</a:t>
              </a:r>
            </a:p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Khóa K đóng</a:t>
              </a:r>
            </a:p>
          </p:txBody>
        </p:sp>
        <p:graphicFrame>
          <p:nvGraphicFramePr>
            <p:cNvPr id="4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4410765"/>
                </p:ext>
              </p:extLst>
            </p:nvPr>
          </p:nvGraphicFramePr>
          <p:xfrm>
            <a:off x="3618400" y="3845251"/>
            <a:ext cx="2089150" cy="854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130040" imgH="431640" progId="Equation.DSMT4">
                    <p:embed/>
                  </p:oleObj>
                </mc:Choice>
                <mc:Fallback>
                  <p:oleObj name="Equation" r:id="rId3" imgW="113004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8400" y="3845251"/>
                          <a:ext cx="2089150" cy="854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6"/>
          <p:cNvGrpSpPr/>
          <p:nvPr/>
        </p:nvGrpSpPr>
        <p:grpSpPr>
          <a:xfrm>
            <a:off x="990600" y="1752600"/>
            <a:ext cx="1953596" cy="2588360"/>
            <a:chOff x="990600" y="1752600"/>
            <a:chExt cx="1953596" cy="2588360"/>
          </a:xfrm>
        </p:grpSpPr>
        <p:graphicFrame>
          <p:nvGraphicFramePr>
            <p:cNvPr id="8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6363850"/>
                </p:ext>
              </p:extLst>
            </p:nvPr>
          </p:nvGraphicFramePr>
          <p:xfrm>
            <a:off x="1457325" y="3878997"/>
            <a:ext cx="839788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06080" imgH="228600" progId="Equation.DSMT4">
                    <p:embed/>
                  </p:oleObj>
                </mc:Choice>
                <mc:Fallback>
                  <p:oleObj name="Equation" r:id="rId5" imgW="4060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7325" y="3878997"/>
                          <a:ext cx="839788" cy="461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" name="Rectangle 194"/>
            <p:cNvSpPr/>
            <p:nvPr/>
          </p:nvSpPr>
          <p:spPr>
            <a:xfrm>
              <a:off x="990600" y="2632192"/>
              <a:ext cx="1828800" cy="7648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xác lập 1</a:t>
              </a: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990600" y="1752600"/>
              <a:ext cx="19535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t&lt;0 </a:t>
              </a:r>
            </a:p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Khóa K mở</a:t>
              </a:r>
            </a:p>
          </p:txBody>
        </p:sp>
        <p:cxnSp>
          <p:nvCxnSpPr>
            <p:cNvPr id="4" name="Straight Arrow Connector 3"/>
            <p:cNvCxnSpPr/>
            <p:nvPr/>
          </p:nvCxnSpPr>
          <p:spPr>
            <a:xfrm>
              <a:off x="1877219" y="3421797"/>
              <a:ext cx="0" cy="4191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5644151" y="2127062"/>
            <a:ext cx="2661649" cy="2396460"/>
            <a:chOff x="5644151" y="2439065"/>
            <a:chExt cx="2661649" cy="2396460"/>
          </a:xfrm>
        </p:grpSpPr>
        <p:graphicFrame>
          <p:nvGraphicFramePr>
            <p:cNvPr id="18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7923127"/>
                </p:ext>
              </p:extLst>
            </p:nvPr>
          </p:nvGraphicFramePr>
          <p:xfrm>
            <a:off x="6984304" y="3962400"/>
            <a:ext cx="969963" cy="873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469800" imgH="431640" progId="Equation.DSMT4">
                    <p:embed/>
                  </p:oleObj>
                </mc:Choice>
                <mc:Fallback>
                  <p:oleObj name="Equation" r:id="rId7" imgW="46980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4304" y="3962400"/>
                          <a:ext cx="969963" cy="873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7" name="Rectangle 196"/>
            <p:cNvSpPr/>
            <p:nvPr/>
          </p:nvSpPr>
          <p:spPr>
            <a:xfrm>
              <a:off x="6553200" y="2968922"/>
              <a:ext cx="1752600" cy="764878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Mạch điện</a:t>
              </a:r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xác lập 2 </a:t>
              </a:r>
            </a:p>
          </p:txBody>
        </p:sp>
        <p:sp>
          <p:nvSpPr>
            <p:cNvPr id="198" name="Right Arrow 197"/>
            <p:cNvSpPr/>
            <p:nvPr/>
          </p:nvSpPr>
          <p:spPr>
            <a:xfrm>
              <a:off x="5644151" y="3143512"/>
              <a:ext cx="885473" cy="38100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TextBox 202"/>
            <p:cNvSpPr txBox="1"/>
            <p:nvPr/>
          </p:nvSpPr>
          <p:spPr>
            <a:xfrm>
              <a:off x="6392564" y="2439065"/>
              <a:ext cx="1880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t -&gt;</a:t>
              </a: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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7429500" y="3747370"/>
              <a:ext cx="0" cy="4108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3124200" y="3891523"/>
            <a:ext cx="3429000" cy="2315602"/>
            <a:chOff x="3124200" y="4203526"/>
            <a:chExt cx="3429000" cy="2315602"/>
          </a:xfrm>
        </p:grpSpPr>
        <p:graphicFrame>
          <p:nvGraphicFramePr>
            <p:cNvPr id="18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139589"/>
                </p:ext>
              </p:extLst>
            </p:nvPr>
          </p:nvGraphicFramePr>
          <p:xfrm>
            <a:off x="3641725" y="4731603"/>
            <a:ext cx="2149475" cy="949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41120" imgH="469800" progId="Equation.DSMT4">
                    <p:embed/>
                  </p:oleObj>
                </mc:Choice>
                <mc:Fallback>
                  <p:oleObj name="Equation" r:id="rId9" imgW="1041120" imgH="46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1725" y="4731603"/>
                          <a:ext cx="2149475" cy="949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1" name="Group 210"/>
            <p:cNvGrpSpPr/>
            <p:nvPr/>
          </p:nvGrpSpPr>
          <p:grpSpPr>
            <a:xfrm>
              <a:off x="3252641" y="5569803"/>
              <a:ext cx="3300559" cy="949325"/>
              <a:chOff x="3276599" y="4832855"/>
              <a:chExt cx="3300559" cy="949325"/>
            </a:xfrm>
          </p:grpSpPr>
          <p:sp>
            <p:nvSpPr>
              <p:cNvPr id="205" name="Rounded Rectangle 204"/>
              <p:cNvSpPr/>
              <p:nvPr/>
            </p:nvSpPr>
            <p:spPr>
              <a:xfrm>
                <a:off x="5033178" y="5167278"/>
                <a:ext cx="1543980" cy="614902"/>
              </a:xfrm>
              <a:prstGeom prst="round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Nghiệm thuần nhất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Rounded Rectangle 205"/>
              <p:cNvSpPr/>
              <p:nvPr/>
            </p:nvSpPr>
            <p:spPr>
              <a:xfrm>
                <a:off x="3276599" y="5167278"/>
                <a:ext cx="1166959" cy="61490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Nghiệm riêng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8" name="Straight Arrow Connector 207"/>
              <p:cNvCxnSpPr/>
              <p:nvPr/>
            </p:nvCxnSpPr>
            <p:spPr>
              <a:xfrm flipH="1">
                <a:off x="3878206" y="4832855"/>
                <a:ext cx="336544" cy="2591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Arrow Connector 209"/>
              <p:cNvCxnSpPr/>
              <p:nvPr/>
            </p:nvCxnSpPr>
            <p:spPr>
              <a:xfrm>
                <a:off x="5364641" y="4846491"/>
                <a:ext cx="423429" cy="2591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Curved Right Arrow 34"/>
            <p:cNvSpPr/>
            <p:nvPr/>
          </p:nvSpPr>
          <p:spPr>
            <a:xfrm>
              <a:off x="3124200" y="4203526"/>
              <a:ext cx="494200" cy="1143000"/>
            </a:xfrm>
            <a:prstGeom prst="curved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934957" y="228600"/>
            <a:ext cx="2904243" cy="1550794"/>
            <a:chOff x="5934957" y="228600"/>
            <a:chExt cx="2904243" cy="1550794"/>
          </a:xfrm>
        </p:grpSpPr>
        <p:grpSp>
          <p:nvGrpSpPr>
            <p:cNvPr id="32" name="Group 31"/>
            <p:cNvGrpSpPr/>
            <p:nvPr/>
          </p:nvGrpSpPr>
          <p:grpSpPr>
            <a:xfrm>
              <a:off x="5934957" y="228600"/>
              <a:ext cx="2904243" cy="1550794"/>
              <a:chOff x="5410200" y="228600"/>
              <a:chExt cx="2904243" cy="1550794"/>
            </a:xfrm>
          </p:grpSpPr>
          <p:sp>
            <p:nvSpPr>
              <p:cNvPr id="167" name="Text Box 113"/>
              <p:cNvSpPr txBox="1">
                <a:spLocks noChangeArrowheads="1"/>
              </p:cNvSpPr>
              <p:nvPr/>
            </p:nvSpPr>
            <p:spPr bwMode="auto">
              <a:xfrm>
                <a:off x="7949852" y="990600"/>
                <a:ext cx="364591" cy="3128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" name="Text Box 115"/>
              <p:cNvSpPr txBox="1">
                <a:spLocks noChangeArrowheads="1"/>
              </p:cNvSpPr>
              <p:nvPr/>
            </p:nvSpPr>
            <p:spPr bwMode="auto">
              <a:xfrm>
                <a:off x="7198222" y="326525"/>
                <a:ext cx="364591" cy="2186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" name="Text Box 116"/>
              <p:cNvSpPr txBox="1">
                <a:spLocks noChangeArrowheads="1"/>
              </p:cNvSpPr>
              <p:nvPr/>
            </p:nvSpPr>
            <p:spPr bwMode="auto">
              <a:xfrm>
                <a:off x="5814436" y="1088162"/>
                <a:ext cx="277783" cy="29159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Text Box 117"/>
              <p:cNvSpPr txBox="1">
                <a:spLocks noChangeArrowheads="1"/>
              </p:cNvSpPr>
              <p:nvPr/>
            </p:nvSpPr>
            <p:spPr bwMode="auto">
              <a:xfrm>
                <a:off x="6197944" y="228600"/>
                <a:ext cx="277783" cy="2531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Text Box 118"/>
              <p:cNvSpPr txBox="1">
                <a:spLocks noChangeArrowheads="1"/>
              </p:cNvSpPr>
              <p:nvPr/>
            </p:nvSpPr>
            <p:spPr bwMode="auto">
              <a:xfrm>
                <a:off x="6604104" y="662325"/>
                <a:ext cx="551830" cy="25179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 = 0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" name="Freeform 172"/>
              <p:cNvSpPr>
                <a:spLocks/>
              </p:cNvSpPr>
              <p:nvPr/>
            </p:nvSpPr>
            <p:spPr bwMode="auto">
              <a:xfrm>
                <a:off x="5994748" y="509849"/>
                <a:ext cx="555567" cy="175161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75" name="Freeform 174"/>
              <p:cNvSpPr>
                <a:spLocks/>
              </p:cNvSpPr>
              <p:nvPr/>
            </p:nvSpPr>
            <p:spPr bwMode="auto">
              <a:xfrm>
                <a:off x="7239682" y="620300"/>
                <a:ext cx="555567" cy="291598"/>
              </a:xfrm>
              <a:custGeom>
                <a:avLst/>
                <a:gdLst>
                  <a:gd name="T0" fmla="*/ 0 w 576"/>
                  <a:gd name="T1" fmla="*/ 0 h 432"/>
                  <a:gd name="T2" fmla="*/ 576 w 576"/>
                  <a:gd name="T3" fmla="*/ 0 h 432"/>
                  <a:gd name="T4" fmla="*/ 576 w 576"/>
                  <a:gd name="T5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432">
                    <a:moveTo>
                      <a:pt x="0" y="0"/>
                    </a:moveTo>
                    <a:lnTo>
                      <a:pt x="576" y="0"/>
                    </a:lnTo>
                    <a:lnTo>
                      <a:pt x="576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77" name="Freeform 176"/>
              <p:cNvSpPr>
                <a:spLocks/>
              </p:cNvSpPr>
              <p:nvPr/>
            </p:nvSpPr>
            <p:spPr bwMode="auto">
              <a:xfrm rot="1600492">
                <a:off x="6825080" y="467973"/>
                <a:ext cx="416675" cy="291598"/>
              </a:xfrm>
              <a:custGeom>
                <a:avLst/>
                <a:gdLst>
                  <a:gd name="T0" fmla="*/ 0 w 432"/>
                  <a:gd name="T1" fmla="*/ 0 h 432"/>
                  <a:gd name="T2" fmla="*/ 288 w 432"/>
                  <a:gd name="T3" fmla="*/ 144 h 432"/>
                  <a:gd name="T4" fmla="*/ 432 w 432"/>
                  <a:gd name="T5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" h="432">
                    <a:moveTo>
                      <a:pt x="0" y="0"/>
                    </a:moveTo>
                    <a:cubicBezTo>
                      <a:pt x="108" y="36"/>
                      <a:pt x="216" y="72"/>
                      <a:pt x="288" y="144"/>
                    </a:cubicBezTo>
                    <a:cubicBezTo>
                      <a:pt x="360" y="216"/>
                      <a:pt x="408" y="384"/>
                      <a:pt x="432" y="432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79" name="Freeform 178"/>
              <p:cNvSpPr>
                <a:spLocks/>
              </p:cNvSpPr>
              <p:nvPr/>
            </p:nvSpPr>
            <p:spPr bwMode="auto">
              <a:xfrm>
                <a:off x="6591816" y="1414897"/>
                <a:ext cx="1202346" cy="364497"/>
              </a:xfrm>
              <a:custGeom>
                <a:avLst/>
                <a:gdLst>
                  <a:gd name="T0" fmla="*/ 0 w 1980"/>
                  <a:gd name="T1" fmla="*/ 360 h 360"/>
                  <a:gd name="T2" fmla="*/ 1980 w 1980"/>
                  <a:gd name="T3" fmla="*/ 360 h 360"/>
                  <a:gd name="T4" fmla="*/ 1980 w 1980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80" h="360">
                    <a:moveTo>
                      <a:pt x="0" y="360"/>
                    </a:moveTo>
                    <a:lnTo>
                      <a:pt x="1980" y="360"/>
                    </a:lnTo>
                    <a:lnTo>
                      <a:pt x="198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2" name="Freeform 11"/>
              <p:cNvSpPr/>
              <p:nvPr/>
            </p:nvSpPr>
            <p:spPr>
              <a:xfrm>
                <a:off x="5574082" y="601249"/>
                <a:ext cx="1127343" cy="1177447"/>
              </a:xfrm>
              <a:custGeom>
                <a:avLst/>
                <a:gdLst>
                  <a:gd name="connsiteX0" fmla="*/ 450937 w 1127343"/>
                  <a:gd name="connsiteY0" fmla="*/ 0 h 1177447"/>
                  <a:gd name="connsiteX1" fmla="*/ 0 w 1127343"/>
                  <a:gd name="connsiteY1" fmla="*/ 0 h 1177447"/>
                  <a:gd name="connsiteX2" fmla="*/ 0 w 1127343"/>
                  <a:gd name="connsiteY2" fmla="*/ 1177447 h 1177447"/>
                  <a:gd name="connsiteX3" fmla="*/ 1127343 w 1127343"/>
                  <a:gd name="connsiteY3" fmla="*/ 1177447 h 1177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7343" h="1177447">
                    <a:moveTo>
                      <a:pt x="450937" y="0"/>
                    </a:moveTo>
                    <a:lnTo>
                      <a:pt x="0" y="0"/>
                    </a:lnTo>
                    <a:lnTo>
                      <a:pt x="0" y="1177447"/>
                    </a:lnTo>
                    <a:lnTo>
                      <a:pt x="1127343" y="117744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1" name="Group 180"/>
              <p:cNvGrpSpPr>
                <a:grpSpLocks/>
              </p:cNvGrpSpPr>
              <p:nvPr/>
            </p:nvGrpSpPr>
            <p:grpSpPr bwMode="auto">
              <a:xfrm>
                <a:off x="5410200" y="1012000"/>
                <a:ext cx="347229" cy="364497"/>
                <a:chOff x="1884" y="2304"/>
                <a:chExt cx="360" cy="360"/>
              </a:xfrm>
            </p:grpSpPr>
            <p:sp>
              <p:nvSpPr>
                <p:cNvPr id="182" name="Oval 181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cxnSp>
              <p:nvCxnSpPr>
                <p:cNvPr id="183" name="Line 134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4" name="Line 135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5" name="Line 136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3" name="Freeform 12"/>
              <p:cNvSpPr/>
              <p:nvPr/>
            </p:nvSpPr>
            <p:spPr>
              <a:xfrm>
                <a:off x="6475956" y="433649"/>
                <a:ext cx="722266" cy="167600"/>
              </a:xfrm>
              <a:custGeom>
                <a:avLst/>
                <a:gdLst>
                  <a:gd name="connsiteX0" fmla="*/ 0 w 751562"/>
                  <a:gd name="connsiteY0" fmla="*/ 187890 h 187890"/>
                  <a:gd name="connsiteX1" fmla="*/ 475989 w 751562"/>
                  <a:gd name="connsiteY1" fmla="*/ 187890 h 187890"/>
                  <a:gd name="connsiteX2" fmla="*/ 751562 w 751562"/>
                  <a:gd name="connsiteY2" fmla="*/ 0 h 187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1562" h="187890">
                    <a:moveTo>
                      <a:pt x="0" y="187890"/>
                    </a:moveTo>
                    <a:lnTo>
                      <a:pt x="475989" y="187890"/>
                    </a:lnTo>
                    <a:lnTo>
                      <a:pt x="751562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oval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" name="Group 29"/>
              <p:cNvGrpSpPr>
                <a:grpSpLocks/>
              </p:cNvGrpSpPr>
              <p:nvPr/>
            </p:nvGrpSpPr>
            <p:grpSpPr bwMode="auto">
              <a:xfrm rot="5400000">
                <a:off x="7490918" y="1116208"/>
                <a:ext cx="651291" cy="135832"/>
                <a:chOff x="2448" y="1728"/>
                <a:chExt cx="571" cy="143"/>
              </a:xfrm>
            </p:grpSpPr>
            <p:sp>
              <p:nvSpPr>
                <p:cNvPr id="20" name="Freeform 30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1" name="Freeform 31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" name="Freeform 32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33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Line 34"/>
                <p:cNvSpPr>
                  <a:spLocks noChangeShapeType="1"/>
                </p:cNvSpPr>
                <p:nvPr/>
              </p:nv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35"/>
                <p:cNvSpPr>
                  <a:spLocks noChangeShapeType="1"/>
                </p:cNvSpPr>
                <p:nvPr/>
              </p:nv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cxnSp>
          <p:nvCxnSpPr>
            <p:cNvPr id="3" name="Straight Arrow Connector 2"/>
            <p:cNvCxnSpPr/>
            <p:nvPr/>
          </p:nvCxnSpPr>
          <p:spPr>
            <a:xfrm>
              <a:off x="8206450" y="961770"/>
              <a:ext cx="0" cy="5191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8001516"/>
                </p:ext>
              </p:extLst>
            </p:nvPr>
          </p:nvGraphicFramePr>
          <p:xfrm>
            <a:off x="7892125" y="966259"/>
            <a:ext cx="3143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52280" imgH="228600" progId="Equation.DSMT4">
                    <p:embed/>
                  </p:oleObj>
                </mc:Choice>
                <mc:Fallback>
                  <p:oleObj name="Equation" r:id="rId11" imgW="152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92125" y="966259"/>
                          <a:ext cx="314325" cy="461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0780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7" name="Title 1"/>
          <p:cNvSpPr txBox="1">
            <a:spLocks/>
          </p:cNvSpPr>
          <p:nvPr/>
        </p:nvSpPr>
        <p:spPr>
          <a:xfrm>
            <a:off x="553494" y="577214"/>
            <a:ext cx="4968162" cy="4955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350" indent="-1149350"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 2: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dòng điện trong mạch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5715000" y="199897"/>
            <a:ext cx="3124499" cy="1705103"/>
            <a:chOff x="5934957" y="199897"/>
            <a:chExt cx="2904542" cy="1586373"/>
          </a:xfrm>
        </p:grpSpPr>
        <p:sp>
          <p:nvSpPr>
            <p:cNvPr id="167" name="Text Box 113"/>
            <p:cNvSpPr txBox="1">
              <a:spLocks noChangeArrowheads="1"/>
            </p:cNvSpPr>
            <p:nvPr/>
          </p:nvSpPr>
          <p:spPr bwMode="auto">
            <a:xfrm>
              <a:off x="7434869" y="199897"/>
              <a:ext cx="364591" cy="3128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Text Box 116"/>
            <p:cNvSpPr txBox="1">
              <a:spLocks noChangeArrowheads="1"/>
            </p:cNvSpPr>
            <p:nvPr/>
          </p:nvSpPr>
          <p:spPr bwMode="auto">
            <a:xfrm>
              <a:off x="6339193" y="1018946"/>
              <a:ext cx="540974" cy="2837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e(t)</a:t>
              </a:r>
              <a:endParaRPr lang="en-US" sz="22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Text Box 117"/>
            <p:cNvSpPr txBox="1">
              <a:spLocks noChangeArrowheads="1"/>
            </p:cNvSpPr>
            <p:nvPr/>
          </p:nvSpPr>
          <p:spPr bwMode="auto">
            <a:xfrm>
              <a:off x="6504710" y="241792"/>
              <a:ext cx="277783" cy="2531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Freeform 172"/>
            <p:cNvSpPr>
              <a:spLocks/>
            </p:cNvSpPr>
            <p:nvPr/>
          </p:nvSpPr>
          <p:spPr bwMode="auto">
            <a:xfrm>
              <a:off x="6324600" y="523041"/>
              <a:ext cx="555567" cy="175161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17" name="Group 29"/>
            <p:cNvGrpSpPr>
              <a:grpSpLocks/>
            </p:cNvGrpSpPr>
            <p:nvPr/>
          </p:nvGrpSpPr>
          <p:grpSpPr bwMode="auto">
            <a:xfrm>
              <a:off x="7196614" y="522490"/>
              <a:ext cx="651291" cy="135832"/>
              <a:chOff x="2448" y="1728"/>
              <a:chExt cx="571" cy="143"/>
            </a:xfrm>
          </p:grpSpPr>
          <p:sp>
            <p:nvSpPr>
              <p:cNvPr id="20" name="Freeform 30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  <p:sp>
            <p:nvSpPr>
              <p:cNvPr id="21" name="Freeform 31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  <p:sp>
            <p:nvSpPr>
              <p:cNvPr id="22" name="Freeform 32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  <p:sp>
            <p:nvSpPr>
              <p:cNvPr id="23" name="Freeform 33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  <p:sp>
            <p:nvSpPr>
              <p:cNvPr id="24" name="Line 34"/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  <p:sp>
            <p:nvSpPr>
              <p:cNvPr id="25" name="Line 35"/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000"/>
              </a:p>
            </p:txBody>
          </p:sp>
        </p:grpSp>
        <p:cxnSp>
          <p:nvCxnSpPr>
            <p:cNvPr id="9" name="Straight Connector 8"/>
            <p:cNvCxnSpPr>
              <a:stCxn id="173" idx="9"/>
              <a:endCxn id="25" idx="1"/>
            </p:cNvCxnSpPr>
            <p:nvPr/>
          </p:nvCxnSpPr>
          <p:spPr>
            <a:xfrm>
              <a:off x="6787573" y="610622"/>
              <a:ext cx="507134" cy="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/>
            <p:cNvGrpSpPr/>
            <p:nvPr/>
          </p:nvGrpSpPr>
          <p:grpSpPr>
            <a:xfrm>
              <a:off x="8154737" y="1091774"/>
              <a:ext cx="237333" cy="83125"/>
              <a:chOff x="7577008" y="1012000"/>
              <a:chExt cx="237333" cy="83125"/>
            </a:xfrm>
          </p:grpSpPr>
          <p:cxnSp>
            <p:nvCxnSpPr>
              <p:cNvPr id="11" name="Straight Connector 10"/>
              <p:cNvCxnSpPr/>
              <p:nvPr/>
            </p:nvCxnSpPr>
            <p:spPr>
              <a:xfrm>
                <a:off x="7577008" y="1012000"/>
                <a:ext cx="2286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7585741" y="1095125"/>
                <a:ext cx="228600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Freeform 14"/>
            <p:cNvSpPr/>
            <p:nvPr/>
          </p:nvSpPr>
          <p:spPr>
            <a:xfrm>
              <a:off x="6103088" y="606056"/>
              <a:ext cx="2190307" cy="1180214"/>
            </a:xfrm>
            <a:custGeom>
              <a:avLst/>
              <a:gdLst>
                <a:gd name="connsiteX0" fmla="*/ 244549 w 2190307"/>
                <a:gd name="connsiteY0" fmla="*/ 0 h 1180214"/>
                <a:gd name="connsiteX1" fmla="*/ 0 w 2190307"/>
                <a:gd name="connsiteY1" fmla="*/ 0 h 1180214"/>
                <a:gd name="connsiteX2" fmla="*/ 0 w 2190307"/>
                <a:gd name="connsiteY2" fmla="*/ 1180214 h 1180214"/>
                <a:gd name="connsiteX3" fmla="*/ 2190307 w 2190307"/>
                <a:gd name="connsiteY3" fmla="*/ 1180214 h 1180214"/>
                <a:gd name="connsiteX4" fmla="*/ 2190307 w 2190307"/>
                <a:gd name="connsiteY4" fmla="*/ 584791 h 1180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0307" h="1180214">
                  <a:moveTo>
                    <a:pt x="244549" y="0"/>
                  </a:moveTo>
                  <a:lnTo>
                    <a:pt x="0" y="0"/>
                  </a:lnTo>
                  <a:lnTo>
                    <a:pt x="0" y="1180214"/>
                  </a:lnTo>
                  <a:lnTo>
                    <a:pt x="2190307" y="1180214"/>
                  </a:lnTo>
                  <a:lnTo>
                    <a:pt x="2190307" y="584791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7783033" y="606055"/>
              <a:ext cx="510363" cy="467833"/>
            </a:xfrm>
            <a:custGeom>
              <a:avLst/>
              <a:gdLst>
                <a:gd name="connsiteX0" fmla="*/ 0 w 510363"/>
                <a:gd name="connsiteY0" fmla="*/ 0 h 467833"/>
                <a:gd name="connsiteX1" fmla="*/ 510363 w 510363"/>
                <a:gd name="connsiteY1" fmla="*/ 0 h 467833"/>
                <a:gd name="connsiteX2" fmla="*/ 510363 w 510363"/>
                <a:gd name="connsiteY2" fmla="*/ 467833 h 4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10363" h="467833">
                  <a:moveTo>
                    <a:pt x="0" y="0"/>
                  </a:moveTo>
                  <a:lnTo>
                    <a:pt x="510363" y="0"/>
                  </a:lnTo>
                  <a:lnTo>
                    <a:pt x="510363" y="46783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grpSp>
          <p:nvGrpSpPr>
            <p:cNvPr id="181" name="Group 180"/>
            <p:cNvGrpSpPr>
              <a:grpSpLocks/>
            </p:cNvGrpSpPr>
            <p:nvPr/>
          </p:nvGrpSpPr>
          <p:grpSpPr bwMode="auto">
            <a:xfrm>
              <a:off x="5934957" y="1012000"/>
              <a:ext cx="347229" cy="364497"/>
              <a:chOff x="1884" y="2304"/>
              <a:chExt cx="360" cy="360"/>
            </a:xfrm>
          </p:grpSpPr>
          <p:sp>
            <p:nvSpPr>
              <p:cNvPr id="182" name="Oval 181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83" name="Line 134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" name="Line 135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5" name="Line 136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5" name="Text Box 113"/>
            <p:cNvSpPr txBox="1">
              <a:spLocks noChangeArrowheads="1"/>
            </p:cNvSpPr>
            <p:nvPr/>
          </p:nvSpPr>
          <p:spPr bwMode="auto">
            <a:xfrm>
              <a:off x="8474908" y="966734"/>
              <a:ext cx="364591" cy="3128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 Box 113"/>
            <p:cNvSpPr txBox="1">
              <a:spLocks noChangeArrowheads="1"/>
            </p:cNvSpPr>
            <p:nvPr/>
          </p:nvSpPr>
          <p:spPr bwMode="auto">
            <a:xfrm>
              <a:off x="7255174" y="748275"/>
              <a:ext cx="364591" cy="3128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b="1" i="1">
                  <a:solidFill>
                    <a:srgbClr val="0000F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i(t)</a:t>
              </a:r>
              <a:endParaRPr lang="en-US" sz="2000" b="1" i="1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>
            <a:off x="7004712" y="734704"/>
            <a:ext cx="6512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530928474"/>
              </p:ext>
            </p:extLst>
          </p:nvPr>
        </p:nvGraphicFramePr>
        <p:xfrm>
          <a:off x="569384" y="1257787"/>
          <a:ext cx="4264555" cy="76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080" imgH="393480" progId="Equation.DSMT4">
                  <p:embed/>
                </p:oleObj>
              </mc:Choice>
              <mc:Fallback>
                <p:oleObj name="Equation" r:id="rId3" imgW="1981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384" y="1257787"/>
                        <a:ext cx="4264555" cy="76993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413194" y="2210628"/>
            <a:ext cx="3396806" cy="1404421"/>
            <a:chOff x="435703" y="2288459"/>
            <a:chExt cx="2516091" cy="1347257"/>
          </a:xfrm>
        </p:grpSpPr>
        <p:sp>
          <p:nvSpPr>
            <p:cNvPr id="30" name="Down Arrow 29"/>
            <p:cNvSpPr/>
            <p:nvPr/>
          </p:nvSpPr>
          <p:spPr>
            <a:xfrm>
              <a:off x="1311429" y="2288459"/>
              <a:ext cx="331579" cy="1347257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itle 1"/>
            <p:cNvSpPr txBox="1">
              <a:spLocks/>
            </p:cNvSpPr>
            <p:nvPr/>
          </p:nvSpPr>
          <p:spPr>
            <a:xfrm>
              <a:off x="435703" y="2441639"/>
              <a:ext cx="996696" cy="1018610"/>
            </a:xfrm>
            <a:prstGeom prst="rect">
              <a:avLst/>
            </a:prstGeom>
            <a:noFill/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149350" indent="-1149350" algn="ctr">
                <a:spcBef>
                  <a:spcPts val="0"/>
                </a:spcBef>
              </a:pPr>
              <a:r>
                <a:rPr lang="en-US" sz="20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Mạch</a:t>
              </a:r>
            </a:p>
            <a:p>
              <a:pPr marL="1149350" indent="-1149350" algn="ctr">
                <a:spcBef>
                  <a:spcPts val="0"/>
                </a:spcBef>
              </a:pPr>
              <a:r>
                <a:rPr lang="en-US" sz="20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xác lập</a:t>
              </a:r>
            </a:p>
            <a:p>
              <a:pPr marL="1149350" indent="-1149350" algn="ctr">
                <a:spcBef>
                  <a:spcPts val="0"/>
                </a:spcBef>
              </a:pPr>
              <a:r>
                <a:rPr lang="en-US" sz="20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điều hòa</a:t>
              </a:r>
            </a:p>
          </p:txBody>
        </p:sp>
        <p:sp>
          <p:nvSpPr>
            <p:cNvPr id="75" name="Title 1"/>
            <p:cNvSpPr txBox="1">
              <a:spLocks/>
            </p:cNvSpPr>
            <p:nvPr/>
          </p:nvSpPr>
          <p:spPr>
            <a:xfrm>
              <a:off x="1508217" y="2437922"/>
              <a:ext cx="1443577" cy="1018609"/>
            </a:xfrm>
            <a:prstGeom prst="rect">
              <a:avLst/>
            </a:prstGeom>
            <a:noFill/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1149350" indent="-1149350" algn="ctr">
                <a:spcBef>
                  <a:spcPts val="0"/>
                </a:spcBef>
              </a:pPr>
              <a:r>
                <a:rPr lang="en-US" sz="20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Biểu diễn phức</a:t>
              </a:r>
            </a:p>
            <a:p>
              <a:pPr marL="1149350" indent="-1149350" algn="ctr">
                <a:spcBef>
                  <a:spcPts val="0"/>
                </a:spcBef>
              </a:pPr>
              <a:r>
                <a:rPr lang="en-US" sz="20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(Biến đổi </a:t>
              </a:r>
            </a:p>
            <a:p>
              <a:pPr marL="1149350" indent="-1149350" algn="ctr">
                <a:spcBef>
                  <a:spcPts val="0"/>
                </a:spcBef>
              </a:pPr>
              <a:r>
                <a:rPr lang="en-US" sz="20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Fourier)</a:t>
              </a:r>
            </a:p>
          </p:txBody>
        </p:sp>
      </p:grpSp>
      <p:graphicFrame>
        <p:nvGraphicFramePr>
          <p:cNvPr id="78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493543638"/>
              </p:ext>
            </p:extLst>
          </p:nvPr>
        </p:nvGraphicFramePr>
        <p:xfrm>
          <a:off x="763588" y="3690938"/>
          <a:ext cx="2840037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431640" progId="Equation.DSMT4">
                  <p:embed/>
                </p:oleObj>
              </mc:Choice>
              <mc:Fallback>
                <p:oleObj name="Equation" r:id="rId5" imgW="1523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3690938"/>
                        <a:ext cx="2840037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242008588"/>
              </p:ext>
            </p:extLst>
          </p:nvPr>
        </p:nvGraphicFramePr>
        <p:xfrm>
          <a:off x="762000" y="4419600"/>
          <a:ext cx="3403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15840" imgH="609480" progId="Equation.DSMT4">
                  <p:embed/>
                </p:oleObj>
              </mc:Choice>
              <mc:Fallback>
                <p:oleObj name="Equation" r:id="rId7" imgW="181584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419600"/>
                        <a:ext cx="3403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858808817"/>
              </p:ext>
            </p:extLst>
          </p:nvPr>
        </p:nvGraphicFramePr>
        <p:xfrm>
          <a:off x="762000" y="5638800"/>
          <a:ext cx="2438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57120" imgH="228600" progId="Equation.DSMT4">
                  <p:embed/>
                </p:oleObj>
              </mc:Choice>
              <mc:Fallback>
                <p:oleObj name="Equation" r:id="rId9" imgW="12571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638800"/>
                        <a:ext cx="24384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/>
          <p:cNvSpPr/>
          <p:nvPr/>
        </p:nvSpPr>
        <p:spPr>
          <a:xfrm>
            <a:off x="685800" y="3691248"/>
            <a:ext cx="3479437" cy="23905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4432020" y="1727180"/>
            <a:ext cx="2703175" cy="2542271"/>
            <a:chOff x="4432020" y="1727180"/>
            <a:chExt cx="2703175" cy="2542271"/>
          </a:xfrm>
        </p:grpSpPr>
        <p:grpSp>
          <p:nvGrpSpPr>
            <p:cNvPr id="44" name="Group 43"/>
            <p:cNvGrpSpPr/>
            <p:nvPr/>
          </p:nvGrpSpPr>
          <p:grpSpPr>
            <a:xfrm>
              <a:off x="4432020" y="1727180"/>
              <a:ext cx="2703175" cy="1887871"/>
              <a:chOff x="4432020" y="1727180"/>
              <a:chExt cx="2703175" cy="1887871"/>
            </a:xfrm>
          </p:grpSpPr>
          <p:sp>
            <p:nvSpPr>
              <p:cNvPr id="34" name="Bent Arrow 33"/>
              <p:cNvSpPr/>
              <p:nvPr/>
            </p:nvSpPr>
            <p:spPr>
              <a:xfrm rot="5400000">
                <a:off x="4504364" y="2252016"/>
                <a:ext cx="1887871" cy="838200"/>
              </a:xfrm>
              <a:prstGeom prst="bentArrow">
                <a:avLst>
                  <a:gd name="adj1" fmla="val 25000"/>
                  <a:gd name="adj2" fmla="val 26460"/>
                  <a:gd name="adj3" fmla="val 25000"/>
                  <a:gd name="adj4" fmla="val 43750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4" name="Title 1"/>
              <p:cNvSpPr txBox="1">
                <a:spLocks/>
              </p:cNvSpPr>
              <p:nvPr/>
            </p:nvSpPr>
            <p:spPr>
              <a:xfrm>
                <a:off x="4432020" y="2388597"/>
                <a:ext cx="1206780" cy="754053"/>
              </a:xfrm>
              <a:prstGeom prst="rect">
                <a:avLst/>
              </a:prstGeom>
              <a:noFill/>
            </p:spPr>
            <p:txBody>
              <a:bodyPr wrap="square" bIns="91440" anchor="t" anchorCtr="0">
                <a:spAutoFit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1149350" indent="-1149350" algn="ctr">
                  <a:spcBef>
                    <a:spcPts val="0"/>
                  </a:spcBef>
                </a:pPr>
                <a:r>
                  <a:rPr lang="en-US" sz="200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Mạch</a:t>
                </a:r>
              </a:p>
              <a:p>
                <a:pPr marL="1149350" indent="-1149350" algn="ctr">
                  <a:spcBef>
                    <a:spcPts val="0"/>
                  </a:spcBef>
                </a:pPr>
                <a:r>
                  <a:rPr lang="en-US" sz="200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Quá độ</a:t>
                </a:r>
              </a:p>
            </p:txBody>
          </p:sp>
          <p:sp>
            <p:nvSpPr>
              <p:cNvPr id="86" name="Title 1"/>
              <p:cNvSpPr txBox="1">
                <a:spLocks/>
              </p:cNvSpPr>
              <p:nvPr/>
            </p:nvSpPr>
            <p:spPr>
              <a:xfrm>
                <a:off x="5674782" y="2407170"/>
                <a:ext cx="1460413" cy="754053"/>
              </a:xfrm>
              <a:prstGeom prst="rect">
                <a:avLst/>
              </a:prstGeom>
              <a:noFill/>
            </p:spPr>
            <p:txBody>
              <a:bodyPr wrap="square" bIns="91440" anchor="t" anchorCtr="0">
                <a:spAutoFit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>
                  <a:spcBef>
                    <a:spcPts val="0"/>
                  </a:spcBef>
                </a:pPr>
                <a:r>
                  <a:rPr lang="en-US" sz="200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Biến đổi Laplace</a:t>
                </a:r>
              </a:p>
            </p:txBody>
          </p:sp>
        </p:grpSp>
        <p:sp>
          <p:nvSpPr>
            <p:cNvPr id="41" name="Rounded Rectangle 40"/>
            <p:cNvSpPr/>
            <p:nvPr/>
          </p:nvSpPr>
          <p:spPr>
            <a:xfrm>
              <a:off x="4432021" y="3691248"/>
              <a:ext cx="2703174" cy="57820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Đại số hóa PTVTP</a:t>
              </a:r>
            </a:p>
          </p:txBody>
        </p:sp>
      </p:grpSp>
      <p:sp>
        <p:nvSpPr>
          <p:cNvPr id="43" name="Down Arrow 42"/>
          <p:cNvSpPr/>
          <p:nvPr/>
        </p:nvSpPr>
        <p:spPr>
          <a:xfrm>
            <a:off x="5410200" y="4345646"/>
            <a:ext cx="444435" cy="378753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0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590902853"/>
              </p:ext>
            </p:extLst>
          </p:nvPr>
        </p:nvGraphicFramePr>
        <p:xfrm>
          <a:off x="4916596" y="4785692"/>
          <a:ext cx="1516373" cy="1304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36560" imgH="672840" progId="Equation.DSMT4">
                  <p:embed/>
                </p:oleObj>
              </mc:Choice>
              <mc:Fallback>
                <p:oleObj name="Equation" r:id="rId11" imgW="73656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596" y="4785692"/>
                        <a:ext cx="1516373" cy="130409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076557343"/>
              </p:ext>
            </p:extLst>
          </p:nvPr>
        </p:nvGraphicFramePr>
        <p:xfrm>
          <a:off x="5867400" y="1963738"/>
          <a:ext cx="24384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58640" imgH="228600" progId="Equation.DSMT4">
                  <p:embed/>
                </p:oleObj>
              </mc:Choice>
              <mc:Fallback>
                <p:oleObj name="Equation" r:id="rId13" imgW="1358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63738"/>
                        <a:ext cx="24384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406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153400" cy="609600"/>
          </a:xfrm>
        </p:spPr>
        <p:txBody>
          <a:bodyPr anchor="t" anchorCtr="0">
            <a:normAutofit/>
          </a:bodyPr>
          <a:lstStyle/>
          <a:p>
            <a:pPr algn="l"/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4.2 BIẾN ĐỔI LAPLACE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969137"/>
            <a:ext cx="8153400" cy="609600"/>
          </a:xfrm>
          <a:prstGeom prst="rect">
            <a:avLst/>
          </a:prstGeom>
        </p:spPr>
        <p:txBody>
          <a:bodyPr bIns="91440" anchor="t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4.2.1 ĐỊNH NGHĨA BIẾN ĐỔI LAPLACE</a:t>
            </a:r>
          </a:p>
        </p:txBody>
      </p:sp>
      <p:sp>
        <p:nvSpPr>
          <p:cNvPr id="7" name="Rectangle 18"/>
          <p:cNvSpPr>
            <a:spLocks noChangeArrowheads="1"/>
          </p:cNvSpPr>
          <p:nvPr/>
        </p:nvSpPr>
        <p:spPr bwMode="auto">
          <a:xfrm>
            <a:off x="439455" y="1546225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>
                <a:latin typeface="Arial "/>
              </a:rPr>
              <a:t>Biến đổi Laplace 1 phía của f(t)</a:t>
            </a:r>
            <a:r>
              <a:rPr lang="en-US" sz="2400" b="1">
                <a:latin typeface="Arial "/>
              </a:rPr>
              <a:t> </a:t>
            </a:r>
            <a:r>
              <a:rPr lang="en-US" sz="2400">
                <a:latin typeface="Arial "/>
              </a:rPr>
              <a:t>được định nghĩa:</a:t>
            </a:r>
            <a:endParaRPr lang="en-US" sz="2400" b="1" baseline="-25000">
              <a:latin typeface="Arial "/>
            </a:endParaRP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06040"/>
              </p:ext>
            </p:extLst>
          </p:nvPr>
        </p:nvGraphicFramePr>
        <p:xfrm>
          <a:off x="838200" y="4383302"/>
          <a:ext cx="2527516" cy="1026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8960" imgH="495000" progId="Equation.DSMT4">
                  <p:embed/>
                </p:oleObj>
              </mc:Choice>
              <mc:Fallback>
                <p:oleObj name="Equation" r:id="rId3" imgW="12189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383302"/>
                        <a:ext cx="2527516" cy="10268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477033" y="3810000"/>
            <a:ext cx="493316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>
                <a:latin typeface="Arial "/>
              </a:rPr>
              <a:t>Hàm đơn vị</a:t>
            </a:r>
            <a:r>
              <a:rPr lang="en-US" sz="2400" b="1">
                <a:latin typeface="Arial "/>
              </a:rPr>
              <a:t> </a:t>
            </a:r>
            <a:r>
              <a:rPr lang="en-US" sz="2400">
                <a:latin typeface="Arial "/>
              </a:rPr>
              <a:t>được định nghĩa:</a:t>
            </a:r>
            <a:endParaRPr lang="en-US" sz="2400" b="1" baseline="-25000">
              <a:latin typeface="Arial "/>
            </a:endParaRPr>
          </a:p>
        </p:txBody>
      </p:sp>
      <p:graphicFrame>
        <p:nvGraphicFramePr>
          <p:cNvPr id="1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943967"/>
              </p:ext>
            </p:extLst>
          </p:nvPr>
        </p:nvGraphicFramePr>
        <p:xfrm>
          <a:off x="889000" y="5604969"/>
          <a:ext cx="45212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253800" progId="Equation.DSMT4">
                  <p:embed/>
                </p:oleObj>
              </mc:Choice>
              <mc:Fallback>
                <p:oleObj name="Equation" r:id="rId5" imgW="2031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5604969"/>
                        <a:ext cx="4521200" cy="536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5"/>
          <p:cNvGrpSpPr>
            <a:grpSpLocks/>
          </p:cNvGrpSpPr>
          <p:nvPr/>
        </p:nvGrpSpPr>
        <p:grpSpPr bwMode="auto">
          <a:xfrm>
            <a:off x="5181600" y="4031997"/>
            <a:ext cx="3544866" cy="1572972"/>
            <a:chOff x="3216" y="864"/>
            <a:chExt cx="2304" cy="1126"/>
          </a:xfrm>
        </p:grpSpPr>
        <p:sp>
          <p:nvSpPr>
            <p:cNvPr id="13" name="Line 6"/>
            <p:cNvSpPr>
              <a:spLocks noChangeShapeType="1"/>
            </p:cNvSpPr>
            <p:nvPr/>
          </p:nvSpPr>
          <p:spPr bwMode="auto">
            <a:xfrm flipV="1">
              <a:off x="3888" y="97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3216" y="1690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3786" y="1704"/>
              <a:ext cx="18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sz="2000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3700" y="1130"/>
              <a:ext cx="240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sz="20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5184" y="139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sz="20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3559" y="864"/>
              <a:ext cx="432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sz="2000">
                  <a:latin typeface="Arial" panose="020B0604020202020204" pitchFamily="34" charset="0"/>
                </a:rPr>
                <a:t>1(t)</a:t>
              </a:r>
            </a:p>
          </p:txBody>
        </p:sp>
        <p:sp>
          <p:nvSpPr>
            <p:cNvPr id="19" name="Freeform 12"/>
            <p:cNvSpPr>
              <a:spLocks/>
            </p:cNvSpPr>
            <p:nvPr/>
          </p:nvSpPr>
          <p:spPr bwMode="auto">
            <a:xfrm>
              <a:off x="3216" y="1273"/>
              <a:ext cx="1776" cy="407"/>
            </a:xfrm>
            <a:custGeom>
              <a:avLst/>
              <a:gdLst>
                <a:gd name="T0" fmla="*/ 0 w 1776"/>
                <a:gd name="T1" fmla="*/ 480 h 480"/>
                <a:gd name="T2" fmla="*/ 672 w 1776"/>
                <a:gd name="T3" fmla="*/ 480 h 480"/>
                <a:gd name="T4" fmla="*/ 672 w 1776"/>
                <a:gd name="T5" fmla="*/ 0 h 480"/>
                <a:gd name="T6" fmla="*/ 1776 w 1776"/>
                <a:gd name="T7" fmla="*/ 0 h 4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76"/>
                <a:gd name="T13" fmla="*/ 0 h 480"/>
                <a:gd name="T14" fmla="*/ 1776 w 1776"/>
                <a:gd name="T15" fmla="*/ 480 h 4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76" h="480">
                  <a:moveTo>
                    <a:pt x="0" y="480"/>
                  </a:moveTo>
                  <a:lnTo>
                    <a:pt x="672" y="480"/>
                  </a:lnTo>
                  <a:lnTo>
                    <a:pt x="672" y="0"/>
                  </a:lnTo>
                  <a:lnTo>
                    <a:pt x="1776" y="0"/>
                  </a:lnTo>
                </a:path>
              </a:pathLst>
            </a:custGeom>
            <a:noFill/>
            <a:ln w="381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838200" y="2003425"/>
            <a:ext cx="6735762" cy="1044575"/>
            <a:chOff x="884238" y="1938338"/>
            <a:chExt cx="6735762" cy="1044575"/>
          </a:xfrm>
        </p:grpSpPr>
        <p:graphicFrame>
          <p:nvGraphicFramePr>
            <p:cNvPr id="8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6520227"/>
                </p:ext>
              </p:extLst>
            </p:nvPr>
          </p:nvGraphicFramePr>
          <p:xfrm>
            <a:off x="884238" y="1938338"/>
            <a:ext cx="6583362" cy="1044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958840" imgH="495000" progId="Equation.DSMT4">
                    <p:embed/>
                  </p:oleObj>
                </mc:Choice>
                <mc:Fallback>
                  <p:oleObj name="Equation" r:id="rId7" imgW="2958840" imgH="495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238" y="1938338"/>
                          <a:ext cx="6583362" cy="1044575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5400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Rectangle 2"/>
            <p:cNvSpPr/>
            <p:nvPr/>
          </p:nvSpPr>
          <p:spPr>
            <a:xfrm>
              <a:off x="4530768" y="1938338"/>
              <a:ext cx="3089232" cy="10445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820448"/>
              </p:ext>
            </p:extLst>
          </p:nvPr>
        </p:nvGraphicFramePr>
        <p:xfrm>
          <a:off x="838200" y="3159125"/>
          <a:ext cx="17383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38080" imgH="203040" progId="Equation.DSMT4">
                  <p:embed/>
                </p:oleObj>
              </mc:Choice>
              <mc:Fallback>
                <p:oleObj name="Equation" r:id="rId9" imgW="838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159125"/>
                        <a:ext cx="173831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8"/>
          <p:cNvSpPr>
            <a:spLocks noChangeArrowheads="1"/>
          </p:cNvSpPr>
          <p:nvPr/>
        </p:nvSpPr>
        <p:spPr bwMode="auto">
          <a:xfrm>
            <a:off x="2514600" y="3085065"/>
            <a:ext cx="263227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eaLnBrk="1" hangingPunct="1">
              <a:buClr>
                <a:srgbClr val="C00000"/>
              </a:buClr>
              <a:buNone/>
            </a:pPr>
            <a:r>
              <a:rPr lang="en-US" sz="2400">
                <a:latin typeface="Arial "/>
                <a:sym typeface="Symbol" panose="05050102010706020507" pitchFamily="18" charset="2"/>
              </a:rPr>
              <a:t> </a:t>
            </a:r>
            <a:r>
              <a:rPr lang="en-US" sz="2400">
                <a:latin typeface="Arial "/>
              </a:rPr>
              <a:t>biến số phức</a:t>
            </a:r>
            <a:endParaRPr lang="en-US" sz="2400" b="1" baseline="-2500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107228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914400"/>
            <a:ext cx="8096250" cy="63976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7263" y="304800"/>
            <a:ext cx="8203337" cy="609600"/>
          </a:xfrm>
          <a:prstGeom prst="rect">
            <a:avLst/>
          </a:prstGeom>
        </p:spPr>
        <p:txBody>
          <a:bodyPr bIns="91440" anchor="t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4.2.2 CÁC TÍNH CHẤT BIẾN ĐỔI LAPLACE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>
          <a:xfrm>
            <a:off x="533400" y="1884362"/>
            <a:ext cx="2514600" cy="388938"/>
          </a:xfrm>
          <a:prstGeom prst="rect">
            <a:avLst/>
          </a:prstGeom>
          <a:noFill/>
        </p:spPr>
        <p:txBody>
          <a:bodyPr vert="horz" lIns="0" tIns="0" rIns="0" bIns="0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5425" indent="-225425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Arial "/>
              </a:rPr>
              <a:t> Tuyến tính:</a:t>
            </a:r>
          </a:p>
        </p:txBody>
      </p:sp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265326"/>
              </p:ext>
            </p:extLst>
          </p:nvPr>
        </p:nvGraphicFramePr>
        <p:xfrm>
          <a:off x="2676525" y="1731962"/>
          <a:ext cx="595312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266400" progId="Equation.DSMT4">
                  <p:embed/>
                </p:oleObj>
              </mc:Choice>
              <mc:Fallback>
                <p:oleObj name="Equation" r:id="rId3" imgW="28065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1731962"/>
                        <a:ext cx="5953125" cy="55403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533400" y="2578099"/>
            <a:ext cx="2667000" cy="388938"/>
          </a:xfrm>
          <a:prstGeom prst="rect">
            <a:avLst/>
          </a:prstGeom>
          <a:noFill/>
        </p:spPr>
        <p:txBody>
          <a:bodyPr vert="horz" lIns="0" tIns="0" rIns="0" bIns="0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5425" indent="-225425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Arial "/>
              </a:rPr>
              <a:t> Dịch theo t/gian:</a:t>
            </a:r>
          </a:p>
        </p:txBody>
      </p:sp>
      <p:graphicFrame>
        <p:nvGraphicFramePr>
          <p:cNvPr id="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1385770"/>
              </p:ext>
            </p:extLst>
          </p:nvPr>
        </p:nvGraphicFramePr>
        <p:xfrm>
          <a:off x="3614738" y="2438400"/>
          <a:ext cx="47672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47840" imgH="253800" progId="Equation.DSMT4">
                  <p:embed/>
                </p:oleObj>
              </mc:Choice>
              <mc:Fallback>
                <p:oleObj name="Equation" r:id="rId5" imgW="2247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2438400"/>
                        <a:ext cx="4767262" cy="5270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533400" y="3340099"/>
            <a:ext cx="2667000" cy="388938"/>
          </a:xfrm>
          <a:prstGeom prst="rect">
            <a:avLst/>
          </a:prstGeom>
          <a:noFill/>
        </p:spPr>
        <p:txBody>
          <a:bodyPr vert="horz" lIns="0" tIns="0" rIns="0" bIns="0">
            <a:normAutofit fontScale="925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5425" indent="-225425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Arial "/>
              </a:rPr>
              <a:t> Nhân với hàm mũ:</a:t>
            </a:r>
          </a:p>
        </p:txBody>
      </p:sp>
      <p:graphicFrame>
        <p:nvGraphicFramePr>
          <p:cNvPr id="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9478367"/>
              </p:ext>
            </p:extLst>
          </p:nvPr>
        </p:nvGraphicFramePr>
        <p:xfrm>
          <a:off x="3656012" y="3200400"/>
          <a:ext cx="35829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88760" imgH="253800" progId="Equation.DSMT4">
                  <p:embed/>
                </p:oleObj>
              </mc:Choice>
              <mc:Fallback>
                <p:oleObj name="Equation" r:id="rId7" imgW="1688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6012" y="3200400"/>
                        <a:ext cx="3582988" cy="5270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533400" y="5905499"/>
            <a:ext cx="2667000" cy="388938"/>
          </a:xfrm>
          <a:prstGeom prst="rect">
            <a:avLst/>
          </a:prstGeom>
          <a:noFill/>
        </p:spPr>
        <p:txBody>
          <a:bodyPr vert="horz" lIns="0" tIns="0" rIns="0" bIns="0">
            <a:normAutofit fontScale="92500"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5425" indent="-225425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400">
                <a:latin typeface="Arial "/>
              </a:rPr>
              <a:t> Đạo hàm của F(s):</a:t>
            </a:r>
          </a:p>
        </p:txBody>
      </p:sp>
      <p:graphicFrame>
        <p:nvGraphicFramePr>
          <p:cNvPr id="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712582"/>
              </p:ext>
            </p:extLst>
          </p:nvPr>
        </p:nvGraphicFramePr>
        <p:xfrm>
          <a:off x="3616325" y="5581650"/>
          <a:ext cx="33940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00200" imgH="431640" progId="Equation.DSMT4">
                  <p:embed/>
                </p:oleObj>
              </mc:Choice>
              <mc:Fallback>
                <p:oleObj name="Equation" r:id="rId9" imgW="1600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5581650"/>
                        <a:ext cx="3394075" cy="8953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"/>
          <p:cNvSpPr txBox="1">
            <a:spLocks noChangeArrowheads="1"/>
          </p:cNvSpPr>
          <p:nvPr/>
        </p:nvSpPr>
        <p:spPr>
          <a:xfrm>
            <a:off x="533400" y="4133849"/>
            <a:ext cx="30480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5425" indent="-225425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200">
                <a:latin typeface="Arial "/>
              </a:rPr>
              <a:t> Đạo hàm theo t/gian:</a:t>
            </a:r>
          </a:p>
        </p:txBody>
      </p:sp>
      <p:graphicFrame>
        <p:nvGraphicFramePr>
          <p:cNvPr id="3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686453"/>
              </p:ext>
            </p:extLst>
          </p:nvPr>
        </p:nvGraphicFramePr>
        <p:xfrm>
          <a:off x="3614738" y="3810000"/>
          <a:ext cx="43100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031840" imgH="431640" progId="Equation.DSMT4">
                  <p:embed/>
                </p:oleObj>
              </mc:Choice>
              <mc:Fallback>
                <p:oleObj name="Equation" r:id="rId11" imgW="2031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738" y="3810000"/>
                        <a:ext cx="4310062" cy="89535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833199"/>
              </p:ext>
            </p:extLst>
          </p:nvPr>
        </p:nvGraphicFramePr>
        <p:xfrm>
          <a:off x="557213" y="1006475"/>
          <a:ext cx="23622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44520" imgH="253800" progId="Equation.DSMT4">
                  <p:embed/>
                </p:oleObj>
              </mc:Choice>
              <mc:Fallback>
                <p:oleObj name="Equation" r:id="rId13" imgW="12445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1006475"/>
                        <a:ext cx="23622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704619"/>
              </p:ext>
            </p:extLst>
          </p:nvPr>
        </p:nvGraphicFramePr>
        <p:xfrm>
          <a:off x="3214688" y="1008063"/>
          <a:ext cx="25685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82680" imgH="266400" progId="Equation.DSMT4">
                  <p:embed/>
                </p:oleObj>
              </mc:Choice>
              <mc:Fallback>
                <p:oleObj name="Equation" r:id="rId15" imgW="12826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1008063"/>
                        <a:ext cx="25685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014114"/>
              </p:ext>
            </p:extLst>
          </p:nvPr>
        </p:nvGraphicFramePr>
        <p:xfrm>
          <a:off x="6049962" y="1009650"/>
          <a:ext cx="256063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82680" imgH="266400" progId="Equation.DSMT4">
                  <p:embed/>
                </p:oleObj>
              </mc:Choice>
              <mc:Fallback>
                <p:oleObj name="Equation" r:id="rId17" imgW="12826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9962" y="1009650"/>
                        <a:ext cx="256063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/>
          <p:cNvSpPr txBox="1">
            <a:spLocks noChangeArrowheads="1"/>
          </p:cNvSpPr>
          <p:nvPr/>
        </p:nvSpPr>
        <p:spPr>
          <a:xfrm>
            <a:off x="533400" y="5124449"/>
            <a:ext cx="30480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5425" indent="-225425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200">
                <a:latin typeface="Arial "/>
              </a:rPr>
              <a:t> Tích phân:</a:t>
            </a:r>
          </a:p>
        </p:txBody>
      </p:sp>
      <p:graphicFrame>
        <p:nvGraphicFramePr>
          <p:cNvPr id="2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874689"/>
              </p:ext>
            </p:extLst>
          </p:nvPr>
        </p:nvGraphicFramePr>
        <p:xfrm>
          <a:off x="3589337" y="4648200"/>
          <a:ext cx="3421063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612800" imgH="495000" progId="Equation.DSMT4">
                  <p:embed/>
                </p:oleObj>
              </mc:Choice>
              <mc:Fallback>
                <p:oleObj name="Equation" r:id="rId19" imgW="16128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7" y="4648200"/>
                        <a:ext cx="3421063" cy="1027112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067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  <p:bldP spid="27" grpId="0"/>
      <p:bldP spid="30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594689"/>
              </p:ext>
            </p:extLst>
          </p:nvPr>
        </p:nvGraphicFramePr>
        <p:xfrm>
          <a:off x="485775" y="2133600"/>
          <a:ext cx="5610225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31760" imgH="482400" progId="Equation.DSMT4">
                  <p:embed/>
                </p:oleObj>
              </mc:Choice>
              <mc:Fallback>
                <p:oleObj name="Equation" r:id="rId3" imgW="28317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" y="2133600"/>
                        <a:ext cx="5610225" cy="1108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7262" y="381000"/>
            <a:ext cx="8431937" cy="533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LT 1 phía: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1, e</a:t>
            </a:r>
            <a:r>
              <a:rPr lang="en-US" sz="2400" b="1" baseline="30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-at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, sin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t; cost, tsint, tcost, t 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692872"/>
              </p:ext>
            </p:extLst>
          </p:nvPr>
        </p:nvGraphicFramePr>
        <p:xfrm>
          <a:off x="457200" y="1028970"/>
          <a:ext cx="7469081" cy="1104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98520" imgH="495000" progId="Equation.DSMT4">
                  <p:embed/>
                </p:oleObj>
              </mc:Choice>
              <mc:Fallback>
                <p:oleObj name="Equation" r:id="rId5" imgW="309852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028970"/>
                        <a:ext cx="7469081" cy="110463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49531"/>
              </p:ext>
            </p:extLst>
          </p:nvPr>
        </p:nvGraphicFramePr>
        <p:xfrm>
          <a:off x="533400" y="3733800"/>
          <a:ext cx="80930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90760" imgH="495000" progId="Equation.DSMT4">
                  <p:embed/>
                </p:oleObj>
              </mc:Choice>
              <mc:Fallback>
                <p:oleObj name="Equation" r:id="rId7" imgW="41907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733800"/>
                        <a:ext cx="8093075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936368"/>
              </p:ext>
            </p:extLst>
          </p:nvPr>
        </p:nvGraphicFramePr>
        <p:xfrm>
          <a:off x="555625" y="5105400"/>
          <a:ext cx="79565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27400" imgH="495000" progId="Equation.DSMT4">
                  <p:embed/>
                </p:oleObj>
              </mc:Choice>
              <mc:Fallback>
                <p:oleObj name="Equation" r:id="rId9" imgW="41274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" y="5105400"/>
                        <a:ext cx="7956550" cy="1028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06BBAA0-7A41-4A65-898C-45EFAD808447}"/>
              </a:ext>
            </a:extLst>
          </p:cNvPr>
          <p:cNvCxnSpPr>
            <a:cxnSpLocks/>
          </p:cNvCxnSpPr>
          <p:nvPr/>
        </p:nvCxnSpPr>
        <p:spPr>
          <a:xfrm flipH="1">
            <a:off x="5943600" y="2112496"/>
            <a:ext cx="1114828" cy="298760"/>
          </a:xfrm>
          <a:prstGeom prst="straightConnector1">
            <a:avLst/>
          </a:prstGeom>
          <a:ln w="12700">
            <a:solidFill>
              <a:srgbClr val="0070C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043E6F-C9AB-4F1A-B164-DE3B42014BD5}"/>
              </a:ext>
            </a:extLst>
          </p:cNvPr>
          <p:cNvGrpSpPr/>
          <p:nvPr/>
        </p:nvGrpSpPr>
        <p:grpSpPr>
          <a:xfrm>
            <a:off x="533400" y="2077328"/>
            <a:ext cx="7392881" cy="1214474"/>
            <a:chOff x="457200" y="2579786"/>
            <a:chExt cx="6949000" cy="121447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6CF7DC6-51F9-47EB-927F-C690BD4D3327}"/>
                </a:ext>
              </a:extLst>
            </p:cNvPr>
            <p:cNvSpPr/>
            <p:nvPr/>
          </p:nvSpPr>
          <p:spPr>
            <a:xfrm>
              <a:off x="457200" y="2579786"/>
              <a:ext cx="6949000" cy="11933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8" name="Object 19">
              <a:extLst>
                <a:ext uri="{FF2B5EF4-FFF2-40B4-BE49-F238E27FC236}">
                  <a16:creationId xmlns:a16="http://schemas.microsoft.com/office/drawing/2014/main" id="{807CD3E4-5AB9-4AAE-9E11-F5BA46CF84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5619479"/>
                </p:ext>
              </p:extLst>
            </p:nvPr>
          </p:nvGraphicFramePr>
          <p:xfrm>
            <a:off x="1974723" y="2750628"/>
            <a:ext cx="2345930" cy="10436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57120" imgH="482400" progId="Equation.DSMT4">
                    <p:embed/>
                  </p:oleObj>
                </mc:Choice>
                <mc:Fallback>
                  <p:oleObj name="Equation" r:id="rId11" imgW="1257120" imgH="482400" progId="Equation.DSMT4">
                    <p:embed/>
                    <p:pic>
                      <p:nvPicPr>
                        <p:cNvPr id="3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723" y="2750628"/>
                          <a:ext cx="2345930" cy="10436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25400">
                          <a:noFill/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531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835607"/>
              </p:ext>
            </p:extLst>
          </p:nvPr>
        </p:nvGraphicFramePr>
        <p:xfrm>
          <a:off x="535488" y="381001"/>
          <a:ext cx="49509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280" imgH="431640" progId="Equation.DSMT4">
                  <p:embed/>
                </p:oleObj>
              </mc:Choice>
              <mc:Fallback>
                <p:oleObj name="Equation" r:id="rId3" imgW="24382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88" y="381001"/>
                        <a:ext cx="4950912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71990"/>
              </p:ext>
            </p:extLst>
          </p:nvPr>
        </p:nvGraphicFramePr>
        <p:xfrm>
          <a:off x="535487" y="1273175"/>
          <a:ext cx="819258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67080" imgH="571320" progId="Equation.DSMT4">
                  <p:embed/>
                </p:oleObj>
              </mc:Choice>
              <mc:Fallback>
                <p:oleObj name="Equation" r:id="rId5" imgW="426708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87" y="1273175"/>
                        <a:ext cx="8192587" cy="11080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176638"/>
              </p:ext>
            </p:extLst>
          </p:nvPr>
        </p:nvGraphicFramePr>
        <p:xfrm>
          <a:off x="509588" y="2406650"/>
          <a:ext cx="50022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63480" imgH="431640" progId="Equation.DSMT4">
                  <p:embed/>
                </p:oleObj>
              </mc:Choice>
              <mc:Fallback>
                <p:oleObj name="Equation" r:id="rId7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2406650"/>
                        <a:ext cx="5002212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391461"/>
              </p:ext>
            </p:extLst>
          </p:nvPr>
        </p:nvGraphicFramePr>
        <p:xfrm>
          <a:off x="561109" y="3287713"/>
          <a:ext cx="8103466" cy="113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203360" imgH="583920" progId="Equation.DSMT4">
                  <p:embed/>
                </p:oleObj>
              </mc:Choice>
              <mc:Fallback>
                <p:oleObj name="Equation" r:id="rId9" imgW="420336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09" y="3287713"/>
                        <a:ext cx="8103466" cy="11318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642415"/>
              </p:ext>
            </p:extLst>
          </p:nvPr>
        </p:nvGraphicFramePr>
        <p:xfrm>
          <a:off x="609600" y="4479781"/>
          <a:ext cx="345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01720" imgH="431640" progId="Equation.DSMT4">
                  <p:embed/>
                </p:oleObj>
              </mc:Choice>
              <mc:Fallback>
                <p:oleObj name="Equation" r:id="rId11" imgW="17017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479781"/>
                        <a:ext cx="3454400" cy="838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681687"/>
              </p:ext>
            </p:extLst>
          </p:nvPr>
        </p:nvGraphicFramePr>
        <p:xfrm>
          <a:off x="538162" y="5338763"/>
          <a:ext cx="5938838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09600" imgH="469800" progId="Equation.DSMT4">
                  <p:embed/>
                </p:oleObj>
              </mc:Choice>
              <mc:Fallback>
                <p:oleObj name="Equation" r:id="rId13" imgW="3009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162" y="5338763"/>
                        <a:ext cx="5938838" cy="9096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54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3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914400" y="228600"/>
            <a:ext cx="7239000" cy="639762"/>
          </a:xfrm>
        </p:spPr>
        <p:txBody>
          <a:bodyPr>
            <a:noAutofit/>
          </a:bodyPr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Bảng biến đổi Laplace một số hàm thường dùng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0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0A17264-3B01-4F83-956B-7371734CA6E1}" type="slidenum">
              <a:rPr lang="en-US" smtClean="0">
                <a:cs typeface="Arial" charset="0"/>
              </a:rPr>
              <a:pPr/>
              <a:t>9</a:t>
            </a:fld>
            <a:endParaRPr lang="en-US">
              <a:cs typeface="Arial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174624"/>
              </p:ext>
            </p:extLst>
          </p:nvPr>
        </p:nvGraphicFramePr>
        <p:xfrm>
          <a:off x="914399" y="952935"/>
          <a:ext cx="7239002" cy="5511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768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f(t)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92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92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endParaRPr lang="en-US" sz="2400" baseline="30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1/s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92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1/(s+a)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2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t.e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1/(s+a)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92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/(s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+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)</a:t>
                      </a:r>
                      <a:endParaRPr lang="en-US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2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s/(s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+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)</a:t>
                      </a:r>
                      <a:endParaRPr lang="en-US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5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t.sin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2s/(s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+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</a:t>
                      </a:r>
                      <a:endParaRPr lang="en-US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021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t.cos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(s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-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)/(s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+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)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</a:t>
                      </a:r>
                      <a:endParaRPr lang="en-US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021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2400" b="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-at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.sin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/[(s+a)</a:t>
                      </a:r>
                      <a:r>
                        <a:rPr lang="en-US" sz="2400" b="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="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+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 b="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]</a:t>
                      </a:r>
                      <a:r>
                        <a:rPr lang="en-US" sz="2400" b="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</a:t>
                      </a:r>
                      <a:endParaRPr lang="en-US" sz="24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1021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US" sz="2400" b="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-at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.cos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(s+a)/[(s+a)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+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]</a:t>
                      </a:r>
                      <a:r>
                        <a:rPr lang="en-US" sz="2400" baseline="30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2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</a:t>
                      </a:r>
                      <a:endParaRPr lang="en-US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Slide Number Placeholder 27"/>
          <p:cNvSpPr txBox="1">
            <a:spLocks/>
          </p:cNvSpPr>
          <p:nvPr/>
        </p:nvSpPr>
        <p:spPr>
          <a:xfrm>
            <a:off x="140525" y="62197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3690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341312"/>
            <a:ext cx="6248400" cy="496888"/>
          </a:xfrm>
          <a:prstGeom prst="rect">
            <a:avLst/>
          </a:prstGeom>
        </p:spPr>
        <p:txBody>
          <a:bodyPr bIns="91440" anchor="t" anchorCtr="0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4.2.3  BIẾN ĐỔI LAPLACE NGƯỢC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500558"/>
              </p:ext>
            </p:extLst>
          </p:nvPr>
        </p:nvGraphicFramePr>
        <p:xfrm>
          <a:off x="838200" y="1219200"/>
          <a:ext cx="422116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70000" imgH="457200" progId="Equation.DSMT4">
                  <p:embed/>
                </p:oleObj>
              </mc:Choice>
              <mc:Fallback>
                <p:oleObj name="Equation" r:id="rId3" imgW="20700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219200"/>
                        <a:ext cx="4221163" cy="938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399431"/>
              </p:ext>
            </p:extLst>
          </p:nvPr>
        </p:nvGraphicFramePr>
        <p:xfrm>
          <a:off x="762000" y="3669494"/>
          <a:ext cx="5024437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63480" imgH="431640" progId="Equation.DSMT4">
                  <p:embed/>
                </p:oleObj>
              </mc:Choice>
              <mc:Fallback>
                <p:oleObj name="Equation" r:id="rId5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669494"/>
                        <a:ext cx="5024437" cy="885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537540" y="914400"/>
            <a:ext cx="654906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5425" indent="-225425"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>
                <a:latin typeface="Arial "/>
              </a:rPr>
              <a:t> Đáp ứng trong mạch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[U(s) hay I(s)]</a:t>
            </a:r>
            <a:r>
              <a:rPr lang="en-US" sz="2400">
                <a:latin typeface="Arial "/>
              </a:rPr>
              <a:t> có dạng: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295400" y="2024393"/>
            <a:ext cx="381000" cy="834695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>
          <a:xfrm>
            <a:off x="1828800" y="2211036"/>
            <a:ext cx="6324600" cy="608364"/>
          </a:xfrm>
          <a:prstGeom prst="rect">
            <a:avLst/>
          </a:prstGeom>
          <a:noFill/>
        </p:spPr>
        <p:txBody>
          <a:bodyPr vert="horz" lIns="0" tIns="0" rIns="0" bIns="0">
            <a:norm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2200">
                <a:solidFill>
                  <a:srgbClr val="C00000"/>
                </a:solidFill>
                <a:latin typeface="Arial "/>
              </a:rPr>
              <a:t>Đưa về dạng trong bảng biến đổi Laplace có sẵn, dựa vào lý thuyết Hàm hữu tỷ</a:t>
            </a:r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59801"/>
              </p:ext>
            </p:extLst>
          </p:nvPr>
        </p:nvGraphicFramePr>
        <p:xfrm>
          <a:off x="838200" y="2859088"/>
          <a:ext cx="10350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07960" imgH="203040" progId="Equation.DSMT4">
                  <p:embed/>
                </p:oleObj>
              </mc:Choice>
              <mc:Fallback>
                <p:oleObj name="Equation" r:id="rId7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59088"/>
                        <a:ext cx="1035050" cy="417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595507"/>
              </p:ext>
            </p:extLst>
          </p:nvPr>
        </p:nvGraphicFramePr>
        <p:xfrm>
          <a:off x="622300" y="2198687"/>
          <a:ext cx="6731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0120" imgH="190440" progId="Equation.DSMT4">
                  <p:embed/>
                </p:oleObj>
              </mc:Choice>
              <mc:Fallback>
                <p:oleObj name="Equation" r:id="rId9" imgW="33012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2198687"/>
                        <a:ext cx="673100" cy="392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90455" y="3352800"/>
            <a:ext cx="5581745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2400" b="1">
                <a:solidFill>
                  <a:srgbClr val="C00000"/>
                </a:solidFill>
                <a:latin typeface="Arial "/>
              </a:rPr>
              <a:t>a) Mẫu thức B(s) có các nghiệm đơn:</a:t>
            </a: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3314142"/>
              </p:ext>
            </p:extLst>
          </p:nvPr>
        </p:nvGraphicFramePr>
        <p:xfrm>
          <a:off x="2330450" y="4569606"/>
          <a:ext cx="56705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81000" imgH="444240" progId="Equation.DSMT4">
                  <p:embed/>
                </p:oleObj>
              </mc:Choice>
              <mc:Fallback>
                <p:oleObj name="Equation" r:id="rId11" imgW="2781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4569606"/>
                        <a:ext cx="5670550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201656"/>
              </p:ext>
            </p:extLst>
          </p:nvPr>
        </p:nvGraphicFramePr>
        <p:xfrm>
          <a:off x="1447800" y="5562600"/>
          <a:ext cx="2852738" cy="954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47560" imgH="482400" progId="Equation.DSMT4">
                  <p:embed/>
                </p:oleObj>
              </mc:Choice>
              <mc:Fallback>
                <p:oleObj name="Equation" r:id="rId13" imgW="14475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62600"/>
                        <a:ext cx="2852738" cy="95449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"/>
          <p:cNvSpPr txBox="1">
            <a:spLocks noChangeArrowheads="1"/>
          </p:cNvSpPr>
          <p:nvPr/>
        </p:nvSpPr>
        <p:spPr>
          <a:xfrm>
            <a:off x="827555" y="5856619"/>
            <a:ext cx="696445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2400">
                <a:latin typeface="Arial "/>
              </a:rPr>
              <a:t>Với: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495800" y="5856619"/>
            <a:ext cx="381000" cy="388938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047873"/>
              </p:ext>
            </p:extLst>
          </p:nvPr>
        </p:nvGraphicFramePr>
        <p:xfrm>
          <a:off x="4997450" y="5630863"/>
          <a:ext cx="2432050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93760" imgH="431640" progId="Equation.DSMT4">
                  <p:embed/>
                </p:oleObj>
              </mc:Choice>
              <mc:Fallback>
                <p:oleObj name="Equation" r:id="rId15" imgW="1193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5630863"/>
                        <a:ext cx="2432050" cy="885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50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/>
      <p:bldP spid="32" grpId="0"/>
      <p:bldP spid="35" grpId="0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7263" y="381000"/>
            <a:ext cx="5002938" cy="533400"/>
          </a:xfrm>
          <a:prstGeom prst="rect">
            <a:avLst/>
          </a:prstGeom>
          <a:noFill/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biến đổi Laplace ngược: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883943"/>
              </p:ext>
            </p:extLst>
          </p:nvPr>
        </p:nvGraphicFramePr>
        <p:xfrm>
          <a:off x="5334000" y="243681"/>
          <a:ext cx="2227262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393480" progId="Equation.DSMT4">
                  <p:embed/>
                </p:oleObj>
              </mc:Choice>
              <mc:Fallback>
                <p:oleObj name="Equation" r:id="rId3" imgW="1091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43681"/>
                        <a:ext cx="2227262" cy="808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524921"/>
              </p:ext>
            </p:extLst>
          </p:nvPr>
        </p:nvGraphicFramePr>
        <p:xfrm>
          <a:off x="792162" y="1196975"/>
          <a:ext cx="63706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24080" imgH="419040" progId="Equation.DSMT4">
                  <p:embed/>
                </p:oleObj>
              </mc:Choice>
              <mc:Fallback>
                <p:oleObj name="Equation" r:id="rId5" imgW="31240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162" y="1196975"/>
                        <a:ext cx="6370638" cy="860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378473"/>
              </p:ext>
            </p:extLst>
          </p:nvPr>
        </p:nvGraphicFramePr>
        <p:xfrm>
          <a:off x="880268" y="2133600"/>
          <a:ext cx="541337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92080" imgH="457200" progId="Equation.DSMT4">
                  <p:embed/>
                </p:oleObj>
              </mc:Choice>
              <mc:Fallback>
                <p:oleObj name="Equation" r:id="rId7" imgW="2692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68" y="2133600"/>
                        <a:ext cx="5413375" cy="925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8208890"/>
              </p:ext>
            </p:extLst>
          </p:nvPr>
        </p:nvGraphicFramePr>
        <p:xfrm>
          <a:off x="809625" y="4343400"/>
          <a:ext cx="28479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96800" imgH="419040" progId="Equation.DSMT4">
                  <p:embed/>
                </p:oleObj>
              </mc:Choice>
              <mc:Fallback>
                <p:oleObj name="Equation" r:id="rId9" imgW="1396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4343400"/>
                        <a:ext cx="2847975" cy="860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ight Arrow 1"/>
          <p:cNvSpPr/>
          <p:nvPr/>
        </p:nvSpPr>
        <p:spPr>
          <a:xfrm>
            <a:off x="236152" y="5487987"/>
            <a:ext cx="381000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1578338"/>
              </p:ext>
            </p:extLst>
          </p:nvPr>
        </p:nvGraphicFramePr>
        <p:xfrm>
          <a:off x="762000" y="5391150"/>
          <a:ext cx="62404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060360" imgH="279360" progId="Equation.DSMT4">
                  <p:embed/>
                </p:oleObj>
              </mc:Choice>
              <mc:Fallback>
                <p:oleObj name="Equation" r:id="rId11" imgW="30603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391150"/>
                        <a:ext cx="6240463" cy="574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639915"/>
              </p:ext>
            </p:extLst>
          </p:nvPr>
        </p:nvGraphicFramePr>
        <p:xfrm>
          <a:off x="911225" y="3276600"/>
          <a:ext cx="538241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16120" imgH="457200" progId="Equation.DSMT4">
                  <p:embed/>
                </p:oleObj>
              </mc:Choice>
              <mc:Fallback>
                <p:oleObj name="Equation" r:id="rId13" imgW="26161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3276600"/>
                        <a:ext cx="538241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524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698012"/>
              </p:ext>
            </p:extLst>
          </p:nvPr>
        </p:nvGraphicFramePr>
        <p:xfrm>
          <a:off x="619125" y="696913"/>
          <a:ext cx="53101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160" imgH="431640" progId="Equation.DSMT4">
                  <p:embed/>
                </p:oleObj>
              </mc:Choice>
              <mc:Fallback>
                <p:oleObj name="Equation" r:id="rId3" imgW="2603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696913"/>
                        <a:ext cx="5310188" cy="885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90455" y="381000"/>
            <a:ext cx="6648545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2400" b="1">
                <a:solidFill>
                  <a:srgbClr val="C00000"/>
                </a:solidFill>
                <a:latin typeface="Arial "/>
              </a:rPr>
              <a:t>b) Mẫu thức B(s) có nghiệm s</a:t>
            </a:r>
            <a:r>
              <a:rPr lang="en-US" sz="2400" b="1" baseline="-25000">
                <a:solidFill>
                  <a:srgbClr val="C00000"/>
                </a:solidFill>
                <a:latin typeface="Arial "/>
              </a:rPr>
              <a:t>1</a:t>
            </a:r>
            <a:r>
              <a:rPr lang="en-US" sz="2400" b="1">
                <a:solidFill>
                  <a:srgbClr val="C00000"/>
                </a:solidFill>
                <a:latin typeface="Arial "/>
              </a:rPr>
              <a:t> bội r:</a:t>
            </a:r>
          </a:p>
        </p:txBody>
      </p:sp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231138"/>
              </p:ext>
            </p:extLst>
          </p:nvPr>
        </p:nvGraphicFramePr>
        <p:xfrm>
          <a:off x="2211388" y="1597025"/>
          <a:ext cx="59547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20680" imgH="444240" progId="Equation.DSMT4">
                  <p:embed/>
                </p:oleObj>
              </mc:Choice>
              <mc:Fallback>
                <p:oleObj name="Equation" r:id="rId5" imgW="2920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8" y="1597025"/>
                        <a:ext cx="5954712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771775"/>
              </p:ext>
            </p:extLst>
          </p:nvPr>
        </p:nvGraphicFramePr>
        <p:xfrm>
          <a:off x="2212715" y="2578893"/>
          <a:ext cx="33401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38000" imgH="444240" progId="Equation.DSMT4">
                  <p:embed/>
                </p:oleObj>
              </mc:Choice>
              <mc:Fallback>
                <p:oleObj name="Equation" r:id="rId7" imgW="16380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715" y="2578893"/>
                        <a:ext cx="3340100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990600" y="3581400"/>
            <a:ext cx="5652620" cy="1958975"/>
            <a:chOff x="762000" y="3733800"/>
            <a:chExt cx="5652620" cy="1958975"/>
          </a:xfrm>
        </p:grpSpPr>
        <p:sp>
          <p:nvSpPr>
            <p:cNvPr id="35" name="Rectangle 3"/>
            <p:cNvSpPr txBox="1">
              <a:spLocks noChangeArrowheads="1"/>
            </p:cNvSpPr>
            <p:nvPr/>
          </p:nvSpPr>
          <p:spPr>
            <a:xfrm>
              <a:off x="762000" y="4518818"/>
              <a:ext cx="696445" cy="388938"/>
            </a:xfrm>
            <a:prstGeom prst="rect">
              <a:avLst/>
            </a:prstGeom>
            <a:noFill/>
          </p:spPr>
          <p:txBody>
            <a:bodyPr vert="horz" lIns="0" tIns="0" rIns="0" bIns="0">
              <a:noAutofit/>
            </a:bodyPr>
            <a:lstStyle>
              <a:lvl1pPr marL="274320" indent="-274320" algn="l" rtl="0" eaLnBrk="1" latinLnBrk="0" hangingPunct="1">
                <a:spcBef>
                  <a:spcPts val="580"/>
                </a:spcBef>
                <a:buClr>
                  <a:schemeClr val="accent1"/>
                </a:buClr>
                <a:buSzPct val="85000"/>
                <a:buFont typeface="Wingdings 2"/>
                <a:buChar char=""/>
                <a:defRPr kumimoji="0" sz="2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486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SzPct val="85000"/>
                <a:buFont typeface="Wingdings 2"/>
                <a:buChar char=""/>
                <a:defRPr kumimoji="0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229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SzPct val="85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9728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SzPct val="80000"/>
                <a:buFont typeface="Wingdings 2"/>
                <a:buChar char="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FontTx/>
                <a:buChar char="o"/>
                <a:defRPr kumimoji="0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45920" indent="-228600" algn="l" rtl="0" eaLnBrk="1" latinLnBrk="0" hangingPunct="1">
                <a:spcBef>
                  <a:spcPts val="370"/>
                </a:spcBef>
                <a:buClr>
                  <a:schemeClr val="accent3"/>
                </a:buClr>
                <a:buChar char="•"/>
                <a:defRPr kumimoji="0" sz="18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920240" indent="-228600" algn="l" rtl="0" eaLnBrk="1" latinLnBrk="0" hangingPunct="1">
                <a:spcBef>
                  <a:spcPts val="370"/>
                </a:spcBef>
                <a:buClr>
                  <a:schemeClr val="accent2"/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194560" indent="-228600" algn="l" rtl="0" eaLnBrk="1" latinLnBrk="0" hangingPunct="1">
                <a:spcBef>
                  <a:spcPts val="370"/>
                </a:spcBef>
                <a:buClr>
                  <a:schemeClr val="accent1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468880" indent="-228600" algn="l" rtl="0" eaLnBrk="1" latinLnBrk="0" hangingPunct="1">
                <a:spcBef>
                  <a:spcPts val="370"/>
                </a:spcBef>
                <a:buClr>
                  <a:schemeClr val="accent2">
                    <a:tint val="60000"/>
                  </a:schemeClr>
                </a:buClr>
                <a:buChar char="•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90000"/>
                </a:lnSpc>
                <a:buNone/>
              </a:pPr>
              <a:r>
                <a:rPr lang="en-US" sz="2400">
                  <a:latin typeface="Arial "/>
                </a:rPr>
                <a:t>Với:</a:t>
              </a:r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9683030"/>
                </p:ext>
              </p:extLst>
            </p:nvPr>
          </p:nvGraphicFramePr>
          <p:xfrm>
            <a:off x="1458445" y="3733800"/>
            <a:ext cx="4956175" cy="1958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514600" imgH="990360" progId="Equation.DSMT4">
                    <p:embed/>
                  </p:oleObj>
                </mc:Choice>
                <mc:Fallback>
                  <p:oleObj name="Equation" r:id="rId9" imgW="2514600" imgH="990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445" y="3733800"/>
                          <a:ext cx="4956175" cy="1958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110315"/>
              </p:ext>
            </p:extLst>
          </p:nvPr>
        </p:nvGraphicFramePr>
        <p:xfrm>
          <a:off x="961030" y="5597538"/>
          <a:ext cx="16319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99920" imgH="253800" progId="Equation.DSMT4">
                  <p:embed/>
                </p:oleObj>
              </mc:Choice>
              <mc:Fallback>
                <p:oleObj name="Equation" r:id="rId11" imgW="7999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030" y="5597538"/>
                        <a:ext cx="1631950" cy="52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119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7263" y="381000"/>
            <a:ext cx="5002938" cy="533400"/>
          </a:xfrm>
          <a:prstGeom prst="rect">
            <a:avLst/>
          </a:prstGeom>
          <a:noFill/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biến đổi Laplace ngược: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258328"/>
              </p:ext>
            </p:extLst>
          </p:nvPr>
        </p:nvGraphicFramePr>
        <p:xfrm>
          <a:off x="5764213" y="226704"/>
          <a:ext cx="2693987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20480" imgH="469800" progId="Equation.DSMT4">
                  <p:embed/>
                </p:oleObj>
              </mc:Choice>
              <mc:Fallback>
                <p:oleObj name="Equation" r:id="rId3" imgW="13204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226704"/>
                        <a:ext cx="2693987" cy="965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1777316"/>
              </p:ext>
            </p:extLst>
          </p:nvPr>
        </p:nvGraphicFramePr>
        <p:xfrm>
          <a:off x="609600" y="948817"/>
          <a:ext cx="5867400" cy="826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97000" imgH="419040" progId="Equation.DSMT4">
                  <p:embed/>
                </p:oleObj>
              </mc:Choice>
              <mc:Fallback>
                <p:oleObj name="Equation" r:id="rId5" imgW="29970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48817"/>
                        <a:ext cx="5867400" cy="8260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410436"/>
              </p:ext>
            </p:extLst>
          </p:nvPr>
        </p:nvGraphicFramePr>
        <p:xfrm>
          <a:off x="1317625" y="4841175"/>
          <a:ext cx="3863975" cy="812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06280" imgH="419040" progId="Equation.DSMT4">
                  <p:embed/>
                </p:oleObj>
              </mc:Choice>
              <mc:Fallback>
                <p:oleObj name="Equation" r:id="rId7" imgW="2006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625" y="4841175"/>
                        <a:ext cx="3863975" cy="8123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ight Arrow 1"/>
          <p:cNvSpPr/>
          <p:nvPr/>
        </p:nvSpPr>
        <p:spPr>
          <a:xfrm>
            <a:off x="853689" y="5783841"/>
            <a:ext cx="381000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8690649"/>
              </p:ext>
            </p:extLst>
          </p:nvPr>
        </p:nvGraphicFramePr>
        <p:xfrm>
          <a:off x="1376363" y="5715000"/>
          <a:ext cx="73215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720960" imgH="279360" progId="Equation.DSMT4">
                  <p:embed/>
                </p:oleObj>
              </mc:Choice>
              <mc:Fallback>
                <p:oleObj name="Equation" r:id="rId9" imgW="37209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5715000"/>
                        <a:ext cx="7321550" cy="574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583442" y="1828800"/>
            <a:ext cx="7874758" cy="962691"/>
            <a:chOff x="583442" y="1856096"/>
            <a:chExt cx="8141458" cy="1022350"/>
          </a:xfrm>
        </p:grpSpPr>
        <p:sp>
          <p:nvSpPr>
            <p:cNvPr id="14" name="Rectangle 13"/>
            <p:cNvSpPr/>
            <p:nvPr/>
          </p:nvSpPr>
          <p:spPr>
            <a:xfrm>
              <a:off x="583442" y="1914917"/>
              <a:ext cx="8141458" cy="92200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1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786171"/>
                </p:ext>
              </p:extLst>
            </p:nvPr>
          </p:nvGraphicFramePr>
          <p:xfrm>
            <a:off x="657272" y="1856096"/>
            <a:ext cx="7816850" cy="1022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974760" imgH="520560" progId="Equation.DSMT4">
                    <p:embed/>
                  </p:oleObj>
                </mc:Choice>
                <mc:Fallback>
                  <p:oleObj name="Equation" r:id="rId11" imgW="3974760" imgH="520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272" y="1856096"/>
                          <a:ext cx="7816850" cy="1022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7"/>
          <p:cNvGrpSpPr/>
          <p:nvPr/>
        </p:nvGrpSpPr>
        <p:grpSpPr>
          <a:xfrm>
            <a:off x="595952" y="2889900"/>
            <a:ext cx="7862248" cy="965331"/>
            <a:chOff x="595952" y="2930844"/>
            <a:chExt cx="8128948" cy="1028837"/>
          </a:xfrm>
        </p:grpSpPr>
        <p:sp>
          <p:nvSpPr>
            <p:cNvPr id="3" name="Rectangle 2"/>
            <p:cNvSpPr/>
            <p:nvPr/>
          </p:nvSpPr>
          <p:spPr>
            <a:xfrm>
              <a:off x="595952" y="2930844"/>
              <a:ext cx="8101344" cy="1013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2710988"/>
                </p:ext>
              </p:extLst>
            </p:nvPr>
          </p:nvGraphicFramePr>
          <p:xfrm>
            <a:off x="609600" y="2937331"/>
            <a:ext cx="8115300" cy="1022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4127400" imgH="520560" progId="Equation.DSMT4">
                    <p:embed/>
                  </p:oleObj>
                </mc:Choice>
                <mc:Fallback>
                  <p:oleObj name="Equation" r:id="rId13" imgW="4127400" imgH="520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" y="2937331"/>
                          <a:ext cx="8115300" cy="10223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1"/>
          <p:cNvGrpSpPr/>
          <p:nvPr/>
        </p:nvGrpSpPr>
        <p:grpSpPr>
          <a:xfrm>
            <a:off x="595952" y="3878977"/>
            <a:ext cx="5042848" cy="962198"/>
            <a:chOff x="595952" y="4027458"/>
            <a:chExt cx="5042848" cy="1020762"/>
          </a:xfrm>
        </p:grpSpPr>
        <p:sp>
          <p:nvSpPr>
            <p:cNvPr id="5" name="Rectangle 4"/>
            <p:cNvSpPr/>
            <p:nvPr/>
          </p:nvSpPr>
          <p:spPr>
            <a:xfrm>
              <a:off x="595952" y="4114800"/>
              <a:ext cx="5042848" cy="90415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987799"/>
                </p:ext>
              </p:extLst>
            </p:nvPr>
          </p:nvGraphicFramePr>
          <p:xfrm>
            <a:off x="619741" y="4027458"/>
            <a:ext cx="4919662" cy="1020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501640" imgH="520560" progId="Equation.DSMT4">
                    <p:embed/>
                  </p:oleObj>
                </mc:Choice>
                <mc:Fallback>
                  <p:oleObj name="Equation" r:id="rId15" imgW="2501640" imgH="520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741" y="4027458"/>
                          <a:ext cx="4919662" cy="10207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Right Arrow 18"/>
          <p:cNvSpPr/>
          <p:nvPr/>
        </p:nvSpPr>
        <p:spPr>
          <a:xfrm>
            <a:off x="838200" y="5069774"/>
            <a:ext cx="381000" cy="381000"/>
          </a:xfrm>
          <a:prstGeom prst="rightArrow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2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330362"/>
              </p:ext>
            </p:extLst>
          </p:nvPr>
        </p:nvGraphicFramePr>
        <p:xfrm>
          <a:off x="457200" y="914400"/>
          <a:ext cx="50260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63480" imgH="431640" progId="Equation.DSMT4">
                  <p:embed/>
                </p:oleObj>
              </mc:Choice>
              <mc:Fallback>
                <p:oleObj name="Equation" r:id="rId3" imgW="2463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914400"/>
                        <a:ext cx="5026025" cy="885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33400" y="381000"/>
            <a:ext cx="6648545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2400" b="1">
                <a:solidFill>
                  <a:srgbClr val="C00000"/>
                </a:solidFill>
                <a:latin typeface="Arial "/>
              </a:rPr>
              <a:t>c) Mẫu thức B(s) có nghiệm phức liên hiệp: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28825" y="2027052"/>
            <a:ext cx="4219575" cy="938966"/>
            <a:chOff x="1928813" y="1569284"/>
            <a:chExt cx="4219575" cy="938966"/>
          </a:xfrm>
        </p:grpSpPr>
        <p:graphicFrame>
          <p:nvGraphicFramePr>
            <p:cNvPr id="12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0839835"/>
                </p:ext>
              </p:extLst>
            </p:nvPr>
          </p:nvGraphicFramePr>
          <p:xfrm>
            <a:off x="3481387" y="1569284"/>
            <a:ext cx="1112837" cy="493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45760" imgH="241200" progId="Equation.DSMT4">
                    <p:embed/>
                  </p:oleObj>
                </mc:Choice>
                <mc:Fallback>
                  <p:oleObj name="Equation" r:id="rId5" imgW="54576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1387" y="1569284"/>
                          <a:ext cx="1112837" cy="493713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7575307"/>
                </p:ext>
              </p:extLst>
            </p:nvPr>
          </p:nvGraphicFramePr>
          <p:xfrm>
            <a:off x="1928813" y="1597025"/>
            <a:ext cx="4219575" cy="911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070000" imgH="444240" progId="Equation.DSMT4">
                    <p:embed/>
                  </p:oleObj>
                </mc:Choice>
                <mc:Fallback>
                  <p:oleObj name="Equation" r:id="rId7" imgW="207000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813" y="1597025"/>
                          <a:ext cx="4219575" cy="9112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021467"/>
              </p:ext>
            </p:extLst>
          </p:nvPr>
        </p:nvGraphicFramePr>
        <p:xfrm>
          <a:off x="503237" y="4776787"/>
          <a:ext cx="5745163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19160" imgH="457200" progId="Equation.DSMT4">
                  <p:embed/>
                </p:oleObj>
              </mc:Choice>
              <mc:Fallback>
                <p:oleObj name="Equation" r:id="rId9" imgW="28191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7" y="4776787"/>
                        <a:ext cx="5745163" cy="9382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708000"/>
              </p:ext>
            </p:extLst>
          </p:nvPr>
        </p:nvGraphicFramePr>
        <p:xfrm>
          <a:off x="457200" y="3760623"/>
          <a:ext cx="8305800" cy="887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228920" imgH="457200" progId="Equation.DSMT4">
                  <p:embed/>
                </p:oleObj>
              </mc:Choice>
              <mc:Fallback>
                <p:oleObj name="Equation" r:id="rId11" imgW="42289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60623"/>
                        <a:ext cx="8305800" cy="8875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8266271"/>
              </p:ext>
            </p:extLst>
          </p:nvPr>
        </p:nvGraphicFramePr>
        <p:xfrm>
          <a:off x="519112" y="3135312"/>
          <a:ext cx="34432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88760" imgH="253800" progId="Equation.DSMT4">
                  <p:embed/>
                </p:oleObj>
              </mc:Choice>
              <mc:Fallback>
                <p:oleObj name="Equation" r:id="rId13" imgW="1688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2" y="3135312"/>
                        <a:ext cx="3443288" cy="52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7986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768658"/>
              </p:ext>
            </p:extLst>
          </p:nvPr>
        </p:nvGraphicFramePr>
        <p:xfrm>
          <a:off x="511980" y="1931179"/>
          <a:ext cx="782002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38480" imgH="507960" progId="Equation.DSMT4">
                  <p:embed/>
                </p:oleObj>
              </mc:Choice>
              <mc:Fallback>
                <p:oleObj name="Equation" r:id="rId3" imgW="40384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80" y="1931179"/>
                        <a:ext cx="7820025" cy="96678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9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7263" y="381000"/>
            <a:ext cx="5002938" cy="533400"/>
          </a:xfrm>
          <a:prstGeom prst="rect">
            <a:avLst/>
          </a:prstGeom>
          <a:noFill/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biến đổi Laplace ngược: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556739"/>
              </p:ext>
            </p:extLst>
          </p:nvPr>
        </p:nvGraphicFramePr>
        <p:xfrm>
          <a:off x="5751513" y="257175"/>
          <a:ext cx="24892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482400" progId="Equation.DSMT4">
                  <p:embed/>
                </p:oleObj>
              </mc:Choice>
              <mc:Fallback>
                <p:oleObj name="Equation" r:id="rId5" imgW="1333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1513" y="257175"/>
                        <a:ext cx="2489200" cy="906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219341"/>
              </p:ext>
            </p:extLst>
          </p:nvPr>
        </p:nvGraphicFramePr>
        <p:xfrm>
          <a:off x="533400" y="1038100"/>
          <a:ext cx="66389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93880" imgH="444240" progId="Equation.DSMT4">
                  <p:embed/>
                </p:oleObj>
              </mc:Choice>
              <mc:Fallback>
                <p:oleObj name="Equation" r:id="rId7" imgW="35938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038100"/>
                        <a:ext cx="6638925" cy="827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20832"/>
              </p:ext>
            </p:extLst>
          </p:nvPr>
        </p:nvGraphicFramePr>
        <p:xfrm>
          <a:off x="629391" y="5446682"/>
          <a:ext cx="8133609" cy="877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279680" imgH="457200" progId="Equation.DSMT4">
                  <p:embed/>
                </p:oleObj>
              </mc:Choice>
              <mc:Fallback>
                <p:oleObj name="Equation" r:id="rId9" imgW="42796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391" y="5446682"/>
                        <a:ext cx="8133609" cy="87791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569025" y="2895600"/>
            <a:ext cx="4966648" cy="990600"/>
            <a:chOff x="595952" y="4027459"/>
            <a:chExt cx="5042848" cy="1020762"/>
          </a:xfrm>
          <a:solidFill>
            <a:schemeClr val="bg1">
              <a:lumMod val="95000"/>
            </a:schemeClr>
          </a:solidFill>
        </p:grpSpPr>
        <p:sp>
          <p:nvSpPr>
            <p:cNvPr id="5" name="Rectangle 4"/>
            <p:cNvSpPr/>
            <p:nvPr/>
          </p:nvSpPr>
          <p:spPr>
            <a:xfrm>
              <a:off x="595952" y="4114800"/>
              <a:ext cx="5042848" cy="9041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7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5661627"/>
                </p:ext>
              </p:extLst>
            </p:nvPr>
          </p:nvGraphicFramePr>
          <p:xfrm>
            <a:off x="608136" y="4027459"/>
            <a:ext cx="4943563" cy="1020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14600" imgH="520560" progId="Equation.DSMT4">
                    <p:embed/>
                  </p:oleObj>
                </mc:Choice>
                <mc:Fallback>
                  <p:oleObj name="Equation" r:id="rId11" imgW="2514600" imgH="5205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136" y="4027459"/>
                          <a:ext cx="4943563" cy="102076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886206"/>
              </p:ext>
            </p:extLst>
          </p:nvPr>
        </p:nvGraphicFramePr>
        <p:xfrm>
          <a:off x="609600" y="4736275"/>
          <a:ext cx="533241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16120" imgH="279360" progId="Equation.DSMT4">
                  <p:embed/>
                </p:oleObj>
              </mc:Choice>
              <mc:Fallback>
                <p:oleObj name="Equation" r:id="rId13" imgW="2616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736275"/>
                        <a:ext cx="5332412" cy="573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567"/>
              </p:ext>
            </p:extLst>
          </p:nvPr>
        </p:nvGraphicFramePr>
        <p:xfrm>
          <a:off x="533400" y="4231810"/>
          <a:ext cx="43211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20760" imgH="228600" progId="Equation.DSMT4">
                  <p:embed/>
                </p:oleObj>
              </mc:Choice>
              <mc:Fallback>
                <p:oleObj name="Equation" r:id="rId15" imgW="2120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231810"/>
                        <a:ext cx="4321175" cy="469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434716"/>
              </p:ext>
            </p:extLst>
          </p:nvPr>
        </p:nvGraphicFramePr>
        <p:xfrm>
          <a:off x="5002273" y="3921825"/>
          <a:ext cx="2389127" cy="802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57120" imgH="419040" progId="Equation.DSMT4">
                  <p:embed/>
                </p:oleObj>
              </mc:Choice>
              <mc:Fallback>
                <p:oleObj name="Equation" r:id="rId17" imgW="12571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273" y="3921825"/>
                        <a:ext cx="2389127" cy="8022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06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33400" y="304800"/>
            <a:ext cx="8305800" cy="402296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4.3 TÍNH LIÊN TỤC CỦA DÒNG &amp; ÁP TRÊN L,C</a:t>
            </a:r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573816" y="855458"/>
            <a:ext cx="68580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Tính liên tục của dòng điện trên L: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7371191" y="1023162"/>
            <a:ext cx="1152896" cy="1339038"/>
            <a:chOff x="2580904" y="2133600"/>
            <a:chExt cx="1152896" cy="1339038"/>
          </a:xfrm>
        </p:grpSpPr>
        <p:sp>
          <p:nvSpPr>
            <p:cNvPr id="2" name="Rectangle 1"/>
            <p:cNvSpPr/>
            <p:nvPr/>
          </p:nvSpPr>
          <p:spPr>
            <a:xfrm>
              <a:off x="2590800" y="2133600"/>
              <a:ext cx="1143000" cy="990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Text Box 117"/>
            <p:cNvSpPr txBox="1">
              <a:spLocks noChangeArrowheads="1"/>
            </p:cNvSpPr>
            <p:nvPr/>
          </p:nvSpPr>
          <p:spPr bwMode="auto">
            <a:xfrm>
              <a:off x="2743200" y="2438399"/>
              <a:ext cx="309758" cy="3938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3" name="Group 29"/>
            <p:cNvGrpSpPr>
              <a:grpSpLocks/>
            </p:cNvGrpSpPr>
            <p:nvPr/>
          </p:nvGrpSpPr>
          <p:grpSpPr bwMode="auto">
            <a:xfrm rot="5400000">
              <a:off x="2882617" y="2536739"/>
              <a:ext cx="651291" cy="135832"/>
              <a:chOff x="2448" y="1728"/>
              <a:chExt cx="571" cy="143"/>
            </a:xfrm>
          </p:grpSpPr>
          <p:sp>
            <p:nvSpPr>
              <p:cNvPr id="124" name="Freeform 30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31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32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33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Line 34"/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Line 35"/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2" name="Text Box 117"/>
            <p:cNvSpPr txBox="1">
              <a:spLocks noChangeArrowheads="1"/>
            </p:cNvSpPr>
            <p:nvPr/>
          </p:nvSpPr>
          <p:spPr bwMode="auto">
            <a:xfrm>
              <a:off x="2580904" y="3210484"/>
              <a:ext cx="1142999" cy="262154"/>
            </a:xfrm>
            <a:prstGeom prst="rect">
              <a:avLst/>
            </a:prstGeom>
            <a:noFill/>
            <a:ln>
              <a:noFill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Mạch điện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Title 1"/>
          <p:cNvSpPr txBox="1">
            <a:spLocks/>
          </p:cNvSpPr>
          <p:nvPr/>
        </p:nvSpPr>
        <p:spPr>
          <a:xfrm>
            <a:off x="603504" y="1221365"/>
            <a:ext cx="6019800" cy="877163"/>
          </a:xfrm>
          <a:prstGeom prst="rect">
            <a:avLst/>
          </a:prstGeom>
          <a:noFill/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Tại thời điểm t=0 trong mạch có đột biến:</a:t>
            </a:r>
          </a:p>
          <a:p>
            <a:pPr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Năng lượng từ trường tích lũy trên L:</a:t>
            </a:r>
          </a:p>
        </p:txBody>
      </p:sp>
      <p:graphicFrame>
        <p:nvGraphicFramePr>
          <p:cNvPr id="81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928555"/>
              </p:ext>
            </p:extLst>
          </p:nvPr>
        </p:nvGraphicFramePr>
        <p:xfrm>
          <a:off x="2133600" y="2021775"/>
          <a:ext cx="2278062" cy="86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1120" imgH="393480" progId="Equation.DSMT4">
                  <p:embed/>
                </p:oleObj>
              </mc:Choice>
              <mc:Fallback>
                <p:oleObj name="Equation" r:id="rId3" imgW="1041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021775"/>
                        <a:ext cx="2278062" cy="8666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itle 1"/>
          <p:cNvSpPr txBox="1">
            <a:spLocks/>
          </p:cNvSpPr>
          <p:nvPr/>
        </p:nvSpPr>
        <p:spPr>
          <a:xfrm>
            <a:off x="603504" y="2801132"/>
            <a:ext cx="8050640" cy="877163"/>
          </a:xfrm>
          <a:prstGeom prst="rect">
            <a:avLst/>
          </a:prstGeom>
          <a:noFill/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5425" indent="-225425"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Do năng lượng từ trường liên tục -&gt; dòng điện qua cuộn dây cũng liên tục tại thời điểm t=0:</a:t>
            </a:r>
          </a:p>
        </p:txBody>
      </p:sp>
      <p:graphicFrame>
        <p:nvGraphicFramePr>
          <p:cNvPr id="92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057494"/>
              </p:ext>
            </p:extLst>
          </p:nvPr>
        </p:nvGraphicFramePr>
        <p:xfrm>
          <a:off x="2203703" y="3659188"/>
          <a:ext cx="29654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58640" imgH="241200" progId="Equation.DSMT4">
                  <p:embed/>
                </p:oleObj>
              </mc:Choice>
              <mc:Fallback>
                <p:oleObj name="Equation" r:id="rId5" imgW="13586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703" y="3659188"/>
                        <a:ext cx="2965450" cy="53181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Rectangle 3"/>
          <p:cNvSpPr txBox="1">
            <a:spLocks noChangeArrowheads="1"/>
          </p:cNvSpPr>
          <p:nvPr/>
        </p:nvSpPr>
        <p:spPr>
          <a:xfrm>
            <a:off x="557150" y="4302726"/>
            <a:ext cx="68580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Tính liên tục của điện áp trên C:</a:t>
            </a:r>
          </a:p>
        </p:txBody>
      </p:sp>
      <p:sp>
        <p:nvSpPr>
          <p:cNvPr id="105" name="Title 1"/>
          <p:cNvSpPr txBox="1">
            <a:spLocks/>
          </p:cNvSpPr>
          <p:nvPr/>
        </p:nvSpPr>
        <p:spPr>
          <a:xfrm>
            <a:off x="586838" y="4668633"/>
            <a:ext cx="6019800" cy="877163"/>
          </a:xfrm>
          <a:prstGeom prst="rect">
            <a:avLst/>
          </a:prstGeom>
          <a:noFill/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Tại thời điểm t=0 trong mạch có đột biến:</a:t>
            </a:r>
          </a:p>
          <a:p>
            <a:pPr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- Năng lượng điện trường tích lũy trên C:</a:t>
            </a:r>
          </a:p>
        </p:txBody>
      </p:sp>
      <p:graphicFrame>
        <p:nvGraphicFramePr>
          <p:cNvPr id="106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497029"/>
              </p:ext>
            </p:extLst>
          </p:nvPr>
        </p:nvGraphicFramePr>
        <p:xfrm>
          <a:off x="1990725" y="5418137"/>
          <a:ext cx="24987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880" imgH="393480" progId="Equation.DSMT4">
                  <p:embed/>
                </p:oleObj>
              </mc:Choice>
              <mc:Fallback>
                <p:oleObj name="Equation" r:id="rId7" imgW="10918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5418137"/>
                        <a:ext cx="2498725" cy="906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7354525" y="4470430"/>
            <a:ext cx="1152896" cy="1339038"/>
            <a:chOff x="7354525" y="4470430"/>
            <a:chExt cx="1152896" cy="1339038"/>
          </a:xfrm>
        </p:grpSpPr>
        <p:sp>
          <p:nvSpPr>
            <p:cNvPr id="95" name="Rectangle 94"/>
            <p:cNvSpPr/>
            <p:nvPr/>
          </p:nvSpPr>
          <p:spPr>
            <a:xfrm>
              <a:off x="7364421" y="4470430"/>
              <a:ext cx="1143000" cy="990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Text Box 117"/>
            <p:cNvSpPr txBox="1">
              <a:spLocks noChangeArrowheads="1"/>
            </p:cNvSpPr>
            <p:nvPr/>
          </p:nvSpPr>
          <p:spPr bwMode="auto">
            <a:xfrm>
              <a:off x="7516821" y="4775229"/>
              <a:ext cx="309758" cy="3938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 Box 117"/>
            <p:cNvSpPr txBox="1">
              <a:spLocks noChangeArrowheads="1"/>
            </p:cNvSpPr>
            <p:nvPr/>
          </p:nvSpPr>
          <p:spPr bwMode="auto">
            <a:xfrm>
              <a:off x="7354525" y="5547314"/>
              <a:ext cx="1142999" cy="262154"/>
            </a:xfrm>
            <a:prstGeom prst="rect">
              <a:avLst/>
            </a:prstGeom>
            <a:noFill/>
            <a:ln>
              <a:noFill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Mạch điện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7926024" y="4649330"/>
              <a:ext cx="240474" cy="613712"/>
              <a:chOff x="6846125" y="3641613"/>
              <a:chExt cx="240474" cy="613712"/>
            </a:xfrm>
          </p:grpSpPr>
          <p:cxnSp>
            <p:nvCxnSpPr>
              <p:cNvPr id="19" name="Straight Connector 18"/>
              <p:cNvCxnSpPr/>
              <p:nvPr/>
            </p:nvCxnSpPr>
            <p:spPr>
              <a:xfrm>
                <a:off x="6969825" y="3641613"/>
                <a:ext cx="0" cy="2654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6969826" y="3989838"/>
                <a:ext cx="0" cy="2654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6857999" y="3982494"/>
                <a:ext cx="228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6846125" y="3921825"/>
                <a:ext cx="228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3167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93" grpId="0"/>
      <p:bldP spid="10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5" name="Title 1"/>
          <p:cNvSpPr txBox="1">
            <a:spLocks/>
          </p:cNvSpPr>
          <p:nvPr/>
        </p:nvSpPr>
        <p:spPr>
          <a:xfrm>
            <a:off x="533401" y="896937"/>
            <a:ext cx="5943599" cy="1246495"/>
          </a:xfrm>
          <a:prstGeom prst="rect">
            <a:avLst/>
          </a:prstGeom>
          <a:noFill/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spcBef>
                <a:spcPts val="0"/>
              </a:spcBef>
              <a:buFontTx/>
              <a:buChar char="-"/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Do năng lượng điện trường liên tục -&gt; điện áp trên tụ điện cũng liên tục tại thời điểm t=0:</a:t>
            </a:r>
          </a:p>
        </p:txBody>
      </p:sp>
      <p:graphicFrame>
        <p:nvGraphicFramePr>
          <p:cNvPr id="92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425037"/>
              </p:ext>
            </p:extLst>
          </p:nvPr>
        </p:nvGraphicFramePr>
        <p:xfrm>
          <a:off x="2444750" y="2211387"/>
          <a:ext cx="32702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98320" imgH="241200" progId="Equation.DSMT4">
                  <p:embed/>
                </p:oleObj>
              </mc:Choice>
              <mc:Fallback>
                <p:oleObj name="Equation" r:id="rId3" imgW="14983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2211387"/>
                        <a:ext cx="3270250" cy="53181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5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558560" y="439737"/>
            <a:ext cx="68580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Tính liên tục của điện áp trên C: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7086600" y="1099362"/>
            <a:ext cx="1152896" cy="1339038"/>
            <a:chOff x="7354525" y="4470430"/>
            <a:chExt cx="1152896" cy="1339038"/>
          </a:xfrm>
        </p:grpSpPr>
        <p:sp>
          <p:nvSpPr>
            <p:cNvPr id="34" name="Rectangle 33"/>
            <p:cNvSpPr/>
            <p:nvPr/>
          </p:nvSpPr>
          <p:spPr>
            <a:xfrm>
              <a:off x="7364421" y="4470430"/>
              <a:ext cx="1143000" cy="990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Text Box 117"/>
            <p:cNvSpPr txBox="1">
              <a:spLocks noChangeArrowheads="1"/>
            </p:cNvSpPr>
            <p:nvPr/>
          </p:nvSpPr>
          <p:spPr bwMode="auto">
            <a:xfrm>
              <a:off x="7516821" y="4775229"/>
              <a:ext cx="309758" cy="3938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200" b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200" b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117"/>
            <p:cNvSpPr txBox="1">
              <a:spLocks noChangeArrowheads="1"/>
            </p:cNvSpPr>
            <p:nvPr/>
          </p:nvSpPr>
          <p:spPr bwMode="auto">
            <a:xfrm>
              <a:off x="7354525" y="5547314"/>
              <a:ext cx="1142999" cy="262154"/>
            </a:xfrm>
            <a:prstGeom prst="rect">
              <a:avLst/>
            </a:prstGeom>
            <a:noFill/>
            <a:ln>
              <a:noFill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Mạch điện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7926024" y="4649330"/>
              <a:ext cx="240474" cy="613712"/>
              <a:chOff x="6846125" y="3641613"/>
              <a:chExt cx="240474" cy="613712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6969825" y="3641613"/>
                <a:ext cx="0" cy="2654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>
                <a:off x="6969826" y="3989838"/>
                <a:ext cx="0" cy="2654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6857999" y="3982494"/>
                <a:ext cx="228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>
                <a:off x="6846125" y="3921825"/>
                <a:ext cx="2286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Title 1"/>
          <p:cNvSpPr txBox="1">
            <a:spLocks/>
          </p:cNvSpPr>
          <p:nvPr/>
        </p:nvSpPr>
        <p:spPr>
          <a:xfrm>
            <a:off x="850074" y="3657600"/>
            <a:ext cx="7419603" cy="877163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2400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“Dòng điện qua cuộn dây và điện áp trên tụ cũng liên tục tại các thời điểm có đột biến trong mạch”</a:t>
            </a:r>
          </a:p>
        </p:txBody>
      </p:sp>
      <p:sp>
        <p:nvSpPr>
          <p:cNvPr id="3" name="Down Arrow 2"/>
          <p:cNvSpPr/>
          <p:nvPr/>
        </p:nvSpPr>
        <p:spPr>
          <a:xfrm>
            <a:off x="3987560" y="3192893"/>
            <a:ext cx="584440" cy="312307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81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1000" y="304800"/>
            <a:ext cx="8610600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4.4 SƠ ĐỒ 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TƯƠNG</a:t>
            </a:r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ĐƯƠNG CÁC P/TỬ DẠNG TOÁN TỬ</a:t>
            </a: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533400" y="3810000"/>
            <a:ext cx="29718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Phần tử điện trở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607628"/>
              </p:ext>
            </p:extLst>
          </p:nvPr>
        </p:nvGraphicFramePr>
        <p:xfrm>
          <a:off x="1143000" y="5559960"/>
          <a:ext cx="4187693" cy="4718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44440" imgH="228600" progId="Equation.DSMT4">
                  <p:embed/>
                </p:oleObj>
              </mc:Choice>
              <mc:Fallback>
                <p:oleObj name="Equation" r:id="rId3" imgW="2044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559960"/>
                        <a:ext cx="4187693" cy="4718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712204" y="4351338"/>
            <a:ext cx="1802396" cy="1132424"/>
            <a:chOff x="5360404" y="2018607"/>
            <a:chExt cx="1802396" cy="1132424"/>
          </a:xfrm>
        </p:grpSpPr>
        <p:sp>
          <p:nvSpPr>
            <p:cNvPr id="60" name="Text Box 117"/>
            <p:cNvSpPr txBox="1">
              <a:spLocks noChangeArrowheads="1"/>
            </p:cNvSpPr>
            <p:nvPr/>
          </p:nvSpPr>
          <p:spPr bwMode="auto">
            <a:xfrm>
              <a:off x="6660000" y="2018607"/>
              <a:ext cx="217692" cy="1132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117"/>
            <p:cNvSpPr txBox="1">
              <a:spLocks noChangeArrowheads="1"/>
            </p:cNvSpPr>
            <p:nvPr/>
          </p:nvSpPr>
          <p:spPr bwMode="auto">
            <a:xfrm>
              <a:off x="5360404" y="2458035"/>
              <a:ext cx="298819" cy="2720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 rot="5400000">
              <a:off x="5454539" y="2490684"/>
              <a:ext cx="597639" cy="188271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3" name="Freeform 2"/>
            <p:cNvSpPr/>
            <p:nvPr/>
          </p:nvSpPr>
          <p:spPr>
            <a:xfrm>
              <a:off x="5747657" y="2079933"/>
              <a:ext cx="881743" cy="206067"/>
            </a:xfrm>
            <a:custGeom>
              <a:avLst/>
              <a:gdLst>
                <a:gd name="connsiteX0" fmla="*/ 0 w 617517"/>
                <a:gd name="connsiteY0" fmla="*/ 344384 h 344384"/>
                <a:gd name="connsiteX1" fmla="*/ 0 w 617517"/>
                <a:gd name="connsiteY1" fmla="*/ 0 h 344384"/>
                <a:gd name="connsiteX2" fmla="*/ 617517 w 617517"/>
                <a:gd name="connsiteY2" fmla="*/ 0 h 34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7517" h="344384">
                  <a:moveTo>
                    <a:pt x="0" y="344384"/>
                  </a:moveTo>
                  <a:lnTo>
                    <a:pt x="0" y="0"/>
                  </a:lnTo>
                  <a:lnTo>
                    <a:pt x="617517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5759533" y="2883639"/>
              <a:ext cx="869867" cy="164361"/>
            </a:xfrm>
            <a:custGeom>
              <a:avLst/>
              <a:gdLst>
                <a:gd name="connsiteX0" fmla="*/ 0 w 653143"/>
                <a:gd name="connsiteY0" fmla="*/ 0 h 415636"/>
                <a:gd name="connsiteX1" fmla="*/ 0 w 653143"/>
                <a:gd name="connsiteY1" fmla="*/ 415636 h 415636"/>
                <a:gd name="connsiteX2" fmla="*/ 653143 w 653143"/>
                <a:gd name="connsiteY2" fmla="*/ 415636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3143" h="415636">
                  <a:moveTo>
                    <a:pt x="0" y="0"/>
                  </a:moveTo>
                  <a:lnTo>
                    <a:pt x="0" y="415636"/>
                  </a:lnTo>
                  <a:lnTo>
                    <a:pt x="653143" y="415636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 Box 117"/>
            <p:cNvSpPr txBox="1">
              <a:spLocks noChangeArrowheads="1"/>
            </p:cNvSpPr>
            <p:nvPr/>
          </p:nvSpPr>
          <p:spPr bwMode="auto">
            <a:xfrm>
              <a:off x="6610396" y="2345752"/>
              <a:ext cx="552404" cy="32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(t)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6019800" y="2076200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117"/>
            <p:cNvSpPr txBox="1">
              <a:spLocks noChangeArrowheads="1"/>
            </p:cNvSpPr>
            <p:nvPr/>
          </p:nvSpPr>
          <p:spPr bwMode="auto">
            <a:xfrm>
              <a:off x="5985164" y="2198300"/>
              <a:ext cx="552404" cy="30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(t)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171996" y="4080669"/>
            <a:ext cx="2108246" cy="1389590"/>
            <a:chOff x="3714796" y="1447800"/>
            <a:chExt cx="2108246" cy="1389590"/>
          </a:xfrm>
        </p:grpSpPr>
        <p:sp>
          <p:nvSpPr>
            <p:cNvPr id="69" name="Text Box 117"/>
            <p:cNvSpPr txBox="1">
              <a:spLocks noChangeArrowheads="1"/>
            </p:cNvSpPr>
            <p:nvPr/>
          </p:nvSpPr>
          <p:spPr bwMode="auto">
            <a:xfrm rot="10800000">
              <a:off x="4007808" y="1447800"/>
              <a:ext cx="552404" cy="30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</a:p>
          </p:txBody>
        </p:sp>
        <p:sp>
          <p:nvSpPr>
            <p:cNvPr id="62" name="Text Box 117"/>
            <p:cNvSpPr txBox="1">
              <a:spLocks noChangeArrowheads="1"/>
            </p:cNvSpPr>
            <p:nvPr/>
          </p:nvSpPr>
          <p:spPr bwMode="auto">
            <a:xfrm rot="10800000">
              <a:off x="3740512" y="1704966"/>
              <a:ext cx="217692" cy="1132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Box 117"/>
            <p:cNvSpPr txBox="1">
              <a:spLocks noChangeArrowheads="1"/>
            </p:cNvSpPr>
            <p:nvPr/>
          </p:nvSpPr>
          <p:spPr bwMode="auto">
            <a:xfrm rot="10800000">
              <a:off x="4958980" y="2125892"/>
              <a:ext cx="864062" cy="2765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=R</a:t>
              </a:r>
              <a:endParaRPr lang="en-US" sz="200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 rot="16200000">
              <a:off x="4566026" y="2177042"/>
              <a:ext cx="597639" cy="188271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65" name="Freeform 64"/>
            <p:cNvSpPr/>
            <p:nvPr/>
          </p:nvSpPr>
          <p:spPr>
            <a:xfrm rot="10800000">
              <a:off x="3988804" y="2569997"/>
              <a:ext cx="881743" cy="206067"/>
            </a:xfrm>
            <a:custGeom>
              <a:avLst/>
              <a:gdLst>
                <a:gd name="connsiteX0" fmla="*/ 0 w 617517"/>
                <a:gd name="connsiteY0" fmla="*/ 344384 h 344384"/>
                <a:gd name="connsiteX1" fmla="*/ 0 w 617517"/>
                <a:gd name="connsiteY1" fmla="*/ 0 h 344384"/>
                <a:gd name="connsiteX2" fmla="*/ 617517 w 617517"/>
                <a:gd name="connsiteY2" fmla="*/ 0 h 34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7517" h="344384">
                  <a:moveTo>
                    <a:pt x="0" y="344384"/>
                  </a:moveTo>
                  <a:lnTo>
                    <a:pt x="0" y="0"/>
                  </a:lnTo>
                  <a:lnTo>
                    <a:pt x="617517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 65"/>
            <p:cNvSpPr/>
            <p:nvPr/>
          </p:nvSpPr>
          <p:spPr>
            <a:xfrm rot="10800000">
              <a:off x="3988804" y="1807997"/>
              <a:ext cx="869867" cy="164361"/>
            </a:xfrm>
            <a:custGeom>
              <a:avLst/>
              <a:gdLst>
                <a:gd name="connsiteX0" fmla="*/ 0 w 653143"/>
                <a:gd name="connsiteY0" fmla="*/ 0 h 415636"/>
                <a:gd name="connsiteX1" fmla="*/ 0 w 653143"/>
                <a:gd name="connsiteY1" fmla="*/ 415636 h 415636"/>
                <a:gd name="connsiteX2" fmla="*/ 653143 w 653143"/>
                <a:gd name="connsiteY2" fmla="*/ 415636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3143" h="415636">
                  <a:moveTo>
                    <a:pt x="0" y="0"/>
                  </a:moveTo>
                  <a:lnTo>
                    <a:pt x="0" y="415636"/>
                  </a:lnTo>
                  <a:lnTo>
                    <a:pt x="653143" y="415636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 Box 117"/>
            <p:cNvSpPr txBox="1">
              <a:spLocks noChangeArrowheads="1"/>
            </p:cNvSpPr>
            <p:nvPr/>
          </p:nvSpPr>
          <p:spPr bwMode="auto">
            <a:xfrm rot="10800000">
              <a:off x="3714796" y="2081150"/>
              <a:ext cx="552404" cy="32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rot="10800000" flipH="1">
              <a:off x="4293604" y="1816925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Right Arrow 11"/>
          <p:cNvSpPr/>
          <p:nvPr/>
        </p:nvSpPr>
        <p:spPr>
          <a:xfrm>
            <a:off x="2743200" y="4862304"/>
            <a:ext cx="1219200" cy="20896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>
            <a:off x="6733246" y="4440866"/>
            <a:ext cx="1801154" cy="997352"/>
          </a:xfrm>
          <a:prstGeom prst="wedgeRoundRectCallout">
            <a:avLst>
              <a:gd name="adj1" fmla="val -77489"/>
              <a:gd name="adj2" fmla="val -12467"/>
              <a:gd name="adj3" fmla="val 1666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 đồ tương đương R dạng toán tử</a:t>
            </a:r>
          </a:p>
        </p:txBody>
      </p:sp>
      <p:sp>
        <p:nvSpPr>
          <p:cNvPr id="72" name="Rectangle 3"/>
          <p:cNvSpPr txBox="1">
            <a:spLocks noChangeArrowheads="1"/>
          </p:cNvSpPr>
          <p:nvPr/>
        </p:nvSpPr>
        <p:spPr>
          <a:xfrm>
            <a:off x="525900" y="919739"/>
            <a:ext cx="29718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Nguồn tác động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685800" y="1296444"/>
            <a:ext cx="2159123" cy="1262335"/>
            <a:chOff x="855674" y="1372644"/>
            <a:chExt cx="2159123" cy="1262335"/>
          </a:xfrm>
        </p:grpSpPr>
        <p:sp>
          <p:nvSpPr>
            <p:cNvPr id="92" name="Text Box 117"/>
            <p:cNvSpPr txBox="1">
              <a:spLocks noChangeArrowheads="1"/>
            </p:cNvSpPr>
            <p:nvPr/>
          </p:nvSpPr>
          <p:spPr bwMode="auto">
            <a:xfrm rot="10800000">
              <a:off x="855674" y="1768559"/>
              <a:ext cx="470304" cy="416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e(t)</a:t>
              </a:r>
              <a:endPara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1519624" y="1372644"/>
              <a:ext cx="0" cy="1246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Group 97"/>
            <p:cNvGrpSpPr/>
            <p:nvPr/>
          </p:nvGrpSpPr>
          <p:grpSpPr>
            <a:xfrm rot="10800000">
              <a:off x="1328210" y="1777574"/>
              <a:ext cx="365760" cy="364497"/>
              <a:chOff x="5159716" y="3921414"/>
              <a:chExt cx="365760" cy="364497"/>
            </a:xfrm>
          </p:grpSpPr>
          <p:sp>
            <p:nvSpPr>
              <p:cNvPr id="100" name="Oval 99"/>
              <p:cNvSpPr>
                <a:spLocks noChangeArrowheads="1"/>
              </p:cNvSpPr>
              <p:nvPr/>
            </p:nvSpPr>
            <p:spPr bwMode="auto">
              <a:xfrm>
                <a:off x="5159716" y="3921414"/>
                <a:ext cx="365760" cy="36449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01" name="Line 134"/>
              <p:cNvCxnSpPr>
                <a:cxnSpLocks noChangeShapeType="1"/>
              </p:cNvCxnSpPr>
              <p:nvPr/>
            </p:nvCxnSpPr>
            <p:spPr bwMode="auto">
              <a:xfrm>
                <a:off x="5278679" y="4162662"/>
                <a:ext cx="1157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" name="Line 135"/>
              <p:cNvCxnSpPr>
                <a:cxnSpLocks noChangeShapeType="1"/>
              </p:cNvCxnSpPr>
              <p:nvPr/>
            </p:nvCxnSpPr>
            <p:spPr bwMode="auto">
              <a:xfrm>
                <a:off x="5335586" y="4102925"/>
                <a:ext cx="0" cy="1214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3" name="Line 136"/>
              <p:cNvCxnSpPr>
                <a:cxnSpLocks noChangeShapeType="1"/>
              </p:cNvCxnSpPr>
              <p:nvPr/>
            </p:nvCxnSpPr>
            <p:spPr bwMode="auto">
              <a:xfrm>
                <a:off x="5281550" y="4026725"/>
                <a:ext cx="1157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5" name="Straight Connector 114"/>
            <p:cNvCxnSpPr/>
            <p:nvPr/>
          </p:nvCxnSpPr>
          <p:spPr>
            <a:xfrm>
              <a:off x="2241323" y="1388436"/>
              <a:ext cx="0" cy="1246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/>
            <p:cNvGrpSpPr/>
            <p:nvPr/>
          </p:nvGrpSpPr>
          <p:grpSpPr>
            <a:xfrm>
              <a:off x="2057400" y="1820251"/>
              <a:ext cx="365760" cy="364497"/>
              <a:chOff x="2514601" y="1820251"/>
              <a:chExt cx="365760" cy="364497"/>
            </a:xfrm>
          </p:grpSpPr>
          <p:sp>
            <p:nvSpPr>
              <p:cNvPr id="111" name="Oval 110"/>
              <p:cNvSpPr>
                <a:spLocks noChangeArrowheads="1"/>
              </p:cNvSpPr>
              <p:nvPr/>
            </p:nvSpPr>
            <p:spPr bwMode="auto">
              <a:xfrm rot="10800000">
                <a:off x="2514601" y="1820251"/>
                <a:ext cx="365760" cy="36449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5" name="Straight Arrow Connector 4"/>
              <p:cNvCxnSpPr/>
              <p:nvPr/>
            </p:nvCxnSpPr>
            <p:spPr>
              <a:xfrm flipH="1" flipV="1">
                <a:off x="2697480" y="1891646"/>
                <a:ext cx="1" cy="2429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0" name="Text Box 117"/>
            <p:cNvSpPr txBox="1">
              <a:spLocks noChangeArrowheads="1"/>
            </p:cNvSpPr>
            <p:nvPr/>
          </p:nvSpPr>
          <p:spPr bwMode="auto">
            <a:xfrm rot="10800000">
              <a:off x="2544493" y="1794405"/>
              <a:ext cx="470304" cy="416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j(t)</a:t>
              </a:r>
              <a:endParaRPr lang="en-US" sz="24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1" name="Right Arrow 130"/>
          <p:cNvSpPr/>
          <p:nvPr/>
        </p:nvSpPr>
        <p:spPr>
          <a:xfrm>
            <a:off x="3001699" y="1797368"/>
            <a:ext cx="739268" cy="22241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" name="Group 131"/>
          <p:cNvGrpSpPr/>
          <p:nvPr/>
        </p:nvGrpSpPr>
        <p:grpSpPr>
          <a:xfrm>
            <a:off x="3886200" y="1295400"/>
            <a:ext cx="2395083" cy="1262335"/>
            <a:chOff x="749774" y="1372644"/>
            <a:chExt cx="2395083" cy="1262335"/>
          </a:xfrm>
        </p:grpSpPr>
        <p:sp>
          <p:nvSpPr>
            <p:cNvPr id="133" name="Text Box 117"/>
            <p:cNvSpPr txBox="1">
              <a:spLocks noChangeArrowheads="1"/>
            </p:cNvSpPr>
            <p:nvPr/>
          </p:nvSpPr>
          <p:spPr bwMode="auto">
            <a:xfrm rot="10800000">
              <a:off x="749774" y="1777573"/>
              <a:ext cx="614545" cy="5073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E(s)</a:t>
              </a:r>
              <a:endParaRPr lang="en-US" sz="240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4" name="Straight Connector 133"/>
            <p:cNvCxnSpPr/>
            <p:nvPr/>
          </p:nvCxnSpPr>
          <p:spPr>
            <a:xfrm>
              <a:off x="1519624" y="1372644"/>
              <a:ext cx="0" cy="1246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5" name="Group 134"/>
            <p:cNvGrpSpPr/>
            <p:nvPr/>
          </p:nvGrpSpPr>
          <p:grpSpPr>
            <a:xfrm rot="10800000">
              <a:off x="1328210" y="1777574"/>
              <a:ext cx="365760" cy="364497"/>
              <a:chOff x="5159716" y="3921414"/>
              <a:chExt cx="365760" cy="364497"/>
            </a:xfrm>
          </p:grpSpPr>
          <p:sp>
            <p:nvSpPr>
              <p:cNvPr id="141" name="Oval 140"/>
              <p:cNvSpPr>
                <a:spLocks noChangeArrowheads="1"/>
              </p:cNvSpPr>
              <p:nvPr/>
            </p:nvSpPr>
            <p:spPr bwMode="auto">
              <a:xfrm>
                <a:off x="5159716" y="3921414"/>
                <a:ext cx="365760" cy="36449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42" name="Line 134"/>
              <p:cNvCxnSpPr>
                <a:cxnSpLocks noChangeShapeType="1"/>
              </p:cNvCxnSpPr>
              <p:nvPr/>
            </p:nvCxnSpPr>
            <p:spPr bwMode="auto">
              <a:xfrm>
                <a:off x="5278679" y="4162662"/>
                <a:ext cx="1157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" name="Line 135"/>
              <p:cNvCxnSpPr>
                <a:cxnSpLocks noChangeShapeType="1"/>
              </p:cNvCxnSpPr>
              <p:nvPr/>
            </p:nvCxnSpPr>
            <p:spPr bwMode="auto">
              <a:xfrm>
                <a:off x="5335586" y="4102925"/>
                <a:ext cx="0" cy="1214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4" name="Line 136"/>
              <p:cNvCxnSpPr>
                <a:cxnSpLocks noChangeShapeType="1"/>
              </p:cNvCxnSpPr>
              <p:nvPr/>
            </p:nvCxnSpPr>
            <p:spPr bwMode="auto">
              <a:xfrm>
                <a:off x="5281550" y="4026725"/>
                <a:ext cx="1157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6" name="Straight Connector 135"/>
            <p:cNvCxnSpPr/>
            <p:nvPr/>
          </p:nvCxnSpPr>
          <p:spPr>
            <a:xfrm>
              <a:off x="2241323" y="1388436"/>
              <a:ext cx="0" cy="1246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7" name="Group 136"/>
            <p:cNvGrpSpPr/>
            <p:nvPr/>
          </p:nvGrpSpPr>
          <p:grpSpPr>
            <a:xfrm>
              <a:off x="2057400" y="1820251"/>
              <a:ext cx="365760" cy="364497"/>
              <a:chOff x="2514601" y="1820251"/>
              <a:chExt cx="365760" cy="364497"/>
            </a:xfrm>
          </p:grpSpPr>
          <p:sp>
            <p:nvSpPr>
              <p:cNvPr id="139" name="Oval 138"/>
              <p:cNvSpPr>
                <a:spLocks noChangeArrowheads="1"/>
              </p:cNvSpPr>
              <p:nvPr/>
            </p:nvSpPr>
            <p:spPr bwMode="auto">
              <a:xfrm rot="10800000">
                <a:off x="2514601" y="1820251"/>
                <a:ext cx="365760" cy="36449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40" name="Straight Arrow Connector 139"/>
              <p:cNvCxnSpPr/>
              <p:nvPr/>
            </p:nvCxnSpPr>
            <p:spPr>
              <a:xfrm flipH="1" flipV="1">
                <a:off x="2697480" y="1891646"/>
                <a:ext cx="1" cy="24299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8" name="Text Box 117"/>
            <p:cNvSpPr txBox="1">
              <a:spLocks noChangeArrowheads="1"/>
            </p:cNvSpPr>
            <p:nvPr/>
          </p:nvSpPr>
          <p:spPr bwMode="auto">
            <a:xfrm rot="10800000">
              <a:off x="2544492" y="1794404"/>
              <a:ext cx="600365" cy="41618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4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J(s)</a:t>
              </a:r>
              <a:endParaRPr lang="en-US" sz="240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45" name="Object 1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012856"/>
              </p:ext>
            </p:extLst>
          </p:nvPr>
        </p:nvGraphicFramePr>
        <p:xfrm>
          <a:off x="2286000" y="2505803"/>
          <a:ext cx="2254034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15920" imgH="482400" progId="Equation.DSMT4">
                  <p:embed/>
                </p:oleObj>
              </mc:Choice>
              <mc:Fallback>
                <p:oleObj name="Equation" r:id="rId5" imgW="10159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505803"/>
                        <a:ext cx="2254034" cy="9953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Rounded Rectangular Callout 145"/>
          <p:cNvSpPr/>
          <p:nvPr/>
        </p:nvSpPr>
        <p:spPr>
          <a:xfrm>
            <a:off x="6785831" y="1593448"/>
            <a:ext cx="1824769" cy="997352"/>
          </a:xfrm>
          <a:prstGeom prst="wedgeRoundRectCallout">
            <a:avLst>
              <a:gd name="adj1" fmla="val -72621"/>
              <a:gd name="adj2" fmla="val -16235"/>
              <a:gd name="adj3" fmla="val 1666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 đồ tương đương nguồn dạng toán tử</a:t>
            </a:r>
          </a:p>
        </p:txBody>
      </p:sp>
    </p:spTree>
    <p:extLst>
      <p:ext uri="{BB962C8B-B14F-4D97-AF65-F5344CB8AC3E}">
        <p14:creationId xmlns:p14="http://schemas.microsoft.com/office/powerpoint/2010/main" val="102974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" grpId="0" animBg="1"/>
      <p:bldP spid="14" grpId="0" animBg="1"/>
      <p:bldP spid="131" grpId="0" animBg="1"/>
      <p:bldP spid="1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45" name="Rectangle 3"/>
          <p:cNvSpPr txBox="1">
            <a:spLocks noChangeArrowheads="1"/>
          </p:cNvSpPr>
          <p:nvPr/>
        </p:nvSpPr>
        <p:spPr>
          <a:xfrm>
            <a:off x="533400" y="2901690"/>
            <a:ext cx="29718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Ghép hỗ cảm</a:t>
            </a:r>
          </a:p>
        </p:txBody>
      </p:sp>
      <p:grpSp>
        <p:nvGrpSpPr>
          <p:cNvPr id="147" name="Group 146"/>
          <p:cNvGrpSpPr>
            <a:grpSpLocks/>
          </p:cNvGrpSpPr>
          <p:nvPr/>
        </p:nvGrpSpPr>
        <p:grpSpPr bwMode="auto">
          <a:xfrm>
            <a:off x="668975" y="3322706"/>
            <a:ext cx="3213253" cy="1560184"/>
            <a:chOff x="2016" y="2145"/>
            <a:chExt cx="3456" cy="1599"/>
          </a:xfrm>
        </p:grpSpPr>
        <p:sp>
          <p:nvSpPr>
            <p:cNvPr id="209" name="Freeform 208"/>
            <p:cNvSpPr>
              <a:spLocks/>
            </p:cNvSpPr>
            <p:nvPr/>
          </p:nvSpPr>
          <p:spPr bwMode="auto">
            <a:xfrm>
              <a:off x="2304" y="2289"/>
              <a:ext cx="1008" cy="432"/>
            </a:xfrm>
            <a:custGeom>
              <a:avLst/>
              <a:gdLst>
                <a:gd name="T0" fmla="*/ 0 w 1008"/>
                <a:gd name="T1" fmla="*/ 0 h 576"/>
                <a:gd name="T2" fmla="*/ 1008 w 1008"/>
                <a:gd name="T3" fmla="*/ 0 h 576"/>
                <a:gd name="T4" fmla="*/ 1008 w 100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576">
                  <a:moveTo>
                    <a:pt x="0" y="0"/>
                  </a:moveTo>
                  <a:lnTo>
                    <a:pt x="1008" y="0"/>
                  </a:lnTo>
                  <a:lnTo>
                    <a:pt x="1008" y="576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0" name="Freeform 209"/>
            <p:cNvSpPr>
              <a:spLocks/>
            </p:cNvSpPr>
            <p:nvPr/>
          </p:nvSpPr>
          <p:spPr bwMode="auto">
            <a:xfrm>
              <a:off x="2304" y="3153"/>
              <a:ext cx="1008" cy="591"/>
            </a:xfrm>
            <a:custGeom>
              <a:avLst/>
              <a:gdLst>
                <a:gd name="T0" fmla="*/ 1008 w 1008"/>
                <a:gd name="T1" fmla="*/ 0 h 432"/>
                <a:gd name="T2" fmla="*/ 1008 w 1008"/>
                <a:gd name="T3" fmla="*/ 432 h 432"/>
                <a:gd name="T4" fmla="*/ 0 w 1008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432">
                  <a:moveTo>
                    <a:pt x="1008" y="0"/>
                  </a:moveTo>
                  <a:lnTo>
                    <a:pt x="1008" y="432"/>
                  </a:lnTo>
                  <a:lnTo>
                    <a:pt x="0" y="4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1" name="Text Box 6"/>
            <p:cNvSpPr txBox="1">
              <a:spLocks noChangeArrowheads="1"/>
            </p:cNvSpPr>
            <p:nvPr/>
          </p:nvSpPr>
          <p:spPr bwMode="auto">
            <a:xfrm>
              <a:off x="2160" y="2789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 Box 7"/>
            <p:cNvSpPr txBox="1">
              <a:spLocks noChangeArrowheads="1"/>
            </p:cNvSpPr>
            <p:nvPr/>
          </p:nvSpPr>
          <p:spPr bwMode="auto">
            <a:xfrm>
              <a:off x="2592" y="2433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13" name="Line 8"/>
            <p:cNvCxnSpPr>
              <a:cxnSpLocks noChangeShapeType="1"/>
            </p:cNvCxnSpPr>
            <p:nvPr/>
          </p:nvCxnSpPr>
          <p:spPr bwMode="auto">
            <a:xfrm>
              <a:off x="2448" y="2433"/>
              <a:ext cx="5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14" name="Freeform 213"/>
            <p:cNvSpPr>
              <a:spLocks/>
            </p:cNvSpPr>
            <p:nvPr/>
          </p:nvSpPr>
          <p:spPr bwMode="auto">
            <a:xfrm rot="5400000">
              <a:off x="3085" y="2865"/>
              <a:ext cx="456" cy="168"/>
            </a:xfrm>
            <a:custGeom>
              <a:avLst/>
              <a:gdLst>
                <a:gd name="T0" fmla="*/ 0 w 1440"/>
                <a:gd name="T1" fmla="*/ 336 h 672"/>
                <a:gd name="T2" fmla="*/ 144 w 1440"/>
                <a:gd name="T3" fmla="*/ 48 h 672"/>
                <a:gd name="T4" fmla="*/ 288 w 1440"/>
                <a:gd name="T5" fmla="*/ 336 h 672"/>
                <a:gd name="T6" fmla="*/ 144 w 1440"/>
                <a:gd name="T7" fmla="*/ 624 h 672"/>
                <a:gd name="T8" fmla="*/ 288 w 1440"/>
                <a:gd name="T9" fmla="*/ 48 h 672"/>
                <a:gd name="T10" fmla="*/ 576 w 1440"/>
                <a:gd name="T11" fmla="*/ 336 h 672"/>
                <a:gd name="T12" fmla="*/ 432 w 1440"/>
                <a:gd name="T13" fmla="*/ 624 h 672"/>
                <a:gd name="T14" fmla="*/ 432 w 1440"/>
                <a:gd name="T15" fmla="*/ 336 h 672"/>
                <a:gd name="T16" fmla="*/ 720 w 1440"/>
                <a:gd name="T17" fmla="*/ 48 h 672"/>
                <a:gd name="T18" fmla="*/ 864 w 1440"/>
                <a:gd name="T19" fmla="*/ 336 h 672"/>
                <a:gd name="T20" fmla="*/ 720 w 1440"/>
                <a:gd name="T21" fmla="*/ 624 h 672"/>
                <a:gd name="T22" fmla="*/ 720 w 1440"/>
                <a:gd name="T23" fmla="*/ 336 h 672"/>
                <a:gd name="T24" fmla="*/ 1008 w 1440"/>
                <a:gd name="T25" fmla="*/ 48 h 672"/>
                <a:gd name="T26" fmla="*/ 1152 w 1440"/>
                <a:gd name="T27" fmla="*/ 336 h 672"/>
                <a:gd name="T28" fmla="*/ 1008 w 1440"/>
                <a:gd name="T29" fmla="*/ 624 h 672"/>
                <a:gd name="T30" fmla="*/ 1008 w 1440"/>
                <a:gd name="T31" fmla="*/ 336 h 672"/>
                <a:gd name="T32" fmla="*/ 1296 w 1440"/>
                <a:gd name="T33" fmla="*/ 48 h 672"/>
                <a:gd name="T34" fmla="*/ 1440 w 1440"/>
                <a:gd name="T35" fmla="*/ 336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40" h="672">
                  <a:moveTo>
                    <a:pt x="0" y="336"/>
                  </a:moveTo>
                  <a:cubicBezTo>
                    <a:pt x="48" y="192"/>
                    <a:pt x="96" y="48"/>
                    <a:pt x="144" y="48"/>
                  </a:cubicBezTo>
                  <a:cubicBezTo>
                    <a:pt x="192" y="48"/>
                    <a:pt x="288" y="240"/>
                    <a:pt x="288" y="336"/>
                  </a:cubicBezTo>
                  <a:cubicBezTo>
                    <a:pt x="288" y="432"/>
                    <a:pt x="144" y="672"/>
                    <a:pt x="144" y="624"/>
                  </a:cubicBezTo>
                  <a:cubicBezTo>
                    <a:pt x="144" y="576"/>
                    <a:pt x="216" y="96"/>
                    <a:pt x="288" y="48"/>
                  </a:cubicBezTo>
                  <a:cubicBezTo>
                    <a:pt x="360" y="0"/>
                    <a:pt x="552" y="240"/>
                    <a:pt x="576" y="336"/>
                  </a:cubicBezTo>
                  <a:cubicBezTo>
                    <a:pt x="600" y="432"/>
                    <a:pt x="456" y="624"/>
                    <a:pt x="432" y="624"/>
                  </a:cubicBezTo>
                  <a:cubicBezTo>
                    <a:pt x="408" y="624"/>
                    <a:pt x="384" y="432"/>
                    <a:pt x="432" y="336"/>
                  </a:cubicBezTo>
                  <a:cubicBezTo>
                    <a:pt x="480" y="240"/>
                    <a:pt x="648" y="48"/>
                    <a:pt x="720" y="48"/>
                  </a:cubicBezTo>
                  <a:cubicBezTo>
                    <a:pt x="792" y="48"/>
                    <a:pt x="864" y="240"/>
                    <a:pt x="864" y="336"/>
                  </a:cubicBezTo>
                  <a:cubicBezTo>
                    <a:pt x="864" y="432"/>
                    <a:pt x="744" y="624"/>
                    <a:pt x="720" y="624"/>
                  </a:cubicBezTo>
                  <a:cubicBezTo>
                    <a:pt x="696" y="624"/>
                    <a:pt x="672" y="432"/>
                    <a:pt x="720" y="336"/>
                  </a:cubicBezTo>
                  <a:cubicBezTo>
                    <a:pt x="768" y="240"/>
                    <a:pt x="936" y="48"/>
                    <a:pt x="1008" y="48"/>
                  </a:cubicBezTo>
                  <a:cubicBezTo>
                    <a:pt x="1080" y="48"/>
                    <a:pt x="1152" y="240"/>
                    <a:pt x="1152" y="336"/>
                  </a:cubicBezTo>
                  <a:cubicBezTo>
                    <a:pt x="1152" y="432"/>
                    <a:pt x="1032" y="624"/>
                    <a:pt x="1008" y="624"/>
                  </a:cubicBezTo>
                  <a:cubicBezTo>
                    <a:pt x="984" y="624"/>
                    <a:pt x="960" y="432"/>
                    <a:pt x="1008" y="336"/>
                  </a:cubicBezTo>
                  <a:cubicBezTo>
                    <a:pt x="1056" y="240"/>
                    <a:pt x="1224" y="48"/>
                    <a:pt x="1296" y="48"/>
                  </a:cubicBezTo>
                  <a:cubicBezTo>
                    <a:pt x="1368" y="48"/>
                    <a:pt x="1404" y="192"/>
                    <a:pt x="1440" y="33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5" name="Freeform 214"/>
            <p:cNvSpPr>
              <a:spLocks/>
            </p:cNvSpPr>
            <p:nvPr/>
          </p:nvSpPr>
          <p:spPr bwMode="auto">
            <a:xfrm rot="5400000">
              <a:off x="3888" y="2865"/>
              <a:ext cx="456" cy="168"/>
            </a:xfrm>
            <a:custGeom>
              <a:avLst/>
              <a:gdLst>
                <a:gd name="T0" fmla="*/ 0 w 1440"/>
                <a:gd name="T1" fmla="*/ 336 h 672"/>
                <a:gd name="T2" fmla="*/ 144 w 1440"/>
                <a:gd name="T3" fmla="*/ 48 h 672"/>
                <a:gd name="T4" fmla="*/ 288 w 1440"/>
                <a:gd name="T5" fmla="*/ 336 h 672"/>
                <a:gd name="T6" fmla="*/ 144 w 1440"/>
                <a:gd name="T7" fmla="*/ 624 h 672"/>
                <a:gd name="T8" fmla="*/ 288 w 1440"/>
                <a:gd name="T9" fmla="*/ 48 h 672"/>
                <a:gd name="T10" fmla="*/ 576 w 1440"/>
                <a:gd name="T11" fmla="*/ 336 h 672"/>
                <a:gd name="T12" fmla="*/ 432 w 1440"/>
                <a:gd name="T13" fmla="*/ 624 h 672"/>
                <a:gd name="T14" fmla="*/ 432 w 1440"/>
                <a:gd name="T15" fmla="*/ 336 h 672"/>
                <a:gd name="T16" fmla="*/ 720 w 1440"/>
                <a:gd name="T17" fmla="*/ 48 h 672"/>
                <a:gd name="T18" fmla="*/ 864 w 1440"/>
                <a:gd name="T19" fmla="*/ 336 h 672"/>
                <a:gd name="T20" fmla="*/ 720 w 1440"/>
                <a:gd name="T21" fmla="*/ 624 h 672"/>
                <a:gd name="T22" fmla="*/ 720 w 1440"/>
                <a:gd name="T23" fmla="*/ 336 h 672"/>
                <a:gd name="T24" fmla="*/ 1008 w 1440"/>
                <a:gd name="T25" fmla="*/ 48 h 672"/>
                <a:gd name="T26" fmla="*/ 1152 w 1440"/>
                <a:gd name="T27" fmla="*/ 336 h 672"/>
                <a:gd name="T28" fmla="*/ 1008 w 1440"/>
                <a:gd name="T29" fmla="*/ 624 h 672"/>
                <a:gd name="T30" fmla="*/ 1008 w 1440"/>
                <a:gd name="T31" fmla="*/ 336 h 672"/>
                <a:gd name="T32" fmla="*/ 1296 w 1440"/>
                <a:gd name="T33" fmla="*/ 48 h 672"/>
                <a:gd name="T34" fmla="*/ 1440 w 1440"/>
                <a:gd name="T35" fmla="*/ 336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40" h="672">
                  <a:moveTo>
                    <a:pt x="0" y="336"/>
                  </a:moveTo>
                  <a:cubicBezTo>
                    <a:pt x="48" y="192"/>
                    <a:pt x="96" y="48"/>
                    <a:pt x="144" y="48"/>
                  </a:cubicBezTo>
                  <a:cubicBezTo>
                    <a:pt x="192" y="48"/>
                    <a:pt x="288" y="240"/>
                    <a:pt x="288" y="336"/>
                  </a:cubicBezTo>
                  <a:cubicBezTo>
                    <a:pt x="288" y="432"/>
                    <a:pt x="144" y="672"/>
                    <a:pt x="144" y="624"/>
                  </a:cubicBezTo>
                  <a:cubicBezTo>
                    <a:pt x="144" y="576"/>
                    <a:pt x="216" y="96"/>
                    <a:pt x="288" y="48"/>
                  </a:cubicBezTo>
                  <a:cubicBezTo>
                    <a:pt x="360" y="0"/>
                    <a:pt x="552" y="240"/>
                    <a:pt x="576" y="336"/>
                  </a:cubicBezTo>
                  <a:cubicBezTo>
                    <a:pt x="600" y="432"/>
                    <a:pt x="456" y="624"/>
                    <a:pt x="432" y="624"/>
                  </a:cubicBezTo>
                  <a:cubicBezTo>
                    <a:pt x="408" y="624"/>
                    <a:pt x="384" y="432"/>
                    <a:pt x="432" y="336"/>
                  </a:cubicBezTo>
                  <a:cubicBezTo>
                    <a:pt x="480" y="240"/>
                    <a:pt x="648" y="48"/>
                    <a:pt x="720" y="48"/>
                  </a:cubicBezTo>
                  <a:cubicBezTo>
                    <a:pt x="792" y="48"/>
                    <a:pt x="864" y="240"/>
                    <a:pt x="864" y="336"/>
                  </a:cubicBezTo>
                  <a:cubicBezTo>
                    <a:pt x="864" y="432"/>
                    <a:pt x="744" y="624"/>
                    <a:pt x="720" y="624"/>
                  </a:cubicBezTo>
                  <a:cubicBezTo>
                    <a:pt x="696" y="624"/>
                    <a:pt x="672" y="432"/>
                    <a:pt x="720" y="336"/>
                  </a:cubicBezTo>
                  <a:cubicBezTo>
                    <a:pt x="768" y="240"/>
                    <a:pt x="936" y="48"/>
                    <a:pt x="1008" y="48"/>
                  </a:cubicBezTo>
                  <a:cubicBezTo>
                    <a:pt x="1080" y="48"/>
                    <a:pt x="1152" y="240"/>
                    <a:pt x="1152" y="336"/>
                  </a:cubicBezTo>
                  <a:cubicBezTo>
                    <a:pt x="1152" y="432"/>
                    <a:pt x="1032" y="624"/>
                    <a:pt x="1008" y="624"/>
                  </a:cubicBezTo>
                  <a:cubicBezTo>
                    <a:pt x="984" y="624"/>
                    <a:pt x="960" y="432"/>
                    <a:pt x="1008" y="336"/>
                  </a:cubicBezTo>
                  <a:cubicBezTo>
                    <a:pt x="1056" y="240"/>
                    <a:pt x="1224" y="48"/>
                    <a:pt x="1296" y="48"/>
                  </a:cubicBezTo>
                  <a:cubicBezTo>
                    <a:pt x="1368" y="48"/>
                    <a:pt x="1404" y="192"/>
                    <a:pt x="1440" y="33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6" name="Freeform 215"/>
            <p:cNvSpPr>
              <a:spLocks/>
            </p:cNvSpPr>
            <p:nvPr/>
          </p:nvSpPr>
          <p:spPr bwMode="auto">
            <a:xfrm>
              <a:off x="4125" y="2289"/>
              <a:ext cx="1008" cy="432"/>
            </a:xfrm>
            <a:custGeom>
              <a:avLst/>
              <a:gdLst>
                <a:gd name="T0" fmla="*/ 0 w 1008"/>
                <a:gd name="T1" fmla="*/ 432 h 432"/>
                <a:gd name="T2" fmla="*/ 0 w 1008"/>
                <a:gd name="T3" fmla="*/ 0 h 432"/>
                <a:gd name="T4" fmla="*/ 1008 w 1008"/>
                <a:gd name="T5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432">
                  <a:moveTo>
                    <a:pt x="0" y="432"/>
                  </a:moveTo>
                  <a:lnTo>
                    <a:pt x="0" y="0"/>
                  </a:lnTo>
                  <a:lnTo>
                    <a:pt x="1008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7" name="Freeform 216"/>
            <p:cNvSpPr>
              <a:spLocks/>
            </p:cNvSpPr>
            <p:nvPr/>
          </p:nvSpPr>
          <p:spPr bwMode="auto">
            <a:xfrm>
              <a:off x="4125" y="3153"/>
              <a:ext cx="1008" cy="591"/>
            </a:xfrm>
            <a:custGeom>
              <a:avLst/>
              <a:gdLst>
                <a:gd name="T0" fmla="*/ 0 w 1008"/>
                <a:gd name="T1" fmla="*/ 0 h 432"/>
                <a:gd name="T2" fmla="*/ 0 w 1008"/>
                <a:gd name="T3" fmla="*/ 432 h 432"/>
                <a:gd name="T4" fmla="*/ 1008 w 1008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lnTo>
                    <a:pt x="0" y="432"/>
                  </a:lnTo>
                  <a:lnTo>
                    <a:pt x="1008" y="4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8" name="Arc 15"/>
            <p:cNvSpPr>
              <a:spLocks/>
            </p:cNvSpPr>
            <p:nvPr/>
          </p:nvSpPr>
          <p:spPr bwMode="auto">
            <a:xfrm rot="14150023" flipV="1">
              <a:off x="3511" y="2361"/>
              <a:ext cx="432" cy="5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19" name="Text Box 16"/>
            <p:cNvSpPr txBox="1">
              <a:spLocks noChangeArrowheads="1"/>
            </p:cNvSpPr>
            <p:nvPr/>
          </p:nvSpPr>
          <p:spPr bwMode="auto">
            <a:xfrm>
              <a:off x="3651" y="2145"/>
              <a:ext cx="23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b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</a:t>
              </a:r>
              <a:endParaRPr lang="en-US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220" name="Line 17"/>
            <p:cNvCxnSpPr>
              <a:cxnSpLocks noChangeShapeType="1"/>
            </p:cNvCxnSpPr>
            <p:nvPr/>
          </p:nvCxnSpPr>
          <p:spPr bwMode="auto">
            <a:xfrm flipH="1">
              <a:off x="4464" y="2425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21" name="Text Box 18"/>
            <p:cNvSpPr txBox="1">
              <a:spLocks noChangeArrowheads="1"/>
            </p:cNvSpPr>
            <p:nvPr/>
          </p:nvSpPr>
          <p:spPr bwMode="auto">
            <a:xfrm>
              <a:off x="5040" y="277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Text Box 19"/>
            <p:cNvSpPr txBox="1">
              <a:spLocks noChangeArrowheads="1"/>
            </p:cNvSpPr>
            <p:nvPr/>
          </p:nvSpPr>
          <p:spPr bwMode="auto">
            <a:xfrm>
              <a:off x="4685" y="2467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Oval 222"/>
            <p:cNvSpPr>
              <a:spLocks noChangeArrowheads="1"/>
            </p:cNvSpPr>
            <p:nvPr/>
          </p:nvSpPr>
          <p:spPr bwMode="auto">
            <a:xfrm>
              <a:off x="3109" y="2721"/>
              <a:ext cx="72" cy="7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4" name="Oval 223"/>
            <p:cNvSpPr>
              <a:spLocks noChangeArrowheads="1"/>
            </p:cNvSpPr>
            <p:nvPr/>
          </p:nvSpPr>
          <p:spPr bwMode="auto">
            <a:xfrm>
              <a:off x="4261" y="2738"/>
              <a:ext cx="72" cy="7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5" name="Text Box 23"/>
            <p:cNvSpPr txBox="1">
              <a:spLocks noChangeArrowheads="1"/>
            </p:cNvSpPr>
            <p:nvPr/>
          </p:nvSpPr>
          <p:spPr bwMode="auto">
            <a:xfrm>
              <a:off x="3024" y="28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b="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b="0" i="1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US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26" name="Text Box 24"/>
            <p:cNvSpPr txBox="1">
              <a:spLocks noChangeArrowheads="1"/>
            </p:cNvSpPr>
            <p:nvPr/>
          </p:nvSpPr>
          <p:spPr bwMode="auto">
            <a:xfrm>
              <a:off x="4261" y="2897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b="0" i="1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b="0" i="1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US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27" name="Group 226"/>
            <p:cNvGrpSpPr>
              <a:grpSpLocks/>
            </p:cNvGrpSpPr>
            <p:nvPr/>
          </p:nvGrpSpPr>
          <p:grpSpPr bwMode="auto">
            <a:xfrm>
              <a:off x="2016" y="2245"/>
              <a:ext cx="144" cy="144"/>
              <a:chOff x="10368" y="7704"/>
              <a:chExt cx="144" cy="144"/>
            </a:xfrm>
          </p:grpSpPr>
          <p:cxnSp>
            <p:nvCxnSpPr>
              <p:cNvPr id="233" name="Line 26"/>
              <p:cNvCxnSpPr>
                <a:cxnSpLocks noChangeShapeType="1"/>
              </p:cNvCxnSpPr>
              <p:nvPr/>
            </p:nvCxnSpPr>
            <p:spPr bwMode="auto">
              <a:xfrm>
                <a:off x="10368" y="7776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4" name="Line 27"/>
              <p:cNvCxnSpPr>
                <a:cxnSpLocks noChangeShapeType="1"/>
              </p:cNvCxnSpPr>
              <p:nvPr/>
            </p:nvCxnSpPr>
            <p:spPr bwMode="auto">
              <a:xfrm>
                <a:off x="10440" y="77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28" name="Line 28"/>
            <p:cNvCxnSpPr>
              <a:cxnSpLocks noChangeShapeType="1"/>
            </p:cNvCxnSpPr>
            <p:nvPr/>
          </p:nvCxnSpPr>
          <p:spPr bwMode="auto">
            <a:xfrm>
              <a:off x="2016" y="374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29" name="Group 228"/>
            <p:cNvGrpSpPr>
              <a:grpSpLocks/>
            </p:cNvGrpSpPr>
            <p:nvPr/>
          </p:nvGrpSpPr>
          <p:grpSpPr bwMode="auto">
            <a:xfrm>
              <a:off x="5277" y="2219"/>
              <a:ext cx="144" cy="144"/>
              <a:chOff x="10368" y="7704"/>
              <a:chExt cx="144" cy="144"/>
            </a:xfrm>
          </p:grpSpPr>
          <p:cxnSp>
            <p:nvCxnSpPr>
              <p:cNvPr id="231" name="Line 30"/>
              <p:cNvCxnSpPr>
                <a:cxnSpLocks noChangeShapeType="1"/>
              </p:cNvCxnSpPr>
              <p:nvPr/>
            </p:nvCxnSpPr>
            <p:spPr bwMode="auto">
              <a:xfrm>
                <a:off x="10368" y="7776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2" name="Line 31"/>
              <p:cNvCxnSpPr>
                <a:cxnSpLocks noChangeShapeType="1"/>
              </p:cNvCxnSpPr>
              <p:nvPr/>
            </p:nvCxnSpPr>
            <p:spPr bwMode="auto">
              <a:xfrm>
                <a:off x="10440" y="77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30" name="Line 32"/>
            <p:cNvCxnSpPr>
              <a:cxnSpLocks noChangeShapeType="1"/>
            </p:cNvCxnSpPr>
            <p:nvPr/>
          </p:nvCxnSpPr>
          <p:spPr bwMode="auto">
            <a:xfrm>
              <a:off x="5260" y="3744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8" name="Group 147"/>
          <p:cNvGrpSpPr>
            <a:grpSpLocks/>
          </p:cNvGrpSpPr>
          <p:nvPr/>
        </p:nvGrpSpPr>
        <p:grpSpPr bwMode="auto">
          <a:xfrm>
            <a:off x="4539568" y="3082678"/>
            <a:ext cx="4107683" cy="1800212"/>
            <a:chOff x="6217" y="1914"/>
            <a:chExt cx="4092" cy="1845"/>
          </a:xfrm>
        </p:grpSpPr>
        <p:sp>
          <p:nvSpPr>
            <p:cNvPr id="149" name="Freeform 148"/>
            <p:cNvSpPr>
              <a:spLocks/>
            </p:cNvSpPr>
            <p:nvPr/>
          </p:nvSpPr>
          <p:spPr bwMode="auto">
            <a:xfrm>
              <a:off x="6480" y="2304"/>
              <a:ext cx="1296" cy="288"/>
            </a:xfrm>
            <a:custGeom>
              <a:avLst/>
              <a:gdLst>
                <a:gd name="T0" fmla="*/ 0 w 1008"/>
                <a:gd name="T1" fmla="*/ 0 h 576"/>
                <a:gd name="T2" fmla="*/ 1008 w 1008"/>
                <a:gd name="T3" fmla="*/ 0 h 576"/>
                <a:gd name="T4" fmla="*/ 1008 w 1008"/>
                <a:gd name="T5" fmla="*/ 57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576">
                  <a:moveTo>
                    <a:pt x="0" y="0"/>
                  </a:moveTo>
                  <a:lnTo>
                    <a:pt x="1008" y="0"/>
                  </a:lnTo>
                  <a:lnTo>
                    <a:pt x="1008" y="576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oval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6480" y="3024"/>
              <a:ext cx="1296" cy="735"/>
            </a:xfrm>
            <a:custGeom>
              <a:avLst/>
              <a:gdLst>
                <a:gd name="T0" fmla="*/ 1008 w 1008"/>
                <a:gd name="T1" fmla="*/ 0 h 432"/>
                <a:gd name="T2" fmla="*/ 1008 w 1008"/>
                <a:gd name="T3" fmla="*/ 432 h 432"/>
                <a:gd name="T4" fmla="*/ 0 w 1008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432">
                  <a:moveTo>
                    <a:pt x="1008" y="0"/>
                  </a:moveTo>
                  <a:lnTo>
                    <a:pt x="1008" y="432"/>
                  </a:lnTo>
                  <a:lnTo>
                    <a:pt x="0" y="4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57" name="Text Box 36"/>
            <p:cNvSpPr txBox="1">
              <a:spLocks noChangeArrowheads="1"/>
            </p:cNvSpPr>
            <p:nvPr/>
          </p:nvSpPr>
          <p:spPr bwMode="auto">
            <a:xfrm>
              <a:off x="6281" y="2883"/>
              <a:ext cx="576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8" name="Text Box 37"/>
            <p:cNvSpPr txBox="1">
              <a:spLocks noChangeArrowheads="1"/>
            </p:cNvSpPr>
            <p:nvPr/>
          </p:nvSpPr>
          <p:spPr bwMode="auto">
            <a:xfrm>
              <a:off x="6817" y="3269"/>
              <a:ext cx="772" cy="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Mi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(0)</a:t>
              </a:r>
              <a:endParaRPr lang="en-US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59" name="Freeform 158"/>
            <p:cNvSpPr>
              <a:spLocks/>
            </p:cNvSpPr>
            <p:nvPr/>
          </p:nvSpPr>
          <p:spPr bwMode="auto">
            <a:xfrm rot="5400000">
              <a:off x="7549" y="2736"/>
              <a:ext cx="456" cy="168"/>
            </a:xfrm>
            <a:custGeom>
              <a:avLst/>
              <a:gdLst>
                <a:gd name="T0" fmla="*/ 0 w 1440"/>
                <a:gd name="T1" fmla="*/ 336 h 672"/>
                <a:gd name="T2" fmla="*/ 144 w 1440"/>
                <a:gd name="T3" fmla="*/ 48 h 672"/>
                <a:gd name="T4" fmla="*/ 288 w 1440"/>
                <a:gd name="T5" fmla="*/ 336 h 672"/>
                <a:gd name="T6" fmla="*/ 144 w 1440"/>
                <a:gd name="T7" fmla="*/ 624 h 672"/>
                <a:gd name="T8" fmla="*/ 288 w 1440"/>
                <a:gd name="T9" fmla="*/ 48 h 672"/>
                <a:gd name="T10" fmla="*/ 576 w 1440"/>
                <a:gd name="T11" fmla="*/ 336 h 672"/>
                <a:gd name="T12" fmla="*/ 432 w 1440"/>
                <a:gd name="T13" fmla="*/ 624 h 672"/>
                <a:gd name="T14" fmla="*/ 432 w 1440"/>
                <a:gd name="T15" fmla="*/ 336 h 672"/>
                <a:gd name="T16" fmla="*/ 720 w 1440"/>
                <a:gd name="T17" fmla="*/ 48 h 672"/>
                <a:gd name="T18" fmla="*/ 864 w 1440"/>
                <a:gd name="T19" fmla="*/ 336 h 672"/>
                <a:gd name="T20" fmla="*/ 720 w 1440"/>
                <a:gd name="T21" fmla="*/ 624 h 672"/>
                <a:gd name="T22" fmla="*/ 720 w 1440"/>
                <a:gd name="T23" fmla="*/ 336 h 672"/>
                <a:gd name="T24" fmla="*/ 1008 w 1440"/>
                <a:gd name="T25" fmla="*/ 48 h 672"/>
                <a:gd name="T26" fmla="*/ 1152 w 1440"/>
                <a:gd name="T27" fmla="*/ 336 h 672"/>
                <a:gd name="T28" fmla="*/ 1008 w 1440"/>
                <a:gd name="T29" fmla="*/ 624 h 672"/>
                <a:gd name="T30" fmla="*/ 1008 w 1440"/>
                <a:gd name="T31" fmla="*/ 336 h 672"/>
                <a:gd name="T32" fmla="*/ 1296 w 1440"/>
                <a:gd name="T33" fmla="*/ 48 h 672"/>
                <a:gd name="T34" fmla="*/ 1440 w 1440"/>
                <a:gd name="T35" fmla="*/ 336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40" h="672">
                  <a:moveTo>
                    <a:pt x="0" y="336"/>
                  </a:moveTo>
                  <a:cubicBezTo>
                    <a:pt x="48" y="192"/>
                    <a:pt x="96" y="48"/>
                    <a:pt x="144" y="48"/>
                  </a:cubicBezTo>
                  <a:cubicBezTo>
                    <a:pt x="192" y="48"/>
                    <a:pt x="288" y="240"/>
                    <a:pt x="288" y="336"/>
                  </a:cubicBezTo>
                  <a:cubicBezTo>
                    <a:pt x="288" y="432"/>
                    <a:pt x="144" y="672"/>
                    <a:pt x="144" y="624"/>
                  </a:cubicBezTo>
                  <a:cubicBezTo>
                    <a:pt x="144" y="576"/>
                    <a:pt x="216" y="96"/>
                    <a:pt x="288" y="48"/>
                  </a:cubicBezTo>
                  <a:cubicBezTo>
                    <a:pt x="360" y="0"/>
                    <a:pt x="552" y="240"/>
                    <a:pt x="576" y="336"/>
                  </a:cubicBezTo>
                  <a:cubicBezTo>
                    <a:pt x="600" y="432"/>
                    <a:pt x="456" y="624"/>
                    <a:pt x="432" y="624"/>
                  </a:cubicBezTo>
                  <a:cubicBezTo>
                    <a:pt x="408" y="624"/>
                    <a:pt x="384" y="432"/>
                    <a:pt x="432" y="336"/>
                  </a:cubicBezTo>
                  <a:cubicBezTo>
                    <a:pt x="480" y="240"/>
                    <a:pt x="648" y="48"/>
                    <a:pt x="720" y="48"/>
                  </a:cubicBezTo>
                  <a:cubicBezTo>
                    <a:pt x="792" y="48"/>
                    <a:pt x="864" y="240"/>
                    <a:pt x="864" y="336"/>
                  </a:cubicBezTo>
                  <a:cubicBezTo>
                    <a:pt x="864" y="432"/>
                    <a:pt x="744" y="624"/>
                    <a:pt x="720" y="624"/>
                  </a:cubicBezTo>
                  <a:cubicBezTo>
                    <a:pt x="696" y="624"/>
                    <a:pt x="672" y="432"/>
                    <a:pt x="720" y="336"/>
                  </a:cubicBezTo>
                  <a:cubicBezTo>
                    <a:pt x="768" y="240"/>
                    <a:pt x="936" y="48"/>
                    <a:pt x="1008" y="48"/>
                  </a:cubicBezTo>
                  <a:cubicBezTo>
                    <a:pt x="1080" y="48"/>
                    <a:pt x="1152" y="240"/>
                    <a:pt x="1152" y="336"/>
                  </a:cubicBezTo>
                  <a:cubicBezTo>
                    <a:pt x="1152" y="432"/>
                    <a:pt x="1032" y="624"/>
                    <a:pt x="1008" y="624"/>
                  </a:cubicBezTo>
                  <a:cubicBezTo>
                    <a:pt x="984" y="624"/>
                    <a:pt x="960" y="432"/>
                    <a:pt x="1008" y="336"/>
                  </a:cubicBezTo>
                  <a:cubicBezTo>
                    <a:pt x="1056" y="240"/>
                    <a:pt x="1224" y="48"/>
                    <a:pt x="1296" y="48"/>
                  </a:cubicBezTo>
                  <a:cubicBezTo>
                    <a:pt x="1368" y="48"/>
                    <a:pt x="1404" y="192"/>
                    <a:pt x="1440" y="33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 rot="5400000">
              <a:off x="8352" y="2736"/>
              <a:ext cx="456" cy="168"/>
            </a:xfrm>
            <a:custGeom>
              <a:avLst/>
              <a:gdLst>
                <a:gd name="T0" fmla="*/ 0 w 1440"/>
                <a:gd name="T1" fmla="*/ 336 h 672"/>
                <a:gd name="T2" fmla="*/ 144 w 1440"/>
                <a:gd name="T3" fmla="*/ 48 h 672"/>
                <a:gd name="T4" fmla="*/ 288 w 1440"/>
                <a:gd name="T5" fmla="*/ 336 h 672"/>
                <a:gd name="T6" fmla="*/ 144 w 1440"/>
                <a:gd name="T7" fmla="*/ 624 h 672"/>
                <a:gd name="T8" fmla="*/ 288 w 1440"/>
                <a:gd name="T9" fmla="*/ 48 h 672"/>
                <a:gd name="T10" fmla="*/ 576 w 1440"/>
                <a:gd name="T11" fmla="*/ 336 h 672"/>
                <a:gd name="T12" fmla="*/ 432 w 1440"/>
                <a:gd name="T13" fmla="*/ 624 h 672"/>
                <a:gd name="T14" fmla="*/ 432 w 1440"/>
                <a:gd name="T15" fmla="*/ 336 h 672"/>
                <a:gd name="T16" fmla="*/ 720 w 1440"/>
                <a:gd name="T17" fmla="*/ 48 h 672"/>
                <a:gd name="T18" fmla="*/ 864 w 1440"/>
                <a:gd name="T19" fmla="*/ 336 h 672"/>
                <a:gd name="T20" fmla="*/ 720 w 1440"/>
                <a:gd name="T21" fmla="*/ 624 h 672"/>
                <a:gd name="T22" fmla="*/ 720 w 1440"/>
                <a:gd name="T23" fmla="*/ 336 h 672"/>
                <a:gd name="T24" fmla="*/ 1008 w 1440"/>
                <a:gd name="T25" fmla="*/ 48 h 672"/>
                <a:gd name="T26" fmla="*/ 1152 w 1440"/>
                <a:gd name="T27" fmla="*/ 336 h 672"/>
                <a:gd name="T28" fmla="*/ 1008 w 1440"/>
                <a:gd name="T29" fmla="*/ 624 h 672"/>
                <a:gd name="T30" fmla="*/ 1008 w 1440"/>
                <a:gd name="T31" fmla="*/ 336 h 672"/>
                <a:gd name="T32" fmla="*/ 1296 w 1440"/>
                <a:gd name="T33" fmla="*/ 48 h 672"/>
                <a:gd name="T34" fmla="*/ 1440 w 1440"/>
                <a:gd name="T35" fmla="*/ 336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40" h="672">
                  <a:moveTo>
                    <a:pt x="0" y="336"/>
                  </a:moveTo>
                  <a:cubicBezTo>
                    <a:pt x="48" y="192"/>
                    <a:pt x="96" y="48"/>
                    <a:pt x="144" y="48"/>
                  </a:cubicBezTo>
                  <a:cubicBezTo>
                    <a:pt x="192" y="48"/>
                    <a:pt x="288" y="240"/>
                    <a:pt x="288" y="336"/>
                  </a:cubicBezTo>
                  <a:cubicBezTo>
                    <a:pt x="288" y="432"/>
                    <a:pt x="144" y="672"/>
                    <a:pt x="144" y="624"/>
                  </a:cubicBezTo>
                  <a:cubicBezTo>
                    <a:pt x="144" y="576"/>
                    <a:pt x="216" y="96"/>
                    <a:pt x="288" y="48"/>
                  </a:cubicBezTo>
                  <a:cubicBezTo>
                    <a:pt x="360" y="0"/>
                    <a:pt x="552" y="240"/>
                    <a:pt x="576" y="336"/>
                  </a:cubicBezTo>
                  <a:cubicBezTo>
                    <a:pt x="600" y="432"/>
                    <a:pt x="456" y="624"/>
                    <a:pt x="432" y="624"/>
                  </a:cubicBezTo>
                  <a:cubicBezTo>
                    <a:pt x="408" y="624"/>
                    <a:pt x="384" y="432"/>
                    <a:pt x="432" y="336"/>
                  </a:cubicBezTo>
                  <a:cubicBezTo>
                    <a:pt x="480" y="240"/>
                    <a:pt x="648" y="48"/>
                    <a:pt x="720" y="48"/>
                  </a:cubicBezTo>
                  <a:cubicBezTo>
                    <a:pt x="792" y="48"/>
                    <a:pt x="864" y="240"/>
                    <a:pt x="864" y="336"/>
                  </a:cubicBezTo>
                  <a:cubicBezTo>
                    <a:pt x="864" y="432"/>
                    <a:pt x="744" y="624"/>
                    <a:pt x="720" y="624"/>
                  </a:cubicBezTo>
                  <a:cubicBezTo>
                    <a:pt x="696" y="624"/>
                    <a:pt x="672" y="432"/>
                    <a:pt x="720" y="336"/>
                  </a:cubicBezTo>
                  <a:cubicBezTo>
                    <a:pt x="768" y="240"/>
                    <a:pt x="936" y="48"/>
                    <a:pt x="1008" y="48"/>
                  </a:cubicBezTo>
                  <a:cubicBezTo>
                    <a:pt x="1080" y="48"/>
                    <a:pt x="1152" y="240"/>
                    <a:pt x="1152" y="336"/>
                  </a:cubicBezTo>
                  <a:cubicBezTo>
                    <a:pt x="1152" y="432"/>
                    <a:pt x="1032" y="624"/>
                    <a:pt x="1008" y="624"/>
                  </a:cubicBezTo>
                  <a:cubicBezTo>
                    <a:pt x="984" y="624"/>
                    <a:pt x="960" y="432"/>
                    <a:pt x="1008" y="336"/>
                  </a:cubicBezTo>
                  <a:cubicBezTo>
                    <a:pt x="1056" y="240"/>
                    <a:pt x="1224" y="48"/>
                    <a:pt x="1296" y="48"/>
                  </a:cubicBezTo>
                  <a:cubicBezTo>
                    <a:pt x="1368" y="48"/>
                    <a:pt x="1404" y="192"/>
                    <a:pt x="1440" y="336"/>
                  </a:cubicBez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8589" y="2304"/>
              <a:ext cx="1347" cy="288"/>
            </a:xfrm>
            <a:custGeom>
              <a:avLst/>
              <a:gdLst>
                <a:gd name="T0" fmla="*/ 0 w 1008"/>
                <a:gd name="T1" fmla="*/ 432 h 432"/>
                <a:gd name="T2" fmla="*/ 0 w 1008"/>
                <a:gd name="T3" fmla="*/ 0 h 432"/>
                <a:gd name="T4" fmla="*/ 1008 w 1008"/>
                <a:gd name="T5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432">
                  <a:moveTo>
                    <a:pt x="0" y="432"/>
                  </a:moveTo>
                  <a:lnTo>
                    <a:pt x="0" y="0"/>
                  </a:lnTo>
                  <a:lnTo>
                    <a:pt x="1008" y="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auto">
            <a:xfrm>
              <a:off x="8589" y="3024"/>
              <a:ext cx="1347" cy="735"/>
            </a:xfrm>
            <a:custGeom>
              <a:avLst/>
              <a:gdLst>
                <a:gd name="T0" fmla="*/ 0 w 1008"/>
                <a:gd name="T1" fmla="*/ 0 h 432"/>
                <a:gd name="T2" fmla="*/ 0 w 1008"/>
                <a:gd name="T3" fmla="*/ 432 h 432"/>
                <a:gd name="T4" fmla="*/ 1008 w 1008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08" h="432">
                  <a:moveTo>
                    <a:pt x="0" y="0"/>
                  </a:moveTo>
                  <a:lnTo>
                    <a:pt x="0" y="432"/>
                  </a:lnTo>
                  <a:lnTo>
                    <a:pt x="1008" y="432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3" name="Arc 42"/>
            <p:cNvSpPr>
              <a:spLocks/>
            </p:cNvSpPr>
            <p:nvPr/>
          </p:nvSpPr>
          <p:spPr bwMode="auto">
            <a:xfrm rot="14150023" flipV="1">
              <a:off x="7975" y="2232"/>
              <a:ext cx="432" cy="5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4" name="Text Box 43"/>
            <p:cNvSpPr txBox="1">
              <a:spLocks noChangeArrowheads="1"/>
            </p:cNvSpPr>
            <p:nvPr/>
          </p:nvSpPr>
          <p:spPr bwMode="auto">
            <a:xfrm>
              <a:off x="8005" y="20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b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sM</a:t>
              </a:r>
              <a:endParaRPr lang="en-US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5" name="Oval 164"/>
            <p:cNvSpPr>
              <a:spLocks noChangeArrowheads="1"/>
            </p:cNvSpPr>
            <p:nvPr/>
          </p:nvSpPr>
          <p:spPr bwMode="auto">
            <a:xfrm>
              <a:off x="7573" y="2592"/>
              <a:ext cx="72" cy="7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6" name="Oval 165"/>
            <p:cNvSpPr>
              <a:spLocks noChangeArrowheads="1"/>
            </p:cNvSpPr>
            <p:nvPr/>
          </p:nvSpPr>
          <p:spPr bwMode="auto">
            <a:xfrm>
              <a:off x="8725" y="2592"/>
              <a:ext cx="72" cy="7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67" name="Text Box 47"/>
            <p:cNvSpPr txBox="1">
              <a:spLocks noChangeArrowheads="1"/>
            </p:cNvSpPr>
            <p:nvPr/>
          </p:nvSpPr>
          <p:spPr bwMode="auto">
            <a:xfrm>
              <a:off x="7316" y="2791"/>
              <a:ext cx="401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sL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US" b="1" i="1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68" name="Text Box 48"/>
            <p:cNvSpPr txBox="1">
              <a:spLocks noChangeArrowheads="1"/>
            </p:cNvSpPr>
            <p:nvPr/>
          </p:nvSpPr>
          <p:spPr bwMode="auto">
            <a:xfrm>
              <a:off x="8725" y="2801"/>
              <a:ext cx="464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sL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US" b="1" i="1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169" name="Group 168"/>
            <p:cNvGrpSpPr>
              <a:grpSpLocks/>
            </p:cNvGrpSpPr>
            <p:nvPr/>
          </p:nvGrpSpPr>
          <p:grpSpPr bwMode="auto">
            <a:xfrm>
              <a:off x="6234" y="2260"/>
              <a:ext cx="144" cy="144"/>
              <a:chOff x="10368" y="7704"/>
              <a:chExt cx="144" cy="144"/>
            </a:xfrm>
          </p:grpSpPr>
          <p:cxnSp>
            <p:nvCxnSpPr>
              <p:cNvPr id="207" name="Line 50"/>
              <p:cNvCxnSpPr>
                <a:cxnSpLocks noChangeShapeType="1"/>
              </p:cNvCxnSpPr>
              <p:nvPr/>
            </p:nvCxnSpPr>
            <p:spPr bwMode="auto">
              <a:xfrm>
                <a:off x="10368" y="7776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8" name="Line 51"/>
              <p:cNvCxnSpPr>
                <a:cxnSpLocks noChangeShapeType="1"/>
              </p:cNvCxnSpPr>
              <p:nvPr/>
            </p:nvCxnSpPr>
            <p:spPr bwMode="auto">
              <a:xfrm>
                <a:off x="10440" y="77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70" name="Line 52"/>
            <p:cNvCxnSpPr>
              <a:cxnSpLocks noChangeShapeType="1"/>
            </p:cNvCxnSpPr>
            <p:nvPr/>
          </p:nvCxnSpPr>
          <p:spPr bwMode="auto">
            <a:xfrm>
              <a:off x="6217" y="3759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1" name="Group 170"/>
            <p:cNvGrpSpPr>
              <a:grpSpLocks/>
            </p:cNvGrpSpPr>
            <p:nvPr/>
          </p:nvGrpSpPr>
          <p:grpSpPr bwMode="auto">
            <a:xfrm>
              <a:off x="10029" y="2234"/>
              <a:ext cx="144" cy="144"/>
              <a:chOff x="10368" y="7704"/>
              <a:chExt cx="144" cy="144"/>
            </a:xfrm>
          </p:grpSpPr>
          <p:cxnSp>
            <p:nvCxnSpPr>
              <p:cNvPr id="205" name="Line 54"/>
              <p:cNvCxnSpPr>
                <a:cxnSpLocks noChangeShapeType="1"/>
              </p:cNvCxnSpPr>
              <p:nvPr/>
            </p:nvCxnSpPr>
            <p:spPr bwMode="auto">
              <a:xfrm>
                <a:off x="10368" y="7776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6" name="Line 55"/>
              <p:cNvCxnSpPr>
                <a:cxnSpLocks noChangeShapeType="1"/>
              </p:cNvCxnSpPr>
              <p:nvPr/>
            </p:nvCxnSpPr>
            <p:spPr bwMode="auto">
              <a:xfrm>
                <a:off x="10440" y="77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72" name="Line 56"/>
            <p:cNvCxnSpPr>
              <a:cxnSpLocks noChangeShapeType="1"/>
            </p:cNvCxnSpPr>
            <p:nvPr/>
          </p:nvCxnSpPr>
          <p:spPr bwMode="auto">
            <a:xfrm>
              <a:off x="10012" y="3759"/>
              <a:ext cx="14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73" name="Group 172"/>
            <p:cNvGrpSpPr>
              <a:grpSpLocks/>
            </p:cNvGrpSpPr>
            <p:nvPr/>
          </p:nvGrpSpPr>
          <p:grpSpPr bwMode="auto">
            <a:xfrm rot="10800000">
              <a:off x="7598" y="3193"/>
              <a:ext cx="360" cy="360"/>
              <a:chOff x="5115" y="9171"/>
              <a:chExt cx="432" cy="432"/>
            </a:xfrm>
          </p:grpSpPr>
          <p:sp>
            <p:nvSpPr>
              <p:cNvPr id="200" name="Oval 199"/>
              <p:cNvSpPr>
                <a:spLocks noChangeArrowheads="1"/>
              </p:cNvSpPr>
              <p:nvPr/>
            </p:nvSpPr>
            <p:spPr bwMode="auto">
              <a:xfrm>
                <a:off x="5115" y="9171"/>
                <a:ext cx="432" cy="4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201" name="Group 200"/>
              <p:cNvGrpSpPr>
                <a:grpSpLocks/>
              </p:cNvGrpSpPr>
              <p:nvPr/>
            </p:nvGrpSpPr>
            <p:grpSpPr bwMode="auto">
              <a:xfrm>
                <a:off x="5268" y="9231"/>
                <a:ext cx="144" cy="144"/>
                <a:chOff x="2592" y="8997"/>
                <a:chExt cx="144" cy="144"/>
              </a:xfrm>
            </p:grpSpPr>
            <p:cxnSp>
              <p:nvCxnSpPr>
                <p:cNvPr id="203" name="Line 60"/>
                <p:cNvCxnSpPr>
                  <a:cxnSpLocks noChangeShapeType="1"/>
                </p:cNvCxnSpPr>
                <p:nvPr/>
              </p:nvCxnSpPr>
              <p:spPr bwMode="auto">
                <a:xfrm>
                  <a:off x="2592" y="905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204" name="Line 61"/>
                <p:cNvCxnSpPr>
                  <a:cxnSpLocks noChangeShapeType="1"/>
                </p:cNvCxnSpPr>
                <p:nvPr/>
              </p:nvCxnSpPr>
              <p:spPr bwMode="auto">
                <a:xfrm>
                  <a:off x="2652" y="899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202" name="Line 62"/>
              <p:cNvCxnSpPr>
                <a:cxnSpLocks noChangeShapeType="1"/>
              </p:cNvCxnSpPr>
              <p:nvPr/>
            </p:nvCxnSpPr>
            <p:spPr bwMode="auto">
              <a:xfrm>
                <a:off x="5268" y="947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4" name="Group 173"/>
            <p:cNvGrpSpPr>
              <a:grpSpLocks/>
            </p:cNvGrpSpPr>
            <p:nvPr/>
          </p:nvGrpSpPr>
          <p:grpSpPr bwMode="auto">
            <a:xfrm rot="10800000">
              <a:off x="8403" y="3185"/>
              <a:ext cx="360" cy="360"/>
              <a:chOff x="5115" y="9171"/>
              <a:chExt cx="432" cy="432"/>
            </a:xfrm>
          </p:grpSpPr>
          <p:sp>
            <p:nvSpPr>
              <p:cNvPr id="195" name="Oval 194"/>
              <p:cNvSpPr>
                <a:spLocks noChangeArrowheads="1"/>
              </p:cNvSpPr>
              <p:nvPr/>
            </p:nvSpPr>
            <p:spPr bwMode="auto">
              <a:xfrm>
                <a:off x="5115" y="9171"/>
                <a:ext cx="432" cy="4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196" name="Group 195"/>
              <p:cNvGrpSpPr>
                <a:grpSpLocks/>
              </p:cNvGrpSpPr>
              <p:nvPr/>
            </p:nvGrpSpPr>
            <p:grpSpPr bwMode="auto">
              <a:xfrm>
                <a:off x="5268" y="9231"/>
                <a:ext cx="144" cy="144"/>
                <a:chOff x="2592" y="8997"/>
                <a:chExt cx="144" cy="144"/>
              </a:xfrm>
            </p:grpSpPr>
            <p:cxnSp>
              <p:nvCxnSpPr>
                <p:cNvPr id="198" name="Line 66"/>
                <p:cNvCxnSpPr>
                  <a:cxnSpLocks noChangeShapeType="1"/>
                </p:cNvCxnSpPr>
                <p:nvPr/>
              </p:nvCxnSpPr>
              <p:spPr bwMode="auto">
                <a:xfrm>
                  <a:off x="2592" y="905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9" name="Line 67"/>
                <p:cNvCxnSpPr>
                  <a:cxnSpLocks noChangeShapeType="1"/>
                </p:cNvCxnSpPr>
                <p:nvPr/>
              </p:nvCxnSpPr>
              <p:spPr bwMode="auto">
                <a:xfrm>
                  <a:off x="2652" y="899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97" name="Line 68"/>
              <p:cNvCxnSpPr>
                <a:cxnSpLocks noChangeShapeType="1"/>
              </p:cNvCxnSpPr>
              <p:nvPr/>
            </p:nvCxnSpPr>
            <p:spPr bwMode="auto">
              <a:xfrm>
                <a:off x="5268" y="947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5" name="Group 174"/>
            <p:cNvGrpSpPr>
              <a:grpSpLocks/>
            </p:cNvGrpSpPr>
            <p:nvPr/>
          </p:nvGrpSpPr>
          <p:grpSpPr bwMode="auto">
            <a:xfrm rot="5400000">
              <a:off x="7056" y="2143"/>
              <a:ext cx="360" cy="360"/>
              <a:chOff x="5115" y="9171"/>
              <a:chExt cx="432" cy="432"/>
            </a:xfrm>
          </p:grpSpPr>
          <p:sp>
            <p:nvSpPr>
              <p:cNvPr id="190" name="Oval 189"/>
              <p:cNvSpPr>
                <a:spLocks noChangeArrowheads="1"/>
              </p:cNvSpPr>
              <p:nvPr/>
            </p:nvSpPr>
            <p:spPr bwMode="auto">
              <a:xfrm>
                <a:off x="5115" y="9171"/>
                <a:ext cx="432" cy="4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191" name="Group 190"/>
              <p:cNvGrpSpPr>
                <a:grpSpLocks/>
              </p:cNvGrpSpPr>
              <p:nvPr/>
            </p:nvGrpSpPr>
            <p:grpSpPr bwMode="auto">
              <a:xfrm>
                <a:off x="5268" y="9231"/>
                <a:ext cx="144" cy="144"/>
                <a:chOff x="2592" y="8997"/>
                <a:chExt cx="144" cy="144"/>
              </a:xfrm>
            </p:grpSpPr>
            <p:cxnSp>
              <p:nvCxnSpPr>
                <p:cNvPr id="193" name="Line 72"/>
                <p:cNvCxnSpPr>
                  <a:cxnSpLocks noChangeShapeType="1"/>
                </p:cNvCxnSpPr>
                <p:nvPr/>
              </p:nvCxnSpPr>
              <p:spPr bwMode="auto">
                <a:xfrm>
                  <a:off x="2592" y="905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94" name="Line 73"/>
                <p:cNvCxnSpPr>
                  <a:cxnSpLocks noChangeShapeType="1"/>
                </p:cNvCxnSpPr>
                <p:nvPr/>
              </p:nvCxnSpPr>
              <p:spPr bwMode="auto">
                <a:xfrm>
                  <a:off x="2652" y="899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92" name="Line 74"/>
              <p:cNvCxnSpPr>
                <a:cxnSpLocks noChangeShapeType="1"/>
              </p:cNvCxnSpPr>
              <p:nvPr/>
            </p:nvCxnSpPr>
            <p:spPr bwMode="auto">
              <a:xfrm>
                <a:off x="5268" y="947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76" name="Group 175"/>
            <p:cNvGrpSpPr>
              <a:grpSpLocks/>
            </p:cNvGrpSpPr>
            <p:nvPr/>
          </p:nvGrpSpPr>
          <p:grpSpPr bwMode="auto">
            <a:xfrm rot="16200000">
              <a:off x="8928" y="2126"/>
              <a:ext cx="360" cy="360"/>
              <a:chOff x="5115" y="9171"/>
              <a:chExt cx="432" cy="432"/>
            </a:xfrm>
          </p:grpSpPr>
          <p:sp>
            <p:nvSpPr>
              <p:cNvPr id="185" name="Oval 184"/>
              <p:cNvSpPr>
                <a:spLocks noChangeArrowheads="1"/>
              </p:cNvSpPr>
              <p:nvPr/>
            </p:nvSpPr>
            <p:spPr bwMode="auto">
              <a:xfrm>
                <a:off x="5115" y="9171"/>
                <a:ext cx="432" cy="4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grpSp>
            <p:nvGrpSpPr>
              <p:cNvPr id="186" name="Group 185"/>
              <p:cNvGrpSpPr>
                <a:grpSpLocks/>
              </p:cNvGrpSpPr>
              <p:nvPr/>
            </p:nvGrpSpPr>
            <p:grpSpPr bwMode="auto">
              <a:xfrm>
                <a:off x="5268" y="9231"/>
                <a:ext cx="144" cy="144"/>
                <a:chOff x="2592" y="8997"/>
                <a:chExt cx="144" cy="144"/>
              </a:xfrm>
            </p:grpSpPr>
            <p:cxnSp>
              <p:nvCxnSpPr>
                <p:cNvPr id="188" name="Line 78"/>
                <p:cNvCxnSpPr>
                  <a:cxnSpLocks noChangeShapeType="1"/>
                </p:cNvCxnSpPr>
                <p:nvPr/>
              </p:nvCxnSpPr>
              <p:spPr bwMode="auto">
                <a:xfrm>
                  <a:off x="2592" y="905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89" name="Line 79"/>
                <p:cNvCxnSpPr>
                  <a:cxnSpLocks noChangeShapeType="1"/>
                </p:cNvCxnSpPr>
                <p:nvPr/>
              </p:nvCxnSpPr>
              <p:spPr bwMode="auto">
                <a:xfrm>
                  <a:off x="2652" y="899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87" name="Line 80"/>
              <p:cNvCxnSpPr>
                <a:cxnSpLocks noChangeShapeType="1"/>
              </p:cNvCxnSpPr>
              <p:nvPr/>
            </p:nvCxnSpPr>
            <p:spPr bwMode="auto">
              <a:xfrm>
                <a:off x="5268" y="947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77" name="Text Box 81"/>
            <p:cNvSpPr txBox="1">
              <a:spLocks noChangeArrowheads="1"/>
            </p:cNvSpPr>
            <p:nvPr/>
          </p:nvSpPr>
          <p:spPr bwMode="auto">
            <a:xfrm>
              <a:off x="6880" y="2493"/>
              <a:ext cx="719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(0)</a:t>
              </a:r>
              <a:endParaRPr lang="en-US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8" name="Text Box 82"/>
            <p:cNvSpPr txBox="1">
              <a:spLocks noChangeArrowheads="1"/>
            </p:cNvSpPr>
            <p:nvPr/>
          </p:nvSpPr>
          <p:spPr bwMode="auto">
            <a:xfrm>
              <a:off x="8843" y="2524"/>
              <a:ext cx="807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(0)</a:t>
              </a:r>
              <a:endParaRPr lang="en-US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79" name="Text Box 83"/>
            <p:cNvSpPr txBox="1">
              <a:spLocks noChangeArrowheads="1"/>
            </p:cNvSpPr>
            <p:nvPr/>
          </p:nvSpPr>
          <p:spPr bwMode="auto">
            <a:xfrm>
              <a:off x="9733" y="2825"/>
              <a:ext cx="576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Text Box 84"/>
            <p:cNvSpPr txBox="1">
              <a:spLocks noChangeArrowheads="1"/>
            </p:cNvSpPr>
            <p:nvPr/>
          </p:nvSpPr>
          <p:spPr bwMode="auto">
            <a:xfrm>
              <a:off x="8843" y="3261"/>
              <a:ext cx="73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Mi</a:t>
              </a:r>
              <a:r>
                <a:rPr lang="en-US" b="0" i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r>
                <a:rPr lang="en-US" b="0" i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(0)</a:t>
              </a:r>
              <a:endParaRPr lang="en-US" b="1" i="1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81" name="Line 85"/>
            <p:cNvCxnSpPr>
              <a:cxnSpLocks noChangeShapeType="1"/>
            </p:cNvCxnSpPr>
            <p:nvPr/>
          </p:nvCxnSpPr>
          <p:spPr bwMode="auto">
            <a:xfrm>
              <a:off x="6502" y="2250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2" name="Line 86"/>
            <p:cNvCxnSpPr>
              <a:cxnSpLocks noChangeShapeType="1"/>
            </p:cNvCxnSpPr>
            <p:nvPr/>
          </p:nvCxnSpPr>
          <p:spPr bwMode="auto">
            <a:xfrm flipH="1">
              <a:off x="9435" y="2250"/>
              <a:ext cx="4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83" name="Text Box 87"/>
            <p:cNvSpPr txBox="1">
              <a:spLocks noChangeArrowheads="1"/>
            </p:cNvSpPr>
            <p:nvPr/>
          </p:nvSpPr>
          <p:spPr bwMode="auto">
            <a:xfrm>
              <a:off x="6522" y="1914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Text Box 88"/>
            <p:cNvSpPr txBox="1">
              <a:spLocks noChangeArrowheads="1"/>
            </p:cNvSpPr>
            <p:nvPr/>
          </p:nvSpPr>
          <p:spPr bwMode="auto">
            <a:xfrm>
              <a:off x="9453" y="1917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r>
                <a:rPr lang="en-US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  <a:endParaRPr lang="en-US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589958"/>
              </p:ext>
            </p:extLst>
          </p:nvPr>
        </p:nvGraphicFramePr>
        <p:xfrm>
          <a:off x="542144" y="4950047"/>
          <a:ext cx="3191656" cy="1450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229" imgH="812447" progId="Equation.DSMT4">
                  <p:embed/>
                </p:oleObj>
              </mc:Choice>
              <mc:Fallback>
                <p:oleObj name="Equation" r:id="rId3" imgW="1777229" imgH="81244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44" y="4950047"/>
                        <a:ext cx="3191656" cy="14507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/>
          <p:cNvGrpSpPr/>
          <p:nvPr/>
        </p:nvGrpSpPr>
        <p:grpSpPr>
          <a:xfrm>
            <a:off x="3886200" y="5144710"/>
            <a:ext cx="4956175" cy="1056373"/>
            <a:chOff x="3886200" y="2624020"/>
            <a:chExt cx="4876800" cy="1056373"/>
          </a:xfrm>
        </p:grpSpPr>
        <p:graphicFrame>
          <p:nvGraphicFramePr>
            <p:cNvPr id="20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9259688"/>
                </p:ext>
              </p:extLst>
            </p:nvPr>
          </p:nvGraphicFramePr>
          <p:xfrm>
            <a:off x="4404550" y="2624020"/>
            <a:ext cx="4358448" cy="406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869920" imgH="228600" progId="Equation.DSMT4">
                    <p:embed/>
                  </p:oleObj>
                </mc:Choice>
                <mc:Fallback>
                  <p:oleObj name="Equation" r:id="rId5" imgW="286992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4550" y="2624020"/>
                          <a:ext cx="4358448" cy="40631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" name="Object 2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8524289"/>
                </p:ext>
              </p:extLst>
            </p:nvPr>
          </p:nvGraphicFramePr>
          <p:xfrm>
            <a:off x="4389308" y="3276600"/>
            <a:ext cx="4373692" cy="403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2933640" imgH="228600" progId="Equation.DSMT4">
                    <p:embed/>
                  </p:oleObj>
                </mc:Choice>
                <mc:Fallback>
                  <p:oleObj name="Equation" r:id="rId7" imgW="2933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9308" y="3276600"/>
                          <a:ext cx="4373692" cy="40379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ight Arrow 20"/>
            <p:cNvSpPr/>
            <p:nvPr/>
          </p:nvSpPr>
          <p:spPr>
            <a:xfrm>
              <a:off x="3886200" y="2700220"/>
              <a:ext cx="353647" cy="27158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ight Arrow 235"/>
            <p:cNvSpPr/>
            <p:nvPr/>
          </p:nvSpPr>
          <p:spPr>
            <a:xfrm>
              <a:off x="3886200" y="3352800"/>
              <a:ext cx="353647" cy="27158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Rectangle 3"/>
          <p:cNvSpPr txBox="1">
            <a:spLocks noChangeArrowheads="1"/>
          </p:cNvSpPr>
          <p:nvPr/>
        </p:nvSpPr>
        <p:spPr>
          <a:xfrm>
            <a:off x="533400" y="304800"/>
            <a:ext cx="29718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Phần tử cuộn dây</a:t>
            </a:r>
          </a:p>
        </p:txBody>
      </p:sp>
      <p:graphicFrame>
        <p:nvGraphicFramePr>
          <p:cNvPr id="129" name="Object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090165"/>
              </p:ext>
            </p:extLst>
          </p:nvPr>
        </p:nvGraphicFramePr>
        <p:xfrm>
          <a:off x="861613" y="1981200"/>
          <a:ext cx="7556501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835080" imgH="393480" progId="Equation.DSMT4">
                  <p:embed/>
                </p:oleObj>
              </mc:Choice>
              <mc:Fallback>
                <p:oleObj name="Equation" r:id="rId9" imgW="3835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13" y="1981200"/>
                        <a:ext cx="7556501" cy="782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Right Arrow 129"/>
          <p:cNvSpPr/>
          <p:nvPr/>
        </p:nvSpPr>
        <p:spPr>
          <a:xfrm>
            <a:off x="2743200" y="1219200"/>
            <a:ext cx="1219200" cy="20896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ounded Rectangular Callout 139"/>
          <p:cNvSpPr/>
          <p:nvPr/>
        </p:nvSpPr>
        <p:spPr>
          <a:xfrm>
            <a:off x="6705600" y="627600"/>
            <a:ext cx="1941652" cy="1048800"/>
          </a:xfrm>
          <a:prstGeom prst="wedgeRoundRectCallout">
            <a:avLst>
              <a:gd name="adj1" fmla="val -76004"/>
              <a:gd name="adj2" fmla="val -15659"/>
              <a:gd name="adj3" fmla="val 1666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 đồ tương đương L dạng toán tử</a:t>
            </a:r>
          </a:p>
        </p:txBody>
      </p:sp>
      <p:grpSp>
        <p:nvGrpSpPr>
          <p:cNvPr id="146" name="Group 145"/>
          <p:cNvGrpSpPr/>
          <p:nvPr/>
        </p:nvGrpSpPr>
        <p:grpSpPr>
          <a:xfrm>
            <a:off x="712204" y="762000"/>
            <a:ext cx="1802396" cy="1132424"/>
            <a:chOff x="712204" y="4046538"/>
            <a:chExt cx="1802396" cy="1132424"/>
          </a:xfrm>
        </p:grpSpPr>
        <p:sp>
          <p:nvSpPr>
            <p:cNvPr id="150" name="Text Box 117"/>
            <p:cNvSpPr txBox="1">
              <a:spLocks noChangeArrowheads="1"/>
            </p:cNvSpPr>
            <p:nvPr/>
          </p:nvSpPr>
          <p:spPr bwMode="auto">
            <a:xfrm>
              <a:off x="2011800" y="4046538"/>
              <a:ext cx="217692" cy="1132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Text Box 117"/>
            <p:cNvSpPr txBox="1">
              <a:spLocks noChangeArrowheads="1"/>
            </p:cNvSpPr>
            <p:nvPr/>
          </p:nvSpPr>
          <p:spPr bwMode="auto">
            <a:xfrm>
              <a:off x="712204" y="4485966"/>
              <a:ext cx="298819" cy="2720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Freeform 151"/>
            <p:cNvSpPr/>
            <p:nvPr/>
          </p:nvSpPr>
          <p:spPr>
            <a:xfrm>
              <a:off x="1099457" y="4107864"/>
              <a:ext cx="881743" cy="206067"/>
            </a:xfrm>
            <a:custGeom>
              <a:avLst/>
              <a:gdLst>
                <a:gd name="connsiteX0" fmla="*/ 0 w 617517"/>
                <a:gd name="connsiteY0" fmla="*/ 344384 h 344384"/>
                <a:gd name="connsiteX1" fmla="*/ 0 w 617517"/>
                <a:gd name="connsiteY1" fmla="*/ 0 h 344384"/>
                <a:gd name="connsiteX2" fmla="*/ 617517 w 617517"/>
                <a:gd name="connsiteY2" fmla="*/ 0 h 34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7517" h="344384">
                  <a:moveTo>
                    <a:pt x="0" y="344384"/>
                  </a:moveTo>
                  <a:lnTo>
                    <a:pt x="0" y="0"/>
                  </a:lnTo>
                  <a:lnTo>
                    <a:pt x="617517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Freeform 152"/>
            <p:cNvSpPr/>
            <p:nvPr/>
          </p:nvSpPr>
          <p:spPr>
            <a:xfrm>
              <a:off x="1111333" y="4911570"/>
              <a:ext cx="869867" cy="164361"/>
            </a:xfrm>
            <a:custGeom>
              <a:avLst/>
              <a:gdLst>
                <a:gd name="connsiteX0" fmla="*/ 0 w 653143"/>
                <a:gd name="connsiteY0" fmla="*/ 0 h 415636"/>
                <a:gd name="connsiteX1" fmla="*/ 0 w 653143"/>
                <a:gd name="connsiteY1" fmla="*/ 415636 h 415636"/>
                <a:gd name="connsiteX2" fmla="*/ 653143 w 653143"/>
                <a:gd name="connsiteY2" fmla="*/ 415636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3143" h="415636">
                  <a:moveTo>
                    <a:pt x="0" y="0"/>
                  </a:moveTo>
                  <a:lnTo>
                    <a:pt x="0" y="415636"/>
                  </a:lnTo>
                  <a:lnTo>
                    <a:pt x="653143" y="415636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Text Box 117"/>
            <p:cNvSpPr txBox="1">
              <a:spLocks noChangeArrowheads="1"/>
            </p:cNvSpPr>
            <p:nvPr/>
          </p:nvSpPr>
          <p:spPr bwMode="auto">
            <a:xfrm>
              <a:off x="1962196" y="4373683"/>
              <a:ext cx="552404" cy="32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(t)</a:t>
              </a:r>
            </a:p>
          </p:txBody>
        </p:sp>
        <p:cxnSp>
          <p:nvCxnSpPr>
            <p:cNvPr id="155" name="Straight Arrow Connector 154"/>
            <p:cNvCxnSpPr/>
            <p:nvPr/>
          </p:nvCxnSpPr>
          <p:spPr>
            <a:xfrm flipH="1">
              <a:off x="1371600" y="4104131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 Box 117"/>
            <p:cNvSpPr txBox="1">
              <a:spLocks noChangeArrowheads="1"/>
            </p:cNvSpPr>
            <p:nvPr/>
          </p:nvSpPr>
          <p:spPr bwMode="auto">
            <a:xfrm>
              <a:off x="1336964" y="4226231"/>
              <a:ext cx="552404" cy="30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(t)</a:t>
              </a:r>
            </a:p>
          </p:txBody>
        </p:sp>
        <p:grpSp>
          <p:nvGrpSpPr>
            <p:cNvPr id="238" name="Group 29"/>
            <p:cNvGrpSpPr>
              <a:grpSpLocks/>
            </p:cNvGrpSpPr>
            <p:nvPr/>
          </p:nvGrpSpPr>
          <p:grpSpPr bwMode="auto">
            <a:xfrm rot="5400000">
              <a:off x="815996" y="4524930"/>
              <a:ext cx="651291" cy="135832"/>
              <a:chOff x="2448" y="1728"/>
              <a:chExt cx="571" cy="143"/>
            </a:xfrm>
          </p:grpSpPr>
          <p:sp>
            <p:nvSpPr>
              <p:cNvPr id="239" name="Freeform 30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31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32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33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Line 34"/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Line 35"/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45" name="Group 244"/>
          <p:cNvGrpSpPr/>
          <p:nvPr/>
        </p:nvGrpSpPr>
        <p:grpSpPr>
          <a:xfrm>
            <a:off x="4171996" y="228600"/>
            <a:ext cx="2086910" cy="1675133"/>
            <a:chOff x="4171996" y="3429000"/>
            <a:chExt cx="2086910" cy="1675133"/>
          </a:xfrm>
        </p:grpSpPr>
        <p:sp>
          <p:nvSpPr>
            <p:cNvPr id="246" name="Text Box 117"/>
            <p:cNvSpPr txBox="1">
              <a:spLocks noChangeArrowheads="1"/>
            </p:cNvSpPr>
            <p:nvPr/>
          </p:nvSpPr>
          <p:spPr bwMode="auto">
            <a:xfrm rot="10800000">
              <a:off x="4465008" y="3429000"/>
              <a:ext cx="552404" cy="30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</a:p>
          </p:txBody>
        </p:sp>
        <p:sp>
          <p:nvSpPr>
            <p:cNvPr id="247" name="Text Box 117"/>
            <p:cNvSpPr txBox="1">
              <a:spLocks noChangeArrowheads="1"/>
            </p:cNvSpPr>
            <p:nvPr/>
          </p:nvSpPr>
          <p:spPr bwMode="auto">
            <a:xfrm rot="10800000">
              <a:off x="4192867" y="3662176"/>
              <a:ext cx="222537" cy="14320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Text Box 117"/>
            <p:cNvSpPr txBox="1">
              <a:spLocks noChangeArrowheads="1"/>
            </p:cNvSpPr>
            <p:nvPr/>
          </p:nvSpPr>
          <p:spPr bwMode="auto">
            <a:xfrm rot="10800000">
              <a:off x="5510205" y="4562847"/>
              <a:ext cx="748701" cy="4177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Z</a:t>
              </a:r>
              <a:r>
                <a:rPr lang="en-US" sz="2000" baseline="-25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=sL</a:t>
              </a:r>
              <a:endParaRPr lang="en-US" sz="200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Freeform 248"/>
            <p:cNvSpPr/>
            <p:nvPr/>
          </p:nvSpPr>
          <p:spPr>
            <a:xfrm rot="10800000">
              <a:off x="4446004" y="4898066"/>
              <a:ext cx="881743" cy="206067"/>
            </a:xfrm>
            <a:custGeom>
              <a:avLst/>
              <a:gdLst>
                <a:gd name="connsiteX0" fmla="*/ 0 w 617517"/>
                <a:gd name="connsiteY0" fmla="*/ 344384 h 344384"/>
                <a:gd name="connsiteX1" fmla="*/ 0 w 617517"/>
                <a:gd name="connsiteY1" fmla="*/ 0 h 344384"/>
                <a:gd name="connsiteX2" fmla="*/ 617517 w 617517"/>
                <a:gd name="connsiteY2" fmla="*/ 0 h 34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7517" h="344384">
                  <a:moveTo>
                    <a:pt x="0" y="344384"/>
                  </a:moveTo>
                  <a:lnTo>
                    <a:pt x="0" y="0"/>
                  </a:lnTo>
                  <a:lnTo>
                    <a:pt x="617517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Freeform 249"/>
            <p:cNvSpPr/>
            <p:nvPr/>
          </p:nvSpPr>
          <p:spPr>
            <a:xfrm rot="10800000">
              <a:off x="4457878" y="3789196"/>
              <a:ext cx="869867" cy="628397"/>
            </a:xfrm>
            <a:custGeom>
              <a:avLst/>
              <a:gdLst>
                <a:gd name="connsiteX0" fmla="*/ 0 w 653143"/>
                <a:gd name="connsiteY0" fmla="*/ 0 h 415636"/>
                <a:gd name="connsiteX1" fmla="*/ 0 w 653143"/>
                <a:gd name="connsiteY1" fmla="*/ 415636 h 415636"/>
                <a:gd name="connsiteX2" fmla="*/ 653143 w 653143"/>
                <a:gd name="connsiteY2" fmla="*/ 415636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3143" h="415636">
                  <a:moveTo>
                    <a:pt x="0" y="0"/>
                  </a:moveTo>
                  <a:lnTo>
                    <a:pt x="0" y="415636"/>
                  </a:lnTo>
                  <a:lnTo>
                    <a:pt x="653143" y="415636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Text Box 117"/>
            <p:cNvSpPr txBox="1">
              <a:spLocks noChangeArrowheads="1"/>
            </p:cNvSpPr>
            <p:nvPr/>
          </p:nvSpPr>
          <p:spPr bwMode="auto">
            <a:xfrm rot="10800000">
              <a:off x="4171996" y="4409219"/>
              <a:ext cx="552404" cy="32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</a:p>
          </p:txBody>
        </p:sp>
        <p:cxnSp>
          <p:nvCxnSpPr>
            <p:cNvPr id="252" name="Straight Arrow Connector 251"/>
            <p:cNvCxnSpPr/>
            <p:nvPr/>
          </p:nvCxnSpPr>
          <p:spPr>
            <a:xfrm rot="10800000" flipH="1">
              <a:off x="4750804" y="3798125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3" name="Group 29"/>
            <p:cNvGrpSpPr>
              <a:grpSpLocks/>
            </p:cNvGrpSpPr>
            <p:nvPr/>
          </p:nvGrpSpPr>
          <p:grpSpPr bwMode="auto">
            <a:xfrm rot="5400000">
              <a:off x="5029185" y="4611888"/>
              <a:ext cx="651291" cy="135832"/>
              <a:chOff x="2448" y="1728"/>
              <a:chExt cx="571" cy="143"/>
            </a:xfrm>
          </p:grpSpPr>
          <p:sp>
            <p:nvSpPr>
              <p:cNvPr id="260" name="Freeform 30"/>
              <p:cNvSpPr>
                <a:spLocks/>
              </p:cNvSpPr>
              <p:nvPr/>
            </p:nvSpPr>
            <p:spPr bwMode="auto">
              <a:xfrm>
                <a:off x="2534" y="1733"/>
                <a:ext cx="116" cy="138"/>
              </a:xfrm>
              <a:custGeom>
                <a:avLst/>
                <a:gdLst>
                  <a:gd name="T0" fmla="*/ 0 w 116"/>
                  <a:gd name="T1" fmla="*/ 89 h 138"/>
                  <a:gd name="T2" fmla="*/ 0 w 116"/>
                  <a:gd name="T3" fmla="*/ 69 h 138"/>
                  <a:gd name="T4" fmla="*/ 0 w 116"/>
                  <a:gd name="T5" fmla="*/ 54 h 138"/>
                  <a:gd name="T6" fmla="*/ 10 w 116"/>
                  <a:gd name="T7" fmla="*/ 40 h 138"/>
                  <a:gd name="T8" fmla="*/ 15 w 116"/>
                  <a:gd name="T9" fmla="*/ 25 h 138"/>
                  <a:gd name="T10" fmla="*/ 24 w 116"/>
                  <a:gd name="T11" fmla="*/ 15 h 138"/>
                  <a:gd name="T12" fmla="*/ 34 w 116"/>
                  <a:gd name="T13" fmla="*/ 5 h 138"/>
                  <a:gd name="T14" fmla="*/ 44 w 116"/>
                  <a:gd name="T15" fmla="*/ 0 h 138"/>
                  <a:gd name="T16" fmla="*/ 58 w 116"/>
                  <a:gd name="T17" fmla="*/ 0 h 138"/>
                  <a:gd name="T18" fmla="*/ 68 w 116"/>
                  <a:gd name="T19" fmla="*/ 0 h 138"/>
                  <a:gd name="T20" fmla="*/ 77 w 116"/>
                  <a:gd name="T21" fmla="*/ 5 h 138"/>
                  <a:gd name="T22" fmla="*/ 87 w 116"/>
                  <a:gd name="T23" fmla="*/ 15 h 138"/>
                  <a:gd name="T24" fmla="*/ 96 w 116"/>
                  <a:gd name="T25" fmla="*/ 25 h 138"/>
                  <a:gd name="T26" fmla="*/ 106 w 116"/>
                  <a:gd name="T27" fmla="*/ 40 h 138"/>
                  <a:gd name="T28" fmla="*/ 111 w 116"/>
                  <a:gd name="T29" fmla="*/ 54 h 138"/>
                  <a:gd name="T30" fmla="*/ 111 w 116"/>
                  <a:gd name="T31" fmla="*/ 69 h 138"/>
                  <a:gd name="T32" fmla="*/ 116 w 116"/>
                  <a:gd name="T33" fmla="*/ 89 h 138"/>
                  <a:gd name="T34" fmla="*/ 116 w 116"/>
                  <a:gd name="T35" fmla="*/ 93 h 138"/>
                  <a:gd name="T36" fmla="*/ 116 w 116"/>
                  <a:gd name="T37" fmla="*/ 98 h 138"/>
                  <a:gd name="T38" fmla="*/ 111 w 116"/>
                  <a:gd name="T39" fmla="*/ 108 h 138"/>
                  <a:gd name="T40" fmla="*/ 111 w 116"/>
                  <a:gd name="T41" fmla="*/ 113 h 138"/>
                  <a:gd name="T42" fmla="*/ 111 w 116"/>
                  <a:gd name="T43" fmla="*/ 118 h 138"/>
                  <a:gd name="T44" fmla="*/ 106 w 116"/>
                  <a:gd name="T45" fmla="*/ 128 h 138"/>
                  <a:gd name="T46" fmla="*/ 106 w 116"/>
                  <a:gd name="T47" fmla="*/ 133 h 138"/>
                  <a:gd name="T48" fmla="*/ 106 w 116"/>
                  <a:gd name="T49" fmla="*/ 13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38">
                    <a:moveTo>
                      <a:pt x="0" y="89"/>
                    </a:moveTo>
                    <a:lnTo>
                      <a:pt x="0" y="69"/>
                    </a:lnTo>
                    <a:lnTo>
                      <a:pt x="0" y="54"/>
                    </a:lnTo>
                    <a:lnTo>
                      <a:pt x="10" y="40"/>
                    </a:lnTo>
                    <a:lnTo>
                      <a:pt x="15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68" y="0"/>
                    </a:lnTo>
                    <a:lnTo>
                      <a:pt x="77" y="5"/>
                    </a:lnTo>
                    <a:lnTo>
                      <a:pt x="87" y="15"/>
                    </a:lnTo>
                    <a:lnTo>
                      <a:pt x="96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1" y="69"/>
                    </a:lnTo>
                    <a:lnTo>
                      <a:pt x="116" y="89"/>
                    </a:lnTo>
                    <a:lnTo>
                      <a:pt x="116" y="93"/>
                    </a:lnTo>
                    <a:lnTo>
                      <a:pt x="116" y="98"/>
                    </a:lnTo>
                    <a:lnTo>
                      <a:pt x="111" y="108"/>
                    </a:lnTo>
                    <a:lnTo>
                      <a:pt x="111" y="113"/>
                    </a:lnTo>
                    <a:lnTo>
                      <a:pt x="111" y="118"/>
                    </a:lnTo>
                    <a:lnTo>
                      <a:pt x="106" y="128"/>
                    </a:lnTo>
                    <a:lnTo>
                      <a:pt x="106" y="133"/>
                    </a:lnTo>
                    <a:lnTo>
                      <a:pt x="106" y="1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31"/>
              <p:cNvSpPr>
                <a:spLocks/>
              </p:cNvSpPr>
              <p:nvPr/>
            </p:nvSpPr>
            <p:spPr bwMode="auto">
              <a:xfrm>
                <a:off x="2722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7 w 119"/>
                  <a:gd name="T31" fmla="*/ 5 h 143"/>
                  <a:gd name="T32" fmla="*/ 57 w 119"/>
                  <a:gd name="T33" fmla="*/ 0 h 143"/>
                  <a:gd name="T34" fmla="*/ 71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05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7" y="5"/>
                    </a:lnTo>
                    <a:lnTo>
                      <a:pt x="57" y="0"/>
                    </a:lnTo>
                    <a:lnTo>
                      <a:pt x="71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05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32"/>
              <p:cNvSpPr>
                <a:spLocks/>
              </p:cNvSpPr>
              <p:nvPr/>
            </p:nvSpPr>
            <p:spPr bwMode="auto">
              <a:xfrm>
                <a:off x="2817" y="1728"/>
                <a:ext cx="116" cy="143"/>
              </a:xfrm>
              <a:custGeom>
                <a:avLst/>
                <a:gdLst>
                  <a:gd name="T0" fmla="*/ 10 w 116"/>
                  <a:gd name="T1" fmla="*/ 143 h 143"/>
                  <a:gd name="T2" fmla="*/ 10 w 116"/>
                  <a:gd name="T3" fmla="*/ 138 h 143"/>
                  <a:gd name="T4" fmla="*/ 5 w 116"/>
                  <a:gd name="T5" fmla="*/ 128 h 143"/>
                  <a:gd name="T6" fmla="*/ 5 w 116"/>
                  <a:gd name="T7" fmla="*/ 123 h 143"/>
                  <a:gd name="T8" fmla="*/ 5 w 116"/>
                  <a:gd name="T9" fmla="*/ 118 h 143"/>
                  <a:gd name="T10" fmla="*/ 0 w 116"/>
                  <a:gd name="T11" fmla="*/ 108 h 143"/>
                  <a:gd name="T12" fmla="*/ 0 w 116"/>
                  <a:gd name="T13" fmla="*/ 103 h 143"/>
                  <a:gd name="T14" fmla="*/ 0 w 116"/>
                  <a:gd name="T15" fmla="*/ 98 h 143"/>
                  <a:gd name="T16" fmla="*/ 0 w 116"/>
                  <a:gd name="T17" fmla="*/ 89 h 143"/>
                  <a:gd name="T18" fmla="*/ 0 w 116"/>
                  <a:gd name="T19" fmla="*/ 74 h 143"/>
                  <a:gd name="T20" fmla="*/ 5 w 116"/>
                  <a:gd name="T21" fmla="*/ 54 h 143"/>
                  <a:gd name="T22" fmla="*/ 10 w 116"/>
                  <a:gd name="T23" fmla="*/ 40 h 143"/>
                  <a:gd name="T24" fmla="*/ 20 w 116"/>
                  <a:gd name="T25" fmla="*/ 25 h 143"/>
                  <a:gd name="T26" fmla="*/ 24 w 116"/>
                  <a:gd name="T27" fmla="*/ 15 h 143"/>
                  <a:gd name="T28" fmla="*/ 34 w 116"/>
                  <a:gd name="T29" fmla="*/ 5 h 143"/>
                  <a:gd name="T30" fmla="*/ 48 w 116"/>
                  <a:gd name="T31" fmla="*/ 0 h 143"/>
                  <a:gd name="T32" fmla="*/ 58 w 116"/>
                  <a:gd name="T33" fmla="*/ 0 h 143"/>
                  <a:gd name="T34" fmla="*/ 72 w 116"/>
                  <a:gd name="T35" fmla="*/ 0 h 143"/>
                  <a:gd name="T36" fmla="*/ 82 w 116"/>
                  <a:gd name="T37" fmla="*/ 5 h 143"/>
                  <a:gd name="T38" fmla="*/ 92 w 116"/>
                  <a:gd name="T39" fmla="*/ 15 h 143"/>
                  <a:gd name="T40" fmla="*/ 101 w 116"/>
                  <a:gd name="T41" fmla="*/ 25 h 143"/>
                  <a:gd name="T42" fmla="*/ 106 w 116"/>
                  <a:gd name="T43" fmla="*/ 40 h 143"/>
                  <a:gd name="T44" fmla="*/ 111 w 116"/>
                  <a:gd name="T45" fmla="*/ 54 h 143"/>
                  <a:gd name="T46" fmla="*/ 116 w 116"/>
                  <a:gd name="T47" fmla="*/ 74 h 143"/>
                  <a:gd name="T48" fmla="*/ 116 w 116"/>
                  <a:gd name="T49" fmla="*/ 89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16" h="143">
                    <a:moveTo>
                      <a:pt x="10" y="143"/>
                    </a:moveTo>
                    <a:lnTo>
                      <a:pt x="10" y="138"/>
                    </a:lnTo>
                    <a:lnTo>
                      <a:pt x="5" y="128"/>
                    </a:lnTo>
                    <a:lnTo>
                      <a:pt x="5" y="123"/>
                    </a:lnTo>
                    <a:lnTo>
                      <a:pt x="5" y="118"/>
                    </a:lnTo>
                    <a:lnTo>
                      <a:pt x="0" y="108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5" y="54"/>
                    </a:lnTo>
                    <a:lnTo>
                      <a:pt x="10" y="40"/>
                    </a:lnTo>
                    <a:lnTo>
                      <a:pt x="20" y="25"/>
                    </a:lnTo>
                    <a:lnTo>
                      <a:pt x="24" y="15"/>
                    </a:lnTo>
                    <a:lnTo>
                      <a:pt x="34" y="5"/>
                    </a:lnTo>
                    <a:lnTo>
                      <a:pt x="48" y="0"/>
                    </a:lnTo>
                    <a:lnTo>
                      <a:pt x="58" y="0"/>
                    </a:lnTo>
                    <a:lnTo>
                      <a:pt x="72" y="0"/>
                    </a:lnTo>
                    <a:lnTo>
                      <a:pt x="82" y="5"/>
                    </a:lnTo>
                    <a:lnTo>
                      <a:pt x="92" y="15"/>
                    </a:lnTo>
                    <a:lnTo>
                      <a:pt x="101" y="25"/>
                    </a:lnTo>
                    <a:lnTo>
                      <a:pt x="106" y="40"/>
                    </a:lnTo>
                    <a:lnTo>
                      <a:pt x="111" y="54"/>
                    </a:lnTo>
                    <a:lnTo>
                      <a:pt x="116" y="74"/>
                    </a:lnTo>
                    <a:lnTo>
                      <a:pt x="116" y="89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33"/>
              <p:cNvSpPr>
                <a:spLocks/>
              </p:cNvSpPr>
              <p:nvPr/>
            </p:nvSpPr>
            <p:spPr bwMode="auto">
              <a:xfrm>
                <a:off x="2626" y="1728"/>
                <a:ext cx="119" cy="143"/>
              </a:xfrm>
              <a:custGeom>
                <a:avLst/>
                <a:gdLst>
                  <a:gd name="T0" fmla="*/ 9 w 119"/>
                  <a:gd name="T1" fmla="*/ 143 h 143"/>
                  <a:gd name="T2" fmla="*/ 9 w 119"/>
                  <a:gd name="T3" fmla="*/ 138 h 143"/>
                  <a:gd name="T4" fmla="*/ 4 w 119"/>
                  <a:gd name="T5" fmla="*/ 128 h 143"/>
                  <a:gd name="T6" fmla="*/ 4 w 119"/>
                  <a:gd name="T7" fmla="*/ 123 h 143"/>
                  <a:gd name="T8" fmla="*/ 4 w 119"/>
                  <a:gd name="T9" fmla="*/ 118 h 143"/>
                  <a:gd name="T10" fmla="*/ 4 w 119"/>
                  <a:gd name="T11" fmla="*/ 113 h 143"/>
                  <a:gd name="T12" fmla="*/ 0 w 119"/>
                  <a:gd name="T13" fmla="*/ 103 h 143"/>
                  <a:gd name="T14" fmla="*/ 0 w 119"/>
                  <a:gd name="T15" fmla="*/ 98 h 143"/>
                  <a:gd name="T16" fmla="*/ 0 w 119"/>
                  <a:gd name="T17" fmla="*/ 89 h 143"/>
                  <a:gd name="T18" fmla="*/ 0 w 119"/>
                  <a:gd name="T19" fmla="*/ 74 h 143"/>
                  <a:gd name="T20" fmla="*/ 4 w 119"/>
                  <a:gd name="T21" fmla="*/ 54 h 143"/>
                  <a:gd name="T22" fmla="*/ 9 w 119"/>
                  <a:gd name="T23" fmla="*/ 40 h 143"/>
                  <a:gd name="T24" fmla="*/ 19 w 119"/>
                  <a:gd name="T25" fmla="*/ 30 h 143"/>
                  <a:gd name="T26" fmla="*/ 28 w 119"/>
                  <a:gd name="T27" fmla="*/ 15 h 143"/>
                  <a:gd name="T28" fmla="*/ 38 w 119"/>
                  <a:gd name="T29" fmla="*/ 10 h 143"/>
                  <a:gd name="T30" fmla="*/ 48 w 119"/>
                  <a:gd name="T31" fmla="*/ 5 h 143"/>
                  <a:gd name="T32" fmla="*/ 57 w 119"/>
                  <a:gd name="T33" fmla="*/ 0 h 143"/>
                  <a:gd name="T34" fmla="*/ 72 w 119"/>
                  <a:gd name="T35" fmla="*/ 5 h 143"/>
                  <a:gd name="T36" fmla="*/ 81 w 119"/>
                  <a:gd name="T37" fmla="*/ 10 h 143"/>
                  <a:gd name="T38" fmla="*/ 91 w 119"/>
                  <a:gd name="T39" fmla="*/ 15 h 143"/>
                  <a:gd name="T40" fmla="*/ 100 w 119"/>
                  <a:gd name="T41" fmla="*/ 30 h 143"/>
                  <a:gd name="T42" fmla="*/ 110 w 119"/>
                  <a:gd name="T43" fmla="*/ 40 h 143"/>
                  <a:gd name="T44" fmla="*/ 115 w 119"/>
                  <a:gd name="T45" fmla="*/ 54 h 143"/>
                  <a:gd name="T46" fmla="*/ 115 w 119"/>
                  <a:gd name="T47" fmla="*/ 74 h 143"/>
                  <a:gd name="T48" fmla="*/ 119 w 119"/>
                  <a:gd name="T49" fmla="*/ 89 h 143"/>
                  <a:gd name="T50" fmla="*/ 119 w 119"/>
                  <a:gd name="T51" fmla="*/ 98 h 143"/>
                  <a:gd name="T52" fmla="*/ 115 w 119"/>
                  <a:gd name="T53" fmla="*/ 103 h 143"/>
                  <a:gd name="T54" fmla="*/ 115 w 119"/>
                  <a:gd name="T55" fmla="*/ 113 h 143"/>
                  <a:gd name="T56" fmla="*/ 115 w 119"/>
                  <a:gd name="T57" fmla="*/ 118 h 143"/>
                  <a:gd name="T58" fmla="*/ 115 w 119"/>
                  <a:gd name="T59" fmla="*/ 123 h 143"/>
                  <a:gd name="T60" fmla="*/ 110 w 119"/>
                  <a:gd name="T61" fmla="*/ 128 h 143"/>
                  <a:gd name="T62" fmla="*/ 110 w 119"/>
                  <a:gd name="T63" fmla="*/ 138 h 143"/>
                  <a:gd name="T64" fmla="*/ 105 w 119"/>
                  <a:gd name="T65" fmla="*/ 143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9" h="143">
                    <a:moveTo>
                      <a:pt x="9" y="143"/>
                    </a:moveTo>
                    <a:lnTo>
                      <a:pt x="9" y="138"/>
                    </a:lnTo>
                    <a:lnTo>
                      <a:pt x="4" y="128"/>
                    </a:lnTo>
                    <a:lnTo>
                      <a:pt x="4" y="123"/>
                    </a:lnTo>
                    <a:lnTo>
                      <a:pt x="4" y="118"/>
                    </a:lnTo>
                    <a:lnTo>
                      <a:pt x="4" y="113"/>
                    </a:lnTo>
                    <a:lnTo>
                      <a:pt x="0" y="103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74"/>
                    </a:lnTo>
                    <a:lnTo>
                      <a:pt x="4" y="54"/>
                    </a:lnTo>
                    <a:lnTo>
                      <a:pt x="9" y="40"/>
                    </a:lnTo>
                    <a:lnTo>
                      <a:pt x="19" y="30"/>
                    </a:lnTo>
                    <a:lnTo>
                      <a:pt x="28" y="15"/>
                    </a:lnTo>
                    <a:lnTo>
                      <a:pt x="38" y="10"/>
                    </a:lnTo>
                    <a:lnTo>
                      <a:pt x="48" y="5"/>
                    </a:lnTo>
                    <a:lnTo>
                      <a:pt x="57" y="0"/>
                    </a:lnTo>
                    <a:lnTo>
                      <a:pt x="72" y="5"/>
                    </a:lnTo>
                    <a:lnTo>
                      <a:pt x="81" y="10"/>
                    </a:lnTo>
                    <a:lnTo>
                      <a:pt x="91" y="15"/>
                    </a:lnTo>
                    <a:lnTo>
                      <a:pt x="100" y="30"/>
                    </a:lnTo>
                    <a:lnTo>
                      <a:pt x="110" y="40"/>
                    </a:lnTo>
                    <a:lnTo>
                      <a:pt x="115" y="54"/>
                    </a:lnTo>
                    <a:lnTo>
                      <a:pt x="115" y="74"/>
                    </a:lnTo>
                    <a:lnTo>
                      <a:pt x="119" y="89"/>
                    </a:lnTo>
                    <a:lnTo>
                      <a:pt x="119" y="98"/>
                    </a:lnTo>
                    <a:lnTo>
                      <a:pt x="115" y="103"/>
                    </a:lnTo>
                    <a:lnTo>
                      <a:pt x="115" y="113"/>
                    </a:lnTo>
                    <a:lnTo>
                      <a:pt x="115" y="118"/>
                    </a:lnTo>
                    <a:lnTo>
                      <a:pt x="115" y="123"/>
                    </a:lnTo>
                    <a:lnTo>
                      <a:pt x="110" y="128"/>
                    </a:lnTo>
                    <a:lnTo>
                      <a:pt x="110" y="138"/>
                    </a:lnTo>
                    <a:lnTo>
                      <a:pt x="105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Line 34"/>
              <p:cNvSpPr>
                <a:spLocks noChangeShapeType="1"/>
              </p:cNvSpPr>
              <p:nvPr/>
            </p:nvSpPr>
            <p:spPr bwMode="auto">
              <a:xfrm>
                <a:off x="2933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Line 35"/>
              <p:cNvSpPr>
                <a:spLocks noChangeShapeType="1"/>
              </p:cNvSpPr>
              <p:nvPr/>
            </p:nvSpPr>
            <p:spPr bwMode="auto">
              <a:xfrm>
                <a:off x="2448" y="1820"/>
                <a:ext cx="8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54" name="Group 253"/>
            <p:cNvGrpSpPr/>
            <p:nvPr/>
          </p:nvGrpSpPr>
          <p:grpSpPr>
            <a:xfrm>
              <a:off x="5159716" y="3921414"/>
              <a:ext cx="365760" cy="364497"/>
              <a:chOff x="5159716" y="3921414"/>
              <a:chExt cx="365760" cy="364497"/>
            </a:xfrm>
          </p:grpSpPr>
          <p:sp>
            <p:nvSpPr>
              <p:cNvPr id="256" name="Oval 255"/>
              <p:cNvSpPr>
                <a:spLocks noChangeArrowheads="1"/>
              </p:cNvSpPr>
              <p:nvPr/>
            </p:nvSpPr>
            <p:spPr bwMode="auto">
              <a:xfrm>
                <a:off x="5159716" y="3921414"/>
                <a:ext cx="365760" cy="36449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257" name="Line 134"/>
              <p:cNvCxnSpPr>
                <a:cxnSpLocks noChangeShapeType="1"/>
              </p:cNvCxnSpPr>
              <p:nvPr/>
            </p:nvCxnSpPr>
            <p:spPr bwMode="auto">
              <a:xfrm>
                <a:off x="5278679" y="4162662"/>
                <a:ext cx="1157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8" name="Line 135"/>
              <p:cNvCxnSpPr>
                <a:cxnSpLocks noChangeShapeType="1"/>
              </p:cNvCxnSpPr>
              <p:nvPr/>
            </p:nvCxnSpPr>
            <p:spPr bwMode="auto">
              <a:xfrm>
                <a:off x="5335586" y="4102925"/>
                <a:ext cx="0" cy="1214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9" name="Line 136"/>
              <p:cNvCxnSpPr>
                <a:cxnSpLocks noChangeShapeType="1"/>
              </p:cNvCxnSpPr>
              <p:nvPr/>
            </p:nvCxnSpPr>
            <p:spPr bwMode="auto">
              <a:xfrm>
                <a:off x="5281550" y="4026725"/>
                <a:ext cx="11574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55" name="Text Box 117"/>
            <p:cNvSpPr txBox="1">
              <a:spLocks noChangeArrowheads="1"/>
            </p:cNvSpPr>
            <p:nvPr/>
          </p:nvSpPr>
          <p:spPr bwMode="auto">
            <a:xfrm rot="10800000">
              <a:off x="5562601" y="3926774"/>
              <a:ext cx="607515" cy="29764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Li(0)</a:t>
              </a:r>
              <a:endParaRPr lang="en-US" sz="2000" baseline="-2500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528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/>
      <p:bldP spid="130" grpId="0" animBg="1"/>
      <p:bldP spid="1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304800" y="485012"/>
            <a:ext cx="297180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Phần tử tụ điện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855626" y="1698043"/>
            <a:ext cx="801974" cy="28315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68975" y="1219200"/>
            <a:ext cx="1845625" cy="1132424"/>
            <a:chOff x="668975" y="1291301"/>
            <a:chExt cx="1845625" cy="1132424"/>
          </a:xfrm>
        </p:grpSpPr>
        <p:sp>
          <p:nvSpPr>
            <p:cNvPr id="60" name="Text Box 117"/>
            <p:cNvSpPr txBox="1">
              <a:spLocks noChangeArrowheads="1"/>
            </p:cNvSpPr>
            <p:nvPr/>
          </p:nvSpPr>
          <p:spPr bwMode="auto">
            <a:xfrm>
              <a:off x="2011800" y="1291301"/>
              <a:ext cx="217692" cy="11324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 Box 117"/>
            <p:cNvSpPr txBox="1">
              <a:spLocks noChangeArrowheads="1"/>
            </p:cNvSpPr>
            <p:nvPr/>
          </p:nvSpPr>
          <p:spPr bwMode="auto">
            <a:xfrm>
              <a:off x="668975" y="1718854"/>
              <a:ext cx="298819" cy="2720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Freeform 2"/>
            <p:cNvSpPr/>
            <p:nvPr/>
          </p:nvSpPr>
          <p:spPr>
            <a:xfrm>
              <a:off x="1099457" y="1352627"/>
              <a:ext cx="881743" cy="206067"/>
            </a:xfrm>
            <a:custGeom>
              <a:avLst/>
              <a:gdLst>
                <a:gd name="connsiteX0" fmla="*/ 0 w 617517"/>
                <a:gd name="connsiteY0" fmla="*/ 344384 h 344384"/>
                <a:gd name="connsiteX1" fmla="*/ 0 w 617517"/>
                <a:gd name="connsiteY1" fmla="*/ 0 h 344384"/>
                <a:gd name="connsiteX2" fmla="*/ 617517 w 617517"/>
                <a:gd name="connsiteY2" fmla="*/ 0 h 34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7517" h="344384">
                  <a:moveTo>
                    <a:pt x="0" y="344384"/>
                  </a:moveTo>
                  <a:lnTo>
                    <a:pt x="0" y="0"/>
                  </a:lnTo>
                  <a:lnTo>
                    <a:pt x="617517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reeform 3"/>
            <p:cNvSpPr/>
            <p:nvPr/>
          </p:nvSpPr>
          <p:spPr>
            <a:xfrm>
              <a:off x="1099458" y="2100385"/>
              <a:ext cx="869867" cy="220309"/>
            </a:xfrm>
            <a:custGeom>
              <a:avLst/>
              <a:gdLst>
                <a:gd name="connsiteX0" fmla="*/ 0 w 653143"/>
                <a:gd name="connsiteY0" fmla="*/ 0 h 415636"/>
                <a:gd name="connsiteX1" fmla="*/ 0 w 653143"/>
                <a:gd name="connsiteY1" fmla="*/ 415636 h 415636"/>
                <a:gd name="connsiteX2" fmla="*/ 653143 w 653143"/>
                <a:gd name="connsiteY2" fmla="*/ 415636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3143" h="415636">
                  <a:moveTo>
                    <a:pt x="0" y="0"/>
                  </a:moveTo>
                  <a:lnTo>
                    <a:pt x="0" y="415636"/>
                  </a:lnTo>
                  <a:lnTo>
                    <a:pt x="653143" y="415636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 Box 117"/>
            <p:cNvSpPr txBox="1">
              <a:spLocks noChangeArrowheads="1"/>
            </p:cNvSpPr>
            <p:nvPr/>
          </p:nvSpPr>
          <p:spPr bwMode="auto">
            <a:xfrm>
              <a:off x="1962196" y="1618446"/>
              <a:ext cx="552404" cy="32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(t)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1371600" y="1348894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 Box 117"/>
            <p:cNvSpPr txBox="1">
              <a:spLocks noChangeArrowheads="1"/>
            </p:cNvSpPr>
            <p:nvPr/>
          </p:nvSpPr>
          <p:spPr bwMode="auto">
            <a:xfrm>
              <a:off x="1336964" y="1470994"/>
              <a:ext cx="552404" cy="30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(t)</a:t>
              </a: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978912" y="1549327"/>
              <a:ext cx="240474" cy="613712"/>
              <a:chOff x="6846125" y="3641613"/>
              <a:chExt cx="240474" cy="613712"/>
            </a:xfrm>
          </p:grpSpPr>
          <p:cxnSp>
            <p:nvCxnSpPr>
              <p:cNvPr id="93" name="Straight Connector 92"/>
              <p:cNvCxnSpPr/>
              <p:nvPr/>
            </p:nvCxnSpPr>
            <p:spPr>
              <a:xfrm>
                <a:off x="6969825" y="3641613"/>
                <a:ext cx="0" cy="265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>
                <a:off x="6969826" y="3989838"/>
                <a:ext cx="0" cy="265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6857999" y="3982494"/>
                <a:ext cx="228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>
                <a:off x="6846125" y="3921825"/>
                <a:ext cx="228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/>
          <p:cNvGrpSpPr/>
          <p:nvPr/>
        </p:nvGrpSpPr>
        <p:grpSpPr>
          <a:xfrm>
            <a:off x="3852058" y="685800"/>
            <a:ext cx="2333591" cy="1648998"/>
            <a:chOff x="4038600" y="762000"/>
            <a:chExt cx="2333591" cy="1648998"/>
          </a:xfrm>
        </p:grpSpPr>
        <p:sp>
          <p:nvSpPr>
            <p:cNvPr id="69" name="Text Box 117"/>
            <p:cNvSpPr txBox="1">
              <a:spLocks noChangeArrowheads="1"/>
            </p:cNvSpPr>
            <p:nvPr/>
          </p:nvSpPr>
          <p:spPr bwMode="auto">
            <a:xfrm rot="10800000">
              <a:off x="4465008" y="762000"/>
              <a:ext cx="552404" cy="304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</a:p>
          </p:txBody>
        </p:sp>
        <p:sp>
          <p:nvSpPr>
            <p:cNvPr id="62" name="Text Box 117"/>
            <p:cNvSpPr txBox="1">
              <a:spLocks noChangeArrowheads="1"/>
            </p:cNvSpPr>
            <p:nvPr/>
          </p:nvSpPr>
          <p:spPr bwMode="auto">
            <a:xfrm rot="10800000">
              <a:off x="4172770" y="914400"/>
              <a:ext cx="242634" cy="14958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</a:t>
              </a: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</a:t>
              </a:r>
              <a:endParaRPr lang="en-US" sz="2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Freeform 64"/>
            <p:cNvSpPr/>
            <p:nvPr/>
          </p:nvSpPr>
          <p:spPr>
            <a:xfrm rot="10800000">
              <a:off x="4446004" y="2142829"/>
              <a:ext cx="881743" cy="206067"/>
            </a:xfrm>
            <a:custGeom>
              <a:avLst/>
              <a:gdLst>
                <a:gd name="connsiteX0" fmla="*/ 0 w 617517"/>
                <a:gd name="connsiteY0" fmla="*/ 344384 h 344384"/>
                <a:gd name="connsiteX1" fmla="*/ 0 w 617517"/>
                <a:gd name="connsiteY1" fmla="*/ 0 h 344384"/>
                <a:gd name="connsiteX2" fmla="*/ 617517 w 617517"/>
                <a:gd name="connsiteY2" fmla="*/ 0 h 344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7517" h="344384">
                  <a:moveTo>
                    <a:pt x="0" y="344384"/>
                  </a:moveTo>
                  <a:lnTo>
                    <a:pt x="0" y="0"/>
                  </a:lnTo>
                  <a:lnTo>
                    <a:pt x="617517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 65"/>
            <p:cNvSpPr/>
            <p:nvPr/>
          </p:nvSpPr>
          <p:spPr>
            <a:xfrm rot="10800000">
              <a:off x="4457878" y="1122196"/>
              <a:ext cx="869867" cy="653222"/>
            </a:xfrm>
            <a:custGeom>
              <a:avLst/>
              <a:gdLst>
                <a:gd name="connsiteX0" fmla="*/ 0 w 653143"/>
                <a:gd name="connsiteY0" fmla="*/ 0 h 415636"/>
                <a:gd name="connsiteX1" fmla="*/ 0 w 653143"/>
                <a:gd name="connsiteY1" fmla="*/ 415636 h 415636"/>
                <a:gd name="connsiteX2" fmla="*/ 653143 w 653143"/>
                <a:gd name="connsiteY2" fmla="*/ 415636 h 415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3143" h="415636">
                  <a:moveTo>
                    <a:pt x="0" y="0"/>
                  </a:moveTo>
                  <a:lnTo>
                    <a:pt x="0" y="415636"/>
                  </a:lnTo>
                  <a:lnTo>
                    <a:pt x="653143" y="415636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 Box 117"/>
            <p:cNvSpPr txBox="1">
              <a:spLocks noChangeArrowheads="1"/>
            </p:cNvSpPr>
            <p:nvPr/>
          </p:nvSpPr>
          <p:spPr bwMode="auto">
            <a:xfrm rot="10800000">
              <a:off x="4038600" y="1550893"/>
              <a:ext cx="615696" cy="4243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C00000"/>
                  </a:solidFill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U</a:t>
              </a:r>
              <a:r>
                <a:rPr lang="en-US" sz="2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(s)</a:t>
              </a:r>
            </a:p>
          </p:txBody>
        </p:sp>
        <p:cxnSp>
          <p:nvCxnSpPr>
            <p:cNvPr id="68" name="Straight Arrow Connector 67"/>
            <p:cNvCxnSpPr/>
            <p:nvPr/>
          </p:nvCxnSpPr>
          <p:spPr>
            <a:xfrm rot="10800000" flipH="1">
              <a:off x="4750804" y="1131125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8" name="Group 107"/>
            <p:cNvGrpSpPr>
              <a:grpSpLocks/>
            </p:cNvGrpSpPr>
            <p:nvPr/>
          </p:nvGrpSpPr>
          <p:grpSpPr bwMode="auto">
            <a:xfrm>
              <a:off x="5158841" y="1304978"/>
              <a:ext cx="365760" cy="364497"/>
              <a:chOff x="1884" y="2304"/>
              <a:chExt cx="360" cy="360"/>
            </a:xfrm>
          </p:grpSpPr>
          <p:sp>
            <p:nvSpPr>
              <p:cNvPr id="131" name="Oval 130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32" name="Line 134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" name="Line 135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4" name="Line 136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5" name="Group 134"/>
            <p:cNvGrpSpPr/>
            <p:nvPr/>
          </p:nvGrpSpPr>
          <p:grpSpPr>
            <a:xfrm>
              <a:off x="5205051" y="1717695"/>
              <a:ext cx="240474" cy="613712"/>
              <a:chOff x="6846125" y="3641613"/>
              <a:chExt cx="240474" cy="613712"/>
            </a:xfrm>
          </p:grpSpPr>
          <p:cxnSp>
            <p:nvCxnSpPr>
              <p:cNvPr id="136" name="Straight Connector 135"/>
              <p:cNvCxnSpPr/>
              <p:nvPr/>
            </p:nvCxnSpPr>
            <p:spPr>
              <a:xfrm>
                <a:off x="6969825" y="3641613"/>
                <a:ext cx="0" cy="265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>
                <a:off x="6969826" y="3989838"/>
                <a:ext cx="0" cy="2654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>
              <a:xfrm>
                <a:off x="6857999" y="3982494"/>
                <a:ext cx="228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>
              <a:xfrm>
                <a:off x="6846125" y="3921825"/>
                <a:ext cx="2286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41" name="Object 1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5714292"/>
                </p:ext>
              </p:extLst>
            </p:nvPr>
          </p:nvGraphicFramePr>
          <p:xfrm>
            <a:off x="5568167" y="1066800"/>
            <a:ext cx="485775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330120" imgH="393480" progId="Equation.DSMT4">
                    <p:embed/>
                  </p:oleObj>
                </mc:Choice>
                <mc:Fallback>
                  <p:oleObj name="Equation" r:id="rId3" imgW="3301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68167" y="1066800"/>
                          <a:ext cx="485775" cy="682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2" name="Object 1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5156052"/>
                </p:ext>
              </p:extLst>
            </p:nvPr>
          </p:nvGraphicFramePr>
          <p:xfrm>
            <a:off x="5470491" y="1728373"/>
            <a:ext cx="901700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71320" imgH="393480" progId="Equation.DSMT4">
                    <p:embed/>
                  </p:oleObj>
                </mc:Choice>
                <mc:Fallback>
                  <p:oleObj name="Equation" r:id="rId5" imgW="57132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0491" y="1728373"/>
                          <a:ext cx="901700" cy="682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" name="Object 1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144751"/>
              </p:ext>
            </p:extLst>
          </p:nvPr>
        </p:nvGraphicFramePr>
        <p:xfrm>
          <a:off x="1093212" y="2559494"/>
          <a:ext cx="5647012" cy="839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19160" imgH="393480" progId="Equation.DSMT4">
                  <p:embed/>
                </p:oleObj>
              </mc:Choice>
              <mc:Fallback>
                <p:oleObj name="Equation" r:id="rId7" imgW="28191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212" y="2559494"/>
                        <a:ext cx="5647012" cy="8392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Object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306595"/>
              </p:ext>
            </p:extLst>
          </p:nvPr>
        </p:nvGraphicFramePr>
        <p:xfrm>
          <a:off x="3278188" y="3376613"/>
          <a:ext cx="359092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25400" imgH="419040" progId="Equation.DSMT4">
                  <p:embed/>
                </p:oleObj>
              </mc:Choice>
              <mc:Fallback>
                <p:oleObj name="Equation" r:id="rId9" imgW="16254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3376613"/>
                        <a:ext cx="3590925" cy="890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" name="Rounded Rectangular Callout 127"/>
          <p:cNvSpPr/>
          <p:nvPr/>
        </p:nvSpPr>
        <p:spPr>
          <a:xfrm>
            <a:off x="6733246" y="1228778"/>
            <a:ext cx="1877354" cy="997352"/>
          </a:xfrm>
          <a:prstGeom prst="wedgeRoundRectCallout">
            <a:avLst>
              <a:gd name="adj1" fmla="val -81678"/>
              <a:gd name="adj2" fmla="val -17556"/>
              <a:gd name="adj3" fmla="val 16667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 đồ tương đương C dạng toán tử</a:t>
            </a:r>
          </a:p>
        </p:txBody>
      </p:sp>
    </p:spTree>
    <p:extLst>
      <p:ext uri="{BB962C8B-B14F-4D97-AF65-F5344CB8AC3E}">
        <p14:creationId xmlns:p14="http://schemas.microsoft.com/office/powerpoint/2010/main" val="172490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533400" y="861950"/>
            <a:ext cx="360877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Định luật Kirchhoff 1:</a:t>
            </a:r>
          </a:p>
        </p:txBody>
      </p:sp>
      <p:sp>
        <p:nvSpPr>
          <p:cNvPr id="41" name="Title 1"/>
          <p:cNvSpPr txBox="1">
            <a:spLocks/>
          </p:cNvSpPr>
          <p:nvPr/>
        </p:nvSpPr>
        <p:spPr>
          <a:xfrm>
            <a:off x="603505" y="1285664"/>
            <a:ext cx="5949695" cy="877163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400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“Tổng đại số các ảnh Laplace của dòng điện tại một nút bất kỳ thì bằng không”</a:t>
            </a:r>
          </a:p>
        </p:txBody>
      </p:sp>
      <p:sp>
        <p:nvSpPr>
          <p:cNvPr id="48" name="Rectangle 3"/>
          <p:cNvSpPr txBox="1">
            <a:spLocks noChangeArrowheads="1"/>
          </p:cNvSpPr>
          <p:nvPr/>
        </p:nvSpPr>
        <p:spPr>
          <a:xfrm>
            <a:off x="533400" y="2362200"/>
            <a:ext cx="3608770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Định luật Kirchhoff 2:</a:t>
            </a:r>
          </a:p>
        </p:txBody>
      </p:sp>
      <p:sp>
        <p:nvSpPr>
          <p:cNvPr id="49" name="Title 1"/>
          <p:cNvSpPr txBox="1">
            <a:spLocks/>
          </p:cNvSpPr>
          <p:nvPr/>
        </p:nvSpPr>
        <p:spPr>
          <a:xfrm>
            <a:off x="603505" y="2715905"/>
            <a:ext cx="5797295" cy="1246495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400" i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“Tổng đại số các ảnh Laplace của điện áp trên các phần tử trong vòng kín bất kỳ thì bằng không”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870700" y="1288651"/>
            <a:ext cx="1739900" cy="921149"/>
            <a:chOff x="6870700" y="1098488"/>
            <a:chExt cx="1739900" cy="921149"/>
          </a:xfrm>
        </p:grpSpPr>
        <p:grpSp>
          <p:nvGrpSpPr>
            <p:cNvPr id="2" name="Group 1"/>
            <p:cNvGrpSpPr/>
            <p:nvPr/>
          </p:nvGrpSpPr>
          <p:grpSpPr>
            <a:xfrm>
              <a:off x="6870700" y="1143337"/>
              <a:ext cx="1676400" cy="876300"/>
              <a:chOff x="3646487" y="1905337"/>
              <a:chExt cx="1676400" cy="876300"/>
            </a:xfrm>
          </p:grpSpPr>
          <p:graphicFrame>
            <p:nvGraphicFramePr>
              <p:cNvPr id="144" name="Object 14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26996839"/>
                  </p:ext>
                </p:extLst>
              </p:nvPr>
            </p:nvGraphicFramePr>
            <p:xfrm>
              <a:off x="3646487" y="1905337"/>
              <a:ext cx="1676400" cy="6826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850680" imgH="342720" progId="Equation.DSMT4">
                      <p:embed/>
                    </p:oleObj>
                  </mc:Choice>
                  <mc:Fallback>
                    <p:oleObj name="Equation" r:id="rId3" imgW="850680" imgH="3427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6487" y="1905337"/>
                            <a:ext cx="1676400" cy="682625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2" name="Title 1"/>
              <p:cNvSpPr txBox="1">
                <a:spLocks/>
              </p:cNvSpPr>
              <p:nvPr/>
            </p:nvSpPr>
            <p:spPr>
              <a:xfrm>
                <a:off x="3657600" y="2366139"/>
                <a:ext cx="60959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bIns="91440" anchor="t" anchorCtr="0">
                <a:spAutoFit/>
              </a:bodyPr>
              <a:lstStyle>
                <a:lvl1pPr algn="l" rtl="0" eaLnBrk="1" latinLnBrk="0" hangingPunct="1">
                  <a:spcBef>
                    <a:spcPct val="0"/>
                  </a:spcBef>
                  <a:buNone/>
                  <a:defRPr kumimoji="0" sz="4000" kern="1200">
                    <a:solidFill>
                      <a:schemeClr val="tx2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>
                  <a:spcBef>
                    <a:spcPts val="0"/>
                  </a:spcBef>
                </a:pPr>
                <a:r>
                  <a:rPr lang="en-US" sz="1800">
                    <a:solidFill>
                      <a:srgbClr val="C00000"/>
                    </a:solidFill>
                    <a:latin typeface="Arial" pitchFamily="34" charset="0"/>
                    <a:cs typeface="Arial" pitchFamily="34" charset="0"/>
                  </a:rPr>
                  <a:t>Nút</a:t>
                </a:r>
              </a:p>
            </p:txBody>
          </p:sp>
        </p:grpSp>
        <p:sp>
          <p:nvSpPr>
            <p:cNvPr id="6" name="Rounded Rectangle 5"/>
            <p:cNvSpPr/>
            <p:nvPr/>
          </p:nvSpPr>
          <p:spPr>
            <a:xfrm>
              <a:off x="6881813" y="1098488"/>
              <a:ext cx="1728787" cy="92114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610340" y="2883996"/>
            <a:ext cx="2000258" cy="932195"/>
            <a:chOff x="6703218" y="2598738"/>
            <a:chExt cx="1719358" cy="932195"/>
          </a:xfrm>
        </p:grpSpPr>
        <p:graphicFrame>
          <p:nvGraphicFramePr>
            <p:cNvPr id="51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4624357"/>
                </p:ext>
              </p:extLst>
            </p:nvPr>
          </p:nvGraphicFramePr>
          <p:xfrm>
            <a:off x="6804203" y="2654792"/>
            <a:ext cx="1618373" cy="682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88840" imgH="342720" progId="Equation.DSMT4">
                    <p:embed/>
                  </p:oleObj>
                </mc:Choice>
                <mc:Fallback>
                  <p:oleObj name="Equation" r:id="rId5" imgW="888840" imgH="342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203" y="2654792"/>
                          <a:ext cx="1618373" cy="6826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Title 1"/>
            <p:cNvSpPr txBox="1">
              <a:spLocks/>
            </p:cNvSpPr>
            <p:nvPr/>
          </p:nvSpPr>
          <p:spPr>
            <a:xfrm>
              <a:off x="6703218" y="3115435"/>
              <a:ext cx="1145382" cy="415498"/>
            </a:xfrm>
            <a:prstGeom prst="rect">
              <a:avLst/>
            </a:prstGeom>
            <a:noFill/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180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Vòng kín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706488" y="2598738"/>
              <a:ext cx="1716087" cy="932195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3"/>
          <p:cNvSpPr txBox="1">
            <a:spLocks noChangeArrowheads="1"/>
          </p:cNvSpPr>
          <p:nvPr/>
        </p:nvSpPr>
        <p:spPr>
          <a:xfrm>
            <a:off x="603504" y="4176084"/>
            <a:ext cx="7245096" cy="388938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Các phương pháp phân tích mạch:</a:t>
            </a:r>
          </a:p>
        </p:txBody>
      </p:sp>
      <p:sp>
        <p:nvSpPr>
          <p:cNvPr id="63" name="Title 1"/>
          <p:cNvSpPr txBox="1">
            <a:spLocks/>
          </p:cNvSpPr>
          <p:nvPr/>
        </p:nvSpPr>
        <p:spPr>
          <a:xfrm>
            <a:off x="679704" y="4556373"/>
            <a:ext cx="7930896" cy="1615827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Tất cả các phương pháp phân tích mạch: Điện thế nút, Dòng điện vòng, Nguyên lý xếp chồng, Định lý về nguồn tương đương … đều thỏa mãn (áp dụng được) ở thời điểm sau khi mạch có đột biến (t&gt;0).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381000" y="304800"/>
            <a:ext cx="8534400" cy="6096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4.5 CÁC ĐỊNH LUẬT &amp; PHƯƠNG PHÁP DẠNG TOÁN TỬ</a:t>
            </a:r>
          </a:p>
        </p:txBody>
      </p:sp>
    </p:spTree>
    <p:extLst>
      <p:ext uri="{BB962C8B-B14F-4D97-AF65-F5344CB8AC3E}">
        <p14:creationId xmlns:p14="http://schemas.microsoft.com/office/powerpoint/2010/main" val="2537106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7" grpId="0"/>
      <p:bldP spid="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533400" y="938150"/>
            <a:ext cx="8153400" cy="4624450"/>
          </a:xfrm>
          <a:prstGeom prst="rect">
            <a:avLst/>
          </a:prstGeom>
          <a:noFill/>
        </p:spPr>
        <p:txBody>
          <a:bodyPr vert="horz" lIns="0" tIns="0" rIns="0" bIns="0">
            <a:noAutofit/>
          </a:bodyPr>
          <a:lstStyle>
            <a:lvl1pPr marL="274320" indent="-27432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v"/>
            </a:pPr>
            <a:r>
              <a:rPr lang="en-US" sz="2400" b="1">
                <a:latin typeface="Arial "/>
              </a:rPr>
              <a:t> Các bước tiến hành:</a:t>
            </a:r>
          </a:p>
          <a:p>
            <a:pPr>
              <a:lnSpc>
                <a:spcPct val="130000"/>
              </a:lnSpc>
              <a:spcBef>
                <a:spcPts val="12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>
                <a:latin typeface="Arial "/>
              </a:rPr>
              <a:t>Tìm điều kiện đầu (t &lt;0):</a:t>
            </a:r>
          </a:p>
          <a:p>
            <a:pPr marL="576263" indent="-238125">
              <a:spcBef>
                <a:spcPts val="0"/>
              </a:spcBef>
              <a:buClrTx/>
              <a:buFontTx/>
              <a:buChar char="-"/>
            </a:pPr>
            <a:r>
              <a:rPr lang="en-US" sz="2400">
                <a:latin typeface="Arial "/>
              </a:rPr>
              <a:t>Dòng điện qua cuộn dây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76263" indent="-238125">
              <a:spcBef>
                <a:spcPts val="0"/>
              </a:spcBef>
              <a:buClrTx/>
              <a:buFontTx/>
              <a:buChar char="-"/>
            </a:pPr>
            <a:r>
              <a:rPr lang="en-US" sz="2400">
                <a:latin typeface="Arial "/>
              </a:rPr>
              <a:t>Điện áp trên tụ 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(0</a:t>
            </a:r>
            <a:r>
              <a:rPr lang="en-US" sz="2400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>
                <a:latin typeface="Arial "/>
              </a:rPr>
              <a:t>Lập sơ đồ tương đương toán tử cho các phần tử của mạch điện (t &gt;0).</a:t>
            </a: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>
                <a:latin typeface="Arial "/>
              </a:rPr>
              <a:t>Lập hệ phương trình cho đáp ứng mạch dùng các Định luật, Phương pháp phân tích mạch…, giải ra tìm</a:t>
            </a:r>
            <a:r>
              <a:rPr lang="en-US" sz="2400">
                <a:latin typeface="Arial "/>
                <a:sym typeface="Symbol" panose="05050102010706020507" pitchFamily="18" charset="2"/>
              </a:rPr>
              <a:t> Y(s)</a:t>
            </a:r>
          </a:p>
          <a:p>
            <a:pPr>
              <a:lnSpc>
                <a:spcPct val="13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sz="2400">
                <a:latin typeface="Arial "/>
                <a:sym typeface="Symbol" panose="05050102010706020507" pitchFamily="18" charset="2"/>
              </a:rPr>
              <a:t>Biến đổi Laplace ngược: Y(s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 y(t).</a:t>
            </a:r>
            <a:endParaRPr lang="en-US" sz="2400">
              <a:latin typeface="Arial "/>
            </a:endParaRP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304800" y="304800"/>
            <a:ext cx="8686800" cy="4572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4.6 PHÂN TÍCH MẠCH QUÁ ĐỘ DÙNG BIẾN ĐỔI LAPLACE</a:t>
            </a:r>
          </a:p>
        </p:txBody>
      </p:sp>
    </p:spTree>
    <p:extLst>
      <p:ext uri="{BB962C8B-B14F-4D97-AF65-F5344CB8AC3E}">
        <p14:creationId xmlns:p14="http://schemas.microsoft.com/office/powerpoint/2010/main" val="562400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7" name="Title 1"/>
          <p:cNvSpPr txBox="1">
            <a:spLocks/>
          </p:cNvSpPr>
          <p:nvPr/>
        </p:nvSpPr>
        <p:spPr>
          <a:xfrm>
            <a:off x="291235" y="449916"/>
            <a:ext cx="5137127" cy="12264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 1: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Tại t=0 đóng khóa K, tìm dòng điện qua khóa K sau khi đóng, 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E=10 (V), R</a:t>
            </a:r>
            <a:r>
              <a:rPr lang="en-US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=3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L=1H; C=1F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5638800" y="152400"/>
            <a:ext cx="2931329" cy="2037334"/>
            <a:chOff x="0" y="0"/>
            <a:chExt cx="1958709" cy="1338809"/>
          </a:xfrm>
        </p:grpSpPr>
        <p:sp>
          <p:nvSpPr>
            <p:cNvPr id="54" name="Freeform 53"/>
            <p:cNvSpPr>
              <a:spLocks/>
            </p:cNvSpPr>
            <p:nvPr/>
          </p:nvSpPr>
          <p:spPr bwMode="auto">
            <a:xfrm>
              <a:off x="504749" y="1228954"/>
              <a:ext cx="346710" cy="109855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55" name="Text Box 7"/>
            <p:cNvSpPr txBox="1">
              <a:spLocks noChangeArrowheads="1"/>
            </p:cNvSpPr>
            <p:nvPr/>
          </p:nvSpPr>
          <p:spPr bwMode="auto">
            <a:xfrm>
              <a:off x="636422" y="1002183"/>
              <a:ext cx="182880" cy="1644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" name="Group 55"/>
            <p:cNvGrpSpPr>
              <a:grpSpLocks/>
            </p:cNvGrpSpPr>
            <p:nvPr/>
          </p:nvGrpSpPr>
          <p:grpSpPr bwMode="auto">
            <a:xfrm>
              <a:off x="343814" y="321869"/>
              <a:ext cx="640080" cy="100330"/>
              <a:chOff x="5184" y="13392"/>
              <a:chExt cx="1008" cy="158"/>
            </a:xfrm>
          </p:grpSpPr>
          <p:sp>
            <p:nvSpPr>
              <p:cNvPr id="89" name="Freeform 88"/>
              <p:cNvSpPr>
                <a:spLocks/>
              </p:cNvSpPr>
              <p:nvPr/>
            </p:nvSpPr>
            <p:spPr bwMode="auto">
              <a:xfrm>
                <a:off x="5472" y="13392"/>
                <a:ext cx="432" cy="158"/>
              </a:xfrm>
              <a:custGeom>
                <a:avLst/>
                <a:gdLst>
                  <a:gd name="T0" fmla="*/ 0 w 2160"/>
                  <a:gd name="T1" fmla="*/ 456 h 936"/>
                  <a:gd name="T2" fmla="*/ 288 w 2160"/>
                  <a:gd name="T3" fmla="*/ 24 h 936"/>
                  <a:gd name="T4" fmla="*/ 576 w 2160"/>
                  <a:gd name="T5" fmla="*/ 456 h 936"/>
                  <a:gd name="T6" fmla="*/ 432 w 2160"/>
                  <a:gd name="T7" fmla="*/ 888 h 936"/>
                  <a:gd name="T8" fmla="*/ 432 w 2160"/>
                  <a:gd name="T9" fmla="*/ 600 h 936"/>
                  <a:gd name="T10" fmla="*/ 720 w 2160"/>
                  <a:gd name="T11" fmla="*/ 24 h 936"/>
                  <a:gd name="T12" fmla="*/ 1008 w 2160"/>
                  <a:gd name="T13" fmla="*/ 456 h 936"/>
                  <a:gd name="T14" fmla="*/ 864 w 2160"/>
                  <a:gd name="T15" fmla="*/ 888 h 936"/>
                  <a:gd name="T16" fmla="*/ 864 w 2160"/>
                  <a:gd name="T17" fmla="*/ 600 h 936"/>
                  <a:gd name="T18" fmla="*/ 1152 w 2160"/>
                  <a:gd name="T19" fmla="*/ 24 h 936"/>
                  <a:gd name="T20" fmla="*/ 1440 w 2160"/>
                  <a:gd name="T21" fmla="*/ 600 h 936"/>
                  <a:gd name="T22" fmla="*/ 1296 w 2160"/>
                  <a:gd name="T23" fmla="*/ 888 h 936"/>
                  <a:gd name="T24" fmla="*/ 1440 w 2160"/>
                  <a:gd name="T25" fmla="*/ 312 h 936"/>
                  <a:gd name="T26" fmla="*/ 1584 w 2160"/>
                  <a:gd name="T27" fmla="*/ 24 h 936"/>
                  <a:gd name="T28" fmla="*/ 1872 w 2160"/>
                  <a:gd name="T29" fmla="*/ 456 h 936"/>
                  <a:gd name="T30" fmla="*/ 1728 w 2160"/>
                  <a:gd name="T31" fmla="*/ 888 h 936"/>
                  <a:gd name="T32" fmla="*/ 1728 w 2160"/>
                  <a:gd name="T33" fmla="*/ 600 h 936"/>
                  <a:gd name="T34" fmla="*/ 2016 w 2160"/>
                  <a:gd name="T35" fmla="*/ 24 h 936"/>
                  <a:gd name="T36" fmla="*/ 2160 w 2160"/>
                  <a:gd name="T37" fmla="*/ 45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60" h="936">
                    <a:moveTo>
                      <a:pt x="0" y="456"/>
                    </a:moveTo>
                    <a:cubicBezTo>
                      <a:pt x="96" y="240"/>
                      <a:pt x="192" y="24"/>
                      <a:pt x="288" y="24"/>
                    </a:cubicBezTo>
                    <a:cubicBezTo>
                      <a:pt x="384" y="24"/>
                      <a:pt x="552" y="312"/>
                      <a:pt x="576" y="456"/>
                    </a:cubicBezTo>
                    <a:cubicBezTo>
                      <a:pt x="600" y="600"/>
                      <a:pt x="456" y="864"/>
                      <a:pt x="432" y="888"/>
                    </a:cubicBezTo>
                    <a:cubicBezTo>
                      <a:pt x="408" y="912"/>
                      <a:pt x="384" y="744"/>
                      <a:pt x="432" y="600"/>
                    </a:cubicBezTo>
                    <a:cubicBezTo>
                      <a:pt x="480" y="456"/>
                      <a:pt x="624" y="48"/>
                      <a:pt x="720" y="24"/>
                    </a:cubicBezTo>
                    <a:cubicBezTo>
                      <a:pt x="816" y="0"/>
                      <a:pt x="984" y="312"/>
                      <a:pt x="1008" y="456"/>
                    </a:cubicBezTo>
                    <a:cubicBezTo>
                      <a:pt x="1032" y="600"/>
                      <a:pt x="888" y="864"/>
                      <a:pt x="864" y="888"/>
                    </a:cubicBezTo>
                    <a:cubicBezTo>
                      <a:pt x="840" y="912"/>
                      <a:pt x="816" y="744"/>
                      <a:pt x="864" y="600"/>
                    </a:cubicBezTo>
                    <a:cubicBezTo>
                      <a:pt x="912" y="456"/>
                      <a:pt x="1056" y="24"/>
                      <a:pt x="1152" y="24"/>
                    </a:cubicBezTo>
                    <a:cubicBezTo>
                      <a:pt x="1248" y="24"/>
                      <a:pt x="1416" y="456"/>
                      <a:pt x="1440" y="600"/>
                    </a:cubicBezTo>
                    <a:cubicBezTo>
                      <a:pt x="1464" y="744"/>
                      <a:pt x="1296" y="936"/>
                      <a:pt x="1296" y="888"/>
                    </a:cubicBezTo>
                    <a:cubicBezTo>
                      <a:pt x="1296" y="840"/>
                      <a:pt x="1392" y="456"/>
                      <a:pt x="1440" y="312"/>
                    </a:cubicBezTo>
                    <a:cubicBezTo>
                      <a:pt x="1488" y="168"/>
                      <a:pt x="1512" y="0"/>
                      <a:pt x="1584" y="24"/>
                    </a:cubicBezTo>
                    <a:cubicBezTo>
                      <a:pt x="1656" y="48"/>
                      <a:pt x="1848" y="312"/>
                      <a:pt x="1872" y="456"/>
                    </a:cubicBezTo>
                    <a:cubicBezTo>
                      <a:pt x="1896" y="600"/>
                      <a:pt x="1752" y="864"/>
                      <a:pt x="1728" y="888"/>
                    </a:cubicBezTo>
                    <a:cubicBezTo>
                      <a:pt x="1704" y="912"/>
                      <a:pt x="1680" y="744"/>
                      <a:pt x="1728" y="600"/>
                    </a:cubicBezTo>
                    <a:cubicBezTo>
                      <a:pt x="1776" y="456"/>
                      <a:pt x="1944" y="48"/>
                      <a:pt x="2016" y="24"/>
                    </a:cubicBezTo>
                    <a:cubicBezTo>
                      <a:pt x="2088" y="0"/>
                      <a:pt x="2124" y="228"/>
                      <a:pt x="2160" y="45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90" name="Line 10"/>
              <p:cNvCxnSpPr>
                <a:cxnSpLocks noChangeShapeType="1"/>
              </p:cNvCxnSpPr>
              <p:nvPr/>
            </p:nvCxnSpPr>
            <p:spPr bwMode="auto">
              <a:xfrm>
                <a:off x="590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Line 11"/>
              <p:cNvCxnSpPr>
                <a:cxnSpLocks noChangeShapeType="1"/>
              </p:cNvCxnSpPr>
              <p:nvPr/>
            </p:nvCxnSpPr>
            <p:spPr bwMode="auto">
              <a:xfrm flipH="1">
                <a:off x="518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7" name="Group 56"/>
            <p:cNvGrpSpPr>
              <a:grpSpLocks/>
            </p:cNvGrpSpPr>
            <p:nvPr/>
          </p:nvGrpSpPr>
          <p:grpSpPr bwMode="auto">
            <a:xfrm>
              <a:off x="980237" y="373075"/>
              <a:ext cx="137160" cy="914400"/>
              <a:chOff x="8563" y="12460"/>
              <a:chExt cx="216" cy="1440"/>
            </a:xfrm>
          </p:grpSpPr>
          <p:grpSp>
            <p:nvGrpSpPr>
              <p:cNvPr id="84" name="Group 83"/>
              <p:cNvGrpSpPr>
                <a:grpSpLocks/>
              </p:cNvGrpSpPr>
              <p:nvPr/>
            </p:nvGrpSpPr>
            <p:grpSpPr bwMode="auto">
              <a:xfrm rot="5400000">
                <a:off x="8634" y="13031"/>
                <a:ext cx="74" cy="216"/>
                <a:chOff x="7702" y="4896"/>
                <a:chExt cx="74" cy="216"/>
              </a:xfrm>
            </p:grpSpPr>
            <p:cxnSp>
              <p:nvCxnSpPr>
                <p:cNvPr id="87" name="Line 14"/>
                <p:cNvCxnSpPr>
                  <a:cxnSpLocks noChangeShapeType="1"/>
                </p:cNvCxnSpPr>
                <p:nvPr/>
              </p:nvCxnSpPr>
              <p:spPr bwMode="auto">
                <a:xfrm>
                  <a:off x="7776" y="4896"/>
                  <a:ext cx="0" cy="2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88" name="Line 15"/>
                <p:cNvCxnSpPr>
                  <a:cxnSpLocks noChangeShapeType="1"/>
                </p:cNvCxnSpPr>
                <p:nvPr/>
              </p:nvCxnSpPr>
              <p:spPr bwMode="auto">
                <a:xfrm>
                  <a:off x="7702" y="4896"/>
                  <a:ext cx="0" cy="21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85" name="Line 16"/>
              <p:cNvCxnSpPr>
                <a:cxnSpLocks noChangeShapeType="1"/>
              </p:cNvCxnSpPr>
              <p:nvPr/>
            </p:nvCxnSpPr>
            <p:spPr bwMode="auto">
              <a:xfrm rot="5400000">
                <a:off x="8350" y="12785"/>
                <a:ext cx="6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Line 17"/>
              <p:cNvCxnSpPr>
                <a:cxnSpLocks noChangeShapeType="1"/>
              </p:cNvCxnSpPr>
              <p:nvPr/>
            </p:nvCxnSpPr>
            <p:spPr bwMode="auto">
              <a:xfrm rot="5400000">
                <a:off x="8312" y="13538"/>
                <a:ext cx="72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58" name="Group 57"/>
            <p:cNvGrpSpPr>
              <a:grpSpLocks/>
            </p:cNvGrpSpPr>
            <p:nvPr/>
          </p:nvGrpSpPr>
          <p:grpSpPr bwMode="auto">
            <a:xfrm rot="5400000">
              <a:off x="1583742" y="779070"/>
              <a:ext cx="640080" cy="109855"/>
              <a:chOff x="5184" y="13795"/>
              <a:chExt cx="1008" cy="173"/>
            </a:xfrm>
          </p:grpSpPr>
          <p:sp>
            <p:nvSpPr>
              <p:cNvPr id="81" name="Freeform 80"/>
              <p:cNvSpPr>
                <a:spLocks/>
              </p:cNvSpPr>
              <p:nvPr/>
            </p:nvSpPr>
            <p:spPr bwMode="auto">
              <a:xfrm>
                <a:off x="5417" y="13795"/>
                <a:ext cx="546" cy="1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82" name="Line 20"/>
              <p:cNvCxnSpPr>
                <a:cxnSpLocks noChangeShapeType="1"/>
              </p:cNvCxnSpPr>
              <p:nvPr/>
            </p:nvCxnSpPr>
            <p:spPr bwMode="auto">
              <a:xfrm flipH="1">
                <a:off x="518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Line 21"/>
              <p:cNvCxnSpPr>
                <a:cxnSpLocks noChangeShapeType="1"/>
              </p:cNvCxnSpPr>
              <p:nvPr/>
            </p:nvCxnSpPr>
            <p:spPr bwMode="auto">
              <a:xfrm flipH="1">
                <a:off x="590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09728" y="373075"/>
              <a:ext cx="457200" cy="914400"/>
            </a:xfrm>
            <a:custGeom>
              <a:avLst/>
              <a:gdLst>
                <a:gd name="T0" fmla="*/ 576 w 720"/>
                <a:gd name="T1" fmla="*/ 0 h 1440"/>
                <a:gd name="T2" fmla="*/ 0 w 720"/>
                <a:gd name="T3" fmla="*/ 0 h 1440"/>
                <a:gd name="T4" fmla="*/ 0 w 720"/>
                <a:gd name="T5" fmla="*/ 1440 h 1440"/>
                <a:gd name="T6" fmla="*/ 720 w 720"/>
                <a:gd name="T7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1440">
                  <a:moveTo>
                    <a:pt x="576" y="0"/>
                  </a:moveTo>
                  <a:lnTo>
                    <a:pt x="0" y="0"/>
                  </a:lnTo>
                  <a:lnTo>
                    <a:pt x="0" y="1440"/>
                  </a:lnTo>
                  <a:lnTo>
                    <a:pt x="720" y="144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60" name="Group 59"/>
            <p:cNvGrpSpPr>
              <a:grpSpLocks/>
            </p:cNvGrpSpPr>
            <p:nvPr/>
          </p:nvGrpSpPr>
          <p:grpSpPr bwMode="auto">
            <a:xfrm>
              <a:off x="0" y="680314"/>
              <a:ext cx="228600" cy="228600"/>
              <a:chOff x="5115" y="9171"/>
              <a:chExt cx="432" cy="432"/>
            </a:xfrm>
          </p:grpSpPr>
          <p:sp>
            <p:nvSpPr>
              <p:cNvPr id="74" name="Oval 73"/>
              <p:cNvSpPr>
                <a:spLocks noChangeArrowheads="1"/>
              </p:cNvSpPr>
              <p:nvPr/>
            </p:nvSpPr>
            <p:spPr bwMode="auto">
              <a:xfrm>
                <a:off x="5115" y="9171"/>
                <a:ext cx="432" cy="4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grpSp>
            <p:nvGrpSpPr>
              <p:cNvPr id="75" name="Group 74"/>
              <p:cNvGrpSpPr>
                <a:grpSpLocks/>
              </p:cNvGrpSpPr>
              <p:nvPr/>
            </p:nvGrpSpPr>
            <p:grpSpPr bwMode="auto">
              <a:xfrm>
                <a:off x="5268" y="9231"/>
                <a:ext cx="144" cy="144"/>
                <a:chOff x="2592" y="8997"/>
                <a:chExt cx="144" cy="144"/>
              </a:xfrm>
            </p:grpSpPr>
            <p:cxnSp>
              <p:nvCxnSpPr>
                <p:cNvPr id="78" name="Line 26"/>
                <p:cNvCxnSpPr>
                  <a:cxnSpLocks noChangeShapeType="1"/>
                </p:cNvCxnSpPr>
                <p:nvPr/>
              </p:nvCxnSpPr>
              <p:spPr bwMode="auto">
                <a:xfrm>
                  <a:off x="2592" y="905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9" name="Line 27"/>
                <p:cNvCxnSpPr>
                  <a:cxnSpLocks noChangeShapeType="1"/>
                </p:cNvCxnSpPr>
                <p:nvPr/>
              </p:nvCxnSpPr>
              <p:spPr bwMode="auto">
                <a:xfrm>
                  <a:off x="2652" y="899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76" name="Line 28"/>
              <p:cNvCxnSpPr>
                <a:cxnSpLocks noChangeShapeType="1"/>
              </p:cNvCxnSpPr>
              <p:nvPr/>
            </p:nvCxnSpPr>
            <p:spPr bwMode="auto">
              <a:xfrm>
                <a:off x="5268" y="947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892454" y="1104595"/>
              <a:ext cx="1005840" cy="182880"/>
            </a:xfrm>
            <a:custGeom>
              <a:avLst/>
              <a:gdLst>
                <a:gd name="T0" fmla="*/ 0 w 1584"/>
                <a:gd name="T1" fmla="*/ 288 h 288"/>
                <a:gd name="T2" fmla="*/ 1584 w 1584"/>
                <a:gd name="T3" fmla="*/ 288 h 288"/>
                <a:gd name="T4" fmla="*/ 1584 w 1584"/>
                <a:gd name="T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4" h="288">
                  <a:moveTo>
                    <a:pt x="0" y="288"/>
                  </a:moveTo>
                  <a:lnTo>
                    <a:pt x="1584" y="288"/>
                  </a:lnTo>
                  <a:lnTo>
                    <a:pt x="1584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62" name="Group 61"/>
            <p:cNvGrpSpPr>
              <a:grpSpLocks/>
            </p:cNvGrpSpPr>
            <p:nvPr/>
          </p:nvGrpSpPr>
          <p:grpSpPr bwMode="auto">
            <a:xfrm>
              <a:off x="972922" y="0"/>
              <a:ext cx="844550" cy="452120"/>
              <a:chOff x="3168" y="12096"/>
              <a:chExt cx="1330" cy="712"/>
            </a:xfrm>
          </p:grpSpPr>
          <p:cxnSp>
            <p:nvCxnSpPr>
              <p:cNvPr id="69" name="Line 31"/>
              <p:cNvCxnSpPr>
                <a:cxnSpLocks noChangeShapeType="1"/>
              </p:cNvCxnSpPr>
              <p:nvPr/>
            </p:nvCxnSpPr>
            <p:spPr bwMode="auto">
              <a:xfrm>
                <a:off x="3168" y="12672"/>
                <a:ext cx="576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none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0" name="Line 32"/>
              <p:cNvCxnSpPr>
                <a:cxnSpLocks noChangeShapeType="1"/>
              </p:cNvCxnSpPr>
              <p:nvPr/>
            </p:nvCxnSpPr>
            <p:spPr bwMode="auto">
              <a:xfrm>
                <a:off x="4066" y="12689"/>
                <a:ext cx="43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" name="Line 33"/>
              <p:cNvCxnSpPr>
                <a:cxnSpLocks noChangeShapeType="1"/>
              </p:cNvCxnSpPr>
              <p:nvPr/>
            </p:nvCxnSpPr>
            <p:spPr bwMode="auto">
              <a:xfrm flipV="1">
                <a:off x="3744" y="12520"/>
                <a:ext cx="288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" name="Arc 34"/>
              <p:cNvSpPr>
                <a:spLocks/>
              </p:cNvSpPr>
              <p:nvPr/>
            </p:nvSpPr>
            <p:spPr bwMode="auto">
              <a:xfrm rot="1226407">
                <a:off x="3693" y="12520"/>
                <a:ext cx="288" cy="288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73" name="Text Box 35"/>
              <p:cNvSpPr txBox="1">
                <a:spLocks noChangeArrowheads="1"/>
              </p:cNvSpPr>
              <p:nvPr/>
            </p:nvSpPr>
            <p:spPr bwMode="auto">
              <a:xfrm>
                <a:off x="3888" y="12096"/>
                <a:ext cx="288" cy="2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1711757" y="380391"/>
              <a:ext cx="182880" cy="182880"/>
            </a:xfrm>
            <a:custGeom>
              <a:avLst/>
              <a:gdLst>
                <a:gd name="T0" fmla="*/ 0 w 288"/>
                <a:gd name="T1" fmla="*/ 0 h 288"/>
                <a:gd name="T2" fmla="*/ 288 w 288"/>
                <a:gd name="T3" fmla="*/ 0 h 288"/>
                <a:gd name="T4" fmla="*/ 288 w 288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288">
                  <a:moveTo>
                    <a:pt x="0" y="0"/>
                  </a:moveTo>
                  <a:lnTo>
                    <a:pt x="288" y="0"/>
                  </a:lnTo>
                  <a:lnTo>
                    <a:pt x="288" y="28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64" name="Text Box 37"/>
            <p:cNvSpPr txBox="1">
              <a:spLocks noChangeArrowheads="1"/>
            </p:cNvSpPr>
            <p:nvPr/>
          </p:nvSpPr>
          <p:spPr bwMode="auto">
            <a:xfrm>
              <a:off x="1644091" y="722440"/>
              <a:ext cx="182880" cy="1644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 Box 38"/>
            <p:cNvSpPr txBox="1">
              <a:spLocks noChangeArrowheads="1"/>
            </p:cNvSpPr>
            <p:nvPr/>
          </p:nvSpPr>
          <p:spPr bwMode="auto">
            <a:xfrm>
              <a:off x="614477" y="138989"/>
              <a:ext cx="182880" cy="1644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 Box 39"/>
            <p:cNvSpPr txBox="1">
              <a:spLocks noChangeArrowheads="1"/>
            </p:cNvSpPr>
            <p:nvPr/>
          </p:nvSpPr>
          <p:spPr bwMode="auto">
            <a:xfrm>
              <a:off x="277141" y="683777"/>
              <a:ext cx="182880" cy="1644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Box 40"/>
            <p:cNvSpPr txBox="1">
              <a:spLocks noChangeArrowheads="1"/>
            </p:cNvSpPr>
            <p:nvPr/>
          </p:nvSpPr>
          <p:spPr bwMode="auto">
            <a:xfrm>
              <a:off x="1382573" y="504749"/>
              <a:ext cx="376555" cy="1644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t=0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Text Box 41"/>
            <p:cNvSpPr txBox="1">
              <a:spLocks noChangeArrowheads="1"/>
            </p:cNvSpPr>
            <p:nvPr/>
          </p:nvSpPr>
          <p:spPr bwMode="auto">
            <a:xfrm>
              <a:off x="1185062" y="738835"/>
              <a:ext cx="182880" cy="1644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5353877"/>
              </p:ext>
            </p:extLst>
          </p:nvPr>
        </p:nvGraphicFramePr>
        <p:xfrm>
          <a:off x="3657600" y="4605338"/>
          <a:ext cx="5068887" cy="168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240" imgH="977760" progId="Equation.DSMT4">
                  <p:embed/>
                </p:oleObj>
              </mc:Choice>
              <mc:Fallback>
                <p:oleObj name="Equation" r:id="rId3" imgW="3162240" imgH="977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605338"/>
                        <a:ext cx="5068887" cy="1687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Title 1"/>
          <p:cNvSpPr txBox="1">
            <a:spLocks/>
          </p:cNvSpPr>
          <p:nvPr/>
        </p:nvSpPr>
        <p:spPr>
          <a:xfrm>
            <a:off x="215035" y="1836518"/>
            <a:ext cx="4586705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Tìm điều kiện đầu (ở t&lt;0):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141388"/>
              </p:ext>
            </p:extLst>
          </p:nvPr>
        </p:nvGraphicFramePr>
        <p:xfrm>
          <a:off x="676032" y="2273474"/>
          <a:ext cx="3298894" cy="95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600" imgH="533160" progId="Equation.DSMT4">
                  <p:embed/>
                </p:oleObj>
              </mc:Choice>
              <mc:Fallback>
                <p:oleObj name="Equation" r:id="rId5" imgW="1866600" imgH="5331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032" y="2273474"/>
                        <a:ext cx="3298894" cy="953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Title 1"/>
          <p:cNvSpPr txBox="1">
            <a:spLocks/>
          </p:cNvSpPr>
          <p:nvPr/>
        </p:nvSpPr>
        <p:spPr>
          <a:xfrm>
            <a:off x="254950" y="4202561"/>
            <a:ext cx="4845687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Hệ phương trình dòng điện vòng:</a:t>
            </a:r>
          </a:p>
        </p:txBody>
      </p:sp>
      <p:sp>
        <p:nvSpPr>
          <p:cNvPr id="142" name="Title 1"/>
          <p:cNvSpPr txBox="1">
            <a:spLocks/>
          </p:cNvSpPr>
          <p:nvPr/>
        </p:nvSpPr>
        <p:spPr>
          <a:xfrm>
            <a:off x="259713" y="3352800"/>
            <a:ext cx="4845687" cy="815608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Sơ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đồ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tương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đương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toán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tử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mạch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ở 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 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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313505" y="2615707"/>
            <a:ext cx="3584558" cy="1842515"/>
            <a:chOff x="5313505" y="2615707"/>
            <a:chExt cx="3584558" cy="1842515"/>
          </a:xfrm>
        </p:grpSpPr>
        <p:sp>
          <p:nvSpPr>
            <p:cNvPr id="93" name="Text Box 43"/>
            <p:cNvSpPr txBox="1">
              <a:spLocks noChangeArrowheads="1"/>
            </p:cNvSpPr>
            <p:nvPr/>
          </p:nvSpPr>
          <p:spPr bwMode="auto">
            <a:xfrm>
              <a:off x="8625611" y="3613293"/>
              <a:ext cx="272452" cy="2397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Freeform 93"/>
            <p:cNvSpPr>
              <a:spLocks/>
            </p:cNvSpPr>
            <p:nvPr/>
          </p:nvSpPr>
          <p:spPr bwMode="auto">
            <a:xfrm>
              <a:off x="8211483" y="3058795"/>
              <a:ext cx="272452" cy="266586"/>
            </a:xfrm>
            <a:custGeom>
              <a:avLst/>
              <a:gdLst>
                <a:gd name="T0" fmla="*/ 0 w 288"/>
                <a:gd name="T1" fmla="*/ 0 h 288"/>
                <a:gd name="T2" fmla="*/ 288 w 288"/>
                <a:gd name="T3" fmla="*/ 0 h 288"/>
                <a:gd name="T4" fmla="*/ 288 w 288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" h="288">
                  <a:moveTo>
                    <a:pt x="0" y="0"/>
                  </a:moveTo>
                  <a:lnTo>
                    <a:pt x="288" y="0"/>
                  </a:lnTo>
                  <a:lnTo>
                    <a:pt x="288" y="288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95" name="Group 94"/>
            <p:cNvGrpSpPr>
              <a:grpSpLocks/>
            </p:cNvGrpSpPr>
            <p:nvPr/>
          </p:nvGrpSpPr>
          <p:grpSpPr bwMode="auto">
            <a:xfrm rot="5400000">
              <a:off x="8031034" y="3638191"/>
              <a:ext cx="933050" cy="163660"/>
              <a:chOff x="5184" y="13795"/>
              <a:chExt cx="1008" cy="173"/>
            </a:xfrm>
          </p:grpSpPr>
          <p:sp>
            <p:nvSpPr>
              <p:cNvPr id="129" name="Freeform 128"/>
              <p:cNvSpPr>
                <a:spLocks/>
              </p:cNvSpPr>
              <p:nvPr/>
            </p:nvSpPr>
            <p:spPr bwMode="auto">
              <a:xfrm>
                <a:off x="5417" y="13795"/>
                <a:ext cx="546" cy="173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30" name="Line 49"/>
              <p:cNvCxnSpPr>
                <a:cxnSpLocks noChangeShapeType="1"/>
              </p:cNvCxnSpPr>
              <p:nvPr/>
            </p:nvCxnSpPr>
            <p:spPr bwMode="auto">
              <a:xfrm flipH="1">
                <a:off x="518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1" name="Line 50"/>
              <p:cNvCxnSpPr>
                <a:cxnSpLocks noChangeShapeType="1"/>
              </p:cNvCxnSpPr>
              <p:nvPr/>
            </p:nvCxnSpPr>
            <p:spPr bwMode="auto">
              <a:xfrm flipH="1">
                <a:off x="5904" y="1388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8" name="Text Box 52"/>
            <p:cNvSpPr txBox="1">
              <a:spLocks noChangeArrowheads="1"/>
            </p:cNvSpPr>
            <p:nvPr/>
          </p:nvSpPr>
          <p:spPr bwMode="auto">
            <a:xfrm>
              <a:off x="6573892" y="3995913"/>
              <a:ext cx="272452" cy="23974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Box 53"/>
            <p:cNvSpPr txBox="1">
              <a:spLocks noChangeArrowheads="1"/>
            </p:cNvSpPr>
            <p:nvPr/>
          </p:nvSpPr>
          <p:spPr bwMode="auto">
            <a:xfrm>
              <a:off x="6469566" y="2636552"/>
              <a:ext cx="437059" cy="3128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SL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Freeform 101"/>
            <p:cNvSpPr>
              <a:spLocks/>
            </p:cNvSpPr>
            <p:nvPr/>
          </p:nvSpPr>
          <p:spPr bwMode="auto">
            <a:xfrm>
              <a:off x="6410913" y="4298086"/>
              <a:ext cx="516524" cy="160136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103" name="Group 102"/>
            <p:cNvGrpSpPr>
              <a:grpSpLocks/>
            </p:cNvGrpSpPr>
            <p:nvPr/>
          </p:nvGrpSpPr>
          <p:grpSpPr bwMode="auto">
            <a:xfrm>
              <a:off x="6174408" y="2973487"/>
              <a:ext cx="966828" cy="146252"/>
              <a:chOff x="5184" y="13392"/>
              <a:chExt cx="1022" cy="158"/>
            </a:xfrm>
          </p:grpSpPr>
          <p:sp>
            <p:nvSpPr>
              <p:cNvPr id="126" name="Freeform 125"/>
              <p:cNvSpPr>
                <a:spLocks/>
              </p:cNvSpPr>
              <p:nvPr/>
            </p:nvSpPr>
            <p:spPr bwMode="auto">
              <a:xfrm>
                <a:off x="5472" y="13392"/>
                <a:ext cx="432" cy="158"/>
              </a:xfrm>
              <a:custGeom>
                <a:avLst/>
                <a:gdLst>
                  <a:gd name="T0" fmla="*/ 0 w 2160"/>
                  <a:gd name="T1" fmla="*/ 456 h 936"/>
                  <a:gd name="T2" fmla="*/ 288 w 2160"/>
                  <a:gd name="T3" fmla="*/ 24 h 936"/>
                  <a:gd name="T4" fmla="*/ 576 w 2160"/>
                  <a:gd name="T5" fmla="*/ 456 h 936"/>
                  <a:gd name="T6" fmla="*/ 432 w 2160"/>
                  <a:gd name="T7" fmla="*/ 888 h 936"/>
                  <a:gd name="T8" fmla="*/ 432 w 2160"/>
                  <a:gd name="T9" fmla="*/ 600 h 936"/>
                  <a:gd name="T10" fmla="*/ 720 w 2160"/>
                  <a:gd name="T11" fmla="*/ 24 h 936"/>
                  <a:gd name="T12" fmla="*/ 1008 w 2160"/>
                  <a:gd name="T13" fmla="*/ 456 h 936"/>
                  <a:gd name="T14" fmla="*/ 864 w 2160"/>
                  <a:gd name="T15" fmla="*/ 888 h 936"/>
                  <a:gd name="T16" fmla="*/ 864 w 2160"/>
                  <a:gd name="T17" fmla="*/ 600 h 936"/>
                  <a:gd name="T18" fmla="*/ 1152 w 2160"/>
                  <a:gd name="T19" fmla="*/ 24 h 936"/>
                  <a:gd name="T20" fmla="*/ 1440 w 2160"/>
                  <a:gd name="T21" fmla="*/ 600 h 936"/>
                  <a:gd name="T22" fmla="*/ 1296 w 2160"/>
                  <a:gd name="T23" fmla="*/ 888 h 936"/>
                  <a:gd name="T24" fmla="*/ 1440 w 2160"/>
                  <a:gd name="T25" fmla="*/ 312 h 936"/>
                  <a:gd name="T26" fmla="*/ 1584 w 2160"/>
                  <a:gd name="T27" fmla="*/ 24 h 936"/>
                  <a:gd name="T28" fmla="*/ 1872 w 2160"/>
                  <a:gd name="T29" fmla="*/ 456 h 936"/>
                  <a:gd name="T30" fmla="*/ 1728 w 2160"/>
                  <a:gd name="T31" fmla="*/ 888 h 936"/>
                  <a:gd name="T32" fmla="*/ 1728 w 2160"/>
                  <a:gd name="T33" fmla="*/ 600 h 936"/>
                  <a:gd name="T34" fmla="*/ 2016 w 2160"/>
                  <a:gd name="T35" fmla="*/ 24 h 936"/>
                  <a:gd name="T36" fmla="*/ 2160 w 2160"/>
                  <a:gd name="T37" fmla="*/ 45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60" h="936">
                    <a:moveTo>
                      <a:pt x="0" y="456"/>
                    </a:moveTo>
                    <a:cubicBezTo>
                      <a:pt x="96" y="240"/>
                      <a:pt x="192" y="24"/>
                      <a:pt x="288" y="24"/>
                    </a:cubicBezTo>
                    <a:cubicBezTo>
                      <a:pt x="384" y="24"/>
                      <a:pt x="552" y="312"/>
                      <a:pt x="576" y="456"/>
                    </a:cubicBezTo>
                    <a:cubicBezTo>
                      <a:pt x="600" y="600"/>
                      <a:pt x="456" y="864"/>
                      <a:pt x="432" y="888"/>
                    </a:cubicBezTo>
                    <a:cubicBezTo>
                      <a:pt x="408" y="912"/>
                      <a:pt x="384" y="744"/>
                      <a:pt x="432" y="600"/>
                    </a:cubicBezTo>
                    <a:cubicBezTo>
                      <a:pt x="480" y="456"/>
                      <a:pt x="624" y="48"/>
                      <a:pt x="720" y="24"/>
                    </a:cubicBezTo>
                    <a:cubicBezTo>
                      <a:pt x="816" y="0"/>
                      <a:pt x="984" y="312"/>
                      <a:pt x="1008" y="456"/>
                    </a:cubicBezTo>
                    <a:cubicBezTo>
                      <a:pt x="1032" y="600"/>
                      <a:pt x="888" y="864"/>
                      <a:pt x="864" y="888"/>
                    </a:cubicBezTo>
                    <a:cubicBezTo>
                      <a:pt x="840" y="912"/>
                      <a:pt x="816" y="744"/>
                      <a:pt x="864" y="600"/>
                    </a:cubicBezTo>
                    <a:cubicBezTo>
                      <a:pt x="912" y="456"/>
                      <a:pt x="1056" y="24"/>
                      <a:pt x="1152" y="24"/>
                    </a:cubicBezTo>
                    <a:cubicBezTo>
                      <a:pt x="1248" y="24"/>
                      <a:pt x="1416" y="456"/>
                      <a:pt x="1440" y="600"/>
                    </a:cubicBezTo>
                    <a:cubicBezTo>
                      <a:pt x="1464" y="744"/>
                      <a:pt x="1296" y="936"/>
                      <a:pt x="1296" y="888"/>
                    </a:cubicBezTo>
                    <a:cubicBezTo>
                      <a:pt x="1296" y="840"/>
                      <a:pt x="1392" y="456"/>
                      <a:pt x="1440" y="312"/>
                    </a:cubicBezTo>
                    <a:cubicBezTo>
                      <a:pt x="1488" y="168"/>
                      <a:pt x="1512" y="0"/>
                      <a:pt x="1584" y="24"/>
                    </a:cubicBezTo>
                    <a:cubicBezTo>
                      <a:pt x="1656" y="48"/>
                      <a:pt x="1848" y="312"/>
                      <a:pt x="1872" y="456"/>
                    </a:cubicBezTo>
                    <a:cubicBezTo>
                      <a:pt x="1896" y="600"/>
                      <a:pt x="1752" y="864"/>
                      <a:pt x="1728" y="888"/>
                    </a:cubicBezTo>
                    <a:cubicBezTo>
                      <a:pt x="1704" y="912"/>
                      <a:pt x="1680" y="744"/>
                      <a:pt x="1728" y="600"/>
                    </a:cubicBezTo>
                    <a:cubicBezTo>
                      <a:pt x="1776" y="456"/>
                      <a:pt x="1944" y="48"/>
                      <a:pt x="2016" y="24"/>
                    </a:cubicBezTo>
                    <a:cubicBezTo>
                      <a:pt x="2088" y="0"/>
                      <a:pt x="2124" y="228"/>
                      <a:pt x="2160" y="456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27" name="Line 60"/>
              <p:cNvCxnSpPr>
                <a:cxnSpLocks noChangeShapeType="1"/>
              </p:cNvCxnSpPr>
              <p:nvPr/>
            </p:nvCxnSpPr>
            <p:spPr bwMode="auto">
              <a:xfrm>
                <a:off x="5918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" name="Line 61"/>
              <p:cNvCxnSpPr>
                <a:cxnSpLocks noChangeShapeType="1"/>
              </p:cNvCxnSpPr>
              <p:nvPr/>
            </p:nvCxnSpPr>
            <p:spPr bwMode="auto">
              <a:xfrm flipH="1">
                <a:off x="5184" y="13467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4" name="Group 103"/>
            <p:cNvGrpSpPr>
              <a:grpSpLocks/>
            </p:cNvGrpSpPr>
            <p:nvPr/>
          </p:nvGrpSpPr>
          <p:grpSpPr bwMode="auto">
            <a:xfrm rot="5400000">
              <a:off x="7187399" y="3312850"/>
              <a:ext cx="68498" cy="204339"/>
              <a:chOff x="7702" y="4896"/>
              <a:chExt cx="74" cy="216"/>
            </a:xfrm>
          </p:grpSpPr>
          <p:cxnSp>
            <p:nvCxnSpPr>
              <p:cNvPr id="124" name="Line 63"/>
              <p:cNvCxnSpPr>
                <a:cxnSpLocks noChangeShapeType="1"/>
              </p:cNvCxnSpPr>
              <p:nvPr/>
            </p:nvCxnSpPr>
            <p:spPr bwMode="auto">
              <a:xfrm>
                <a:off x="7776" y="4896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5" name="Line 64"/>
              <p:cNvCxnSpPr>
                <a:cxnSpLocks noChangeShapeType="1"/>
              </p:cNvCxnSpPr>
              <p:nvPr/>
            </p:nvCxnSpPr>
            <p:spPr bwMode="auto">
              <a:xfrm>
                <a:off x="7702" y="4896"/>
                <a:ext cx="0" cy="2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05" name="Line 65"/>
            <p:cNvCxnSpPr>
              <a:cxnSpLocks noChangeShapeType="1"/>
            </p:cNvCxnSpPr>
            <p:nvPr/>
          </p:nvCxnSpPr>
          <p:spPr bwMode="auto">
            <a:xfrm rot="5400000">
              <a:off x="7054127" y="3209465"/>
              <a:ext cx="336935" cy="56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6" name="Line 66"/>
            <p:cNvCxnSpPr>
              <a:cxnSpLocks noChangeShapeType="1"/>
            </p:cNvCxnSpPr>
            <p:nvPr/>
          </p:nvCxnSpPr>
          <p:spPr bwMode="auto">
            <a:xfrm rot="5400000">
              <a:off x="6743120" y="3907463"/>
              <a:ext cx="95989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7" name="Freeform 106"/>
            <p:cNvSpPr>
              <a:spLocks/>
            </p:cNvSpPr>
            <p:nvPr/>
          </p:nvSpPr>
          <p:spPr bwMode="auto">
            <a:xfrm>
              <a:off x="5830060" y="3043836"/>
              <a:ext cx="681131" cy="1332929"/>
            </a:xfrm>
            <a:custGeom>
              <a:avLst/>
              <a:gdLst>
                <a:gd name="T0" fmla="*/ 576 w 720"/>
                <a:gd name="T1" fmla="*/ 0 h 1440"/>
                <a:gd name="T2" fmla="*/ 0 w 720"/>
                <a:gd name="T3" fmla="*/ 0 h 1440"/>
                <a:gd name="T4" fmla="*/ 0 w 720"/>
                <a:gd name="T5" fmla="*/ 1440 h 1440"/>
                <a:gd name="T6" fmla="*/ 720 w 720"/>
                <a:gd name="T7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20" h="1440">
                  <a:moveTo>
                    <a:pt x="576" y="0"/>
                  </a:moveTo>
                  <a:lnTo>
                    <a:pt x="0" y="0"/>
                  </a:lnTo>
                  <a:lnTo>
                    <a:pt x="0" y="1440"/>
                  </a:lnTo>
                  <a:lnTo>
                    <a:pt x="720" y="144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grpSp>
          <p:nvGrpSpPr>
            <p:cNvPr id="108" name="Group 107"/>
            <p:cNvGrpSpPr>
              <a:grpSpLocks/>
            </p:cNvGrpSpPr>
            <p:nvPr/>
          </p:nvGrpSpPr>
          <p:grpSpPr bwMode="auto">
            <a:xfrm>
              <a:off x="5661669" y="3490922"/>
              <a:ext cx="340565" cy="333232"/>
              <a:chOff x="5115" y="9171"/>
              <a:chExt cx="432" cy="432"/>
            </a:xfrm>
          </p:grpSpPr>
          <p:sp>
            <p:nvSpPr>
              <p:cNvPr id="119" name="Oval 118"/>
              <p:cNvSpPr>
                <a:spLocks noChangeArrowheads="1"/>
              </p:cNvSpPr>
              <p:nvPr/>
            </p:nvSpPr>
            <p:spPr bwMode="auto">
              <a:xfrm>
                <a:off x="5115" y="9171"/>
                <a:ext cx="432" cy="4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grpSp>
            <p:nvGrpSpPr>
              <p:cNvPr id="120" name="Group 119"/>
              <p:cNvGrpSpPr>
                <a:grpSpLocks/>
              </p:cNvGrpSpPr>
              <p:nvPr/>
            </p:nvGrpSpPr>
            <p:grpSpPr bwMode="auto">
              <a:xfrm>
                <a:off x="5268" y="9231"/>
                <a:ext cx="144" cy="144"/>
                <a:chOff x="2592" y="8997"/>
                <a:chExt cx="144" cy="144"/>
              </a:xfrm>
            </p:grpSpPr>
            <p:cxnSp>
              <p:nvCxnSpPr>
                <p:cNvPr id="122" name="Line 71"/>
                <p:cNvCxnSpPr>
                  <a:cxnSpLocks noChangeShapeType="1"/>
                </p:cNvCxnSpPr>
                <p:nvPr/>
              </p:nvCxnSpPr>
              <p:spPr bwMode="auto">
                <a:xfrm>
                  <a:off x="2592" y="905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3" name="Line 72"/>
                <p:cNvCxnSpPr>
                  <a:cxnSpLocks noChangeShapeType="1"/>
                </p:cNvCxnSpPr>
                <p:nvPr/>
              </p:nvCxnSpPr>
              <p:spPr bwMode="auto">
                <a:xfrm>
                  <a:off x="2652" y="899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21" name="Line 73"/>
              <p:cNvCxnSpPr>
                <a:cxnSpLocks noChangeShapeType="1"/>
              </p:cNvCxnSpPr>
              <p:nvPr/>
            </p:nvCxnSpPr>
            <p:spPr bwMode="auto">
              <a:xfrm>
                <a:off x="5268" y="947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9" name="Freeform 108"/>
            <p:cNvSpPr>
              <a:spLocks/>
            </p:cNvSpPr>
            <p:nvPr/>
          </p:nvSpPr>
          <p:spPr bwMode="auto">
            <a:xfrm>
              <a:off x="6991767" y="4110180"/>
              <a:ext cx="1498488" cy="266586"/>
            </a:xfrm>
            <a:custGeom>
              <a:avLst/>
              <a:gdLst>
                <a:gd name="T0" fmla="*/ 0 w 1584"/>
                <a:gd name="T1" fmla="*/ 288 h 288"/>
                <a:gd name="T2" fmla="*/ 1584 w 1584"/>
                <a:gd name="T3" fmla="*/ 288 h 288"/>
                <a:gd name="T4" fmla="*/ 1584 w 1584"/>
                <a:gd name="T5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4" h="288">
                  <a:moveTo>
                    <a:pt x="0" y="288"/>
                  </a:moveTo>
                  <a:lnTo>
                    <a:pt x="1584" y="288"/>
                  </a:lnTo>
                  <a:lnTo>
                    <a:pt x="1584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cxnSp>
          <p:nvCxnSpPr>
            <p:cNvPr id="110" name="Line 75"/>
            <p:cNvCxnSpPr>
              <a:cxnSpLocks noChangeShapeType="1"/>
            </p:cNvCxnSpPr>
            <p:nvPr/>
          </p:nvCxnSpPr>
          <p:spPr bwMode="auto">
            <a:xfrm>
              <a:off x="7104342" y="3052167"/>
              <a:ext cx="13622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1" name="Arc 76"/>
            <p:cNvSpPr>
              <a:spLocks/>
            </p:cNvSpPr>
            <p:nvPr/>
          </p:nvSpPr>
          <p:spPr bwMode="auto">
            <a:xfrm>
              <a:off x="6138633" y="3411177"/>
              <a:ext cx="680185" cy="53317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10944 w 43200"/>
                <a:gd name="T3" fmla="*/ 2812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3823"/>
                    <a:pt x="4179" y="6647"/>
                    <a:pt x="10943" y="2811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3823"/>
                    <a:pt x="4179" y="6647"/>
                    <a:pt x="10943" y="281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C00000"/>
              </a:solidFill>
              <a:prstDash val="sysDot"/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I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v1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Arc 77"/>
            <p:cNvSpPr>
              <a:spLocks/>
            </p:cNvSpPr>
            <p:nvPr/>
          </p:nvSpPr>
          <p:spPr bwMode="auto">
            <a:xfrm>
              <a:off x="7852440" y="3341208"/>
              <a:ext cx="529560" cy="585472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10944 w 43200"/>
                <a:gd name="T3" fmla="*/ 2812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3823"/>
                    <a:pt x="4179" y="6647"/>
                    <a:pt x="10943" y="2811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3823"/>
                    <a:pt x="4179" y="6647"/>
                    <a:pt x="10943" y="281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rgbClr val="C00000"/>
              </a:solidFill>
              <a:prstDash val="sysDot"/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v2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3" name="Group 112"/>
            <p:cNvGrpSpPr>
              <a:grpSpLocks/>
            </p:cNvGrpSpPr>
            <p:nvPr/>
          </p:nvGrpSpPr>
          <p:grpSpPr bwMode="auto">
            <a:xfrm>
              <a:off x="7067448" y="3686234"/>
              <a:ext cx="340565" cy="333232"/>
              <a:chOff x="5115" y="9171"/>
              <a:chExt cx="432" cy="432"/>
            </a:xfrm>
          </p:grpSpPr>
          <p:sp>
            <p:nvSpPr>
              <p:cNvPr id="114" name="Oval 113"/>
              <p:cNvSpPr>
                <a:spLocks noChangeArrowheads="1"/>
              </p:cNvSpPr>
              <p:nvPr/>
            </p:nvSpPr>
            <p:spPr bwMode="auto">
              <a:xfrm>
                <a:off x="5115" y="9171"/>
                <a:ext cx="432" cy="432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grpSp>
            <p:nvGrpSpPr>
              <p:cNvPr id="115" name="Group 114"/>
              <p:cNvGrpSpPr>
                <a:grpSpLocks/>
              </p:cNvGrpSpPr>
              <p:nvPr/>
            </p:nvGrpSpPr>
            <p:grpSpPr bwMode="auto">
              <a:xfrm>
                <a:off x="5268" y="9231"/>
                <a:ext cx="144" cy="144"/>
                <a:chOff x="2592" y="8997"/>
                <a:chExt cx="144" cy="144"/>
              </a:xfrm>
            </p:grpSpPr>
            <p:cxnSp>
              <p:nvCxnSpPr>
                <p:cNvPr id="117" name="Line 81"/>
                <p:cNvCxnSpPr>
                  <a:cxnSpLocks noChangeShapeType="1"/>
                </p:cNvCxnSpPr>
                <p:nvPr/>
              </p:nvCxnSpPr>
              <p:spPr bwMode="auto">
                <a:xfrm>
                  <a:off x="2592" y="9057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8" name="Line 82"/>
                <p:cNvCxnSpPr>
                  <a:cxnSpLocks noChangeShapeType="1"/>
                </p:cNvCxnSpPr>
                <p:nvPr/>
              </p:nvCxnSpPr>
              <p:spPr bwMode="auto">
                <a:xfrm>
                  <a:off x="2652" y="8997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16" name="Line 83"/>
              <p:cNvCxnSpPr>
                <a:cxnSpLocks noChangeShapeType="1"/>
              </p:cNvCxnSpPr>
              <p:nvPr/>
            </p:nvCxnSpPr>
            <p:spPr bwMode="auto">
              <a:xfrm>
                <a:off x="5268" y="9474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aphicFrame>
          <p:nvGraphicFramePr>
            <p:cNvPr id="133" name="Object 1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6200502"/>
                </p:ext>
              </p:extLst>
            </p:nvPr>
          </p:nvGraphicFramePr>
          <p:xfrm>
            <a:off x="5313505" y="3380770"/>
            <a:ext cx="328676" cy="593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7480" imgH="393480" progId="Equation.DSMT4">
                    <p:embed/>
                  </p:oleObj>
                </mc:Choice>
                <mc:Fallback>
                  <p:oleObj name="Equation" r:id="rId7" imgW="17748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3505" y="3380770"/>
                          <a:ext cx="328676" cy="59398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" name="Object 1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4223853"/>
                </p:ext>
              </p:extLst>
            </p:nvPr>
          </p:nvGraphicFramePr>
          <p:xfrm>
            <a:off x="7388279" y="3620311"/>
            <a:ext cx="511020" cy="680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03040" imgH="393480" progId="Equation.DSMT4">
                    <p:embed/>
                  </p:oleObj>
                </mc:Choice>
                <mc:Fallback>
                  <p:oleObj name="Equation" r:id="rId9" imgW="20304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88279" y="3620311"/>
                          <a:ext cx="511020" cy="6808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Object 9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0248173"/>
                </p:ext>
              </p:extLst>
            </p:nvPr>
          </p:nvGraphicFramePr>
          <p:xfrm>
            <a:off x="7310438" y="3117850"/>
            <a:ext cx="446087" cy="593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41200" imgH="393480" progId="Equation.DSMT4">
                    <p:embed/>
                  </p:oleObj>
                </mc:Choice>
                <mc:Fallback>
                  <p:oleObj name="Equation" r:id="rId11" imgW="2412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10438" y="3117850"/>
                          <a:ext cx="446087" cy="5937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" name="Text Box 53"/>
            <p:cNvSpPr txBox="1">
              <a:spLocks noChangeArrowheads="1"/>
            </p:cNvSpPr>
            <p:nvPr/>
          </p:nvSpPr>
          <p:spPr bwMode="auto">
            <a:xfrm>
              <a:off x="7741011" y="2615707"/>
              <a:ext cx="437059" cy="3128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b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2000" b="1" baseline="-2500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endParaRPr lang="en-US" sz="2000" b="1" baseline="-2500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" name="Straight Arrow Connector 3"/>
            <p:cNvCxnSpPr/>
            <p:nvPr/>
          </p:nvCxnSpPr>
          <p:spPr>
            <a:xfrm>
              <a:off x="7642220" y="2971800"/>
              <a:ext cx="629224" cy="0"/>
            </a:xfrm>
            <a:prstGeom prst="straightConnector1">
              <a:avLst/>
            </a:prstGeom>
            <a:ln w="254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7" name="Object 96">
            <a:extLst>
              <a:ext uri="{FF2B5EF4-FFF2-40B4-BE49-F238E27FC236}">
                <a16:creationId xmlns:a16="http://schemas.microsoft.com/office/drawing/2014/main" id="{EAA1FD92-098C-4939-8662-2850C6C486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914557"/>
              </p:ext>
            </p:extLst>
          </p:nvPr>
        </p:nvGraphicFramePr>
        <p:xfrm>
          <a:off x="381000" y="5062538"/>
          <a:ext cx="314483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04760" imgH="507960" progId="Equation.DSMT4">
                  <p:embed/>
                </p:oleObj>
              </mc:Choice>
              <mc:Fallback>
                <p:oleObj name="Equation" r:id="rId13" imgW="1904760" imgH="50796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062538"/>
                        <a:ext cx="3144838" cy="877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59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/>
      <p:bldP spid="139" grpId="0"/>
      <p:bldP spid="1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39" name="Title 1"/>
          <p:cNvSpPr txBox="1">
            <a:spLocks/>
          </p:cNvSpPr>
          <p:nvPr/>
        </p:nvSpPr>
        <p:spPr>
          <a:xfrm>
            <a:off x="304800" y="361146"/>
            <a:ext cx="4845687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Thay số &amp; giải ra được: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32824"/>
              </p:ext>
            </p:extLst>
          </p:nvPr>
        </p:nvGraphicFramePr>
        <p:xfrm>
          <a:off x="372907" y="811213"/>
          <a:ext cx="3309938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596880" progId="Equation.DSMT4">
                  <p:embed/>
                </p:oleObj>
              </mc:Choice>
              <mc:Fallback>
                <p:oleObj name="Equation" r:id="rId3" imgW="1955520" imgH="5968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7" y="811213"/>
                        <a:ext cx="3309938" cy="1017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724776"/>
              </p:ext>
            </p:extLst>
          </p:nvPr>
        </p:nvGraphicFramePr>
        <p:xfrm>
          <a:off x="388229" y="1878013"/>
          <a:ext cx="5008563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58840" imgH="596880" progId="Equation.DSMT4">
                  <p:embed/>
                </p:oleObj>
              </mc:Choice>
              <mc:Fallback>
                <p:oleObj name="Equation" r:id="rId5" imgW="295884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229" y="1878013"/>
                        <a:ext cx="5008563" cy="10175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807859"/>
              </p:ext>
            </p:extLst>
          </p:nvPr>
        </p:nvGraphicFramePr>
        <p:xfrm>
          <a:off x="437479" y="2903885"/>
          <a:ext cx="6247994" cy="1134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733560" imgH="672840" progId="Equation.DSMT4">
                  <p:embed/>
                </p:oleObj>
              </mc:Choice>
              <mc:Fallback>
                <p:oleObj name="Equation" r:id="rId7" imgW="373356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479" y="2903885"/>
                        <a:ext cx="6247994" cy="11347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702726"/>
              </p:ext>
            </p:extLst>
          </p:nvPr>
        </p:nvGraphicFramePr>
        <p:xfrm>
          <a:off x="432260" y="4038600"/>
          <a:ext cx="5308600" cy="114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36680" imgH="672840" progId="Equation.DSMT4">
                  <p:embed/>
                </p:oleObj>
              </mc:Choice>
              <mc:Fallback>
                <p:oleObj name="Equation" r:id="rId9" imgW="313668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260" y="4038600"/>
                        <a:ext cx="5308600" cy="11477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160575"/>
              </p:ext>
            </p:extLst>
          </p:nvPr>
        </p:nvGraphicFramePr>
        <p:xfrm>
          <a:off x="457200" y="5266085"/>
          <a:ext cx="4619625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30240" imgH="672840" progId="Equation.DSMT4">
                  <p:embed/>
                </p:oleObj>
              </mc:Choice>
              <mc:Fallback>
                <p:oleObj name="Equation" r:id="rId11" imgW="273024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5266085"/>
                        <a:ext cx="4619625" cy="1147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605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0B82C6E-A6C5-4A0C-8312-694F45CC3C98}"/>
              </a:ext>
            </a:extLst>
          </p:cNvPr>
          <p:cNvGrpSpPr/>
          <p:nvPr/>
        </p:nvGrpSpPr>
        <p:grpSpPr>
          <a:xfrm>
            <a:off x="541337" y="1717699"/>
            <a:ext cx="8297863" cy="791213"/>
            <a:chOff x="541337" y="1799587"/>
            <a:chExt cx="8297863" cy="791213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05F1629-E546-4AF1-9E52-9898918E4105}"/>
                </a:ext>
              </a:extLst>
            </p:cNvPr>
            <p:cNvSpPr/>
            <p:nvPr/>
          </p:nvSpPr>
          <p:spPr>
            <a:xfrm>
              <a:off x="5366266" y="1799587"/>
              <a:ext cx="3472934" cy="79121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E779BE5-75A7-4AA4-946F-E3AC58FA56B7}"/>
                </a:ext>
              </a:extLst>
            </p:cNvPr>
            <p:cNvSpPr/>
            <p:nvPr/>
          </p:nvSpPr>
          <p:spPr>
            <a:xfrm>
              <a:off x="541337" y="2000600"/>
              <a:ext cx="4025900" cy="57655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92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848360"/>
              </p:ext>
            </p:extLst>
          </p:nvPr>
        </p:nvGraphicFramePr>
        <p:xfrm>
          <a:off x="541337" y="381000"/>
          <a:ext cx="3268663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30320" imgH="444240" progId="Equation.DSMT4">
                  <p:embed/>
                </p:oleObj>
              </mc:Choice>
              <mc:Fallback>
                <p:oleObj name="Equation" r:id="rId3" imgW="1930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" y="381000"/>
                        <a:ext cx="3268663" cy="7572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131176"/>
              </p:ext>
            </p:extLst>
          </p:nvPr>
        </p:nvGraphicFramePr>
        <p:xfrm>
          <a:off x="546100" y="1914743"/>
          <a:ext cx="40259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33360" imgH="330120" progId="Equation.DSMT4">
                  <p:embed/>
                </p:oleObj>
              </mc:Choice>
              <mc:Fallback>
                <p:oleObj name="Equation" r:id="rId5" imgW="21333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914743"/>
                        <a:ext cx="4025900" cy="595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616236"/>
              </p:ext>
            </p:extLst>
          </p:nvPr>
        </p:nvGraphicFramePr>
        <p:xfrm>
          <a:off x="5439266" y="1723181"/>
          <a:ext cx="3399934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854000" imgH="431640" progId="Equation.DSMT4">
                  <p:embed/>
                </p:oleObj>
              </mc:Choice>
              <mc:Fallback>
                <p:oleObj name="Equation" r:id="rId7" imgW="18540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9266" y="1723181"/>
                        <a:ext cx="3399934" cy="781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>
            <a:extLst>
              <a:ext uri="{FF2B5EF4-FFF2-40B4-BE49-F238E27FC236}">
                <a16:creationId xmlns:a16="http://schemas.microsoft.com/office/drawing/2014/main" id="{1DBB3D61-374B-4AC2-9C4E-2A89CF7227A1}"/>
              </a:ext>
            </a:extLst>
          </p:cNvPr>
          <p:cNvGrpSpPr/>
          <p:nvPr/>
        </p:nvGrpSpPr>
        <p:grpSpPr>
          <a:xfrm>
            <a:off x="475022" y="940961"/>
            <a:ext cx="694764" cy="806877"/>
            <a:chOff x="475022" y="1240153"/>
            <a:chExt cx="694764" cy="806877"/>
          </a:xfrm>
        </p:grpSpPr>
        <p:cxnSp>
          <p:nvCxnSpPr>
            <p:cNvPr id="14" name="Straight Arrow Connector 13"/>
            <p:cNvCxnSpPr>
              <a:cxnSpLocks/>
            </p:cNvCxnSpPr>
            <p:nvPr/>
          </p:nvCxnSpPr>
          <p:spPr>
            <a:xfrm>
              <a:off x="1002996" y="1240153"/>
              <a:ext cx="0" cy="8068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itle 1"/>
            <p:cNvSpPr txBox="1">
              <a:spLocks/>
            </p:cNvSpPr>
            <p:nvPr/>
          </p:nvSpPr>
          <p:spPr>
            <a:xfrm>
              <a:off x="475022" y="1425615"/>
              <a:ext cx="694764" cy="4462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>
                <a:spcBef>
                  <a:spcPts val="0"/>
                </a:spcBef>
              </a:pPr>
              <a:r>
                <a:rPr lang="en-US" sz="20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LT</a:t>
              </a:r>
              <a:r>
                <a:rPr lang="en-US" sz="2000" i="1" baseline="30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442C780-D3AE-4A8B-9B2A-307718A5EEC9}"/>
              </a:ext>
            </a:extLst>
          </p:cNvPr>
          <p:cNvGrpSpPr/>
          <p:nvPr/>
        </p:nvGrpSpPr>
        <p:grpSpPr>
          <a:xfrm>
            <a:off x="915524" y="2598304"/>
            <a:ext cx="2931329" cy="2430896"/>
            <a:chOff x="915524" y="2522104"/>
            <a:chExt cx="2931329" cy="2430896"/>
          </a:xfrm>
        </p:grpSpPr>
        <p:grpSp>
          <p:nvGrpSpPr>
            <p:cNvPr id="2" name="Group 1"/>
            <p:cNvGrpSpPr/>
            <p:nvPr/>
          </p:nvGrpSpPr>
          <p:grpSpPr>
            <a:xfrm>
              <a:off x="915524" y="2522104"/>
              <a:ext cx="2931329" cy="1838353"/>
              <a:chOff x="838200" y="422595"/>
              <a:chExt cx="2931329" cy="1838353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838200" y="422595"/>
                <a:ext cx="2931329" cy="1838353"/>
                <a:chOff x="5638800" y="363908"/>
                <a:chExt cx="2931329" cy="1838353"/>
              </a:xfrm>
            </p:grpSpPr>
            <p:sp>
              <p:nvSpPr>
                <p:cNvPr id="54" name="Freeform 53"/>
                <p:cNvSpPr>
                  <a:spLocks/>
                </p:cNvSpPr>
                <p:nvPr/>
              </p:nvSpPr>
              <p:spPr bwMode="auto">
                <a:xfrm>
                  <a:off x="6444292" y="2035089"/>
                  <a:ext cx="518873" cy="167172"/>
                </a:xfrm>
                <a:custGeom>
                  <a:avLst/>
                  <a:gdLst>
                    <a:gd name="T0" fmla="*/ 0 w 1728"/>
                    <a:gd name="T1" fmla="*/ 144 h 288"/>
                    <a:gd name="T2" fmla="*/ 288 w 1728"/>
                    <a:gd name="T3" fmla="*/ 144 h 288"/>
                    <a:gd name="T4" fmla="*/ 432 w 1728"/>
                    <a:gd name="T5" fmla="*/ 0 h 288"/>
                    <a:gd name="T6" fmla="*/ 576 w 1728"/>
                    <a:gd name="T7" fmla="*/ 288 h 288"/>
                    <a:gd name="T8" fmla="*/ 720 w 1728"/>
                    <a:gd name="T9" fmla="*/ 0 h 288"/>
                    <a:gd name="T10" fmla="*/ 864 w 1728"/>
                    <a:gd name="T11" fmla="*/ 288 h 288"/>
                    <a:gd name="T12" fmla="*/ 1008 w 1728"/>
                    <a:gd name="T13" fmla="*/ 0 h 288"/>
                    <a:gd name="T14" fmla="*/ 1152 w 1728"/>
                    <a:gd name="T15" fmla="*/ 288 h 288"/>
                    <a:gd name="T16" fmla="*/ 1296 w 1728"/>
                    <a:gd name="T17" fmla="*/ 0 h 288"/>
                    <a:gd name="T18" fmla="*/ 1440 w 1728"/>
                    <a:gd name="T19" fmla="*/ 144 h 288"/>
                    <a:gd name="T20" fmla="*/ 1728 w 1728"/>
                    <a:gd name="T21" fmla="*/ 144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728" h="288">
                      <a:moveTo>
                        <a:pt x="0" y="144"/>
                      </a:moveTo>
                      <a:lnTo>
                        <a:pt x="288" y="144"/>
                      </a:lnTo>
                      <a:lnTo>
                        <a:pt x="432" y="0"/>
                      </a:lnTo>
                      <a:lnTo>
                        <a:pt x="576" y="288"/>
                      </a:lnTo>
                      <a:lnTo>
                        <a:pt x="720" y="0"/>
                      </a:lnTo>
                      <a:lnTo>
                        <a:pt x="864" y="288"/>
                      </a:lnTo>
                      <a:lnTo>
                        <a:pt x="1008" y="0"/>
                      </a:lnTo>
                      <a:lnTo>
                        <a:pt x="1152" y="288"/>
                      </a:lnTo>
                      <a:lnTo>
                        <a:pt x="1296" y="0"/>
                      </a:lnTo>
                      <a:lnTo>
                        <a:pt x="1440" y="144"/>
                      </a:lnTo>
                      <a:lnTo>
                        <a:pt x="1728" y="144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5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591245" y="1677474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000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56" name="Group 55"/>
                <p:cNvGrpSpPr>
                  <a:grpSpLocks/>
                </p:cNvGrpSpPr>
                <p:nvPr/>
              </p:nvGrpSpPr>
              <p:grpSpPr bwMode="auto">
                <a:xfrm>
                  <a:off x="6153339" y="642205"/>
                  <a:ext cx="957919" cy="152677"/>
                  <a:chOff x="5184" y="13392"/>
                  <a:chExt cx="1008" cy="158"/>
                </a:xfrm>
              </p:grpSpPr>
              <p:sp>
                <p:nvSpPr>
                  <p:cNvPr id="89" name="Freeform 88"/>
                  <p:cNvSpPr>
                    <a:spLocks/>
                  </p:cNvSpPr>
                  <p:nvPr/>
                </p:nvSpPr>
                <p:spPr bwMode="auto">
                  <a:xfrm>
                    <a:off x="5472" y="13392"/>
                    <a:ext cx="432" cy="158"/>
                  </a:xfrm>
                  <a:custGeom>
                    <a:avLst/>
                    <a:gdLst>
                      <a:gd name="T0" fmla="*/ 0 w 2160"/>
                      <a:gd name="T1" fmla="*/ 456 h 936"/>
                      <a:gd name="T2" fmla="*/ 288 w 2160"/>
                      <a:gd name="T3" fmla="*/ 24 h 936"/>
                      <a:gd name="T4" fmla="*/ 576 w 2160"/>
                      <a:gd name="T5" fmla="*/ 456 h 936"/>
                      <a:gd name="T6" fmla="*/ 432 w 2160"/>
                      <a:gd name="T7" fmla="*/ 888 h 936"/>
                      <a:gd name="T8" fmla="*/ 432 w 2160"/>
                      <a:gd name="T9" fmla="*/ 600 h 936"/>
                      <a:gd name="T10" fmla="*/ 720 w 2160"/>
                      <a:gd name="T11" fmla="*/ 24 h 936"/>
                      <a:gd name="T12" fmla="*/ 1008 w 2160"/>
                      <a:gd name="T13" fmla="*/ 456 h 936"/>
                      <a:gd name="T14" fmla="*/ 864 w 2160"/>
                      <a:gd name="T15" fmla="*/ 888 h 936"/>
                      <a:gd name="T16" fmla="*/ 864 w 2160"/>
                      <a:gd name="T17" fmla="*/ 600 h 936"/>
                      <a:gd name="T18" fmla="*/ 1152 w 2160"/>
                      <a:gd name="T19" fmla="*/ 24 h 936"/>
                      <a:gd name="T20" fmla="*/ 1440 w 2160"/>
                      <a:gd name="T21" fmla="*/ 600 h 936"/>
                      <a:gd name="T22" fmla="*/ 1296 w 2160"/>
                      <a:gd name="T23" fmla="*/ 888 h 936"/>
                      <a:gd name="T24" fmla="*/ 1440 w 2160"/>
                      <a:gd name="T25" fmla="*/ 312 h 936"/>
                      <a:gd name="T26" fmla="*/ 1584 w 2160"/>
                      <a:gd name="T27" fmla="*/ 24 h 936"/>
                      <a:gd name="T28" fmla="*/ 1872 w 2160"/>
                      <a:gd name="T29" fmla="*/ 456 h 936"/>
                      <a:gd name="T30" fmla="*/ 1728 w 2160"/>
                      <a:gd name="T31" fmla="*/ 888 h 936"/>
                      <a:gd name="T32" fmla="*/ 1728 w 2160"/>
                      <a:gd name="T33" fmla="*/ 600 h 936"/>
                      <a:gd name="T34" fmla="*/ 2016 w 2160"/>
                      <a:gd name="T35" fmla="*/ 24 h 936"/>
                      <a:gd name="T36" fmla="*/ 2160 w 2160"/>
                      <a:gd name="T37" fmla="*/ 456 h 9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160" h="936">
                        <a:moveTo>
                          <a:pt x="0" y="456"/>
                        </a:moveTo>
                        <a:cubicBezTo>
                          <a:pt x="96" y="240"/>
                          <a:pt x="192" y="24"/>
                          <a:pt x="288" y="24"/>
                        </a:cubicBezTo>
                        <a:cubicBezTo>
                          <a:pt x="384" y="24"/>
                          <a:pt x="552" y="312"/>
                          <a:pt x="576" y="456"/>
                        </a:cubicBezTo>
                        <a:cubicBezTo>
                          <a:pt x="600" y="600"/>
                          <a:pt x="456" y="864"/>
                          <a:pt x="432" y="888"/>
                        </a:cubicBezTo>
                        <a:cubicBezTo>
                          <a:pt x="408" y="912"/>
                          <a:pt x="384" y="744"/>
                          <a:pt x="432" y="600"/>
                        </a:cubicBezTo>
                        <a:cubicBezTo>
                          <a:pt x="480" y="456"/>
                          <a:pt x="624" y="48"/>
                          <a:pt x="720" y="24"/>
                        </a:cubicBezTo>
                        <a:cubicBezTo>
                          <a:pt x="816" y="0"/>
                          <a:pt x="984" y="312"/>
                          <a:pt x="1008" y="456"/>
                        </a:cubicBezTo>
                        <a:cubicBezTo>
                          <a:pt x="1032" y="600"/>
                          <a:pt x="888" y="864"/>
                          <a:pt x="864" y="888"/>
                        </a:cubicBezTo>
                        <a:cubicBezTo>
                          <a:pt x="840" y="912"/>
                          <a:pt x="816" y="744"/>
                          <a:pt x="864" y="600"/>
                        </a:cubicBezTo>
                        <a:cubicBezTo>
                          <a:pt x="912" y="456"/>
                          <a:pt x="1056" y="24"/>
                          <a:pt x="1152" y="24"/>
                        </a:cubicBezTo>
                        <a:cubicBezTo>
                          <a:pt x="1248" y="24"/>
                          <a:pt x="1416" y="456"/>
                          <a:pt x="1440" y="600"/>
                        </a:cubicBezTo>
                        <a:cubicBezTo>
                          <a:pt x="1464" y="744"/>
                          <a:pt x="1296" y="936"/>
                          <a:pt x="1296" y="888"/>
                        </a:cubicBezTo>
                        <a:cubicBezTo>
                          <a:pt x="1296" y="840"/>
                          <a:pt x="1392" y="456"/>
                          <a:pt x="1440" y="312"/>
                        </a:cubicBezTo>
                        <a:cubicBezTo>
                          <a:pt x="1488" y="168"/>
                          <a:pt x="1512" y="0"/>
                          <a:pt x="1584" y="24"/>
                        </a:cubicBezTo>
                        <a:cubicBezTo>
                          <a:pt x="1656" y="48"/>
                          <a:pt x="1848" y="312"/>
                          <a:pt x="1872" y="456"/>
                        </a:cubicBezTo>
                        <a:cubicBezTo>
                          <a:pt x="1896" y="600"/>
                          <a:pt x="1752" y="864"/>
                          <a:pt x="1728" y="888"/>
                        </a:cubicBezTo>
                        <a:cubicBezTo>
                          <a:pt x="1704" y="912"/>
                          <a:pt x="1680" y="744"/>
                          <a:pt x="1728" y="600"/>
                        </a:cubicBezTo>
                        <a:cubicBezTo>
                          <a:pt x="1776" y="456"/>
                          <a:pt x="1944" y="48"/>
                          <a:pt x="2016" y="24"/>
                        </a:cubicBezTo>
                        <a:cubicBezTo>
                          <a:pt x="2088" y="0"/>
                          <a:pt x="2124" y="228"/>
                          <a:pt x="2160" y="456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sz="2000"/>
                  </a:p>
                </p:txBody>
              </p:sp>
              <p:cxnSp>
                <p:nvCxnSpPr>
                  <p:cNvPr id="90" name="Line 1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904" y="13467"/>
                    <a:ext cx="2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91" name="Line 11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184" y="13467"/>
                    <a:ext cx="2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57" name="Group 56"/>
                <p:cNvGrpSpPr>
                  <a:grpSpLocks/>
                </p:cNvGrpSpPr>
                <p:nvPr/>
              </p:nvGrpSpPr>
              <p:grpSpPr bwMode="auto">
                <a:xfrm>
                  <a:off x="7105785" y="720128"/>
                  <a:ext cx="205268" cy="1391489"/>
                  <a:chOff x="8563" y="12460"/>
                  <a:chExt cx="216" cy="1440"/>
                </a:xfrm>
              </p:grpSpPr>
              <p:grpSp>
                <p:nvGrpSpPr>
                  <p:cNvPr id="84" name="Group 83"/>
                  <p:cNvGrpSpPr>
                    <a:grpSpLocks/>
                  </p:cNvGrpSpPr>
                  <p:nvPr/>
                </p:nvGrpSpPr>
                <p:grpSpPr bwMode="auto">
                  <a:xfrm rot="5400000">
                    <a:off x="8634" y="13031"/>
                    <a:ext cx="74" cy="216"/>
                    <a:chOff x="7702" y="4896"/>
                    <a:chExt cx="74" cy="216"/>
                  </a:xfrm>
                </p:grpSpPr>
                <p:cxnSp>
                  <p:nvCxnSpPr>
                    <p:cNvPr id="87" name="Line 14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776" y="4896"/>
                      <a:ext cx="0" cy="2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88" name="Line 15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702" y="4896"/>
                      <a:ext cx="0" cy="21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cxnSp>
                <p:nvCxnSpPr>
                  <p:cNvPr id="85" name="Line 16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8350" y="12785"/>
                    <a:ext cx="65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86" name="Line 17"/>
                  <p:cNvCxnSpPr>
                    <a:cxnSpLocks noChangeShapeType="1"/>
                  </p:cNvCxnSpPr>
                  <p:nvPr/>
                </p:nvCxnSpPr>
                <p:spPr bwMode="auto">
                  <a:xfrm rot="5400000">
                    <a:off x="8312" y="13538"/>
                    <a:ext cx="7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grpSp>
              <p:nvGrpSpPr>
                <p:cNvPr id="58" name="Group 57"/>
                <p:cNvGrpSpPr>
                  <a:grpSpLocks/>
                </p:cNvGrpSpPr>
                <p:nvPr/>
              </p:nvGrpSpPr>
              <p:grpSpPr bwMode="auto">
                <a:xfrm rot="5400000">
                  <a:off x="8000906" y="1339335"/>
                  <a:ext cx="974042" cy="164405"/>
                  <a:chOff x="5184" y="13795"/>
                  <a:chExt cx="1008" cy="173"/>
                </a:xfrm>
              </p:grpSpPr>
              <p:sp>
                <p:nvSpPr>
                  <p:cNvPr id="81" name="Freeform 80"/>
                  <p:cNvSpPr>
                    <a:spLocks/>
                  </p:cNvSpPr>
                  <p:nvPr/>
                </p:nvSpPr>
                <p:spPr bwMode="auto">
                  <a:xfrm>
                    <a:off x="5417" y="13795"/>
                    <a:ext cx="546" cy="173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sz="2000"/>
                  </a:p>
                </p:txBody>
              </p:sp>
              <p:cxnSp>
                <p:nvCxnSpPr>
                  <p:cNvPr id="82" name="Line 20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184" y="13889"/>
                    <a:ext cx="2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83" name="Line 21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904" y="13889"/>
                    <a:ext cx="2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59" name="Freeform 58"/>
                <p:cNvSpPr>
                  <a:spLocks/>
                </p:cNvSpPr>
                <p:nvPr/>
              </p:nvSpPr>
              <p:spPr bwMode="auto">
                <a:xfrm>
                  <a:off x="5803015" y="720128"/>
                  <a:ext cx="684228" cy="1391489"/>
                </a:xfrm>
                <a:custGeom>
                  <a:avLst/>
                  <a:gdLst>
                    <a:gd name="T0" fmla="*/ 576 w 720"/>
                    <a:gd name="T1" fmla="*/ 0 h 1440"/>
                    <a:gd name="T2" fmla="*/ 0 w 720"/>
                    <a:gd name="T3" fmla="*/ 0 h 1440"/>
                    <a:gd name="T4" fmla="*/ 0 w 720"/>
                    <a:gd name="T5" fmla="*/ 1440 h 1440"/>
                    <a:gd name="T6" fmla="*/ 720 w 720"/>
                    <a:gd name="T7" fmla="*/ 1440 h 1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20" h="1440">
                      <a:moveTo>
                        <a:pt x="576" y="0"/>
                      </a:moveTo>
                      <a:lnTo>
                        <a:pt x="0" y="0"/>
                      </a:lnTo>
                      <a:lnTo>
                        <a:pt x="0" y="1440"/>
                      </a:lnTo>
                      <a:lnTo>
                        <a:pt x="720" y="144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grpSp>
              <p:nvGrpSpPr>
                <p:cNvPr id="60" name="Group 59"/>
                <p:cNvGrpSpPr>
                  <a:grpSpLocks/>
                </p:cNvGrpSpPr>
                <p:nvPr/>
              </p:nvGrpSpPr>
              <p:grpSpPr bwMode="auto">
                <a:xfrm>
                  <a:off x="5638800" y="1187670"/>
                  <a:ext cx="342114" cy="347872"/>
                  <a:chOff x="5115" y="9171"/>
                  <a:chExt cx="432" cy="432"/>
                </a:xfrm>
              </p:grpSpPr>
              <p:sp>
                <p:nvSpPr>
                  <p:cNvPr id="74" name="Oval 73"/>
                  <p:cNvSpPr>
                    <a:spLocks noChangeArrowheads="1"/>
                  </p:cNvSpPr>
                  <p:nvPr/>
                </p:nvSpPr>
                <p:spPr bwMode="auto">
                  <a:xfrm>
                    <a:off x="5115" y="9171"/>
                    <a:ext cx="432" cy="43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sz="2000"/>
                  </a:p>
                </p:txBody>
              </p:sp>
              <p:grpSp>
                <p:nvGrpSpPr>
                  <p:cNvPr id="75" name="Group 74"/>
                  <p:cNvGrpSpPr>
                    <a:grpSpLocks/>
                  </p:cNvGrpSpPr>
                  <p:nvPr/>
                </p:nvGrpSpPr>
                <p:grpSpPr bwMode="auto">
                  <a:xfrm>
                    <a:off x="5268" y="9231"/>
                    <a:ext cx="144" cy="144"/>
                    <a:chOff x="2592" y="8997"/>
                    <a:chExt cx="144" cy="144"/>
                  </a:xfrm>
                </p:grpSpPr>
                <p:cxnSp>
                  <p:nvCxnSpPr>
                    <p:cNvPr id="78" name="Line 26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592" y="9057"/>
                      <a:ext cx="1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79" name="Line 27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652" y="8997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cxnSp>
                <p:nvCxnSpPr>
                  <p:cNvPr id="76" name="Line 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268" y="9474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61" name="Freeform 60"/>
                <p:cNvSpPr>
                  <a:spLocks/>
                </p:cNvSpPr>
                <p:nvPr/>
              </p:nvSpPr>
              <p:spPr bwMode="auto">
                <a:xfrm>
                  <a:off x="6974413" y="1833320"/>
                  <a:ext cx="1505302" cy="278298"/>
                </a:xfrm>
                <a:custGeom>
                  <a:avLst/>
                  <a:gdLst>
                    <a:gd name="T0" fmla="*/ 0 w 1584"/>
                    <a:gd name="T1" fmla="*/ 288 h 288"/>
                    <a:gd name="T2" fmla="*/ 1584 w 1584"/>
                    <a:gd name="T3" fmla="*/ 288 h 288"/>
                    <a:gd name="T4" fmla="*/ 1584 w 1584"/>
                    <a:gd name="T5" fmla="*/ 0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4" h="288">
                      <a:moveTo>
                        <a:pt x="0" y="288"/>
                      </a:moveTo>
                      <a:lnTo>
                        <a:pt x="1584" y="288"/>
                      </a:lnTo>
                      <a:lnTo>
                        <a:pt x="1584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grpSp>
              <p:nvGrpSpPr>
                <p:cNvPr id="62" name="Group 61"/>
                <p:cNvGrpSpPr>
                  <a:grpSpLocks/>
                </p:cNvGrpSpPr>
                <p:nvPr/>
              </p:nvGrpSpPr>
              <p:grpSpPr bwMode="auto">
                <a:xfrm>
                  <a:off x="7094838" y="365945"/>
                  <a:ext cx="1263921" cy="830061"/>
                  <a:chOff x="3168" y="12317"/>
                  <a:chExt cx="1330" cy="859"/>
                </a:xfrm>
              </p:grpSpPr>
              <p:cxnSp>
                <p:nvCxnSpPr>
                  <p:cNvPr id="69" name="Line 31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3168" y="12672"/>
                    <a:ext cx="576" cy="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none" w="sm" len="sm"/>
                    <a:tailEnd type="oval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70" name="Line 32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066" y="12689"/>
                    <a:ext cx="43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 type="oval" w="sm" len="sm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73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22" y="12317"/>
                    <a:ext cx="288" cy="288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K</a:t>
                    </a:r>
                    <a:endParaRPr lang="en-US" sz="200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9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775" y="12839"/>
                    <a:ext cx="550" cy="337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lnSpc>
                        <a:spcPct val="107000"/>
                      </a:lnSpc>
                      <a:spcBef>
                        <a:spcPts val="0"/>
                      </a:spcBef>
                      <a:spcAft>
                        <a:spcPts val="800"/>
                      </a:spcAft>
                    </a:pPr>
                    <a:r>
                      <a:rPr lang="en-US" sz="2000" i="1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sz="2000" i="1" baseline="-2500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K</a:t>
                    </a:r>
                    <a:r>
                      <a:rPr lang="en-US" sz="2000" i="1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a:t>(t)</a:t>
                    </a:r>
                    <a:endParaRPr lang="en-US" sz="2000" i="1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63" name="Freeform 62"/>
                <p:cNvSpPr>
                  <a:spLocks/>
                </p:cNvSpPr>
                <p:nvPr/>
              </p:nvSpPr>
              <p:spPr bwMode="auto">
                <a:xfrm>
                  <a:off x="8200550" y="731261"/>
                  <a:ext cx="273691" cy="278298"/>
                </a:xfrm>
                <a:custGeom>
                  <a:avLst/>
                  <a:gdLst>
                    <a:gd name="T0" fmla="*/ 0 w 288"/>
                    <a:gd name="T1" fmla="*/ 0 h 288"/>
                    <a:gd name="T2" fmla="*/ 288 w 288"/>
                    <a:gd name="T3" fmla="*/ 0 h 288"/>
                    <a:gd name="T4" fmla="*/ 288 w 288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88" h="288">
                      <a:moveTo>
                        <a:pt x="0" y="0"/>
                      </a:moveTo>
                      <a:lnTo>
                        <a:pt x="288" y="0"/>
                      </a:lnTo>
                      <a:lnTo>
                        <a:pt x="288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64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8099284" y="1251775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000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6558403" y="363908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L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6053559" y="1192939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E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7412318" y="1276724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C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" name="Straight Connector 2"/>
                <p:cNvCxnSpPr/>
                <p:nvPr/>
              </p:nvCxnSpPr>
              <p:spPr>
                <a:xfrm>
                  <a:off x="7549163" y="685032"/>
                  <a:ext cx="440512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" name="Straight Arrow Connector 14"/>
              <p:cNvCxnSpPr/>
              <p:nvPr/>
            </p:nvCxnSpPr>
            <p:spPr>
              <a:xfrm>
                <a:off x="2777529" y="863418"/>
                <a:ext cx="55012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Title 1">
              <a:extLst>
                <a:ext uri="{FF2B5EF4-FFF2-40B4-BE49-F238E27FC236}">
                  <a16:creationId xmlns:a16="http://schemas.microsoft.com/office/drawing/2014/main" id="{09A788D8-9CDE-46DC-AC5A-CE0009FF7518}"/>
                </a:ext>
              </a:extLst>
            </p:cNvPr>
            <p:cNvSpPr txBox="1">
              <a:spLocks/>
            </p:cNvSpPr>
            <p:nvPr/>
          </p:nvSpPr>
          <p:spPr>
            <a:xfrm>
              <a:off x="1854243" y="4475946"/>
              <a:ext cx="1647433" cy="4770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Bef>
                  <a:spcPts val="0"/>
                </a:spcBef>
              </a:pPr>
              <a:r>
                <a:rPr lang="en-US" sz="2200" i="1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Quá độ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8603765-381C-49E3-AC12-46BB7A940B06}"/>
              </a:ext>
            </a:extLst>
          </p:cNvPr>
          <p:cNvGrpSpPr/>
          <p:nvPr/>
        </p:nvGrpSpPr>
        <p:grpSpPr>
          <a:xfrm>
            <a:off x="3796003" y="2590800"/>
            <a:ext cx="4738397" cy="2403144"/>
            <a:chOff x="3796003" y="2202296"/>
            <a:chExt cx="4738397" cy="2403144"/>
          </a:xfrm>
        </p:grpSpPr>
        <p:sp>
          <p:nvSpPr>
            <p:cNvPr id="72" name="Title 1"/>
            <p:cNvSpPr txBox="1">
              <a:spLocks/>
            </p:cNvSpPr>
            <p:nvPr/>
          </p:nvSpPr>
          <p:spPr>
            <a:xfrm>
              <a:off x="6114967" y="4128386"/>
              <a:ext cx="1647433" cy="4770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bIns="91440" anchor="t" anchorCtr="0">
              <a:sp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spcBef>
                  <a:spcPts val="0"/>
                </a:spcBef>
              </a:pPr>
              <a:r>
                <a:rPr lang="en-US" sz="2200" i="1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Xác lập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603071" y="2202296"/>
              <a:ext cx="2931329" cy="1836304"/>
              <a:chOff x="5562600" y="2202296"/>
              <a:chExt cx="2931329" cy="1836304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562600" y="2202296"/>
                <a:ext cx="2931329" cy="1836304"/>
                <a:chOff x="5540040" y="2996258"/>
                <a:chExt cx="2931329" cy="1836304"/>
              </a:xfrm>
            </p:grpSpPr>
            <p:sp>
              <p:nvSpPr>
                <p:cNvPr id="77" name="Freeform 76"/>
                <p:cNvSpPr>
                  <a:spLocks/>
                </p:cNvSpPr>
                <p:nvPr/>
              </p:nvSpPr>
              <p:spPr bwMode="auto">
                <a:xfrm>
                  <a:off x="6345532" y="4665390"/>
                  <a:ext cx="518873" cy="167172"/>
                </a:xfrm>
                <a:custGeom>
                  <a:avLst/>
                  <a:gdLst>
                    <a:gd name="T0" fmla="*/ 0 w 1728"/>
                    <a:gd name="T1" fmla="*/ 144 h 288"/>
                    <a:gd name="T2" fmla="*/ 288 w 1728"/>
                    <a:gd name="T3" fmla="*/ 144 h 288"/>
                    <a:gd name="T4" fmla="*/ 432 w 1728"/>
                    <a:gd name="T5" fmla="*/ 0 h 288"/>
                    <a:gd name="T6" fmla="*/ 576 w 1728"/>
                    <a:gd name="T7" fmla="*/ 288 h 288"/>
                    <a:gd name="T8" fmla="*/ 720 w 1728"/>
                    <a:gd name="T9" fmla="*/ 0 h 288"/>
                    <a:gd name="T10" fmla="*/ 864 w 1728"/>
                    <a:gd name="T11" fmla="*/ 288 h 288"/>
                    <a:gd name="T12" fmla="*/ 1008 w 1728"/>
                    <a:gd name="T13" fmla="*/ 0 h 288"/>
                    <a:gd name="T14" fmla="*/ 1152 w 1728"/>
                    <a:gd name="T15" fmla="*/ 288 h 288"/>
                    <a:gd name="T16" fmla="*/ 1296 w 1728"/>
                    <a:gd name="T17" fmla="*/ 0 h 288"/>
                    <a:gd name="T18" fmla="*/ 1440 w 1728"/>
                    <a:gd name="T19" fmla="*/ 144 h 288"/>
                    <a:gd name="T20" fmla="*/ 1728 w 1728"/>
                    <a:gd name="T21" fmla="*/ 144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728" h="288">
                      <a:moveTo>
                        <a:pt x="0" y="144"/>
                      </a:moveTo>
                      <a:lnTo>
                        <a:pt x="288" y="144"/>
                      </a:lnTo>
                      <a:lnTo>
                        <a:pt x="432" y="0"/>
                      </a:lnTo>
                      <a:lnTo>
                        <a:pt x="576" y="288"/>
                      </a:lnTo>
                      <a:lnTo>
                        <a:pt x="720" y="0"/>
                      </a:lnTo>
                      <a:lnTo>
                        <a:pt x="864" y="288"/>
                      </a:lnTo>
                      <a:lnTo>
                        <a:pt x="1008" y="0"/>
                      </a:lnTo>
                      <a:lnTo>
                        <a:pt x="1152" y="288"/>
                      </a:lnTo>
                      <a:lnTo>
                        <a:pt x="1296" y="0"/>
                      </a:lnTo>
                      <a:lnTo>
                        <a:pt x="1440" y="144"/>
                      </a:lnTo>
                      <a:lnTo>
                        <a:pt x="1728" y="144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8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6492485" y="4307775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000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95" name="Group 94"/>
                <p:cNvGrpSpPr>
                  <a:grpSpLocks/>
                </p:cNvGrpSpPr>
                <p:nvPr/>
              </p:nvGrpSpPr>
              <p:grpSpPr bwMode="auto">
                <a:xfrm rot="5400000">
                  <a:off x="7902146" y="3969636"/>
                  <a:ext cx="974042" cy="164405"/>
                  <a:chOff x="5184" y="13795"/>
                  <a:chExt cx="1008" cy="173"/>
                </a:xfrm>
              </p:grpSpPr>
              <p:sp>
                <p:nvSpPr>
                  <p:cNvPr id="118" name="Freeform 117"/>
                  <p:cNvSpPr>
                    <a:spLocks/>
                  </p:cNvSpPr>
                  <p:nvPr/>
                </p:nvSpPr>
                <p:spPr bwMode="auto">
                  <a:xfrm>
                    <a:off x="5417" y="13795"/>
                    <a:ext cx="546" cy="173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sz="2000"/>
                  </a:p>
                </p:txBody>
              </p:sp>
              <p:cxnSp>
                <p:nvCxnSpPr>
                  <p:cNvPr id="119" name="Line 20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184" y="13889"/>
                    <a:ext cx="2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cxnSp>
                <p:nvCxnSpPr>
                  <p:cNvPr id="120" name="Line 21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5904" y="13889"/>
                    <a:ext cx="288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98" name="Freeform 97"/>
                <p:cNvSpPr>
                  <a:spLocks/>
                </p:cNvSpPr>
                <p:nvPr/>
              </p:nvSpPr>
              <p:spPr bwMode="auto">
                <a:xfrm>
                  <a:off x="5704255" y="3350429"/>
                  <a:ext cx="684228" cy="1391489"/>
                </a:xfrm>
                <a:custGeom>
                  <a:avLst/>
                  <a:gdLst>
                    <a:gd name="T0" fmla="*/ 576 w 720"/>
                    <a:gd name="T1" fmla="*/ 0 h 1440"/>
                    <a:gd name="T2" fmla="*/ 0 w 720"/>
                    <a:gd name="T3" fmla="*/ 0 h 1440"/>
                    <a:gd name="T4" fmla="*/ 0 w 720"/>
                    <a:gd name="T5" fmla="*/ 1440 h 1440"/>
                    <a:gd name="T6" fmla="*/ 720 w 720"/>
                    <a:gd name="T7" fmla="*/ 1440 h 1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20" h="1440">
                      <a:moveTo>
                        <a:pt x="576" y="0"/>
                      </a:moveTo>
                      <a:lnTo>
                        <a:pt x="0" y="0"/>
                      </a:lnTo>
                      <a:lnTo>
                        <a:pt x="0" y="1440"/>
                      </a:lnTo>
                      <a:lnTo>
                        <a:pt x="720" y="144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grpSp>
              <p:nvGrpSpPr>
                <p:cNvPr id="99" name="Group 98"/>
                <p:cNvGrpSpPr>
                  <a:grpSpLocks/>
                </p:cNvGrpSpPr>
                <p:nvPr/>
              </p:nvGrpSpPr>
              <p:grpSpPr bwMode="auto">
                <a:xfrm>
                  <a:off x="5540040" y="3817971"/>
                  <a:ext cx="342114" cy="347872"/>
                  <a:chOff x="5115" y="9171"/>
                  <a:chExt cx="432" cy="432"/>
                </a:xfrm>
              </p:grpSpPr>
              <p:sp>
                <p:nvSpPr>
                  <p:cNvPr id="113" name="Oval 112"/>
                  <p:cNvSpPr>
                    <a:spLocks noChangeArrowheads="1"/>
                  </p:cNvSpPr>
                  <p:nvPr/>
                </p:nvSpPr>
                <p:spPr bwMode="auto">
                  <a:xfrm>
                    <a:off x="5115" y="9171"/>
                    <a:ext cx="432" cy="43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 sz="2000"/>
                  </a:p>
                </p:txBody>
              </p:sp>
              <p:grpSp>
                <p:nvGrpSpPr>
                  <p:cNvPr id="114" name="Group 113"/>
                  <p:cNvGrpSpPr>
                    <a:grpSpLocks/>
                  </p:cNvGrpSpPr>
                  <p:nvPr/>
                </p:nvGrpSpPr>
                <p:grpSpPr bwMode="auto">
                  <a:xfrm>
                    <a:off x="5268" y="9231"/>
                    <a:ext cx="144" cy="144"/>
                    <a:chOff x="2592" y="8997"/>
                    <a:chExt cx="144" cy="144"/>
                  </a:xfrm>
                </p:grpSpPr>
                <p:cxnSp>
                  <p:nvCxnSpPr>
                    <p:cNvPr id="116" name="Line 26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592" y="9057"/>
                      <a:ext cx="14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17" name="Line 27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2652" y="8997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cxnSp>
                <p:nvCxnSpPr>
                  <p:cNvPr id="115" name="Line 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5268" y="9474"/>
                    <a:ext cx="14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01" name="Freeform 100"/>
                <p:cNvSpPr>
                  <a:spLocks/>
                </p:cNvSpPr>
                <p:nvPr/>
              </p:nvSpPr>
              <p:spPr bwMode="auto">
                <a:xfrm>
                  <a:off x="6875653" y="4463621"/>
                  <a:ext cx="1505302" cy="278298"/>
                </a:xfrm>
                <a:custGeom>
                  <a:avLst/>
                  <a:gdLst>
                    <a:gd name="T0" fmla="*/ 0 w 1584"/>
                    <a:gd name="T1" fmla="*/ 288 h 288"/>
                    <a:gd name="T2" fmla="*/ 1584 w 1584"/>
                    <a:gd name="T3" fmla="*/ 288 h 288"/>
                    <a:gd name="T4" fmla="*/ 1584 w 1584"/>
                    <a:gd name="T5" fmla="*/ 0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584" h="288">
                      <a:moveTo>
                        <a:pt x="0" y="288"/>
                      </a:moveTo>
                      <a:lnTo>
                        <a:pt x="1584" y="288"/>
                      </a:lnTo>
                      <a:lnTo>
                        <a:pt x="1584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cxnSp>
              <p:nvCxnSpPr>
                <p:cNvPr id="110" name="Line 31"/>
                <p:cNvCxnSpPr>
                  <a:cxnSpLocks noChangeShapeType="1"/>
                </p:cNvCxnSpPr>
                <p:nvPr/>
              </p:nvCxnSpPr>
              <p:spPr bwMode="auto">
                <a:xfrm>
                  <a:off x="5882154" y="3340265"/>
                  <a:ext cx="166130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none" w="sm" len="sm"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1" name="Line 32"/>
                <p:cNvCxnSpPr>
                  <a:cxnSpLocks noChangeShapeType="1"/>
                </p:cNvCxnSpPr>
                <p:nvPr/>
              </p:nvCxnSpPr>
              <p:spPr bwMode="auto">
                <a:xfrm>
                  <a:off x="7849462" y="3355726"/>
                  <a:ext cx="410537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oval" w="sm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112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7617585" y="2996258"/>
                  <a:ext cx="273691" cy="278298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K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Freeform 102"/>
                <p:cNvSpPr>
                  <a:spLocks/>
                </p:cNvSpPr>
                <p:nvPr/>
              </p:nvSpPr>
              <p:spPr bwMode="auto">
                <a:xfrm>
                  <a:off x="8101790" y="3361562"/>
                  <a:ext cx="273691" cy="278298"/>
                </a:xfrm>
                <a:custGeom>
                  <a:avLst/>
                  <a:gdLst>
                    <a:gd name="T0" fmla="*/ 0 w 288"/>
                    <a:gd name="T1" fmla="*/ 0 h 288"/>
                    <a:gd name="T2" fmla="*/ 288 w 288"/>
                    <a:gd name="T3" fmla="*/ 0 h 288"/>
                    <a:gd name="T4" fmla="*/ 288 w 288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88" h="288">
                      <a:moveTo>
                        <a:pt x="0" y="0"/>
                      </a:moveTo>
                      <a:lnTo>
                        <a:pt x="288" y="0"/>
                      </a:lnTo>
                      <a:lnTo>
                        <a:pt x="288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sp>
              <p:nvSpPr>
                <p:cNvPr id="104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8000524" y="3882076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R</a:t>
                  </a:r>
                  <a:r>
                    <a:rPr lang="en-US" sz="2000" baseline="-25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5954799" y="3823240"/>
                  <a:ext cx="273691" cy="25027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2000">
                      <a:effectLst/>
                      <a:latin typeface="Times New Roman" panose="02020603050405020304" pitchFamily="18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E</a:t>
                  </a:r>
                  <a:endParaRPr lang="en-US" sz="20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09" name="Straight Connector 108"/>
                <p:cNvCxnSpPr/>
                <p:nvPr/>
              </p:nvCxnSpPr>
              <p:spPr>
                <a:xfrm>
                  <a:off x="7450403" y="3315333"/>
                  <a:ext cx="440512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>
                  <a:off x="7086600" y="3375302"/>
                  <a:ext cx="0" cy="46781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flipV="1">
                  <a:off x="7094838" y="4317575"/>
                  <a:ext cx="0" cy="43140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" name="Straight Arrow Connector 18"/>
              <p:cNvCxnSpPr/>
              <p:nvPr/>
            </p:nvCxnSpPr>
            <p:spPr>
              <a:xfrm>
                <a:off x="7467600" y="2667000"/>
                <a:ext cx="45706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 Box 35"/>
              <p:cNvSpPr txBox="1">
                <a:spLocks noChangeArrowheads="1"/>
              </p:cNvSpPr>
              <p:nvPr/>
            </p:nvSpPr>
            <p:spPr bwMode="auto">
              <a:xfrm>
                <a:off x="7523162" y="2750063"/>
                <a:ext cx="522674" cy="325647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i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</a:t>
                </a:r>
                <a:r>
                  <a:rPr lang="en-US" sz="2000" i="1" baseline="-2500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i="1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(t)</a:t>
                </a:r>
                <a:endParaRPr lang="en-US" sz="2000" i="1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DAA7C695-65B1-431A-9931-49A96C705456}"/>
                </a:ext>
              </a:extLst>
            </p:cNvPr>
            <p:cNvSpPr/>
            <p:nvPr/>
          </p:nvSpPr>
          <p:spPr>
            <a:xfrm>
              <a:off x="3796003" y="4274425"/>
              <a:ext cx="1928234" cy="194646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00" name="Object 99">
              <a:extLst>
                <a:ext uri="{FF2B5EF4-FFF2-40B4-BE49-F238E27FC236}">
                  <a16:creationId xmlns:a16="http://schemas.microsoft.com/office/drawing/2014/main" id="{842E9F42-EA91-49B5-BF1F-597FE0C6B6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5508577"/>
                </p:ext>
              </p:extLst>
            </p:nvPr>
          </p:nvGraphicFramePr>
          <p:xfrm>
            <a:off x="4367471" y="3920660"/>
            <a:ext cx="814664" cy="298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419040" imgH="152280" progId="Equation.DSMT4">
                    <p:embed/>
                  </p:oleObj>
                </mc:Choice>
                <mc:Fallback>
                  <p:oleObj name="Equation" r:id="rId9" imgW="419040" imgH="152280" progId="Equation.DSMT4">
                    <p:embed/>
                    <p:pic>
                      <p:nvPicPr>
                        <p:cNvPr id="92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7471" y="3920660"/>
                          <a:ext cx="814664" cy="29889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05346BD-F62C-4BC2-9ED2-60D1371985C1}"/>
              </a:ext>
            </a:extLst>
          </p:cNvPr>
          <p:cNvGrpSpPr/>
          <p:nvPr/>
        </p:nvGrpSpPr>
        <p:grpSpPr>
          <a:xfrm>
            <a:off x="1729831" y="1211240"/>
            <a:ext cx="3650083" cy="972007"/>
            <a:chOff x="1729831" y="1475096"/>
            <a:chExt cx="3650083" cy="972007"/>
          </a:xfrm>
        </p:grpSpPr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6C52C498-240C-4E88-B1DD-8673881457C1}"/>
                </a:ext>
              </a:extLst>
            </p:cNvPr>
            <p:cNvSpPr/>
            <p:nvPr/>
          </p:nvSpPr>
          <p:spPr>
            <a:xfrm>
              <a:off x="4669808" y="2237096"/>
              <a:ext cx="512327" cy="210007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05" name="Object 104">
              <a:extLst>
                <a:ext uri="{FF2B5EF4-FFF2-40B4-BE49-F238E27FC236}">
                  <a16:creationId xmlns:a16="http://schemas.microsoft.com/office/drawing/2014/main" id="{B58F1ABF-1815-4D2B-BF6D-5DD3ED9CC0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9932163"/>
                </p:ext>
              </p:extLst>
            </p:nvPr>
          </p:nvGraphicFramePr>
          <p:xfrm>
            <a:off x="4571736" y="1779896"/>
            <a:ext cx="808178" cy="2988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419040" imgH="152280" progId="Equation.DSMT4">
                    <p:embed/>
                  </p:oleObj>
                </mc:Choice>
                <mc:Fallback>
                  <p:oleObj name="Equation" r:id="rId11" imgW="419040" imgH="152280" progId="Equation.DSMT4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6E98B938-6224-4D5C-A4E1-4A929B8178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1736" y="1779896"/>
                          <a:ext cx="808178" cy="29889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1" name="Object 120">
              <a:extLst>
                <a:ext uri="{FF2B5EF4-FFF2-40B4-BE49-F238E27FC236}">
                  <a16:creationId xmlns:a16="http://schemas.microsoft.com/office/drawing/2014/main" id="{9D06F8D8-3706-43F6-98EC-574279EB08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5842078"/>
                </p:ext>
              </p:extLst>
            </p:nvPr>
          </p:nvGraphicFramePr>
          <p:xfrm>
            <a:off x="2747727" y="1486998"/>
            <a:ext cx="327569" cy="757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39680" imgH="317160" progId="Equation.DSMT4">
                    <p:embed/>
                  </p:oleObj>
                </mc:Choice>
                <mc:Fallback>
                  <p:oleObj name="Equation" r:id="rId13" imgW="139680" imgH="317160" progId="Equation.DSMT4">
                    <p:embed/>
                    <p:pic>
                      <p:nvPicPr>
                        <p:cNvPr id="107" name="Object 106">
                          <a:extLst>
                            <a:ext uri="{FF2B5EF4-FFF2-40B4-BE49-F238E27FC236}">
                              <a16:creationId xmlns:a16="http://schemas.microsoft.com/office/drawing/2014/main" id="{23F9B29F-DBCA-4108-B36B-16C767F35E2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7727" y="1486998"/>
                          <a:ext cx="327569" cy="7572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" name="Object 121">
              <a:extLst>
                <a:ext uri="{FF2B5EF4-FFF2-40B4-BE49-F238E27FC236}">
                  <a16:creationId xmlns:a16="http://schemas.microsoft.com/office/drawing/2014/main" id="{E77996DB-D528-4B53-8C85-2155645A1E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5750010"/>
                </p:ext>
              </p:extLst>
            </p:nvPr>
          </p:nvGraphicFramePr>
          <p:xfrm>
            <a:off x="1729831" y="1475096"/>
            <a:ext cx="327569" cy="757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39680" imgH="317160" progId="Equation.DSMT4">
                    <p:embed/>
                  </p:oleObj>
                </mc:Choice>
                <mc:Fallback>
                  <p:oleObj name="Equation" r:id="rId15" imgW="139680" imgH="317160" progId="Equation.DSMT4">
                    <p:embed/>
                    <p:pic>
                      <p:nvPicPr>
                        <p:cNvPr id="121" name="Object 120">
                          <a:extLst>
                            <a:ext uri="{FF2B5EF4-FFF2-40B4-BE49-F238E27FC236}">
                              <a16:creationId xmlns:a16="http://schemas.microsoft.com/office/drawing/2014/main" id="{9D06F8D8-3706-43F6-98EC-574279EB08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9831" y="1475096"/>
                          <a:ext cx="327569" cy="7572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01783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7" name="Title 1"/>
          <p:cNvSpPr txBox="1">
            <a:spLocks/>
          </p:cNvSpPr>
          <p:nvPr/>
        </p:nvSpPr>
        <p:spPr>
          <a:xfrm>
            <a:off x="406426" y="228600"/>
            <a:ext cx="8280374" cy="7508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350" indent="-1149350">
              <a:spcBef>
                <a:spcPts val="0"/>
              </a:spcBef>
            </a:pPr>
            <a:r>
              <a:rPr lang="en-US" sz="24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Ví dụ 2: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Tìm dòng điện &amp; điện áp trên cuộn dây, biết: E=20V, R</a:t>
            </a:r>
            <a:r>
              <a:rPr lang="en-US" sz="24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=20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, 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US" sz="24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=10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, L=20/3 mH, t</a:t>
            </a:r>
            <a:r>
              <a:rPr lang="en-US" sz="2400" baseline="-250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=1ms</a:t>
            </a:r>
            <a:endParaRPr lang="en-US" sz="24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6" name="Title 1"/>
          <p:cNvSpPr txBox="1">
            <a:spLocks/>
          </p:cNvSpPr>
          <p:nvPr/>
        </p:nvSpPr>
        <p:spPr>
          <a:xfrm>
            <a:off x="336698" y="2667000"/>
            <a:ext cx="4586705" cy="47705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2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Cách 1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Phân khoảng thời gian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914400" y="977030"/>
            <a:ext cx="2978780" cy="1517881"/>
            <a:chOff x="5829300" y="332532"/>
            <a:chExt cx="1847217" cy="941276"/>
          </a:xfrm>
        </p:grpSpPr>
        <p:sp>
          <p:nvSpPr>
            <p:cNvPr id="332" name="Rectangle 331"/>
            <p:cNvSpPr>
              <a:spLocks noChangeArrowheads="1"/>
            </p:cNvSpPr>
            <p:nvPr/>
          </p:nvSpPr>
          <p:spPr bwMode="auto">
            <a:xfrm>
              <a:off x="6148966" y="811363"/>
              <a:ext cx="49149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1(t)</a:t>
              </a: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.e(t)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33" name="Group 332"/>
            <p:cNvGrpSpPr>
              <a:grpSpLocks/>
            </p:cNvGrpSpPr>
            <p:nvPr/>
          </p:nvGrpSpPr>
          <p:grpSpPr bwMode="auto">
            <a:xfrm>
              <a:off x="6978650" y="568958"/>
              <a:ext cx="339725" cy="678180"/>
              <a:chOff x="2955" y="2782"/>
              <a:chExt cx="535" cy="1068"/>
            </a:xfrm>
          </p:grpSpPr>
          <p:grpSp>
            <p:nvGrpSpPr>
              <p:cNvPr id="373" name="Group 372"/>
              <p:cNvGrpSpPr>
                <a:grpSpLocks/>
              </p:cNvGrpSpPr>
              <p:nvPr/>
            </p:nvGrpSpPr>
            <p:grpSpPr bwMode="auto">
              <a:xfrm>
                <a:off x="3209" y="2782"/>
                <a:ext cx="118" cy="1068"/>
                <a:chOff x="5755" y="11020"/>
                <a:chExt cx="118" cy="1160"/>
              </a:xfrm>
            </p:grpSpPr>
            <p:cxnSp>
              <p:nvCxnSpPr>
                <p:cNvPr id="375" name="Line 31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3" y="11293"/>
                  <a:ext cx="1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6" name="Line 32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813" y="11794"/>
                  <a:ext cx="1" cy="12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7" name="Line 33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503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8" name="Line 34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471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9" name="Line 35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535"/>
                  <a:ext cx="59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0" name="Line 36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568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1" name="Line 37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632"/>
                  <a:ext cx="58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2" name="Line 38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600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3" name="Line 39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406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4" name="Line 40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438"/>
                  <a:ext cx="59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5" name="Line 41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665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6" name="Line 42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698"/>
                  <a:ext cx="59" cy="3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7" name="Line 43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761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8" name="Line 44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728"/>
                  <a:ext cx="58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89" name="Line 45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3" y="11020"/>
                  <a:ext cx="1" cy="25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0" name="Line 46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813" y="11922"/>
                  <a:ext cx="1" cy="25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374" name="Rectangle 373"/>
              <p:cNvSpPr>
                <a:spLocks noChangeArrowheads="1"/>
              </p:cNvSpPr>
              <p:nvPr/>
            </p:nvSpPr>
            <p:spPr bwMode="auto">
              <a:xfrm>
                <a:off x="2955" y="3163"/>
                <a:ext cx="535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12700" tIns="12700" rIns="12700" bIns="127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  <a:tabLst>
                    <a:tab pos="2743200" algn="ctr"/>
                    <a:tab pos="5486400" algn="r"/>
                    <a:tab pos="457200" algn="l"/>
                  </a:tabLs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en-US" sz="2000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334" name="Group 333"/>
            <p:cNvGrpSpPr>
              <a:grpSpLocks/>
            </p:cNvGrpSpPr>
            <p:nvPr/>
          </p:nvGrpSpPr>
          <p:grpSpPr bwMode="auto">
            <a:xfrm rot="5400000">
              <a:off x="6447427" y="234604"/>
              <a:ext cx="69266" cy="697232"/>
              <a:chOff x="5755" y="11020"/>
              <a:chExt cx="118" cy="1160"/>
            </a:xfrm>
          </p:grpSpPr>
          <p:cxnSp>
            <p:nvCxnSpPr>
              <p:cNvPr id="357" name="Line 49"/>
              <p:cNvCxnSpPr>
                <a:cxnSpLocks noChangeShapeType="1"/>
              </p:cNvCxnSpPr>
              <p:nvPr/>
            </p:nvCxnSpPr>
            <p:spPr bwMode="auto">
              <a:xfrm rot="10800000">
                <a:off x="5813" y="11293"/>
                <a:ext cx="1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8" name="Line 50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794"/>
                <a:ext cx="1" cy="1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9" name="Line 5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503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0" name="Line 52"/>
              <p:cNvCxnSpPr>
                <a:cxnSpLocks noChangeShapeType="1"/>
              </p:cNvCxnSpPr>
              <p:nvPr/>
            </p:nvCxnSpPr>
            <p:spPr bwMode="auto">
              <a:xfrm rot="10800000">
                <a:off x="5815" y="1147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1" name="Line 53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535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2" name="Line 54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568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3" name="Line 55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632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4" name="Line 56"/>
              <p:cNvCxnSpPr>
                <a:cxnSpLocks noChangeShapeType="1"/>
              </p:cNvCxnSpPr>
              <p:nvPr/>
            </p:nvCxnSpPr>
            <p:spPr bwMode="auto">
              <a:xfrm rot="10800000">
                <a:off x="5815" y="11600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5" name="Line 57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406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6" name="Line 58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438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7" name="Line 59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665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8" name="Line 6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698"/>
                <a:ext cx="59" cy="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9" name="Line 6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76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0" name="Line 62"/>
              <p:cNvCxnSpPr>
                <a:cxnSpLocks noChangeShapeType="1"/>
              </p:cNvCxnSpPr>
              <p:nvPr/>
            </p:nvCxnSpPr>
            <p:spPr bwMode="auto">
              <a:xfrm rot="10800000">
                <a:off x="5815" y="11728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1" name="Line 63"/>
              <p:cNvCxnSpPr>
                <a:cxnSpLocks noChangeShapeType="1"/>
              </p:cNvCxnSpPr>
              <p:nvPr/>
            </p:nvCxnSpPr>
            <p:spPr bwMode="auto">
              <a:xfrm rot="10800000">
                <a:off x="5813" y="11020"/>
                <a:ext cx="1" cy="2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2" name="Line 64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922"/>
                <a:ext cx="1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35" name="Rectangle 334"/>
            <p:cNvSpPr>
              <a:spLocks noChangeArrowheads="1"/>
            </p:cNvSpPr>
            <p:nvPr/>
          </p:nvSpPr>
          <p:spPr bwMode="auto">
            <a:xfrm>
              <a:off x="6312197" y="332532"/>
              <a:ext cx="339725" cy="1949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337" name="Group 336"/>
            <p:cNvGrpSpPr>
              <a:grpSpLocks/>
            </p:cNvGrpSpPr>
            <p:nvPr/>
          </p:nvGrpSpPr>
          <p:grpSpPr bwMode="auto">
            <a:xfrm>
              <a:off x="5829300" y="691513"/>
              <a:ext cx="289560" cy="447675"/>
              <a:chOff x="1392" y="2985"/>
              <a:chExt cx="456" cy="705"/>
            </a:xfrm>
          </p:grpSpPr>
          <p:cxnSp>
            <p:nvCxnSpPr>
              <p:cNvPr id="350" name="Line 68"/>
              <p:cNvCxnSpPr>
                <a:cxnSpLocks noChangeShapeType="1"/>
              </p:cNvCxnSpPr>
              <p:nvPr/>
            </p:nvCxnSpPr>
            <p:spPr bwMode="auto">
              <a:xfrm>
                <a:off x="1678" y="3077"/>
                <a:ext cx="1" cy="1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1" name="Line 69"/>
              <p:cNvCxnSpPr>
                <a:cxnSpLocks noChangeShapeType="1"/>
              </p:cNvCxnSpPr>
              <p:nvPr/>
            </p:nvCxnSpPr>
            <p:spPr bwMode="auto">
              <a:xfrm flipV="1">
                <a:off x="1678" y="3503"/>
                <a:ext cx="1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52" name="Oval 351"/>
              <p:cNvSpPr>
                <a:spLocks noChangeArrowheads="1"/>
              </p:cNvSpPr>
              <p:nvPr/>
            </p:nvSpPr>
            <p:spPr bwMode="auto">
              <a:xfrm>
                <a:off x="1517" y="3183"/>
                <a:ext cx="331" cy="3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53" name="Rectangle 352"/>
              <p:cNvSpPr>
                <a:spLocks noChangeArrowheads="1"/>
              </p:cNvSpPr>
              <p:nvPr/>
            </p:nvSpPr>
            <p:spPr bwMode="auto">
              <a:xfrm rot="16200000">
                <a:off x="1393" y="3417"/>
                <a:ext cx="27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4" name="Rectangle 353"/>
              <p:cNvSpPr>
                <a:spLocks noChangeArrowheads="1"/>
              </p:cNvSpPr>
              <p:nvPr/>
            </p:nvSpPr>
            <p:spPr bwMode="auto">
              <a:xfrm rot="16200000">
                <a:off x="1440" y="2949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55" name="Line 73"/>
              <p:cNvCxnSpPr>
                <a:cxnSpLocks noChangeShapeType="1"/>
              </p:cNvCxnSpPr>
              <p:nvPr/>
            </p:nvCxnSpPr>
            <p:spPr bwMode="auto">
              <a:xfrm>
                <a:off x="1774" y="3210"/>
                <a:ext cx="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6" name="Line 74"/>
              <p:cNvCxnSpPr>
                <a:cxnSpLocks noChangeShapeType="1"/>
              </p:cNvCxnSpPr>
              <p:nvPr/>
            </p:nvCxnSpPr>
            <p:spPr bwMode="auto">
              <a:xfrm>
                <a:off x="1676" y="3176"/>
                <a:ext cx="0" cy="3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38" name="Group 337"/>
            <p:cNvGrpSpPr>
              <a:grpSpLocks/>
            </p:cNvGrpSpPr>
            <p:nvPr/>
          </p:nvGrpSpPr>
          <p:grpSpPr bwMode="auto">
            <a:xfrm rot="5400000">
              <a:off x="7437439" y="861375"/>
              <a:ext cx="326390" cy="151766"/>
              <a:chOff x="0" y="0"/>
              <a:chExt cx="20000" cy="20000"/>
            </a:xfrm>
          </p:grpSpPr>
          <p:sp>
            <p:nvSpPr>
              <p:cNvPr id="342" name="Oval 341"/>
              <p:cNvSpPr>
                <a:spLocks noChangeArrowheads="1"/>
              </p:cNvSpPr>
              <p:nvPr/>
            </p:nvSpPr>
            <p:spPr bwMode="auto">
              <a:xfrm>
                <a:off x="153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43" name="Oval 342"/>
              <p:cNvSpPr>
                <a:spLocks noChangeArrowheads="1"/>
              </p:cNvSpPr>
              <p:nvPr/>
            </p:nvSpPr>
            <p:spPr bwMode="auto">
              <a:xfrm>
                <a:off x="4901" y="0"/>
                <a:ext cx="3386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44" name="Oval 343"/>
              <p:cNvSpPr>
                <a:spLocks noChangeArrowheads="1"/>
              </p:cNvSpPr>
              <p:nvPr/>
            </p:nvSpPr>
            <p:spPr bwMode="auto">
              <a:xfrm>
                <a:off x="8266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45" name="Oval 344"/>
              <p:cNvSpPr>
                <a:spLocks noChangeArrowheads="1"/>
              </p:cNvSpPr>
              <p:nvPr/>
            </p:nvSpPr>
            <p:spPr bwMode="auto">
              <a:xfrm>
                <a:off x="1148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46" name="Oval 345"/>
              <p:cNvSpPr>
                <a:spLocks noChangeArrowheads="1"/>
              </p:cNvSpPr>
              <p:nvPr/>
            </p:nvSpPr>
            <p:spPr bwMode="auto">
              <a:xfrm>
                <a:off x="14851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47" name="Rectangle 346"/>
              <p:cNvSpPr>
                <a:spLocks noChangeArrowheads="1"/>
              </p:cNvSpPr>
              <p:nvPr/>
            </p:nvSpPr>
            <p:spPr bwMode="auto">
              <a:xfrm>
                <a:off x="585" y="8519"/>
                <a:ext cx="18603" cy="114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348" name="Line 82"/>
              <p:cNvCxnSpPr>
                <a:cxnSpLocks noChangeShapeType="1"/>
              </p:cNvCxnSpPr>
              <p:nvPr/>
            </p:nvCxnSpPr>
            <p:spPr bwMode="auto">
              <a:xfrm flipH="1">
                <a:off x="0" y="7805"/>
                <a:ext cx="1397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9" name="Line 83"/>
              <p:cNvCxnSpPr>
                <a:cxnSpLocks noChangeShapeType="1"/>
              </p:cNvCxnSpPr>
              <p:nvPr/>
            </p:nvCxnSpPr>
            <p:spPr bwMode="auto">
              <a:xfrm>
                <a:off x="18174" y="7805"/>
                <a:ext cx="1826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39" name="Freeform 338"/>
            <p:cNvSpPr>
              <a:spLocks/>
            </p:cNvSpPr>
            <p:nvPr/>
          </p:nvSpPr>
          <p:spPr bwMode="auto">
            <a:xfrm>
              <a:off x="6010275" y="577213"/>
              <a:ext cx="228600" cy="171450"/>
            </a:xfrm>
            <a:custGeom>
              <a:avLst/>
              <a:gdLst>
                <a:gd name="T0" fmla="*/ 0 w 360"/>
                <a:gd name="T1" fmla="*/ 360 h 360"/>
                <a:gd name="T2" fmla="*/ 0 w 360"/>
                <a:gd name="T3" fmla="*/ 0 h 360"/>
                <a:gd name="T4" fmla="*/ 180 w 360"/>
                <a:gd name="T5" fmla="*/ 0 h 360"/>
                <a:gd name="T6" fmla="*/ 360 w 36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360">
                  <a:moveTo>
                    <a:pt x="0" y="360"/>
                  </a:moveTo>
                  <a:lnTo>
                    <a:pt x="0" y="0"/>
                  </a:lnTo>
                  <a:lnTo>
                    <a:pt x="180" y="0"/>
                  </a:lnTo>
                  <a:lnTo>
                    <a:pt x="3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340" name="Freeform 339"/>
            <p:cNvSpPr>
              <a:spLocks/>
            </p:cNvSpPr>
            <p:nvPr/>
          </p:nvSpPr>
          <p:spPr bwMode="auto">
            <a:xfrm>
              <a:off x="6010275" y="1072513"/>
              <a:ext cx="1600200" cy="201295"/>
            </a:xfrm>
            <a:custGeom>
              <a:avLst/>
              <a:gdLst>
                <a:gd name="T0" fmla="*/ 0 w 2520"/>
                <a:gd name="T1" fmla="*/ 0 h 360"/>
                <a:gd name="T2" fmla="*/ 0 w 2520"/>
                <a:gd name="T3" fmla="*/ 360 h 360"/>
                <a:gd name="T4" fmla="*/ 2520 w 2520"/>
                <a:gd name="T5" fmla="*/ 360 h 360"/>
                <a:gd name="T6" fmla="*/ 2520 w 252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20" h="360">
                  <a:moveTo>
                    <a:pt x="0" y="0"/>
                  </a:moveTo>
                  <a:lnTo>
                    <a:pt x="0" y="360"/>
                  </a:lnTo>
                  <a:lnTo>
                    <a:pt x="2520" y="360"/>
                  </a:lnTo>
                  <a:lnTo>
                    <a:pt x="25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341" name="Freeform 340"/>
            <p:cNvSpPr>
              <a:spLocks/>
            </p:cNvSpPr>
            <p:nvPr/>
          </p:nvSpPr>
          <p:spPr bwMode="auto">
            <a:xfrm>
              <a:off x="6705600" y="577213"/>
              <a:ext cx="914400" cy="228600"/>
            </a:xfrm>
            <a:custGeom>
              <a:avLst/>
              <a:gdLst>
                <a:gd name="T0" fmla="*/ 1440 w 1440"/>
                <a:gd name="T1" fmla="*/ 360 h 360"/>
                <a:gd name="T2" fmla="*/ 1440 w 1440"/>
                <a:gd name="T3" fmla="*/ 0 h 360"/>
                <a:gd name="T4" fmla="*/ 0 w 1440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0" h="360">
                  <a:moveTo>
                    <a:pt x="1440" y="360"/>
                  </a:moveTo>
                  <a:lnTo>
                    <a:pt x="144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336" name="Rectangle 335"/>
            <p:cNvSpPr>
              <a:spLocks noChangeArrowheads="1"/>
            </p:cNvSpPr>
            <p:nvPr/>
          </p:nvSpPr>
          <p:spPr bwMode="auto">
            <a:xfrm>
              <a:off x="7393193" y="840793"/>
              <a:ext cx="175793" cy="207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029200" y="1136472"/>
            <a:ext cx="2950397" cy="1653590"/>
            <a:chOff x="5365503" y="2369123"/>
            <a:chExt cx="1704440" cy="955276"/>
          </a:xfrm>
        </p:grpSpPr>
        <p:sp>
          <p:nvSpPr>
            <p:cNvPr id="398" name="Text Box 7"/>
            <p:cNvSpPr txBox="1">
              <a:spLocks noChangeArrowheads="1"/>
            </p:cNvSpPr>
            <p:nvPr/>
          </p:nvSpPr>
          <p:spPr bwMode="auto">
            <a:xfrm>
              <a:off x="5985998" y="3095799"/>
              <a:ext cx="1524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99" name="Text Box 8"/>
            <p:cNvSpPr txBox="1">
              <a:spLocks noChangeArrowheads="1"/>
            </p:cNvSpPr>
            <p:nvPr/>
          </p:nvSpPr>
          <p:spPr bwMode="auto">
            <a:xfrm>
              <a:off x="5365503" y="2631399"/>
              <a:ext cx="228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00" name="Text Box 9"/>
            <p:cNvSpPr txBox="1">
              <a:spLocks noChangeArrowheads="1"/>
            </p:cNvSpPr>
            <p:nvPr/>
          </p:nvSpPr>
          <p:spPr bwMode="auto">
            <a:xfrm>
              <a:off x="5669962" y="2369123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e(t),V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01" name="Freeform 400"/>
            <p:cNvSpPr>
              <a:spLocks/>
            </p:cNvSpPr>
            <p:nvPr/>
          </p:nvSpPr>
          <p:spPr bwMode="auto">
            <a:xfrm>
              <a:off x="5621508" y="2714799"/>
              <a:ext cx="381000" cy="381000"/>
            </a:xfrm>
            <a:custGeom>
              <a:avLst/>
              <a:gdLst>
                <a:gd name="T0" fmla="*/ 0 w 600"/>
                <a:gd name="T1" fmla="*/ 600 h 600"/>
                <a:gd name="T2" fmla="*/ 600 w 600"/>
                <a:gd name="T3" fmla="*/ 0 h 600"/>
                <a:gd name="T4" fmla="*/ 600 w 600"/>
                <a:gd name="T5" fmla="*/ 6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0" h="600">
                  <a:moveTo>
                    <a:pt x="0" y="600"/>
                  </a:moveTo>
                  <a:lnTo>
                    <a:pt x="600" y="0"/>
                  </a:lnTo>
                  <a:lnTo>
                    <a:pt x="600" y="600"/>
                  </a:ln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402" name="Text Box 11"/>
            <p:cNvSpPr txBox="1">
              <a:spLocks noChangeArrowheads="1"/>
            </p:cNvSpPr>
            <p:nvPr/>
          </p:nvSpPr>
          <p:spPr bwMode="auto">
            <a:xfrm>
              <a:off x="6916908" y="2908474"/>
              <a:ext cx="1524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03" name="Freeform 402"/>
            <p:cNvSpPr>
              <a:spLocks/>
            </p:cNvSpPr>
            <p:nvPr/>
          </p:nvSpPr>
          <p:spPr bwMode="auto">
            <a:xfrm>
              <a:off x="5637061" y="2717915"/>
              <a:ext cx="1299943" cy="394390"/>
            </a:xfrm>
            <a:custGeom>
              <a:avLst/>
              <a:gdLst>
                <a:gd name="T0" fmla="*/ 0 w 2160"/>
                <a:gd name="T1" fmla="*/ 600 h 600"/>
                <a:gd name="T2" fmla="*/ 600 w 2160"/>
                <a:gd name="T3" fmla="*/ 0 h 600"/>
                <a:gd name="T4" fmla="*/ 2160 w 2160"/>
                <a:gd name="T5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" h="600">
                  <a:moveTo>
                    <a:pt x="0" y="600"/>
                  </a:moveTo>
                  <a:lnTo>
                    <a:pt x="600" y="0"/>
                  </a:lnTo>
                  <a:lnTo>
                    <a:pt x="2160" y="0"/>
                  </a:lnTo>
                </a:path>
              </a:pathLst>
            </a:custGeom>
            <a:noFill/>
            <a:ln w="25400" cap="flat" cmpd="sng">
              <a:solidFill>
                <a:srgbClr val="FF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404" name="Freeform 403"/>
            <p:cNvSpPr>
              <a:spLocks/>
            </p:cNvSpPr>
            <p:nvPr/>
          </p:nvSpPr>
          <p:spPr bwMode="auto">
            <a:xfrm>
              <a:off x="5621508" y="2719879"/>
              <a:ext cx="381000" cy="391893"/>
            </a:xfrm>
            <a:custGeom>
              <a:avLst/>
              <a:gdLst>
                <a:gd name="T0" fmla="*/ 0 w 600"/>
                <a:gd name="T1" fmla="*/ 0 h 540"/>
                <a:gd name="T2" fmla="*/ 600 w 600"/>
                <a:gd name="T3" fmla="*/ 0 h 540"/>
                <a:gd name="T4" fmla="*/ 600 w 600"/>
                <a:gd name="T5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0" h="540">
                  <a:moveTo>
                    <a:pt x="0" y="0"/>
                  </a:moveTo>
                  <a:lnTo>
                    <a:pt x="600" y="0"/>
                  </a:lnTo>
                  <a:lnTo>
                    <a:pt x="600" y="54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 sz="2000"/>
            </a:p>
          </p:txBody>
        </p:sp>
        <p:cxnSp>
          <p:nvCxnSpPr>
            <p:cNvPr id="405" name="Line 5"/>
            <p:cNvCxnSpPr>
              <a:cxnSpLocks noChangeShapeType="1"/>
            </p:cNvCxnSpPr>
            <p:nvPr/>
          </p:nvCxnSpPr>
          <p:spPr bwMode="auto">
            <a:xfrm flipV="1">
              <a:off x="5630398" y="2423334"/>
              <a:ext cx="0" cy="800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406" name="Line 6"/>
            <p:cNvCxnSpPr>
              <a:cxnSpLocks noChangeShapeType="1"/>
            </p:cNvCxnSpPr>
            <p:nvPr/>
          </p:nvCxnSpPr>
          <p:spPr bwMode="auto">
            <a:xfrm>
              <a:off x="5393543" y="3109134"/>
              <a:ext cx="1676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9457906"/>
              </p:ext>
            </p:extLst>
          </p:nvPr>
        </p:nvGraphicFramePr>
        <p:xfrm>
          <a:off x="406400" y="3159125"/>
          <a:ext cx="259080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34960" imgH="431640" progId="Equation.DSMT4">
                  <p:embed/>
                </p:oleObj>
              </mc:Choice>
              <mc:Fallback>
                <p:oleObj name="Equation" r:id="rId3" imgW="143496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3159125"/>
                        <a:ext cx="2590800" cy="773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563504"/>
              </p:ext>
            </p:extLst>
          </p:nvPr>
        </p:nvGraphicFramePr>
        <p:xfrm>
          <a:off x="458788" y="5283831"/>
          <a:ext cx="3941504" cy="1113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45960" imgH="622080" progId="Equation.DSMT4">
                  <p:embed/>
                </p:oleObj>
              </mc:Choice>
              <mc:Fallback>
                <p:oleObj name="Equation" r:id="rId5" imgW="2145960" imgH="6220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8" y="5283831"/>
                        <a:ext cx="3941504" cy="1113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227582" y="3425903"/>
            <a:ext cx="3728208" cy="1527097"/>
            <a:chOff x="5227582" y="3187580"/>
            <a:chExt cx="3728208" cy="1527097"/>
          </a:xfrm>
        </p:grpSpPr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5743068" y="3959732"/>
              <a:ext cx="792566" cy="286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E(s)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1" name="Group 80"/>
            <p:cNvGrpSpPr>
              <a:grpSpLocks/>
            </p:cNvGrpSpPr>
            <p:nvPr/>
          </p:nvGrpSpPr>
          <p:grpSpPr bwMode="auto">
            <a:xfrm>
              <a:off x="7080998" y="3576003"/>
              <a:ext cx="547833" cy="1138674"/>
              <a:chOff x="2955" y="2789"/>
              <a:chExt cx="535" cy="1112"/>
            </a:xfrm>
          </p:grpSpPr>
          <p:grpSp>
            <p:nvGrpSpPr>
              <p:cNvPr id="121" name="Group 120"/>
              <p:cNvGrpSpPr>
                <a:grpSpLocks/>
              </p:cNvGrpSpPr>
              <p:nvPr/>
            </p:nvGrpSpPr>
            <p:grpSpPr bwMode="auto">
              <a:xfrm>
                <a:off x="3209" y="2789"/>
                <a:ext cx="118" cy="1112"/>
                <a:chOff x="5755" y="11020"/>
                <a:chExt cx="118" cy="1207"/>
              </a:xfrm>
            </p:grpSpPr>
            <p:cxnSp>
              <p:nvCxnSpPr>
                <p:cNvPr id="123" name="Line 31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3" y="11293"/>
                  <a:ext cx="1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4" name="Line 32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813" y="11794"/>
                  <a:ext cx="1" cy="12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5" name="Line 33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503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6" name="Line 34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471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7" name="Line 35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535"/>
                  <a:ext cx="59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8" name="Line 36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568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29" name="Line 37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632"/>
                  <a:ext cx="58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0" name="Line 38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600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1" name="Line 39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406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2" name="Line 40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438"/>
                  <a:ext cx="59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3" name="Line 41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665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4" name="Line 42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698"/>
                  <a:ext cx="59" cy="3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5" name="Line 43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761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7" name="Line 44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728"/>
                  <a:ext cx="58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8" name="Line 45"/>
                <p:cNvCxnSpPr>
                  <a:cxnSpLocks noChangeShapeType="1"/>
                </p:cNvCxnSpPr>
                <p:nvPr/>
              </p:nvCxnSpPr>
              <p:spPr bwMode="auto">
                <a:xfrm flipV="1">
                  <a:off x="5813" y="11020"/>
                  <a:ext cx="0" cy="28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39" name="Line 46"/>
                <p:cNvCxnSpPr>
                  <a:cxnSpLocks noChangeShapeType="1"/>
                </p:cNvCxnSpPr>
                <p:nvPr/>
              </p:nvCxnSpPr>
              <p:spPr bwMode="auto">
                <a:xfrm>
                  <a:off x="5814" y="11895"/>
                  <a:ext cx="0" cy="3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22" name="Rectangle 121"/>
              <p:cNvSpPr>
                <a:spLocks noChangeArrowheads="1"/>
              </p:cNvSpPr>
              <p:nvPr/>
            </p:nvSpPr>
            <p:spPr bwMode="auto">
              <a:xfrm>
                <a:off x="2955" y="3163"/>
                <a:ext cx="535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12700" tIns="12700" rIns="12700" bIns="127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  <a:tabLst>
                    <a:tab pos="2743200" algn="ctr"/>
                    <a:tab pos="5486400" algn="r"/>
                    <a:tab pos="457200" algn="l"/>
                  </a:tabLs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en-US" sz="2000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82" name="Group 81"/>
            <p:cNvGrpSpPr>
              <a:grpSpLocks/>
            </p:cNvGrpSpPr>
            <p:nvPr/>
          </p:nvGrpSpPr>
          <p:grpSpPr bwMode="auto">
            <a:xfrm rot="5400000">
              <a:off x="6224359" y="3029664"/>
              <a:ext cx="111697" cy="1124340"/>
              <a:chOff x="5755" y="11020"/>
              <a:chExt cx="118" cy="1160"/>
            </a:xfrm>
          </p:grpSpPr>
          <p:cxnSp>
            <p:nvCxnSpPr>
              <p:cNvPr id="105" name="Line 49"/>
              <p:cNvCxnSpPr>
                <a:cxnSpLocks noChangeShapeType="1"/>
              </p:cNvCxnSpPr>
              <p:nvPr/>
            </p:nvCxnSpPr>
            <p:spPr bwMode="auto">
              <a:xfrm rot="10800000">
                <a:off x="5813" y="11293"/>
                <a:ext cx="1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6" name="Line 50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794"/>
                <a:ext cx="1" cy="1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" name="Line 5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503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8" name="Line 52"/>
              <p:cNvCxnSpPr>
                <a:cxnSpLocks noChangeShapeType="1"/>
              </p:cNvCxnSpPr>
              <p:nvPr/>
            </p:nvCxnSpPr>
            <p:spPr bwMode="auto">
              <a:xfrm rot="10800000">
                <a:off x="5815" y="1147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9" name="Line 53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535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0" name="Line 54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568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1" name="Line 55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632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2" name="Line 56"/>
              <p:cNvCxnSpPr>
                <a:cxnSpLocks noChangeShapeType="1"/>
              </p:cNvCxnSpPr>
              <p:nvPr/>
            </p:nvCxnSpPr>
            <p:spPr bwMode="auto">
              <a:xfrm rot="10800000">
                <a:off x="5815" y="11600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" name="Line 57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406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4" name="Line 58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438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" name="Line 59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665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" name="Line 6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698"/>
                <a:ext cx="59" cy="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7" name="Line 6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76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8" name="Line 62"/>
              <p:cNvCxnSpPr>
                <a:cxnSpLocks noChangeShapeType="1"/>
              </p:cNvCxnSpPr>
              <p:nvPr/>
            </p:nvCxnSpPr>
            <p:spPr bwMode="auto">
              <a:xfrm rot="10800000">
                <a:off x="5815" y="11728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9" name="Line 63"/>
              <p:cNvCxnSpPr>
                <a:cxnSpLocks noChangeShapeType="1"/>
              </p:cNvCxnSpPr>
              <p:nvPr/>
            </p:nvCxnSpPr>
            <p:spPr bwMode="auto">
              <a:xfrm rot="10800000">
                <a:off x="5813" y="11020"/>
                <a:ext cx="1" cy="2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0" name="Line 64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922"/>
                <a:ext cx="1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6006291" y="3187580"/>
              <a:ext cx="547833" cy="314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84" name="Group 83"/>
            <p:cNvGrpSpPr>
              <a:grpSpLocks/>
            </p:cNvGrpSpPr>
            <p:nvPr/>
          </p:nvGrpSpPr>
          <p:grpSpPr bwMode="auto">
            <a:xfrm>
              <a:off x="5227582" y="3766465"/>
              <a:ext cx="466938" cy="721911"/>
              <a:chOff x="1392" y="2985"/>
              <a:chExt cx="456" cy="705"/>
            </a:xfrm>
          </p:grpSpPr>
          <p:cxnSp>
            <p:nvCxnSpPr>
              <p:cNvPr id="98" name="Line 68"/>
              <p:cNvCxnSpPr>
                <a:cxnSpLocks noChangeShapeType="1"/>
              </p:cNvCxnSpPr>
              <p:nvPr/>
            </p:nvCxnSpPr>
            <p:spPr bwMode="auto">
              <a:xfrm>
                <a:off x="1678" y="3077"/>
                <a:ext cx="1" cy="1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9" name="Line 69"/>
              <p:cNvCxnSpPr>
                <a:cxnSpLocks noChangeShapeType="1"/>
              </p:cNvCxnSpPr>
              <p:nvPr/>
            </p:nvCxnSpPr>
            <p:spPr bwMode="auto">
              <a:xfrm flipV="1">
                <a:off x="1678" y="3503"/>
                <a:ext cx="1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0" name="Oval 99"/>
              <p:cNvSpPr>
                <a:spLocks noChangeArrowheads="1"/>
              </p:cNvSpPr>
              <p:nvPr/>
            </p:nvSpPr>
            <p:spPr bwMode="auto">
              <a:xfrm>
                <a:off x="1517" y="3183"/>
                <a:ext cx="331" cy="3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01" name="Rectangle 100"/>
              <p:cNvSpPr>
                <a:spLocks noChangeArrowheads="1"/>
              </p:cNvSpPr>
              <p:nvPr/>
            </p:nvSpPr>
            <p:spPr bwMode="auto">
              <a:xfrm rot="16200000">
                <a:off x="1393" y="3417"/>
                <a:ext cx="27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Rectangle 101"/>
              <p:cNvSpPr>
                <a:spLocks noChangeArrowheads="1"/>
              </p:cNvSpPr>
              <p:nvPr/>
            </p:nvSpPr>
            <p:spPr bwMode="auto">
              <a:xfrm rot="16200000">
                <a:off x="1440" y="2949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3" name="Line 73"/>
              <p:cNvCxnSpPr>
                <a:cxnSpLocks noChangeShapeType="1"/>
              </p:cNvCxnSpPr>
              <p:nvPr/>
            </p:nvCxnSpPr>
            <p:spPr bwMode="auto">
              <a:xfrm>
                <a:off x="1774" y="3210"/>
                <a:ext cx="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4" name="Line 74"/>
              <p:cNvCxnSpPr>
                <a:cxnSpLocks noChangeShapeType="1"/>
              </p:cNvCxnSpPr>
              <p:nvPr/>
            </p:nvCxnSpPr>
            <p:spPr bwMode="auto">
              <a:xfrm>
                <a:off x="1676" y="3176"/>
                <a:ext cx="0" cy="3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5" name="Group 84"/>
            <p:cNvGrpSpPr>
              <a:grpSpLocks/>
            </p:cNvGrpSpPr>
            <p:nvPr/>
          </p:nvGrpSpPr>
          <p:grpSpPr bwMode="auto">
            <a:xfrm rot="5400000">
              <a:off x="7820830" y="4040381"/>
              <a:ext cx="526329" cy="244734"/>
              <a:chOff x="0" y="0"/>
              <a:chExt cx="20000" cy="20000"/>
            </a:xfrm>
          </p:grpSpPr>
          <p:sp>
            <p:nvSpPr>
              <p:cNvPr id="90" name="Oval 89"/>
              <p:cNvSpPr>
                <a:spLocks noChangeArrowheads="1"/>
              </p:cNvSpPr>
              <p:nvPr/>
            </p:nvSpPr>
            <p:spPr bwMode="auto">
              <a:xfrm>
                <a:off x="153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91" name="Oval 90"/>
              <p:cNvSpPr>
                <a:spLocks noChangeArrowheads="1"/>
              </p:cNvSpPr>
              <p:nvPr/>
            </p:nvSpPr>
            <p:spPr bwMode="auto">
              <a:xfrm>
                <a:off x="4901" y="0"/>
                <a:ext cx="3386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92" name="Oval 91"/>
              <p:cNvSpPr>
                <a:spLocks noChangeArrowheads="1"/>
              </p:cNvSpPr>
              <p:nvPr/>
            </p:nvSpPr>
            <p:spPr bwMode="auto">
              <a:xfrm>
                <a:off x="8266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93" name="Oval 92"/>
              <p:cNvSpPr>
                <a:spLocks noChangeArrowheads="1"/>
              </p:cNvSpPr>
              <p:nvPr/>
            </p:nvSpPr>
            <p:spPr bwMode="auto">
              <a:xfrm>
                <a:off x="1148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94" name="Oval 93"/>
              <p:cNvSpPr>
                <a:spLocks noChangeArrowheads="1"/>
              </p:cNvSpPr>
              <p:nvPr/>
            </p:nvSpPr>
            <p:spPr bwMode="auto">
              <a:xfrm>
                <a:off x="14851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95" name="Rectangle 94"/>
              <p:cNvSpPr>
                <a:spLocks noChangeArrowheads="1"/>
              </p:cNvSpPr>
              <p:nvPr/>
            </p:nvSpPr>
            <p:spPr bwMode="auto">
              <a:xfrm>
                <a:off x="585" y="8519"/>
                <a:ext cx="18603" cy="114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96" name="Line 82"/>
              <p:cNvCxnSpPr>
                <a:cxnSpLocks noChangeShapeType="1"/>
              </p:cNvCxnSpPr>
              <p:nvPr/>
            </p:nvCxnSpPr>
            <p:spPr bwMode="auto">
              <a:xfrm flipH="1">
                <a:off x="0" y="7805"/>
                <a:ext cx="1397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7" name="Line 83"/>
              <p:cNvCxnSpPr>
                <a:cxnSpLocks noChangeShapeType="1"/>
              </p:cNvCxnSpPr>
              <p:nvPr/>
            </p:nvCxnSpPr>
            <p:spPr bwMode="auto">
              <a:xfrm>
                <a:off x="18174" y="7805"/>
                <a:ext cx="1826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86" name="Freeform 85"/>
            <p:cNvSpPr>
              <a:spLocks/>
            </p:cNvSpPr>
            <p:nvPr/>
          </p:nvSpPr>
          <p:spPr bwMode="auto">
            <a:xfrm>
              <a:off x="5519418" y="3582147"/>
              <a:ext cx="368635" cy="276477"/>
            </a:xfrm>
            <a:custGeom>
              <a:avLst/>
              <a:gdLst>
                <a:gd name="T0" fmla="*/ 0 w 360"/>
                <a:gd name="T1" fmla="*/ 360 h 360"/>
                <a:gd name="T2" fmla="*/ 0 w 360"/>
                <a:gd name="T3" fmla="*/ 0 h 360"/>
                <a:gd name="T4" fmla="*/ 180 w 360"/>
                <a:gd name="T5" fmla="*/ 0 h 360"/>
                <a:gd name="T6" fmla="*/ 360 w 36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360">
                  <a:moveTo>
                    <a:pt x="0" y="360"/>
                  </a:moveTo>
                  <a:lnTo>
                    <a:pt x="0" y="0"/>
                  </a:lnTo>
                  <a:lnTo>
                    <a:pt x="180" y="0"/>
                  </a:lnTo>
                  <a:lnTo>
                    <a:pt x="3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87" name="Freeform 86"/>
            <p:cNvSpPr>
              <a:spLocks/>
            </p:cNvSpPr>
            <p:nvPr/>
          </p:nvSpPr>
          <p:spPr bwMode="auto">
            <a:xfrm>
              <a:off x="5519418" y="4380857"/>
              <a:ext cx="2580446" cy="324604"/>
            </a:xfrm>
            <a:custGeom>
              <a:avLst/>
              <a:gdLst>
                <a:gd name="T0" fmla="*/ 0 w 2520"/>
                <a:gd name="T1" fmla="*/ 0 h 360"/>
                <a:gd name="T2" fmla="*/ 0 w 2520"/>
                <a:gd name="T3" fmla="*/ 360 h 360"/>
                <a:gd name="T4" fmla="*/ 2520 w 2520"/>
                <a:gd name="T5" fmla="*/ 360 h 360"/>
                <a:gd name="T6" fmla="*/ 2520 w 252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20" h="360">
                  <a:moveTo>
                    <a:pt x="0" y="0"/>
                  </a:moveTo>
                  <a:lnTo>
                    <a:pt x="0" y="360"/>
                  </a:lnTo>
                  <a:lnTo>
                    <a:pt x="2520" y="360"/>
                  </a:lnTo>
                  <a:lnTo>
                    <a:pt x="25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88" name="Freeform 87"/>
            <p:cNvSpPr>
              <a:spLocks/>
            </p:cNvSpPr>
            <p:nvPr/>
          </p:nvSpPr>
          <p:spPr bwMode="auto">
            <a:xfrm>
              <a:off x="6640683" y="3582147"/>
              <a:ext cx="1474541" cy="368635"/>
            </a:xfrm>
            <a:custGeom>
              <a:avLst/>
              <a:gdLst>
                <a:gd name="T0" fmla="*/ 1440 w 1440"/>
                <a:gd name="T1" fmla="*/ 360 h 360"/>
                <a:gd name="T2" fmla="*/ 1440 w 1440"/>
                <a:gd name="T3" fmla="*/ 0 h 360"/>
                <a:gd name="T4" fmla="*/ 0 w 1440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0" h="360">
                  <a:moveTo>
                    <a:pt x="1440" y="360"/>
                  </a:moveTo>
                  <a:lnTo>
                    <a:pt x="144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7749480" y="4007191"/>
              <a:ext cx="283480" cy="333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sL</a:t>
              </a:r>
            </a:p>
          </p:txBody>
        </p:sp>
        <p:cxnSp>
          <p:nvCxnSpPr>
            <p:cNvPr id="3" name="Straight Arrow Connector 2"/>
            <p:cNvCxnSpPr/>
            <p:nvPr/>
          </p:nvCxnSpPr>
          <p:spPr>
            <a:xfrm>
              <a:off x="8305800" y="3877056"/>
              <a:ext cx="0" cy="50080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Rectangle 140"/>
            <p:cNvSpPr>
              <a:spLocks noChangeArrowheads="1"/>
            </p:cNvSpPr>
            <p:nvPr/>
          </p:nvSpPr>
          <p:spPr bwMode="auto">
            <a:xfrm>
              <a:off x="8355207" y="3918565"/>
              <a:ext cx="600583" cy="333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US" sz="2000" baseline="-2500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sz="2000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(s)</a:t>
              </a:r>
            </a:p>
          </p:txBody>
        </p:sp>
      </p:grpSp>
      <p:sp>
        <p:nvSpPr>
          <p:cNvPr id="143" name="Title 1"/>
          <p:cNvSpPr txBox="1">
            <a:spLocks/>
          </p:cNvSpPr>
          <p:nvPr/>
        </p:nvSpPr>
        <p:spPr>
          <a:xfrm>
            <a:off x="381000" y="3873731"/>
            <a:ext cx="4586705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Sơ đồ tương đương toán tử:</a:t>
            </a:r>
          </a:p>
        </p:txBody>
      </p:sp>
      <p:graphicFrame>
        <p:nvGraphicFramePr>
          <p:cNvPr id="144" name="Object 143">
            <a:extLst>
              <a:ext uri="{FF2B5EF4-FFF2-40B4-BE49-F238E27FC236}">
                <a16:creationId xmlns:a16="http://schemas.microsoft.com/office/drawing/2014/main" id="{6B48B5EB-7B59-437F-90AB-6798A9CCE0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974466"/>
              </p:ext>
            </p:extLst>
          </p:nvPr>
        </p:nvGraphicFramePr>
        <p:xfrm>
          <a:off x="3048000" y="3151254"/>
          <a:ext cx="1812925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02960" imgH="431640" progId="Equation.DSMT4">
                  <p:embed/>
                </p:oleObj>
              </mc:Choice>
              <mc:Fallback>
                <p:oleObj name="Equation" r:id="rId7" imgW="1002960" imgH="431640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151254"/>
                        <a:ext cx="1812925" cy="773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Object 144">
            <a:extLst>
              <a:ext uri="{FF2B5EF4-FFF2-40B4-BE49-F238E27FC236}">
                <a16:creationId xmlns:a16="http://schemas.microsoft.com/office/drawing/2014/main" id="{2839E46E-45A3-4C15-BEA3-DEA9C06968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139877"/>
              </p:ext>
            </p:extLst>
          </p:nvPr>
        </p:nvGraphicFramePr>
        <p:xfrm>
          <a:off x="4440496" y="5296053"/>
          <a:ext cx="3941504" cy="1123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71520" imgH="634680" progId="Equation.DSMT4">
                  <p:embed/>
                </p:oleObj>
              </mc:Choice>
              <mc:Fallback>
                <p:oleObj name="Equation" r:id="rId9" imgW="2171520" imgH="63468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496" y="5296053"/>
                        <a:ext cx="3941504" cy="11237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Object 145">
            <a:extLst>
              <a:ext uri="{FF2B5EF4-FFF2-40B4-BE49-F238E27FC236}">
                <a16:creationId xmlns:a16="http://schemas.microsoft.com/office/drawing/2014/main" id="{263F30EB-D120-49EF-A493-BD14F33F4F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141419"/>
              </p:ext>
            </p:extLst>
          </p:nvPr>
        </p:nvGraphicFramePr>
        <p:xfrm>
          <a:off x="457200" y="4343400"/>
          <a:ext cx="282257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11280" imgH="482400" progId="Equation.DSMT4">
                  <p:embed/>
                </p:oleObj>
              </mc:Choice>
              <mc:Fallback>
                <p:oleObj name="Equation" r:id="rId11" imgW="1511280" imgH="482400" progId="Equation.DSMT4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343400"/>
                        <a:ext cx="2822575" cy="879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6348B3D9-D4F5-4448-808E-3C8C3A531A38}"/>
              </a:ext>
            </a:extLst>
          </p:cNvPr>
          <p:cNvGrpSpPr/>
          <p:nvPr/>
        </p:nvGrpSpPr>
        <p:grpSpPr>
          <a:xfrm>
            <a:off x="6583226" y="3297754"/>
            <a:ext cx="526874" cy="442592"/>
            <a:chOff x="6583226" y="3297754"/>
            <a:chExt cx="526874" cy="44259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C85B1A1-E568-4369-A91F-53F3DE22AF45}"/>
                </a:ext>
              </a:extLst>
            </p:cNvPr>
            <p:cNvCxnSpPr>
              <a:cxnSpLocks/>
            </p:cNvCxnSpPr>
            <p:nvPr/>
          </p:nvCxnSpPr>
          <p:spPr>
            <a:xfrm>
              <a:off x="6583226" y="3740346"/>
              <a:ext cx="526874" cy="0"/>
            </a:xfrm>
            <a:prstGeom prst="straightConnector1">
              <a:avLst/>
            </a:prstGeom>
            <a:ln>
              <a:solidFill>
                <a:srgbClr val="0000FF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0" name="Object 149">
              <a:extLst>
                <a:ext uri="{FF2B5EF4-FFF2-40B4-BE49-F238E27FC236}">
                  <a16:creationId xmlns:a16="http://schemas.microsoft.com/office/drawing/2014/main" id="{63D73426-6A41-4C58-900A-C15E50B38A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0924479"/>
                </p:ext>
              </p:extLst>
            </p:nvPr>
          </p:nvGraphicFramePr>
          <p:xfrm>
            <a:off x="6653476" y="3297754"/>
            <a:ext cx="403225" cy="415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28600" progId="Equation.DSMT4">
                    <p:embed/>
                  </p:oleObj>
                </mc:Choice>
                <mc:Fallback>
                  <p:oleObj name="Equation" r:id="rId13" imgW="215640" imgH="228600" progId="Equation.DSMT4">
                    <p:embed/>
                    <p:pic>
                      <p:nvPicPr>
                        <p:cNvPr id="146" name="Object 145">
                          <a:extLst>
                            <a:ext uri="{FF2B5EF4-FFF2-40B4-BE49-F238E27FC236}">
                              <a16:creationId xmlns:a16="http://schemas.microsoft.com/office/drawing/2014/main" id="{263F30EB-D120-49EF-A493-BD14F33F4F2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53476" y="3297754"/>
                          <a:ext cx="403225" cy="4159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7818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4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514874"/>
              </p:ext>
            </p:extLst>
          </p:nvPr>
        </p:nvGraphicFramePr>
        <p:xfrm>
          <a:off x="322263" y="1462088"/>
          <a:ext cx="34591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9560" imgH="266400" progId="Equation.DSMT4">
                  <p:embed/>
                </p:oleObj>
              </mc:Choice>
              <mc:Fallback>
                <p:oleObj name="Equation" r:id="rId3" imgW="1879560" imgH="2664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3" y="1462088"/>
                        <a:ext cx="3459162" cy="49053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60000"/>
                            <a:satMod val="1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95230"/>
              </p:ext>
            </p:extLst>
          </p:nvPr>
        </p:nvGraphicFramePr>
        <p:xfrm>
          <a:off x="374802" y="533400"/>
          <a:ext cx="5154487" cy="9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82880" imgH="507960" progId="Equation.DSMT4">
                  <p:embed/>
                </p:oleObj>
              </mc:Choice>
              <mc:Fallback>
                <p:oleObj name="Equation" r:id="rId5" imgW="28828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802" y="533400"/>
                        <a:ext cx="5154487" cy="9080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le 1"/>
          <p:cNvSpPr txBox="1">
            <a:spLocks/>
          </p:cNvSpPr>
          <p:nvPr/>
        </p:nvSpPr>
        <p:spPr>
          <a:xfrm>
            <a:off x="332985" y="242211"/>
            <a:ext cx="1495816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Thay số: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254002"/>
              </p:ext>
            </p:extLst>
          </p:nvPr>
        </p:nvGraphicFramePr>
        <p:xfrm>
          <a:off x="367991" y="2490147"/>
          <a:ext cx="1449387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87320" imgH="393480" progId="Equation.DSMT4">
                  <p:embed/>
                </p:oleObj>
              </mc:Choice>
              <mc:Fallback>
                <p:oleObj name="Equation" r:id="rId7" imgW="7873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91" y="2490147"/>
                        <a:ext cx="1449387" cy="722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itle 1"/>
          <p:cNvSpPr txBox="1">
            <a:spLocks/>
          </p:cNvSpPr>
          <p:nvPr/>
        </p:nvSpPr>
        <p:spPr>
          <a:xfrm>
            <a:off x="275386" y="2148422"/>
            <a:ext cx="6277813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 i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 </a:t>
            </a:r>
            <a:r>
              <a:rPr lang="en-US" sz="2200" i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t</a:t>
            </a:r>
            <a:r>
              <a:rPr lang="en-US" sz="2200" i="1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0</a:t>
            </a:r>
            <a:r>
              <a:rPr lang="en-US" sz="2200" i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:</a:t>
            </a:r>
            <a:r>
              <a:rPr lang="en-US" sz="220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 </a:t>
            </a:r>
            <a:r>
              <a:rPr lang="en-US" sz="2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Dịch gốc thời gian về tại </a:t>
            </a:r>
            <a:r>
              <a:rPr lang="en-US" sz="2200" i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t=t</a:t>
            </a:r>
            <a:r>
              <a:rPr lang="en-US" sz="2200" i="1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đặt </a:t>
            </a:r>
            <a:r>
              <a:rPr lang="en-US" sz="2200" i="1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 =</a:t>
            </a:r>
            <a:r>
              <a:rPr lang="en-US" sz="2200" i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t-t</a:t>
            </a:r>
            <a:r>
              <a:rPr lang="en-US" sz="2200" i="1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0</a:t>
            </a:r>
            <a:endParaRPr lang="en-US" sz="2200" i="1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075510"/>
              </p:ext>
            </p:extLst>
          </p:nvPr>
        </p:nvGraphicFramePr>
        <p:xfrm>
          <a:off x="2408570" y="2528974"/>
          <a:ext cx="2500313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84200" imgH="393480" progId="Equation.DSMT4">
                  <p:embed/>
                </p:oleObj>
              </mc:Choice>
              <mc:Fallback>
                <p:oleObj name="Equation" r:id="rId9" imgW="1384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570" y="2528974"/>
                        <a:ext cx="2500313" cy="704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346205"/>
              </p:ext>
            </p:extLst>
          </p:nvPr>
        </p:nvGraphicFramePr>
        <p:xfrm>
          <a:off x="322262" y="3690938"/>
          <a:ext cx="4783138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54280" imgH="495000" progId="Equation.DSMT4">
                  <p:embed/>
                </p:oleObj>
              </mc:Choice>
              <mc:Fallback>
                <p:oleObj name="Equation" r:id="rId11" imgW="2654280" imgH="495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2" y="3690938"/>
                        <a:ext cx="4783138" cy="881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290450"/>
              </p:ext>
            </p:extLst>
          </p:nvPr>
        </p:nvGraphicFramePr>
        <p:xfrm>
          <a:off x="334553" y="4528458"/>
          <a:ext cx="3246847" cy="847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50960" imgH="431640" progId="Equation.DSMT4">
                  <p:embed/>
                </p:oleObj>
              </mc:Choice>
              <mc:Fallback>
                <p:oleObj name="Equation" r:id="rId13" imgW="165096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553" y="4528458"/>
                        <a:ext cx="3246847" cy="8472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878757"/>
              </p:ext>
            </p:extLst>
          </p:nvPr>
        </p:nvGraphicFramePr>
        <p:xfrm>
          <a:off x="3835400" y="1371600"/>
          <a:ext cx="427672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63480" imgH="393480" progId="Equation.DSMT4">
                  <p:embed/>
                </p:oleObj>
              </mc:Choice>
              <mc:Fallback>
                <p:oleObj name="Equation" r:id="rId15" imgW="2463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5400" y="1371600"/>
                        <a:ext cx="4276725" cy="68103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60000"/>
                            <a:satMod val="1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947291"/>
              </p:ext>
            </p:extLst>
          </p:nvPr>
        </p:nvGraphicFramePr>
        <p:xfrm>
          <a:off x="304800" y="5416871"/>
          <a:ext cx="3622675" cy="831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41400" imgH="431640" progId="Equation.DSMT4">
                  <p:embed/>
                </p:oleObj>
              </mc:Choice>
              <mc:Fallback>
                <p:oleObj name="Equation" r:id="rId17" imgW="1841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416871"/>
                        <a:ext cx="3622675" cy="83152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60000"/>
                            <a:satMod val="1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1244364"/>
              </p:ext>
            </p:extLst>
          </p:nvPr>
        </p:nvGraphicFramePr>
        <p:xfrm>
          <a:off x="4044950" y="5426396"/>
          <a:ext cx="4870450" cy="8220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52400" imgH="431640" progId="Equation.DSMT4">
                  <p:embed/>
                </p:oleObj>
              </mc:Choice>
              <mc:Fallback>
                <p:oleObj name="Equation" r:id="rId19" imgW="2552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5426396"/>
                        <a:ext cx="4870450" cy="822004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>
                            <a:shade val="60000"/>
                            <a:satMod val="110000"/>
                          </a:schemeClr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itle 1"/>
          <p:cNvSpPr txBox="1">
            <a:spLocks/>
          </p:cNvSpPr>
          <p:nvPr/>
        </p:nvSpPr>
        <p:spPr>
          <a:xfrm>
            <a:off x="304800" y="3180546"/>
            <a:ext cx="4791994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Lập hệ PT dòng điện 2 vòng, suy ra: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162631" y="2827783"/>
            <a:ext cx="3828969" cy="1809376"/>
            <a:chOff x="5162631" y="2827783"/>
            <a:chExt cx="3828969" cy="1809376"/>
          </a:xfrm>
        </p:grpSpPr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5678117" y="3825882"/>
              <a:ext cx="1005134" cy="352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E(s)=E/s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Line 31"/>
            <p:cNvCxnSpPr>
              <a:cxnSpLocks noChangeShapeType="1"/>
            </p:cNvCxnSpPr>
            <p:nvPr/>
          </p:nvCxnSpPr>
          <p:spPr bwMode="auto">
            <a:xfrm rot="10800000">
              <a:off x="6948872" y="3798189"/>
              <a:ext cx="1024" cy="10653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Line 32"/>
            <p:cNvCxnSpPr>
              <a:cxnSpLocks noChangeShapeType="1"/>
            </p:cNvCxnSpPr>
            <p:nvPr/>
          </p:nvCxnSpPr>
          <p:spPr bwMode="auto">
            <a:xfrm rot="10800000" flipV="1">
              <a:off x="6948872" y="4270519"/>
              <a:ext cx="1024" cy="1216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Line 33"/>
            <p:cNvCxnSpPr>
              <a:cxnSpLocks noChangeShapeType="1"/>
            </p:cNvCxnSpPr>
            <p:nvPr/>
          </p:nvCxnSpPr>
          <p:spPr bwMode="auto">
            <a:xfrm rot="10800000" flipH="1">
              <a:off x="6950920" y="3996172"/>
              <a:ext cx="59391" cy="30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Line 34"/>
            <p:cNvCxnSpPr>
              <a:cxnSpLocks noChangeShapeType="1"/>
            </p:cNvCxnSpPr>
            <p:nvPr/>
          </p:nvCxnSpPr>
          <p:spPr bwMode="auto">
            <a:xfrm rot="10800000">
              <a:off x="6950920" y="3966003"/>
              <a:ext cx="59391" cy="30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3" name="Line 35"/>
            <p:cNvCxnSpPr>
              <a:cxnSpLocks noChangeShapeType="1"/>
            </p:cNvCxnSpPr>
            <p:nvPr/>
          </p:nvCxnSpPr>
          <p:spPr bwMode="auto">
            <a:xfrm rot="10800000" flipV="1">
              <a:off x="6889481" y="4026341"/>
              <a:ext cx="60415" cy="311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Line 36"/>
            <p:cNvCxnSpPr>
              <a:cxnSpLocks noChangeShapeType="1"/>
            </p:cNvCxnSpPr>
            <p:nvPr/>
          </p:nvCxnSpPr>
          <p:spPr bwMode="auto">
            <a:xfrm rot="10800000" flipH="1" flipV="1">
              <a:off x="6889481" y="4057452"/>
              <a:ext cx="60415" cy="30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Line 37"/>
            <p:cNvCxnSpPr>
              <a:cxnSpLocks noChangeShapeType="1"/>
            </p:cNvCxnSpPr>
            <p:nvPr/>
          </p:nvCxnSpPr>
          <p:spPr bwMode="auto">
            <a:xfrm rot="10800000" flipH="1">
              <a:off x="6950920" y="4117790"/>
              <a:ext cx="59391" cy="311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Line 38"/>
            <p:cNvCxnSpPr>
              <a:cxnSpLocks noChangeShapeType="1"/>
            </p:cNvCxnSpPr>
            <p:nvPr/>
          </p:nvCxnSpPr>
          <p:spPr bwMode="auto">
            <a:xfrm rot="10800000">
              <a:off x="6950920" y="4087621"/>
              <a:ext cx="59391" cy="30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Line 39"/>
            <p:cNvCxnSpPr>
              <a:cxnSpLocks noChangeShapeType="1"/>
            </p:cNvCxnSpPr>
            <p:nvPr/>
          </p:nvCxnSpPr>
          <p:spPr bwMode="auto">
            <a:xfrm rot="10800000" flipV="1">
              <a:off x="6889481" y="3904723"/>
              <a:ext cx="60415" cy="30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Line 40"/>
            <p:cNvCxnSpPr>
              <a:cxnSpLocks noChangeShapeType="1"/>
            </p:cNvCxnSpPr>
            <p:nvPr/>
          </p:nvCxnSpPr>
          <p:spPr bwMode="auto">
            <a:xfrm rot="10800000" flipH="1" flipV="1">
              <a:off x="6889481" y="3934892"/>
              <a:ext cx="60415" cy="311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Line 41"/>
            <p:cNvCxnSpPr>
              <a:cxnSpLocks noChangeShapeType="1"/>
            </p:cNvCxnSpPr>
            <p:nvPr/>
          </p:nvCxnSpPr>
          <p:spPr bwMode="auto">
            <a:xfrm rot="10800000" flipV="1">
              <a:off x="6889481" y="4148901"/>
              <a:ext cx="60415" cy="30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Line 42"/>
            <p:cNvCxnSpPr>
              <a:cxnSpLocks noChangeShapeType="1"/>
            </p:cNvCxnSpPr>
            <p:nvPr/>
          </p:nvCxnSpPr>
          <p:spPr bwMode="auto">
            <a:xfrm rot="10800000" flipH="1" flipV="1">
              <a:off x="6889481" y="4180013"/>
              <a:ext cx="60415" cy="292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" name="Line 43"/>
            <p:cNvCxnSpPr>
              <a:cxnSpLocks noChangeShapeType="1"/>
            </p:cNvCxnSpPr>
            <p:nvPr/>
          </p:nvCxnSpPr>
          <p:spPr bwMode="auto">
            <a:xfrm rot="10800000" flipH="1">
              <a:off x="6950920" y="4239408"/>
              <a:ext cx="59391" cy="30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Line 44"/>
            <p:cNvCxnSpPr>
              <a:cxnSpLocks noChangeShapeType="1"/>
            </p:cNvCxnSpPr>
            <p:nvPr/>
          </p:nvCxnSpPr>
          <p:spPr bwMode="auto">
            <a:xfrm rot="10800000">
              <a:off x="6950920" y="4208296"/>
              <a:ext cx="59391" cy="311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Line 45"/>
            <p:cNvCxnSpPr>
              <a:cxnSpLocks noChangeShapeType="1"/>
            </p:cNvCxnSpPr>
            <p:nvPr/>
          </p:nvCxnSpPr>
          <p:spPr bwMode="auto">
            <a:xfrm flipH="1" flipV="1">
              <a:off x="6948872" y="3249495"/>
              <a:ext cx="1024" cy="5354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Line 46"/>
            <p:cNvCxnSpPr>
              <a:cxnSpLocks noChangeShapeType="1"/>
            </p:cNvCxnSpPr>
            <p:nvPr/>
          </p:nvCxnSpPr>
          <p:spPr bwMode="auto">
            <a:xfrm rot="10800000" flipV="1">
              <a:off x="6948872" y="4391194"/>
              <a:ext cx="1024" cy="2432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5" name="Line 45"/>
            <p:cNvCxnSpPr>
              <a:cxnSpLocks noChangeShapeType="1"/>
            </p:cNvCxnSpPr>
            <p:nvPr/>
          </p:nvCxnSpPr>
          <p:spPr bwMode="auto">
            <a:xfrm flipH="1" flipV="1">
              <a:off x="5459586" y="4080079"/>
              <a:ext cx="1024" cy="5354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6629400" y="3930955"/>
              <a:ext cx="547833" cy="333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2</a:t>
              </a:r>
              <a:endPara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5" name="Group 24"/>
            <p:cNvGrpSpPr>
              <a:grpSpLocks/>
            </p:cNvGrpSpPr>
            <p:nvPr/>
          </p:nvGrpSpPr>
          <p:grpSpPr bwMode="auto">
            <a:xfrm rot="5400000">
              <a:off x="6159408" y="2669867"/>
              <a:ext cx="111697" cy="1124340"/>
              <a:chOff x="5755" y="11020"/>
              <a:chExt cx="118" cy="1160"/>
            </a:xfrm>
          </p:grpSpPr>
          <p:cxnSp>
            <p:nvCxnSpPr>
              <p:cNvPr id="51" name="Line 49"/>
              <p:cNvCxnSpPr>
                <a:cxnSpLocks noChangeShapeType="1"/>
              </p:cNvCxnSpPr>
              <p:nvPr/>
            </p:nvCxnSpPr>
            <p:spPr bwMode="auto">
              <a:xfrm rot="10800000">
                <a:off x="5813" y="11293"/>
                <a:ext cx="1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Line 50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794"/>
                <a:ext cx="1" cy="1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Line 5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503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Line 52"/>
              <p:cNvCxnSpPr>
                <a:cxnSpLocks noChangeShapeType="1"/>
              </p:cNvCxnSpPr>
              <p:nvPr/>
            </p:nvCxnSpPr>
            <p:spPr bwMode="auto">
              <a:xfrm rot="10800000">
                <a:off x="5815" y="1147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" name="Line 53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535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Line 54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568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Line 55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632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8" name="Line 56"/>
              <p:cNvCxnSpPr>
                <a:cxnSpLocks noChangeShapeType="1"/>
              </p:cNvCxnSpPr>
              <p:nvPr/>
            </p:nvCxnSpPr>
            <p:spPr bwMode="auto">
              <a:xfrm rot="10800000">
                <a:off x="5815" y="11600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9" name="Line 57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406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Line 58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438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" name="Line 59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665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Line 6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698"/>
                <a:ext cx="59" cy="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Line 6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76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Line 62"/>
              <p:cNvCxnSpPr>
                <a:cxnSpLocks noChangeShapeType="1"/>
              </p:cNvCxnSpPr>
              <p:nvPr/>
            </p:nvCxnSpPr>
            <p:spPr bwMode="auto">
              <a:xfrm rot="10800000">
                <a:off x="5815" y="11728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" name="Line 63"/>
              <p:cNvCxnSpPr>
                <a:cxnSpLocks noChangeShapeType="1"/>
              </p:cNvCxnSpPr>
              <p:nvPr/>
            </p:nvCxnSpPr>
            <p:spPr bwMode="auto">
              <a:xfrm rot="10800000">
                <a:off x="5813" y="11020"/>
                <a:ext cx="1" cy="2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Line 64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922"/>
                <a:ext cx="1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5941340" y="2827783"/>
              <a:ext cx="547833" cy="314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27" name="Group 26"/>
            <p:cNvGrpSpPr>
              <a:grpSpLocks/>
            </p:cNvGrpSpPr>
            <p:nvPr/>
          </p:nvGrpSpPr>
          <p:grpSpPr bwMode="auto">
            <a:xfrm>
              <a:off x="5162631" y="3605212"/>
              <a:ext cx="466938" cy="721911"/>
              <a:chOff x="1392" y="2985"/>
              <a:chExt cx="456" cy="705"/>
            </a:xfrm>
          </p:grpSpPr>
          <p:cxnSp>
            <p:nvCxnSpPr>
              <p:cNvPr id="44" name="Line 68"/>
              <p:cNvCxnSpPr>
                <a:cxnSpLocks noChangeShapeType="1"/>
              </p:cNvCxnSpPr>
              <p:nvPr/>
            </p:nvCxnSpPr>
            <p:spPr bwMode="auto">
              <a:xfrm>
                <a:off x="1678" y="3077"/>
                <a:ext cx="1" cy="1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Line 69"/>
              <p:cNvCxnSpPr>
                <a:cxnSpLocks noChangeShapeType="1"/>
              </p:cNvCxnSpPr>
              <p:nvPr/>
            </p:nvCxnSpPr>
            <p:spPr bwMode="auto">
              <a:xfrm flipV="1">
                <a:off x="1678" y="3503"/>
                <a:ext cx="1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6" name="Oval 45"/>
              <p:cNvSpPr>
                <a:spLocks noChangeArrowheads="1"/>
              </p:cNvSpPr>
              <p:nvPr/>
            </p:nvSpPr>
            <p:spPr bwMode="auto">
              <a:xfrm>
                <a:off x="1517" y="3183"/>
                <a:ext cx="331" cy="3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47" name="Rectangle 46"/>
              <p:cNvSpPr>
                <a:spLocks noChangeArrowheads="1"/>
              </p:cNvSpPr>
              <p:nvPr/>
            </p:nvSpPr>
            <p:spPr bwMode="auto">
              <a:xfrm rot="16200000">
                <a:off x="1393" y="3417"/>
                <a:ext cx="27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Rectangle 47"/>
              <p:cNvSpPr>
                <a:spLocks noChangeArrowheads="1"/>
              </p:cNvSpPr>
              <p:nvPr/>
            </p:nvSpPr>
            <p:spPr bwMode="auto">
              <a:xfrm rot="16200000">
                <a:off x="1440" y="2949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9" name="Line 73"/>
              <p:cNvCxnSpPr>
                <a:cxnSpLocks noChangeShapeType="1"/>
              </p:cNvCxnSpPr>
              <p:nvPr/>
            </p:nvCxnSpPr>
            <p:spPr bwMode="auto">
              <a:xfrm>
                <a:off x="1774" y="3210"/>
                <a:ext cx="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Line 74"/>
              <p:cNvCxnSpPr>
                <a:cxnSpLocks noChangeShapeType="1"/>
              </p:cNvCxnSpPr>
              <p:nvPr/>
            </p:nvCxnSpPr>
            <p:spPr bwMode="auto">
              <a:xfrm>
                <a:off x="1676" y="3176"/>
                <a:ext cx="0" cy="3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9" name="Group 28"/>
            <p:cNvGrpSpPr>
              <a:grpSpLocks/>
            </p:cNvGrpSpPr>
            <p:nvPr/>
          </p:nvGrpSpPr>
          <p:grpSpPr bwMode="auto">
            <a:xfrm rot="5400000">
              <a:off x="7755879" y="4057880"/>
              <a:ext cx="526329" cy="244734"/>
              <a:chOff x="0" y="0"/>
              <a:chExt cx="20000" cy="20000"/>
            </a:xfrm>
          </p:grpSpPr>
          <p:sp>
            <p:nvSpPr>
              <p:cNvPr id="36" name="Oval 35"/>
              <p:cNvSpPr>
                <a:spLocks noChangeArrowheads="1"/>
              </p:cNvSpPr>
              <p:nvPr/>
            </p:nvSpPr>
            <p:spPr bwMode="auto">
              <a:xfrm>
                <a:off x="153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7" name="Oval 36"/>
              <p:cNvSpPr>
                <a:spLocks noChangeArrowheads="1"/>
              </p:cNvSpPr>
              <p:nvPr/>
            </p:nvSpPr>
            <p:spPr bwMode="auto">
              <a:xfrm>
                <a:off x="4901" y="0"/>
                <a:ext cx="3386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8" name="Oval 37"/>
              <p:cNvSpPr>
                <a:spLocks noChangeArrowheads="1"/>
              </p:cNvSpPr>
              <p:nvPr/>
            </p:nvSpPr>
            <p:spPr bwMode="auto">
              <a:xfrm>
                <a:off x="8266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39" name="Oval 38"/>
              <p:cNvSpPr>
                <a:spLocks noChangeArrowheads="1"/>
              </p:cNvSpPr>
              <p:nvPr/>
            </p:nvSpPr>
            <p:spPr bwMode="auto">
              <a:xfrm>
                <a:off x="1148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40" name="Oval 39"/>
              <p:cNvSpPr>
                <a:spLocks noChangeArrowheads="1"/>
              </p:cNvSpPr>
              <p:nvPr/>
            </p:nvSpPr>
            <p:spPr bwMode="auto">
              <a:xfrm>
                <a:off x="14851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41" name="Rectangle 40"/>
              <p:cNvSpPr>
                <a:spLocks noChangeArrowheads="1"/>
              </p:cNvSpPr>
              <p:nvPr/>
            </p:nvSpPr>
            <p:spPr bwMode="auto">
              <a:xfrm>
                <a:off x="585" y="8519"/>
                <a:ext cx="18603" cy="114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42" name="Line 82"/>
              <p:cNvCxnSpPr>
                <a:cxnSpLocks noChangeShapeType="1"/>
              </p:cNvCxnSpPr>
              <p:nvPr/>
            </p:nvCxnSpPr>
            <p:spPr bwMode="auto">
              <a:xfrm flipH="1">
                <a:off x="0" y="7805"/>
                <a:ext cx="1397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Line 83"/>
              <p:cNvCxnSpPr>
                <a:cxnSpLocks noChangeShapeType="1"/>
              </p:cNvCxnSpPr>
              <p:nvPr/>
            </p:nvCxnSpPr>
            <p:spPr bwMode="auto">
              <a:xfrm>
                <a:off x="18174" y="7805"/>
                <a:ext cx="1826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5454467" y="3230964"/>
              <a:ext cx="368635" cy="559360"/>
            </a:xfrm>
            <a:custGeom>
              <a:avLst/>
              <a:gdLst>
                <a:gd name="T0" fmla="*/ 0 w 360"/>
                <a:gd name="T1" fmla="*/ 360 h 360"/>
                <a:gd name="T2" fmla="*/ 0 w 360"/>
                <a:gd name="T3" fmla="*/ 0 h 360"/>
                <a:gd name="T4" fmla="*/ 180 w 360"/>
                <a:gd name="T5" fmla="*/ 0 h 360"/>
                <a:gd name="T6" fmla="*/ 360 w 36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360">
                  <a:moveTo>
                    <a:pt x="0" y="360"/>
                  </a:moveTo>
                  <a:lnTo>
                    <a:pt x="0" y="0"/>
                  </a:lnTo>
                  <a:lnTo>
                    <a:pt x="180" y="0"/>
                  </a:lnTo>
                  <a:lnTo>
                    <a:pt x="3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31" name="Freeform 30"/>
            <p:cNvSpPr>
              <a:spLocks/>
            </p:cNvSpPr>
            <p:nvPr/>
          </p:nvSpPr>
          <p:spPr bwMode="auto">
            <a:xfrm>
              <a:off x="5454467" y="4385256"/>
              <a:ext cx="2580446" cy="251903"/>
            </a:xfrm>
            <a:custGeom>
              <a:avLst/>
              <a:gdLst>
                <a:gd name="T0" fmla="*/ 0 w 2520"/>
                <a:gd name="T1" fmla="*/ 0 h 360"/>
                <a:gd name="T2" fmla="*/ 0 w 2520"/>
                <a:gd name="T3" fmla="*/ 360 h 360"/>
                <a:gd name="T4" fmla="*/ 2520 w 2520"/>
                <a:gd name="T5" fmla="*/ 360 h 360"/>
                <a:gd name="T6" fmla="*/ 2520 w 252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20" h="360">
                  <a:moveTo>
                    <a:pt x="0" y="0"/>
                  </a:moveTo>
                  <a:lnTo>
                    <a:pt x="0" y="360"/>
                  </a:lnTo>
                  <a:lnTo>
                    <a:pt x="2520" y="360"/>
                  </a:lnTo>
                  <a:lnTo>
                    <a:pt x="25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6575732" y="3240540"/>
              <a:ext cx="1474541" cy="641942"/>
            </a:xfrm>
            <a:custGeom>
              <a:avLst/>
              <a:gdLst>
                <a:gd name="T0" fmla="*/ 1440 w 1440"/>
                <a:gd name="T1" fmla="*/ 360 h 360"/>
                <a:gd name="T2" fmla="*/ 1440 w 1440"/>
                <a:gd name="T3" fmla="*/ 0 h 360"/>
                <a:gd name="T4" fmla="*/ 0 w 1440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0" h="360">
                  <a:moveTo>
                    <a:pt x="1440" y="360"/>
                  </a:moveTo>
                  <a:lnTo>
                    <a:pt x="144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7684529" y="3938890"/>
              <a:ext cx="283480" cy="333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sL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8240849" y="3981232"/>
              <a:ext cx="0" cy="50080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8249313" y="4022740"/>
              <a:ext cx="513687" cy="3625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(s)</a:t>
              </a:r>
            </a:p>
          </p:txBody>
        </p:sp>
        <p:grpSp>
          <p:nvGrpSpPr>
            <p:cNvPr id="86" name="Group 85"/>
            <p:cNvGrpSpPr>
              <a:grpSpLocks/>
            </p:cNvGrpSpPr>
            <p:nvPr/>
          </p:nvGrpSpPr>
          <p:grpSpPr bwMode="auto">
            <a:xfrm rot="10800000">
              <a:off x="7871984" y="3200520"/>
              <a:ext cx="466938" cy="721911"/>
              <a:chOff x="1392" y="2985"/>
              <a:chExt cx="456" cy="705"/>
            </a:xfrm>
          </p:grpSpPr>
          <p:cxnSp>
            <p:nvCxnSpPr>
              <p:cNvPr id="87" name="Line 68"/>
              <p:cNvCxnSpPr>
                <a:cxnSpLocks noChangeShapeType="1"/>
              </p:cNvCxnSpPr>
              <p:nvPr/>
            </p:nvCxnSpPr>
            <p:spPr bwMode="auto">
              <a:xfrm>
                <a:off x="1678" y="3077"/>
                <a:ext cx="1" cy="1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Line 69"/>
              <p:cNvCxnSpPr>
                <a:cxnSpLocks noChangeShapeType="1"/>
              </p:cNvCxnSpPr>
              <p:nvPr/>
            </p:nvCxnSpPr>
            <p:spPr bwMode="auto">
              <a:xfrm flipV="1">
                <a:off x="1678" y="3503"/>
                <a:ext cx="1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89" name="Oval 88"/>
              <p:cNvSpPr>
                <a:spLocks noChangeArrowheads="1"/>
              </p:cNvSpPr>
              <p:nvPr/>
            </p:nvSpPr>
            <p:spPr bwMode="auto">
              <a:xfrm>
                <a:off x="1517" y="3183"/>
                <a:ext cx="331" cy="3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90" name="Rectangle 89"/>
              <p:cNvSpPr>
                <a:spLocks noChangeArrowheads="1"/>
              </p:cNvSpPr>
              <p:nvPr/>
            </p:nvSpPr>
            <p:spPr bwMode="auto">
              <a:xfrm rot="16200000">
                <a:off x="1393" y="3417"/>
                <a:ext cx="27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Rectangle 90"/>
              <p:cNvSpPr>
                <a:spLocks noChangeArrowheads="1"/>
              </p:cNvSpPr>
              <p:nvPr/>
            </p:nvSpPr>
            <p:spPr bwMode="auto">
              <a:xfrm rot="16200000">
                <a:off x="1440" y="2949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2" name="Line 73"/>
              <p:cNvCxnSpPr>
                <a:cxnSpLocks noChangeShapeType="1"/>
              </p:cNvCxnSpPr>
              <p:nvPr/>
            </p:nvCxnSpPr>
            <p:spPr bwMode="auto">
              <a:xfrm>
                <a:off x="1774" y="3210"/>
                <a:ext cx="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Line 74"/>
              <p:cNvCxnSpPr>
                <a:cxnSpLocks noChangeShapeType="1"/>
              </p:cNvCxnSpPr>
              <p:nvPr/>
            </p:nvCxnSpPr>
            <p:spPr bwMode="auto">
              <a:xfrm>
                <a:off x="1676" y="3176"/>
                <a:ext cx="0" cy="3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8262724" y="3360810"/>
              <a:ext cx="728876" cy="333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Li</a:t>
              </a:r>
              <a:r>
                <a:rPr lang="en-US" sz="2000" baseline="-25000"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(t</a:t>
              </a:r>
              <a:r>
                <a:rPr lang="en-US" sz="2000" baseline="-25000">
                  <a:latin typeface="Times New Roman" panose="02020603050405020304" pitchFamily="18" charset="0"/>
                  <a:ea typeface="Times New Roman" panose="02020603050405020304" pitchFamily="18" charset="0"/>
                </a:rPr>
                <a:t>0</a:t>
              </a:r>
              <a:r>
                <a:rPr lang="en-US" sz="2000">
                  <a:latin typeface="Times New Roman" panose="02020603050405020304" pitchFamily="18" charset="0"/>
                  <a:ea typeface="Times New Roman" panose="02020603050405020304" pitchFamily="18" charset="0"/>
                </a:rPr>
                <a:t>)</a:t>
              </a:r>
              <a:endParaRPr lang="en-US" sz="2000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" name="Arc 1"/>
            <p:cNvSpPr/>
            <p:nvPr/>
          </p:nvSpPr>
          <p:spPr>
            <a:xfrm>
              <a:off x="5750076" y="3467782"/>
              <a:ext cx="879324" cy="824289"/>
            </a:xfrm>
            <a:prstGeom prst="arc">
              <a:avLst>
                <a:gd name="adj1" fmla="val 14606093"/>
                <a:gd name="adj2" fmla="val 8426414"/>
              </a:avLst>
            </a:prstGeom>
            <a:ln w="19050">
              <a:solidFill>
                <a:srgbClr val="FF000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Arc 95"/>
            <p:cNvSpPr/>
            <p:nvPr/>
          </p:nvSpPr>
          <p:spPr>
            <a:xfrm>
              <a:off x="7033347" y="3479045"/>
              <a:ext cx="733768" cy="693026"/>
            </a:xfrm>
            <a:prstGeom prst="arc">
              <a:avLst>
                <a:gd name="adj1" fmla="val 14606093"/>
                <a:gd name="adj2" fmla="val 8426414"/>
              </a:avLst>
            </a:prstGeom>
            <a:ln w="19050">
              <a:solidFill>
                <a:srgbClr val="FF0000"/>
              </a:solidFill>
              <a:headEnd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5931687" y="3555511"/>
              <a:ext cx="471216" cy="3177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 b="1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7172904" y="3656227"/>
              <a:ext cx="471216" cy="3177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 b="1"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6654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8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102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624487"/>
              </p:ext>
            </p:extLst>
          </p:nvPr>
        </p:nvGraphicFramePr>
        <p:xfrm>
          <a:off x="304801" y="304800"/>
          <a:ext cx="5334000" cy="1417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560" imgH="736560" progId="Equation.DSMT4">
                  <p:embed/>
                </p:oleObj>
              </mc:Choice>
              <mc:Fallback>
                <p:oleObj name="Equation" r:id="rId3" imgW="28065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1" y="304800"/>
                        <a:ext cx="5334000" cy="14173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420213"/>
              </p:ext>
            </p:extLst>
          </p:nvPr>
        </p:nvGraphicFramePr>
        <p:xfrm>
          <a:off x="374904" y="1828800"/>
          <a:ext cx="5416296" cy="161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82880" imgH="863280" progId="Equation.DSMT4">
                  <p:embed/>
                </p:oleObj>
              </mc:Choice>
              <mc:Fallback>
                <p:oleObj name="Equation" r:id="rId5" imgW="288288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04" y="1828800"/>
                        <a:ext cx="5416296" cy="1616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Title 1"/>
          <p:cNvSpPr txBox="1">
            <a:spLocks/>
          </p:cNvSpPr>
          <p:nvPr/>
        </p:nvSpPr>
        <p:spPr>
          <a:xfrm>
            <a:off x="304800" y="3429000"/>
            <a:ext cx="4495800" cy="477054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2200" u="sng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Cách 2</a:t>
            </a: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Viết biểu thức cho e(t):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819343"/>
              </p:ext>
            </p:extLst>
          </p:nvPr>
        </p:nvGraphicFramePr>
        <p:xfrm>
          <a:off x="628650" y="3849688"/>
          <a:ext cx="404812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1840" imgH="431640" progId="Equation.DSMT4">
                  <p:embed/>
                </p:oleObj>
              </mc:Choice>
              <mc:Fallback>
                <p:oleObj name="Equation" r:id="rId7" imgW="2031840" imgH="43164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849688"/>
                        <a:ext cx="4048125" cy="8239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705254"/>
              </p:ext>
            </p:extLst>
          </p:nvPr>
        </p:nvGraphicFramePr>
        <p:xfrm>
          <a:off x="392678" y="4648200"/>
          <a:ext cx="2940050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5720" imgH="431640" progId="Equation.DSMT4">
                  <p:embed/>
                </p:oleObj>
              </mc:Choice>
              <mc:Fallback>
                <p:oleObj name="Equation" r:id="rId9" imgW="148572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678" y="4648200"/>
                        <a:ext cx="2940050" cy="8461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783780"/>
              </p:ext>
            </p:extLst>
          </p:nvPr>
        </p:nvGraphicFramePr>
        <p:xfrm>
          <a:off x="381000" y="5505485"/>
          <a:ext cx="3973066" cy="1123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45960" imgH="622080" progId="Equation.DSMT4">
                  <p:embed/>
                </p:oleObj>
              </mc:Choice>
              <mc:Fallback>
                <p:oleObj name="Equation" r:id="rId11" imgW="214596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505485"/>
                        <a:ext cx="3973066" cy="1123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" name="Group 96"/>
          <p:cNvGrpSpPr/>
          <p:nvPr/>
        </p:nvGrpSpPr>
        <p:grpSpPr>
          <a:xfrm>
            <a:off x="5191933" y="4882919"/>
            <a:ext cx="3591764" cy="1517881"/>
            <a:chOff x="5227582" y="3187580"/>
            <a:chExt cx="3591764" cy="1517881"/>
          </a:xfrm>
        </p:grpSpPr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5743068" y="3959732"/>
              <a:ext cx="792566" cy="286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E(s)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99" name="Group 98"/>
            <p:cNvGrpSpPr>
              <a:grpSpLocks/>
            </p:cNvGrpSpPr>
            <p:nvPr/>
          </p:nvGrpSpPr>
          <p:grpSpPr bwMode="auto">
            <a:xfrm>
              <a:off x="7080998" y="3568835"/>
              <a:ext cx="547833" cy="1093618"/>
              <a:chOff x="2955" y="2782"/>
              <a:chExt cx="535" cy="1068"/>
            </a:xfrm>
          </p:grpSpPr>
          <p:grpSp>
            <p:nvGrpSpPr>
              <p:cNvPr id="144" name="Group 143"/>
              <p:cNvGrpSpPr>
                <a:grpSpLocks/>
              </p:cNvGrpSpPr>
              <p:nvPr/>
            </p:nvGrpSpPr>
            <p:grpSpPr bwMode="auto">
              <a:xfrm>
                <a:off x="3209" y="2782"/>
                <a:ext cx="118" cy="1068"/>
                <a:chOff x="5755" y="11020"/>
                <a:chExt cx="118" cy="1160"/>
              </a:xfrm>
            </p:grpSpPr>
            <p:cxnSp>
              <p:nvCxnSpPr>
                <p:cNvPr id="146" name="Line 31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3" y="11293"/>
                  <a:ext cx="1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7" name="Line 32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813" y="11794"/>
                  <a:ext cx="1" cy="12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8" name="Line 33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503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49" name="Line 34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471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0" name="Line 35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535"/>
                  <a:ext cx="59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1" name="Line 36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568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2" name="Line 37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632"/>
                  <a:ext cx="58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3" name="Line 38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600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4" name="Line 39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406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5" name="Line 40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438"/>
                  <a:ext cx="59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6" name="Line 41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755" y="11665"/>
                  <a:ext cx="59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7" name="Line 42"/>
                <p:cNvCxnSpPr>
                  <a:cxnSpLocks noChangeShapeType="1"/>
                </p:cNvCxnSpPr>
                <p:nvPr/>
              </p:nvCxnSpPr>
              <p:spPr bwMode="auto">
                <a:xfrm rot="10800000" flipH="1" flipV="1">
                  <a:off x="5755" y="11698"/>
                  <a:ext cx="59" cy="3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8" name="Line 43"/>
                <p:cNvCxnSpPr>
                  <a:cxnSpLocks noChangeShapeType="1"/>
                </p:cNvCxnSpPr>
                <p:nvPr/>
              </p:nvCxnSpPr>
              <p:spPr bwMode="auto">
                <a:xfrm rot="10800000" flipH="1">
                  <a:off x="5815" y="11761"/>
                  <a:ext cx="58" cy="3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59" name="Line 44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5" y="11728"/>
                  <a:ext cx="58" cy="3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0" name="Line 45"/>
                <p:cNvCxnSpPr>
                  <a:cxnSpLocks noChangeShapeType="1"/>
                </p:cNvCxnSpPr>
                <p:nvPr/>
              </p:nvCxnSpPr>
              <p:spPr bwMode="auto">
                <a:xfrm rot="10800000">
                  <a:off x="5813" y="11020"/>
                  <a:ext cx="1" cy="25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61" name="Line 46"/>
                <p:cNvCxnSpPr>
                  <a:cxnSpLocks noChangeShapeType="1"/>
                </p:cNvCxnSpPr>
                <p:nvPr/>
              </p:nvCxnSpPr>
              <p:spPr bwMode="auto">
                <a:xfrm rot="10800000" flipV="1">
                  <a:off x="5813" y="11922"/>
                  <a:ext cx="1" cy="25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45" name="Rectangle 144"/>
              <p:cNvSpPr>
                <a:spLocks noChangeArrowheads="1"/>
              </p:cNvSpPr>
              <p:nvPr/>
            </p:nvSpPr>
            <p:spPr bwMode="auto">
              <a:xfrm>
                <a:off x="2955" y="3163"/>
                <a:ext cx="535" cy="3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12700" tIns="12700" rIns="12700" bIns="12700" anchor="t" anchorCtr="0" upright="1">
                <a:noAutofit/>
              </a:bodyPr>
              <a:lstStyle/>
              <a:p>
                <a:pPr marL="0" marR="0">
                  <a:spcBef>
                    <a:spcPts val="0"/>
                  </a:spcBef>
                  <a:spcAft>
                    <a:spcPts val="0"/>
                  </a:spcAft>
                  <a:tabLst>
                    <a:tab pos="2743200" algn="ctr"/>
                    <a:tab pos="5486400" algn="r"/>
                    <a:tab pos="457200" algn="l"/>
                  </a:tabLs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R</a:t>
                </a:r>
                <a:r>
                  <a:rPr lang="en-US" sz="2000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</a:t>
                </a:r>
                <a:endPara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grpSp>
          <p:nvGrpSpPr>
            <p:cNvPr id="100" name="Group 99"/>
            <p:cNvGrpSpPr>
              <a:grpSpLocks/>
            </p:cNvGrpSpPr>
            <p:nvPr/>
          </p:nvGrpSpPr>
          <p:grpSpPr bwMode="auto">
            <a:xfrm rot="5400000">
              <a:off x="6224359" y="3029664"/>
              <a:ext cx="111697" cy="1124340"/>
              <a:chOff x="5755" y="11020"/>
              <a:chExt cx="118" cy="1160"/>
            </a:xfrm>
          </p:grpSpPr>
          <p:cxnSp>
            <p:nvCxnSpPr>
              <p:cNvPr id="128" name="Line 49"/>
              <p:cNvCxnSpPr>
                <a:cxnSpLocks noChangeShapeType="1"/>
              </p:cNvCxnSpPr>
              <p:nvPr/>
            </p:nvCxnSpPr>
            <p:spPr bwMode="auto">
              <a:xfrm rot="10800000">
                <a:off x="5813" y="11293"/>
                <a:ext cx="1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9" name="Line 50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794"/>
                <a:ext cx="1" cy="1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0" name="Line 5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503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1" name="Line 52"/>
              <p:cNvCxnSpPr>
                <a:cxnSpLocks noChangeShapeType="1"/>
              </p:cNvCxnSpPr>
              <p:nvPr/>
            </p:nvCxnSpPr>
            <p:spPr bwMode="auto">
              <a:xfrm rot="10800000">
                <a:off x="5815" y="1147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2" name="Line 53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535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" name="Line 54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568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4" name="Line 55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632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5" name="Line 56"/>
              <p:cNvCxnSpPr>
                <a:cxnSpLocks noChangeShapeType="1"/>
              </p:cNvCxnSpPr>
              <p:nvPr/>
            </p:nvCxnSpPr>
            <p:spPr bwMode="auto">
              <a:xfrm rot="10800000">
                <a:off x="5815" y="11600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6" name="Line 57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406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7" name="Line 58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438"/>
                <a:ext cx="59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8" name="Line 59"/>
              <p:cNvCxnSpPr>
                <a:cxnSpLocks noChangeShapeType="1"/>
              </p:cNvCxnSpPr>
              <p:nvPr/>
            </p:nvCxnSpPr>
            <p:spPr bwMode="auto">
              <a:xfrm rot="10800000" flipV="1">
                <a:off x="5755" y="11665"/>
                <a:ext cx="59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9" name="Line 60"/>
              <p:cNvCxnSpPr>
                <a:cxnSpLocks noChangeShapeType="1"/>
              </p:cNvCxnSpPr>
              <p:nvPr/>
            </p:nvCxnSpPr>
            <p:spPr bwMode="auto">
              <a:xfrm rot="10800000" flipH="1" flipV="1">
                <a:off x="5755" y="11698"/>
                <a:ext cx="59" cy="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0" name="Line 61"/>
              <p:cNvCxnSpPr>
                <a:cxnSpLocks noChangeShapeType="1"/>
              </p:cNvCxnSpPr>
              <p:nvPr/>
            </p:nvCxnSpPr>
            <p:spPr bwMode="auto">
              <a:xfrm rot="10800000" flipH="1">
                <a:off x="5815" y="11761"/>
                <a:ext cx="58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1" name="Line 62"/>
              <p:cNvCxnSpPr>
                <a:cxnSpLocks noChangeShapeType="1"/>
              </p:cNvCxnSpPr>
              <p:nvPr/>
            </p:nvCxnSpPr>
            <p:spPr bwMode="auto">
              <a:xfrm rot="10800000">
                <a:off x="5815" y="11728"/>
                <a:ext cx="58" cy="3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2" name="Line 63"/>
              <p:cNvCxnSpPr>
                <a:cxnSpLocks noChangeShapeType="1"/>
              </p:cNvCxnSpPr>
              <p:nvPr/>
            </p:nvCxnSpPr>
            <p:spPr bwMode="auto">
              <a:xfrm rot="10800000">
                <a:off x="5813" y="11020"/>
                <a:ext cx="1" cy="2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" name="Line 64"/>
              <p:cNvCxnSpPr>
                <a:cxnSpLocks noChangeShapeType="1"/>
              </p:cNvCxnSpPr>
              <p:nvPr/>
            </p:nvCxnSpPr>
            <p:spPr bwMode="auto">
              <a:xfrm rot="10800000" flipV="1">
                <a:off x="5813" y="11922"/>
                <a:ext cx="1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6006291" y="3187580"/>
              <a:ext cx="547833" cy="314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1</a:t>
              </a:r>
              <a:endPara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105" name="Group 104"/>
            <p:cNvGrpSpPr>
              <a:grpSpLocks/>
            </p:cNvGrpSpPr>
            <p:nvPr/>
          </p:nvGrpSpPr>
          <p:grpSpPr bwMode="auto">
            <a:xfrm>
              <a:off x="5227582" y="3766465"/>
              <a:ext cx="466938" cy="721911"/>
              <a:chOff x="1392" y="2985"/>
              <a:chExt cx="456" cy="705"/>
            </a:xfrm>
          </p:grpSpPr>
          <p:cxnSp>
            <p:nvCxnSpPr>
              <p:cNvPr id="121" name="Line 68"/>
              <p:cNvCxnSpPr>
                <a:cxnSpLocks noChangeShapeType="1"/>
              </p:cNvCxnSpPr>
              <p:nvPr/>
            </p:nvCxnSpPr>
            <p:spPr bwMode="auto">
              <a:xfrm>
                <a:off x="1678" y="3077"/>
                <a:ext cx="1" cy="10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2" name="Line 69"/>
              <p:cNvCxnSpPr>
                <a:cxnSpLocks noChangeShapeType="1"/>
              </p:cNvCxnSpPr>
              <p:nvPr/>
            </p:nvCxnSpPr>
            <p:spPr bwMode="auto">
              <a:xfrm flipV="1">
                <a:off x="1678" y="3503"/>
                <a:ext cx="1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3" name="Oval 122"/>
              <p:cNvSpPr>
                <a:spLocks noChangeArrowheads="1"/>
              </p:cNvSpPr>
              <p:nvPr/>
            </p:nvSpPr>
            <p:spPr bwMode="auto">
              <a:xfrm>
                <a:off x="1517" y="3183"/>
                <a:ext cx="331" cy="32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24" name="Rectangle 123"/>
              <p:cNvSpPr>
                <a:spLocks noChangeArrowheads="1"/>
              </p:cNvSpPr>
              <p:nvPr/>
            </p:nvSpPr>
            <p:spPr bwMode="auto">
              <a:xfrm rot="16200000">
                <a:off x="1393" y="3417"/>
                <a:ext cx="272" cy="2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-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Rectangle 124"/>
              <p:cNvSpPr>
                <a:spLocks noChangeArrowheads="1"/>
              </p:cNvSpPr>
              <p:nvPr/>
            </p:nvSpPr>
            <p:spPr bwMode="auto">
              <a:xfrm rot="16200000">
                <a:off x="1440" y="2949"/>
                <a:ext cx="21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6" name="Line 73"/>
              <p:cNvCxnSpPr>
                <a:cxnSpLocks noChangeShapeType="1"/>
              </p:cNvCxnSpPr>
              <p:nvPr/>
            </p:nvCxnSpPr>
            <p:spPr bwMode="auto">
              <a:xfrm>
                <a:off x="1774" y="3210"/>
                <a:ext cx="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7" name="Line 74"/>
              <p:cNvCxnSpPr>
                <a:cxnSpLocks noChangeShapeType="1"/>
              </p:cNvCxnSpPr>
              <p:nvPr/>
            </p:nvCxnSpPr>
            <p:spPr bwMode="auto">
              <a:xfrm>
                <a:off x="1676" y="3176"/>
                <a:ext cx="0" cy="3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06" name="Group 105"/>
            <p:cNvGrpSpPr>
              <a:grpSpLocks/>
            </p:cNvGrpSpPr>
            <p:nvPr/>
          </p:nvGrpSpPr>
          <p:grpSpPr bwMode="auto">
            <a:xfrm rot="5400000">
              <a:off x="7820830" y="4040381"/>
              <a:ext cx="526329" cy="244734"/>
              <a:chOff x="0" y="0"/>
              <a:chExt cx="20000" cy="20000"/>
            </a:xfrm>
          </p:grpSpPr>
          <p:sp>
            <p:nvSpPr>
              <p:cNvPr id="113" name="Oval 112"/>
              <p:cNvSpPr>
                <a:spLocks noChangeArrowheads="1"/>
              </p:cNvSpPr>
              <p:nvPr/>
            </p:nvSpPr>
            <p:spPr bwMode="auto">
              <a:xfrm>
                <a:off x="153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14" name="Oval 113"/>
              <p:cNvSpPr>
                <a:spLocks noChangeArrowheads="1"/>
              </p:cNvSpPr>
              <p:nvPr/>
            </p:nvSpPr>
            <p:spPr bwMode="auto">
              <a:xfrm>
                <a:off x="4901" y="0"/>
                <a:ext cx="3386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15" name="Oval 114"/>
              <p:cNvSpPr>
                <a:spLocks noChangeArrowheads="1"/>
              </p:cNvSpPr>
              <p:nvPr/>
            </p:nvSpPr>
            <p:spPr bwMode="auto">
              <a:xfrm>
                <a:off x="8266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16" name="Oval 115"/>
              <p:cNvSpPr>
                <a:spLocks noChangeArrowheads="1"/>
              </p:cNvSpPr>
              <p:nvPr/>
            </p:nvSpPr>
            <p:spPr bwMode="auto">
              <a:xfrm>
                <a:off x="11489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17" name="Oval 116"/>
              <p:cNvSpPr>
                <a:spLocks noChangeArrowheads="1"/>
              </p:cNvSpPr>
              <p:nvPr/>
            </p:nvSpPr>
            <p:spPr bwMode="auto">
              <a:xfrm>
                <a:off x="14851" y="0"/>
                <a:ext cx="3383" cy="17230"/>
              </a:xfrm>
              <a:prstGeom prst="ellipse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18" name="Rectangle 117"/>
              <p:cNvSpPr>
                <a:spLocks noChangeArrowheads="1"/>
              </p:cNvSpPr>
              <p:nvPr/>
            </p:nvSpPr>
            <p:spPr bwMode="auto">
              <a:xfrm>
                <a:off x="585" y="8519"/>
                <a:ext cx="18603" cy="1148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19" name="Line 82"/>
              <p:cNvCxnSpPr>
                <a:cxnSpLocks noChangeShapeType="1"/>
              </p:cNvCxnSpPr>
              <p:nvPr/>
            </p:nvCxnSpPr>
            <p:spPr bwMode="auto">
              <a:xfrm flipH="1">
                <a:off x="0" y="7805"/>
                <a:ext cx="1397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0" name="Line 83"/>
              <p:cNvCxnSpPr>
                <a:cxnSpLocks noChangeShapeType="1"/>
              </p:cNvCxnSpPr>
              <p:nvPr/>
            </p:nvCxnSpPr>
            <p:spPr bwMode="auto">
              <a:xfrm>
                <a:off x="18174" y="7805"/>
                <a:ext cx="1826" cy="7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07" name="Freeform 106"/>
            <p:cNvSpPr>
              <a:spLocks/>
            </p:cNvSpPr>
            <p:nvPr/>
          </p:nvSpPr>
          <p:spPr bwMode="auto">
            <a:xfrm>
              <a:off x="5519418" y="3582147"/>
              <a:ext cx="368635" cy="276477"/>
            </a:xfrm>
            <a:custGeom>
              <a:avLst/>
              <a:gdLst>
                <a:gd name="T0" fmla="*/ 0 w 360"/>
                <a:gd name="T1" fmla="*/ 360 h 360"/>
                <a:gd name="T2" fmla="*/ 0 w 360"/>
                <a:gd name="T3" fmla="*/ 0 h 360"/>
                <a:gd name="T4" fmla="*/ 180 w 360"/>
                <a:gd name="T5" fmla="*/ 0 h 360"/>
                <a:gd name="T6" fmla="*/ 360 w 36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0" h="360">
                  <a:moveTo>
                    <a:pt x="0" y="360"/>
                  </a:moveTo>
                  <a:lnTo>
                    <a:pt x="0" y="0"/>
                  </a:lnTo>
                  <a:lnTo>
                    <a:pt x="180" y="0"/>
                  </a:lnTo>
                  <a:lnTo>
                    <a:pt x="36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08" name="Freeform 107"/>
            <p:cNvSpPr>
              <a:spLocks/>
            </p:cNvSpPr>
            <p:nvPr/>
          </p:nvSpPr>
          <p:spPr bwMode="auto">
            <a:xfrm>
              <a:off x="5519418" y="4380857"/>
              <a:ext cx="2580446" cy="324604"/>
            </a:xfrm>
            <a:custGeom>
              <a:avLst/>
              <a:gdLst>
                <a:gd name="T0" fmla="*/ 0 w 2520"/>
                <a:gd name="T1" fmla="*/ 0 h 360"/>
                <a:gd name="T2" fmla="*/ 0 w 2520"/>
                <a:gd name="T3" fmla="*/ 360 h 360"/>
                <a:gd name="T4" fmla="*/ 2520 w 2520"/>
                <a:gd name="T5" fmla="*/ 360 h 360"/>
                <a:gd name="T6" fmla="*/ 2520 w 2520"/>
                <a:gd name="T7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20" h="360">
                  <a:moveTo>
                    <a:pt x="0" y="0"/>
                  </a:moveTo>
                  <a:lnTo>
                    <a:pt x="0" y="360"/>
                  </a:lnTo>
                  <a:lnTo>
                    <a:pt x="2520" y="360"/>
                  </a:lnTo>
                  <a:lnTo>
                    <a:pt x="25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09" name="Freeform 108"/>
            <p:cNvSpPr>
              <a:spLocks/>
            </p:cNvSpPr>
            <p:nvPr/>
          </p:nvSpPr>
          <p:spPr bwMode="auto">
            <a:xfrm>
              <a:off x="6640683" y="3582147"/>
              <a:ext cx="1474541" cy="368635"/>
            </a:xfrm>
            <a:custGeom>
              <a:avLst/>
              <a:gdLst>
                <a:gd name="T0" fmla="*/ 1440 w 1440"/>
                <a:gd name="T1" fmla="*/ 360 h 360"/>
                <a:gd name="T2" fmla="*/ 1440 w 1440"/>
                <a:gd name="T3" fmla="*/ 0 h 360"/>
                <a:gd name="T4" fmla="*/ 0 w 1440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40" h="360">
                  <a:moveTo>
                    <a:pt x="1440" y="360"/>
                  </a:moveTo>
                  <a:lnTo>
                    <a:pt x="144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7749480" y="4007191"/>
              <a:ext cx="283480" cy="333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sL</a:t>
              </a:r>
            </a:p>
          </p:txBody>
        </p:sp>
        <p:cxnSp>
          <p:nvCxnSpPr>
            <p:cNvPr id="111" name="Straight Arrow Connector 110"/>
            <p:cNvCxnSpPr/>
            <p:nvPr/>
          </p:nvCxnSpPr>
          <p:spPr>
            <a:xfrm>
              <a:off x="8305800" y="3877056"/>
              <a:ext cx="0" cy="50080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8263244" y="3918565"/>
              <a:ext cx="556102" cy="3338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12700" tIns="12700" rIns="12700" bIns="1270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  <a:tabLst>
                  <a:tab pos="2743200" algn="ctr"/>
                  <a:tab pos="5486400" algn="r"/>
                  <a:tab pos="457200" algn="l"/>
                </a:tabLst>
              </a:pP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I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r>
                <a:rPr lang="en-US" sz="2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(s)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410200" y="3070810"/>
            <a:ext cx="2950397" cy="1653590"/>
            <a:chOff x="5365503" y="2369123"/>
            <a:chExt cx="1704440" cy="955276"/>
          </a:xfrm>
        </p:grpSpPr>
        <p:sp>
          <p:nvSpPr>
            <p:cNvPr id="72" name="Text Box 7"/>
            <p:cNvSpPr txBox="1">
              <a:spLocks noChangeArrowheads="1"/>
            </p:cNvSpPr>
            <p:nvPr/>
          </p:nvSpPr>
          <p:spPr bwMode="auto">
            <a:xfrm>
              <a:off x="5985998" y="3095799"/>
              <a:ext cx="1524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r>
                <a:rPr lang="en-US" sz="2000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8"/>
            <p:cNvSpPr txBox="1">
              <a:spLocks noChangeArrowheads="1"/>
            </p:cNvSpPr>
            <p:nvPr/>
          </p:nvSpPr>
          <p:spPr bwMode="auto">
            <a:xfrm>
              <a:off x="5365503" y="2631399"/>
              <a:ext cx="228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 Box 9"/>
            <p:cNvSpPr txBox="1">
              <a:spLocks noChangeArrowheads="1"/>
            </p:cNvSpPr>
            <p:nvPr/>
          </p:nvSpPr>
          <p:spPr bwMode="auto">
            <a:xfrm>
              <a:off x="5669962" y="2369123"/>
              <a:ext cx="6096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e(t),V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Freeform 74"/>
            <p:cNvSpPr>
              <a:spLocks/>
            </p:cNvSpPr>
            <p:nvPr/>
          </p:nvSpPr>
          <p:spPr bwMode="auto">
            <a:xfrm>
              <a:off x="5621508" y="2714799"/>
              <a:ext cx="381000" cy="381000"/>
            </a:xfrm>
            <a:custGeom>
              <a:avLst/>
              <a:gdLst>
                <a:gd name="T0" fmla="*/ 0 w 600"/>
                <a:gd name="T1" fmla="*/ 600 h 600"/>
                <a:gd name="T2" fmla="*/ 600 w 600"/>
                <a:gd name="T3" fmla="*/ 0 h 600"/>
                <a:gd name="T4" fmla="*/ 600 w 600"/>
                <a:gd name="T5" fmla="*/ 6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0" h="600">
                  <a:moveTo>
                    <a:pt x="0" y="600"/>
                  </a:moveTo>
                  <a:lnTo>
                    <a:pt x="600" y="0"/>
                  </a:lnTo>
                  <a:lnTo>
                    <a:pt x="600" y="600"/>
                  </a:ln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76" name="Text Box 11"/>
            <p:cNvSpPr txBox="1">
              <a:spLocks noChangeArrowheads="1"/>
            </p:cNvSpPr>
            <p:nvPr/>
          </p:nvSpPr>
          <p:spPr bwMode="auto">
            <a:xfrm>
              <a:off x="6916908" y="2908474"/>
              <a:ext cx="152400" cy="228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Freeform 76"/>
            <p:cNvSpPr>
              <a:spLocks/>
            </p:cNvSpPr>
            <p:nvPr/>
          </p:nvSpPr>
          <p:spPr bwMode="auto">
            <a:xfrm>
              <a:off x="5621508" y="2714799"/>
              <a:ext cx="1371600" cy="381000"/>
            </a:xfrm>
            <a:custGeom>
              <a:avLst/>
              <a:gdLst>
                <a:gd name="T0" fmla="*/ 0 w 2160"/>
                <a:gd name="T1" fmla="*/ 600 h 600"/>
                <a:gd name="T2" fmla="*/ 600 w 2160"/>
                <a:gd name="T3" fmla="*/ 0 h 600"/>
                <a:gd name="T4" fmla="*/ 2160 w 2160"/>
                <a:gd name="T5" fmla="*/ 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" h="600">
                  <a:moveTo>
                    <a:pt x="0" y="600"/>
                  </a:moveTo>
                  <a:lnTo>
                    <a:pt x="600" y="0"/>
                  </a:lnTo>
                  <a:lnTo>
                    <a:pt x="216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78" name="Freeform 77"/>
            <p:cNvSpPr>
              <a:spLocks/>
            </p:cNvSpPr>
            <p:nvPr/>
          </p:nvSpPr>
          <p:spPr bwMode="auto">
            <a:xfrm>
              <a:off x="5621508" y="2719879"/>
              <a:ext cx="381000" cy="342900"/>
            </a:xfrm>
            <a:custGeom>
              <a:avLst/>
              <a:gdLst>
                <a:gd name="T0" fmla="*/ 0 w 600"/>
                <a:gd name="T1" fmla="*/ 0 h 540"/>
                <a:gd name="T2" fmla="*/ 600 w 600"/>
                <a:gd name="T3" fmla="*/ 0 h 540"/>
                <a:gd name="T4" fmla="*/ 600 w 600"/>
                <a:gd name="T5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00" h="540">
                  <a:moveTo>
                    <a:pt x="0" y="0"/>
                  </a:moveTo>
                  <a:lnTo>
                    <a:pt x="600" y="0"/>
                  </a:lnTo>
                  <a:lnTo>
                    <a:pt x="600" y="540"/>
                  </a:lnTo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endParaRPr lang="en-US" sz="2000"/>
            </a:p>
          </p:txBody>
        </p:sp>
        <p:cxnSp>
          <p:nvCxnSpPr>
            <p:cNvPr id="79" name="Line 5"/>
            <p:cNvCxnSpPr>
              <a:cxnSpLocks noChangeShapeType="1"/>
            </p:cNvCxnSpPr>
            <p:nvPr/>
          </p:nvCxnSpPr>
          <p:spPr bwMode="auto">
            <a:xfrm flipV="1">
              <a:off x="5630398" y="2423334"/>
              <a:ext cx="0" cy="8001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80" name="Line 6"/>
            <p:cNvCxnSpPr>
              <a:cxnSpLocks noChangeShapeType="1"/>
            </p:cNvCxnSpPr>
            <p:nvPr/>
          </p:nvCxnSpPr>
          <p:spPr bwMode="auto">
            <a:xfrm>
              <a:off x="5393543" y="3109134"/>
              <a:ext cx="16764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2086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29</a:t>
            </a:fld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808702"/>
              </p:ext>
            </p:extLst>
          </p:nvPr>
        </p:nvGraphicFramePr>
        <p:xfrm>
          <a:off x="395686" y="762000"/>
          <a:ext cx="44164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49360" imgH="482400" progId="Equation.DSMT4">
                  <p:embed/>
                </p:oleObj>
              </mc:Choice>
              <mc:Fallback>
                <p:oleObj name="Equation" r:id="rId3" imgW="2349360" imgH="482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86" y="762000"/>
                        <a:ext cx="4416425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Title 1"/>
          <p:cNvSpPr txBox="1">
            <a:spLocks/>
          </p:cNvSpPr>
          <p:nvPr/>
        </p:nvSpPr>
        <p:spPr>
          <a:xfrm>
            <a:off x="402613" y="284946"/>
            <a:ext cx="4586705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0"/>
              </a:spcBef>
            </a:pPr>
            <a:r>
              <a:rPr lang="en-US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Thay số, tính ra được: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854163"/>
              </p:ext>
            </p:extLst>
          </p:nvPr>
        </p:nvGraphicFramePr>
        <p:xfrm>
          <a:off x="381000" y="1828800"/>
          <a:ext cx="72421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00320" imgH="330120" progId="Equation.DSMT4">
                  <p:embed/>
                </p:oleObj>
              </mc:Choice>
              <mc:Fallback>
                <p:oleObj name="Equation" r:id="rId5" imgW="4000320" imgH="33012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828800"/>
                        <a:ext cx="7242175" cy="603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81152"/>
              </p:ext>
            </p:extLst>
          </p:nvPr>
        </p:nvGraphicFramePr>
        <p:xfrm>
          <a:off x="367977" y="2708564"/>
          <a:ext cx="5334000" cy="1417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06560" imgH="736560" progId="Equation.DSMT4">
                  <p:embed/>
                </p:oleObj>
              </mc:Choice>
              <mc:Fallback>
                <p:oleObj name="Equation" r:id="rId7" imgW="28065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77" y="2708564"/>
                        <a:ext cx="5334000" cy="14173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326361"/>
              </p:ext>
            </p:extLst>
          </p:nvPr>
        </p:nvGraphicFramePr>
        <p:xfrm>
          <a:off x="438080" y="4232564"/>
          <a:ext cx="5416296" cy="161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82880" imgH="863280" progId="Equation.DSMT4">
                  <p:embed/>
                </p:oleObj>
              </mc:Choice>
              <mc:Fallback>
                <p:oleObj name="Equation" r:id="rId9" imgW="288288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080" y="4232564"/>
                        <a:ext cx="5416296" cy="16162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17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443" name="Group 442"/>
          <p:cNvGrpSpPr/>
          <p:nvPr/>
        </p:nvGrpSpPr>
        <p:grpSpPr>
          <a:xfrm>
            <a:off x="482626" y="381000"/>
            <a:ext cx="4394174" cy="2057400"/>
            <a:chOff x="482626" y="381000"/>
            <a:chExt cx="4394174" cy="2057400"/>
          </a:xfrm>
        </p:grpSpPr>
        <p:sp>
          <p:nvSpPr>
            <p:cNvPr id="77" name="Title 1"/>
            <p:cNvSpPr txBox="1">
              <a:spLocks/>
            </p:cNvSpPr>
            <p:nvPr/>
          </p:nvSpPr>
          <p:spPr>
            <a:xfrm>
              <a:off x="482626" y="381000"/>
              <a:ext cx="4394174" cy="20574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bIns="91440" anchor="t" anchorCtr="0">
              <a:noAutofit/>
            </a:bodyPr>
            <a:lstStyle>
              <a:lvl1pPr algn="l" rtl="0" eaLnBrk="1" latinLnBrk="0" hangingPunct="1">
                <a:spcBef>
                  <a:spcPct val="0"/>
                </a:spcBef>
                <a:buNone/>
                <a:defRPr kumimoji="0" sz="4000" kern="1200">
                  <a:solidFill>
                    <a:schemeClr val="tx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spcBef>
                  <a:spcPts val="0"/>
                </a:spcBef>
              </a:pPr>
              <a:r>
                <a:rPr lang="en-US" sz="2400" u="sng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Ví dụ 3:</a:t>
              </a:r>
              <a:r>
                <a:rPr lang="en-US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Tìm </a:t>
              </a:r>
              <a:r>
                <a:rPr lang="en-US" sz="24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400" b="1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sz="2400" b="1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(t)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biết tại </a:t>
              </a:r>
              <a:r>
                <a:rPr lang="en-US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40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=0 </a:t>
              </a:r>
            </a:p>
            <a:p>
              <a:pPr>
                <a:spcBef>
                  <a:spcPts val="0"/>
                </a:spcBef>
              </a:pP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khóa </a:t>
              </a:r>
              <a:r>
                <a:rPr lang="en-US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240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chuyển từ 1-&gt;2 và tại </a:t>
              </a:r>
            </a:p>
            <a:p>
              <a:pPr>
                <a:spcBef>
                  <a:spcPts val="0"/>
                </a:spcBef>
              </a:pPr>
              <a:r>
                <a:rPr lang="en-US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sz="240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=-ln0,2 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khóa </a:t>
              </a:r>
              <a:r>
                <a:rPr lang="en-US" sz="2400" i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sz="2400" i="1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đóng, biết:</a:t>
              </a:r>
            </a:p>
            <a:p>
              <a:pPr>
                <a:spcBef>
                  <a:spcPts val="0"/>
                </a:spcBef>
              </a:pPr>
              <a:endParaRPr 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ts val="600"/>
                </a:spcBef>
              </a:pP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sz="2400" baseline="-25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=10V; R=1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  <a:r>
                <a:rPr lang="en-US"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 L=2H; C=1F</a:t>
              </a:r>
            </a:p>
          </p:txBody>
        </p:sp>
        <p:graphicFrame>
          <p:nvGraphicFramePr>
            <p:cNvPr id="441" name="Object 4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2616105"/>
                </p:ext>
              </p:extLst>
            </p:nvPr>
          </p:nvGraphicFramePr>
          <p:xfrm>
            <a:off x="552730" y="1480404"/>
            <a:ext cx="3511296" cy="500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36700" imgH="241300" progId="Equation.DSMT4">
                    <p:embed/>
                  </p:oleObj>
                </mc:Choice>
                <mc:Fallback>
                  <p:oleObj name="Equation" r:id="rId3" imgW="1536700" imgH="241300" progId="Equation.DSMT4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2730" y="1480404"/>
                          <a:ext cx="3511296" cy="50079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34" name="Picture 4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359421"/>
            <a:ext cx="3581400" cy="2155179"/>
          </a:xfrm>
          <a:prstGeom prst="rect">
            <a:avLst/>
          </a:prstGeom>
        </p:spPr>
      </p:pic>
      <p:sp>
        <p:nvSpPr>
          <p:cNvPr id="444" name="Title 1"/>
          <p:cNvSpPr txBox="1">
            <a:spLocks/>
          </p:cNvSpPr>
          <p:nvPr/>
        </p:nvSpPr>
        <p:spPr>
          <a:xfrm>
            <a:off x="381001" y="2514600"/>
            <a:ext cx="3429000" cy="507831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Ở thời điểm t&lt;t</a:t>
            </a:r>
            <a:r>
              <a:rPr lang="en-US" sz="24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=0:</a:t>
            </a:r>
          </a:p>
        </p:txBody>
      </p:sp>
      <p:graphicFrame>
        <p:nvGraphicFramePr>
          <p:cNvPr id="6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948911"/>
              </p:ext>
            </p:extLst>
          </p:nvPr>
        </p:nvGraphicFramePr>
        <p:xfrm>
          <a:off x="533400" y="2971800"/>
          <a:ext cx="5410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36680" imgH="457200" progId="Equation.DSMT4">
                  <p:embed/>
                </p:oleObj>
              </mc:Choice>
              <mc:Fallback>
                <p:oleObj name="Equation" r:id="rId6" imgW="31366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3400" y="2971800"/>
                        <a:ext cx="54102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5652217"/>
              </p:ext>
            </p:extLst>
          </p:nvPr>
        </p:nvGraphicFramePr>
        <p:xfrm>
          <a:off x="508000" y="3886200"/>
          <a:ext cx="48244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228600" progId="Equation.DSMT4">
                  <p:embed/>
                </p:oleObj>
              </mc:Choice>
              <mc:Fallback>
                <p:oleObj name="Equation" r:id="rId8" imgW="2336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8000" y="3886200"/>
                        <a:ext cx="4824413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itle 1"/>
          <p:cNvSpPr txBox="1">
            <a:spLocks/>
          </p:cNvSpPr>
          <p:nvPr/>
        </p:nvSpPr>
        <p:spPr>
          <a:xfrm>
            <a:off x="394448" y="4495800"/>
            <a:ext cx="3429000" cy="477054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Ở thời </a:t>
            </a:r>
            <a:r>
              <a:rPr lang="en-US" sz="2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điểm</a:t>
            </a:r>
            <a:r>
              <a:rPr lang="en-US" sz="2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</a:t>
            </a:r>
            <a:r>
              <a:rPr lang="en-US" sz="22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 </a:t>
            </a:r>
            <a:r>
              <a:rPr lang="en-US" sz="2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≥ t ≥ t</a:t>
            </a:r>
            <a:r>
              <a:rPr lang="en-US" sz="22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2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6172200" y="4560614"/>
            <a:ext cx="2772917" cy="1638215"/>
            <a:chOff x="5968658" y="2792314"/>
            <a:chExt cx="3099142" cy="1892130"/>
          </a:xfrm>
        </p:grpSpPr>
        <p:grpSp>
          <p:nvGrpSpPr>
            <p:cNvPr id="72" name="Group 71"/>
            <p:cNvGrpSpPr/>
            <p:nvPr/>
          </p:nvGrpSpPr>
          <p:grpSpPr>
            <a:xfrm>
              <a:off x="5968658" y="2792314"/>
              <a:ext cx="3099142" cy="1892130"/>
              <a:chOff x="-115352" y="84398"/>
              <a:chExt cx="1756358" cy="1100052"/>
            </a:xfrm>
          </p:grpSpPr>
          <p:cxnSp>
            <p:nvCxnSpPr>
              <p:cNvPr id="74" name="Line 29"/>
              <p:cNvCxnSpPr>
                <a:cxnSpLocks noChangeShapeType="1"/>
              </p:cNvCxnSpPr>
              <p:nvPr/>
            </p:nvCxnSpPr>
            <p:spPr bwMode="auto">
              <a:xfrm>
                <a:off x="1256043" y="899328"/>
                <a:ext cx="0" cy="1708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5" name="Group 74"/>
              <p:cNvGrpSpPr/>
              <p:nvPr/>
            </p:nvGrpSpPr>
            <p:grpSpPr>
              <a:xfrm>
                <a:off x="-115352" y="84398"/>
                <a:ext cx="1756358" cy="1100052"/>
                <a:chOff x="-115352" y="84398"/>
                <a:chExt cx="1756358" cy="1100052"/>
              </a:xfrm>
            </p:grpSpPr>
            <p:sp>
              <p:nvSpPr>
                <p:cNvPr id="76" name="Freeform 75"/>
                <p:cNvSpPr/>
                <p:nvPr/>
              </p:nvSpPr>
              <p:spPr>
                <a:xfrm>
                  <a:off x="326571" y="482321"/>
                  <a:ext cx="944245" cy="592455"/>
                </a:xfrm>
                <a:custGeom>
                  <a:avLst/>
                  <a:gdLst>
                    <a:gd name="connsiteX0" fmla="*/ 0 w 944545"/>
                    <a:gd name="connsiteY0" fmla="*/ 0 h 592853"/>
                    <a:gd name="connsiteX1" fmla="*/ 0 w 944545"/>
                    <a:gd name="connsiteY1" fmla="*/ 592853 h 592853"/>
                    <a:gd name="connsiteX2" fmla="*/ 944545 w 944545"/>
                    <a:gd name="connsiteY2" fmla="*/ 592853 h 592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44545" h="592853">
                      <a:moveTo>
                        <a:pt x="0" y="0"/>
                      </a:moveTo>
                      <a:lnTo>
                        <a:pt x="0" y="592853"/>
                      </a:lnTo>
                      <a:lnTo>
                        <a:pt x="944545" y="59285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/>
                <p:cNvGrpSpPr/>
                <p:nvPr/>
              </p:nvGrpSpPr>
              <p:grpSpPr>
                <a:xfrm>
                  <a:off x="-115352" y="633046"/>
                  <a:ext cx="1166741" cy="551404"/>
                  <a:chOff x="-115388" y="0"/>
                  <a:chExt cx="1167108" cy="551404"/>
                </a:xfrm>
              </p:grpSpPr>
              <p:grpSp>
                <p:nvGrpSpPr>
                  <p:cNvPr id="94" name="Group 93"/>
                  <p:cNvGrpSpPr/>
                  <p:nvPr/>
                </p:nvGrpSpPr>
                <p:grpSpPr>
                  <a:xfrm>
                    <a:off x="216040" y="0"/>
                    <a:ext cx="835680" cy="551404"/>
                    <a:chOff x="0" y="0"/>
                    <a:chExt cx="835680" cy="551404"/>
                  </a:xfrm>
                </p:grpSpPr>
                <p:sp>
                  <p:nvSpPr>
                    <p:cNvPr id="96" name="Oval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228600" cy="2286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97" name="Line 9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5363" y="75363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98" name="Line 1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16625" y="45218"/>
                      <a:ext cx="0" cy="76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99" name="Line 1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81456" y="170822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102" name="Oval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7080" y="322804"/>
                      <a:ext cx="228600" cy="2286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103" name="Line 1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73227" y="398291"/>
                      <a:ext cx="0" cy="76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04" name="Line 1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33813" y="433142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06" name="Line 1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37460" y="432583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sp>
                <p:nvSpPr>
                  <p:cNvPr id="95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-115388" y="0"/>
                    <a:ext cx="298268" cy="18722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kern="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  <a:r>
                      <a:rPr lang="en-US" kern="0" baseline="-250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2</a:t>
                    </a:r>
                    <a:r>
                      <a:rPr lang="en-US" kern="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/s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5072" y="271230"/>
                  <a:ext cx="182641" cy="1757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0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endParaRPr lang="en-US" b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80" name="Group 79"/>
                <p:cNvGrpSpPr>
                  <a:grpSpLocks/>
                </p:cNvGrpSpPr>
                <p:nvPr/>
              </p:nvGrpSpPr>
              <p:grpSpPr bwMode="auto">
                <a:xfrm>
                  <a:off x="263406" y="150725"/>
                  <a:ext cx="1057275" cy="746760"/>
                  <a:chOff x="5708" y="2228"/>
                  <a:chExt cx="1665" cy="1176"/>
                </a:xfrm>
              </p:grpSpPr>
              <p:sp>
                <p:nvSpPr>
                  <p:cNvPr id="85" name="Freeform 84"/>
                  <p:cNvSpPr>
                    <a:spLocks/>
                  </p:cNvSpPr>
                  <p:nvPr/>
                </p:nvSpPr>
                <p:spPr bwMode="auto">
                  <a:xfrm rot="5400000">
                    <a:off x="7014" y="2414"/>
                    <a:ext cx="546" cy="173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6" name="Freeform 85"/>
                  <p:cNvSpPr>
                    <a:spLocks/>
                  </p:cNvSpPr>
                  <p:nvPr/>
                </p:nvSpPr>
                <p:spPr bwMode="auto">
                  <a:xfrm rot="5400000">
                    <a:off x="7063" y="3109"/>
                    <a:ext cx="432" cy="158"/>
                  </a:xfrm>
                  <a:custGeom>
                    <a:avLst/>
                    <a:gdLst>
                      <a:gd name="T0" fmla="*/ 0 w 2160"/>
                      <a:gd name="T1" fmla="*/ 456 h 936"/>
                      <a:gd name="T2" fmla="*/ 288 w 2160"/>
                      <a:gd name="T3" fmla="*/ 24 h 936"/>
                      <a:gd name="T4" fmla="*/ 576 w 2160"/>
                      <a:gd name="T5" fmla="*/ 456 h 936"/>
                      <a:gd name="T6" fmla="*/ 432 w 2160"/>
                      <a:gd name="T7" fmla="*/ 888 h 936"/>
                      <a:gd name="T8" fmla="*/ 432 w 2160"/>
                      <a:gd name="T9" fmla="*/ 600 h 936"/>
                      <a:gd name="T10" fmla="*/ 720 w 2160"/>
                      <a:gd name="T11" fmla="*/ 24 h 936"/>
                      <a:gd name="T12" fmla="*/ 1008 w 2160"/>
                      <a:gd name="T13" fmla="*/ 456 h 936"/>
                      <a:gd name="T14" fmla="*/ 864 w 2160"/>
                      <a:gd name="T15" fmla="*/ 888 h 936"/>
                      <a:gd name="T16" fmla="*/ 864 w 2160"/>
                      <a:gd name="T17" fmla="*/ 600 h 936"/>
                      <a:gd name="T18" fmla="*/ 1152 w 2160"/>
                      <a:gd name="T19" fmla="*/ 24 h 936"/>
                      <a:gd name="T20" fmla="*/ 1440 w 2160"/>
                      <a:gd name="T21" fmla="*/ 600 h 936"/>
                      <a:gd name="T22" fmla="*/ 1296 w 2160"/>
                      <a:gd name="T23" fmla="*/ 888 h 936"/>
                      <a:gd name="T24" fmla="*/ 1440 w 2160"/>
                      <a:gd name="T25" fmla="*/ 312 h 936"/>
                      <a:gd name="T26" fmla="*/ 1584 w 2160"/>
                      <a:gd name="T27" fmla="*/ 24 h 936"/>
                      <a:gd name="T28" fmla="*/ 1872 w 2160"/>
                      <a:gd name="T29" fmla="*/ 456 h 936"/>
                      <a:gd name="T30" fmla="*/ 1728 w 2160"/>
                      <a:gd name="T31" fmla="*/ 888 h 936"/>
                      <a:gd name="T32" fmla="*/ 1728 w 2160"/>
                      <a:gd name="T33" fmla="*/ 600 h 936"/>
                      <a:gd name="T34" fmla="*/ 2016 w 2160"/>
                      <a:gd name="T35" fmla="*/ 24 h 936"/>
                      <a:gd name="T36" fmla="*/ 2160 w 2160"/>
                      <a:gd name="T37" fmla="*/ 456 h 9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160" h="936">
                        <a:moveTo>
                          <a:pt x="0" y="456"/>
                        </a:moveTo>
                        <a:cubicBezTo>
                          <a:pt x="96" y="240"/>
                          <a:pt x="192" y="24"/>
                          <a:pt x="288" y="24"/>
                        </a:cubicBezTo>
                        <a:cubicBezTo>
                          <a:pt x="384" y="24"/>
                          <a:pt x="552" y="312"/>
                          <a:pt x="576" y="456"/>
                        </a:cubicBezTo>
                        <a:cubicBezTo>
                          <a:pt x="600" y="600"/>
                          <a:pt x="456" y="864"/>
                          <a:pt x="432" y="888"/>
                        </a:cubicBezTo>
                        <a:cubicBezTo>
                          <a:pt x="408" y="912"/>
                          <a:pt x="384" y="744"/>
                          <a:pt x="432" y="600"/>
                        </a:cubicBezTo>
                        <a:cubicBezTo>
                          <a:pt x="480" y="456"/>
                          <a:pt x="624" y="48"/>
                          <a:pt x="720" y="24"/>
                        </a:cubicBezTo>
                        <a:cubicBezTo>
                          <a:pt x="816" y="0"/>
                          <a:pt x="984" y="312"/>
                          <a:pt x="1008" y="456"/>
                        </a:cubicBezTo>
                        <a:cubicBezTo>
                          <a:pt x="1032" y="600"/>
                          <a:pt x="888" y="864"/>
                          <a:pt x="864" y="888"/>
                        </a:cubicBezTo>
                        <a:cubicBezTo>
                          <a:pt x="840" y="912"/>
                          <a:pt x="816" y="744"/>
                          <a:pt x="864" y="600"/>
                        </a:cubicBezTo>
                        <a:cubicBezTo>
                          <a:pt x="912" y="456"/>
                          <a:pt x="1056" y="24"/>
                          <a:pt x="1152" y="24"/>
                        </a:cubicBezTo>
                        <a:cubicBezTo>
                          <a:pt x="1248" y="24"/>
                          <a:pt x="1416" y="456"/>
                          <a:pt x="1440" y="600"/>
                        </a:cubicBezTo>
                        <a:cubicBezTo>
                          <a:pt x="1464" y="744"/>
                          <a:pt x="1296" y="936"/>
                          <a:pt x="1296" y="888"/>
                        </a:cubicBezTo>
                        <a:cubicBezTo>
                          <a:pt x="1296" y="840"/>
                          <a:pt x="1392" y="456"/>
                          <a:pt x="1440" y="312"/>
                        </a:cubicBezTo>
                        <a:cubicBezTo>
                          <a:pt x="1488" y="168"/>
                          <a:pt x="1512" y="0"/>
                          <a:pt x="1584" y="24"/>
                        </a:cubicBezTo>
                        <a:cubicBezTo>
                          <a:pt x="1656" y="48"/>
                          <a:pt x="1848" y="312"/>
                          <a:pt x="1872" y="456"/>
                        </a:cubicBezTo>
                        <a:cubicBezTo>
                          <a:pt x="1896" y="600"/>
                          <a:pt x="1752" y="864"/>
                          <a:pt x="1728" y="888"/>
                        </a:cubicBezTo>
                        <a:cubicBezTo>
                          <a:pt x="1704" y="912"/>
                          <a:pt x="1680" y="744"/>
                          <a:pt x="1728" y="600"/>
                        </a:cubicBezTo>
                        <a:cubicBezTo>
                          <a:pt x="1776" y="456"/>
                          <a:pt x="1944" y="48"/>
                          <a:pt x="2016" y="24"/>
                        </a:cubicBezTo>
                        <a:cubicBezTo>
                          <a:pt x="2088" y="0"/>
                          <a:pt x="2124" y="228"/>
                          <a:pt x="2160" y="456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87" name="Line 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283" y="269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00" name="Freeform 99"/>
                  <p:cNvSpPr>
                    <a:spLocks/>
                  </p:cNvSpPr>
                  <p:nvPr/>
                </p:nvSpPr>
                <p:spPr bwMode="auto">
                  <a:xfrm rot="5400000">
                    <a:off x="5522" y="2474"/>
                    <a:ext cx="546" cy="173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81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79714" y="271306"/>
                  <a:ext cx="182880" cy="1828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0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endParaRPr lang="en-US" b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8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979714" y="713433"/>
                  <a:ext cx="182880" cy="1828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0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sL</a:t>
                  </a:r>
                  <a:endParaRPr lang="en-US" b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8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78657" y="713433"/>
                  <a:ext cx="262349" cy="19795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baseline="-250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(s)</a:t>
                  </a:r>
                  <a:endParaRPr lang="en-US">
                    <a:effectLst/>
                    <a:latin typeface=".VnTime" panose="020B7200000000000000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Freeform 83"/>
                <p:cNvSpPr/>
                <p:nvPr/>
              </p:nvSpPr>
              <p:spPr>
                <a:xfrm>
                  <a:off x="318950" y="84398"/>
                  <a:ext cx="944221" cy="121342"/>
                </a:xfrm>
                <a:custGeom>
                  <a:avLst/>
                  <a:gdLst>
                    <a:gd name="connsiteX0" fmla="*/ 0 w 818941"/>
                    <a:gd name="connsiteY0" fmla="*/ 205991 h 205991"/>
                    <a:gd name="connsiteX1" fmla="*/ 5025 w 818941"/>
                    <a:gd name="connsiteY1" fmla="*/ 0 h 205991"/>
                    <a:gd name="connsiteX2" fmla="*/ 818941 w 818941"/>
                    <a:gd name="connsiteY2" fmla="*/ 0 h 205991"/>
                    <a:gd name="connsiteX3" fmla="*/ 818941 w 818941"/>
                    <a:gd name="connsiteY3" fmla="*/ 185895 h 205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8941" h="205991">
                      <a:moveTo>
                        <a:pt x="0" y="205991"/>
                      </a:moveTo>
                      <a:lnTo>
                        <a:pt x="5025" y="0"/>
                      </a:lnTo>
                      <a:lnTo>
                        <a:pt x="818941" y="0"/>
                      </a:lnTo>
                      <a:lnTo>
                        <a:pt x="818941" y="185895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63827" y="836559"/>
                  <a:ext cx="371545" cy="19477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Li</a:t>
                  </a:r>
                  <a:r>
                    <a:rPr lang="en-US" baseline="-250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(0)</a:t>
                  </a:r>
                  <a:endParaRPr lang="en-US">
                    <a:effectLst/>
                    <a:latin typeface=".VnTime" panose="020B7200000000000000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73" name="Straight Arrow Connector 72"/>
            <p:cNvCxnSpPr/>
            <p:nvPr/>
          </p:nvCxnSpPr>
          <p:spPr>
            <a:xfrm>
              <a:off x="8564537" y="3772210"/>
              <a:ext cx="0" cy="494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1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6832199"/>
              </p:ext>
            </p:extLst>
          </p:nvPr>
        </p:nvGraphicFramePr>
        <p:xfrm>
          <a:off x="457200" y="5033963"/>
          <a:ext cx="5391150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84400" imgH="419040" progId="Equation.DSMT4">
                  <p:embed/>
                </p:oleObj>
              </mc:Choice>
              <mc:Fallback>
                <p:oleObj name="Equation" r:id="rId10" imgW="2984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7200" y="5033963"/>
                        <a:ext cx="5391150" cy="757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6350144" y="2652042"/>
            <a:ext cx="2477944" cy="1474886"/>
            <a:chOff x="6350144" y="2652042"/>
            <a:chExt cx="2477944" cy="1474886"/>
          </a:xfrm>
        </p:grpSpPr>
        <p:cxnSp>
          <p:nvCxnSpPr>
            <p:cNvPr id="34" name="Line 29"/>
            <p:cNvCxnSpPr>
              <a:cxnSpLocks noChangeShapeType="1"/>
            </p:cNvCxnSpPr>
            <p:nvPr/>
          </p:nvCxnSpPr>
          <p:spPr bwMode="auto">
            <a:xfrm>
              <a:off x="8336832" y="3865648"/>
              <a:ext cx="0" cy="25439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Freeform 35"/>
            <p:cNvSpPr/>
            <p:nvPr/>
          </p:nvSpPr>
          <p:spPr>
            <a:xfrm>
              <a:off x="6869393" y="3244635"/>
              <a:ext cx="1490763" cy="882293"/>
            </a:xfrm>
            <a:custGeom>
              <a:avLst/>
              <a:gdLst>
                <a:gd name="connsiteX0" fmla="*/ 0 w 944545"/>
                <a:gd name="connsiteY0" fmla="*/ 0 h 592853"/>
                <a:gd name="connsiteX1" fmla="*/ 0 w 944545"/>
                <a:gd name="connsiteY1" fmla="*/ 592853 h 592853"/>
                <a:gd name="connsiteX2" fmla="*/ 944545 w 944545"/>
                <a:gd name="connsiteY2" fmla="*/ 592853 h 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4545" h="592853">
                  <a:moveTo>
                    <a:pt x="0" y="0"/>
                  </a:moveTo>
                  <a:lnTo>
                    <a:pt x="0" y="592853"/>
                  </a:lnTo>
                  <a:lnTo>
                    <a:pt x="944545" y="592853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Oval 54"/>
            <p:cNvSpPr>
              <a:spLocks noChangeArrowheads="1"/>
            </p:cNvSpPr>
            <p:nvPr/>
          </p:nvSpPr>
          <p:spPr bwMode="auto">
            <a:xfrm>
              <a:off x="6694781" y="3469097"/>
              <a:ext cx="360798" cy="3404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cxnSp>
          <p:nvCxnSpPr>
            <p:cNvPr id="56" name="Line 9"/>
            <p:cNvCxnSpPr>
              <a:cxnSpLocks noChangeShapeType="1"/>
            </p:cNvCxnSpPr>
            <p:nvPr/>
          </p:nvCxnSpPr>
          <p:spPr bwMode="auto">
            <a:xfrm>
              <a:off x="6813726" y="3581329"/>
              <a:ext cx="1202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Line 10"/>
            <p:cNvCxnSpPr>
              <a:cxnSpLocks noChangeShapeType="1"/>
            </p:cNvCxnSpPr>
            <p:nvPr/>
          </p:nvCxnSpPr>
          <p:spPr bwMode="auto">
            <a:xfrm>
              <a:off x="6869233" y="3536436"/>
              <a:ext cx="0" cy="1134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Line 11"/>
            <p:cNvCxnSpPr>
              <a:cxnSpLocks noChangeShapeType="1"/>
            </p:cNvCxnSpPr>
            <p:nvPr/>
          </p:nvCxnSpPr>
          <p:spPr bwMode="auto">
            <a:xfrm>
              <a:off x="6813726" y="3723487"/>
              <a:ext cx="12026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47" name="Group 46"/>
            <p:cNvGrpSpPr/>
            <p:nvPr/>
          </p:nvGrpSpPr>
          <p:grpSpPr>
            <a:xfrm>
              <a:off x="6749923" y="2765782"/>
              <a:ext cx="224185" cy="541860"/>
              <a:chOff x="0" y="0"/>
              <a:chExt cx="142184" cy="364106"/>
            </a:xfrm>
          </p:grpSpPr>
          <p:cxnSp>
            <p:nvCxnSpPr>
              <p:cNvPr id="49" name="Line 3"/>
              <p:cNvCxnSpPr>
                <a:cxnSpLocks noChangeShapeType="1"/>
              </p:cNvCxnSpPr>
              <p:nvPr/>
            </p:nvCxnSpPr>
            <p:spPr bwMode="auto">
              <a:xfrm rot="5400000">
                <a:off x="68580" y="136835"/>
                <a:ext cx="0" cy="137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Line 4"/>
              <p:cNvCxnSpPr>
                <a:cxnSpLocks noChangeShapeType="1"/>
              </p:cNvCxnSpPr>
              <p:nvPr/>
            </p:nvCxnSpPr>
            <p:spPr bwMode="auto">
              <a:xfrm rot="5400000">
                <a:off x="73604" y="91618"/>
                <a:ext cx="0" cy="1371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Line 5"/>
              <p:cNvCxnSpPr>
                <a:cxnSpLocks noChangeShapeType="1"/>
              </p:cNvCxnSpPr>
              <p:nvPr/>
            </p:nvCxnSpPr>
            <p:spPr bwMode="auto">
              <a:xfrm rot="5400000">
                <a:off x="-4272" y="79058"/>
                <a:ext cx="15811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Line 6"/>
              <p:cNvCxnSpPr>
                <a:cxnSpLocks noChangeShapeType="1"/>
              </p:cNvCxnSpPr>
              <p:nvPr/>
            </p:nvCxnSpPr>
            <p:spPr bwMode="auto">
              <a:xfrm rot="5400000">
                <a:off x="-4272" y="285049"/>
                <a:ext cx="15811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6377602" y="2930275"/>
              <a:ext cx="288351" cy="2616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 sz="2000" ker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US" kern="0">
                  <a:latin typeface="Times New Roman" panose="02020603050405020304" pitchFamily="18" charset="0"/>
                  <a:ea typeface="Times New Roman" panose="02020603050405020304" pitchFamily="18" charset="0"/>
                </a:rPr>
                <a:t>c</a:t>
              </a:r>
              <a:endParaRPr lang="en-US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auto">
            <a:xfrm rot="5400000">
              <a:off x="8094501" y="2921788"/>
              <a:ext cx="516326" cy="173438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auto">
            <a:xfrm rot="5400000">
              <a:off x="8140383" y="3579442"/>
              <a:ext cx="408521" cy="158400"/>
            </a:xfrm>
            <a:custGeom>
              <a:avLst/>
              <a:gdLst>
                <a:gd name="T0" fmla="*/ 0 w 2160"/>
                <a:gd name="T1" fmla="*/ 456 h 936"/>
                <a:gd name="T2" fmla="*/ 288 w 2160"/>
                <a:gd name="T3" fmla="*/ 24 h 936"/>
                <a:gd name="T4" fmla="*/ 576 w 2160"/>
                <a:gd name="T5" fmla="*/ 456 h 936"/>
                <a:gd name="T6" fmla="*/ 432 w 2160"/>
                <a:gd name="T7" fmla="*/ 888 h 936"/>
                <a:gd name="T8" fmla="*/ 432 w 2160"/>
                <a:gd name="T9" fmla="*/ 600 h 936"/>
                <a:gd name="T10" fmla="*/ 720 w 2160"/>
                <a:gd name="T11" fmla="*/ 24 h 936"/>
                <a:gd name="T12" fmla="*/ 1008 w 2160"/>
                <a:gd name="T13" fmla="*/ 456 h 936"/>
                <a:gd name="T14" fmla="*/ 864 w 2160"/>
                <a:gd name="T15" fmla="*/ 888 h 936"/>
                <a:gd name="T16" fmla="*/ 864 w 2160"/>
                <a:gd name="T17" fmla="*/ 600 h 936"/>
                <a:gd name="T18" fmla="*/ 1152 w 2160"/>
                <a:gd name="T19" fmla="*/ 24 h 936"/>
                <a:gd name="T20" fmla="*/ 1440 w 2160"/>
                <a:gd name="T21" fmla="*/ 600 h 936"/>
                <a:gd name="T22" fmla="*/ 1296 w 2160"/>
                <a:gd name="T23" fmla="*/ 888 h 936"/>
                <a:gd name="T24" fmla="*/ 1440 w 2160"/>
                <a:gd name="T25" fmla="*/ 312 h 936"/>
                <a:gd name="T26" fmla="*/ 1584 w 2160"/>
                <a:gd name="T27" fmla="*/ 24 h 936"/>
                <a:gd name="T28" fmla="*/ 1872 w 2160"/>
                <a:gd name="T29" fmla="*/ 456 h 936"/>
                <a:gd name="T30" fmla="*/ 1728 w 2160"/>
                <a:gd name="T31" fmla="*/ 888 h 936"/>
                <a:gd name="T32" fmla="*/ 1728 w 2160"/>
                <a:gd name="T33" fmla="*/ 600 h 936"/>
                <a:gd name="T34" fmla="*/ 2016 w 2160"/>
                <a:gd name="T35" fmla="*/ 24 h 936"/>
                <a:gd name="T36" fmla="*/ 2160 w 2160"/>
                <a:gd name="T37" fmla="*/ 456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0" h="936">
                  <a:moveTo>
                    <a:pt x="0" y="456"/>
                  </a:moveTo>
                  <a:cubicBezTo>
                    <a:pt x="96" y="240"/>
                    <a:pt x="192" y="24"/>
                    <a:pt x="288" y="24"/>
                  </a:cubicBezTo>
                  <a:cubicBezTo>
                    <a:pt x="384" y="24"/>
                    <a:pt x="552" y="312"/>
                    <a:pt x="576" y="456"/>
                  </a:cubicBezTo>
                  <a:cubicBezTo>
                    <a:pt x="600" y="600"/>
                    <a:pt x="456" y="864"/>
                    <a:pt x="432" y="888"/>
                  </a:cubicBezTo>
                  <a:cubicBezTo>
                    <a:pt x="408" y="912"/>
                    <a:pt x="384" y="744"/>
                    <a:pt x="432" y="600"/>
                  </a:cubicBezTo>
                  <a:cubicBezTo>
                    <a:pt x="480" y="456"/>
                    <a:pt x="624" y="48"/>
                    <a:pt x="720" y="24"/>
                  </a:cubicBezTo>
                  <a:cubicBezTo>
                    <a:pt x="816" y="0"/>
                    <a:pt x="984" y="312"/>
                    <a:pt x="1008" y="456"/>
                  </a:cubicBezTo>
                  <a:cubicBezTo>
                    <a:pt x="1032" y="600"/>
                    <a:pt x="888" y="864"/>
                    <a:pt x="864" y="888"/>
                  </a:cubicBezTo>
                  <a:cubicBezTo>
                    <a:pt x="840" y="912"/>
                    <a:pt x="816" y="744"/>
                    <a:pt x="864" y="600"/>
                  </a:cubicBezTo>
                  <a:cubicBezTo>
                    <a:pt x="912" y="456"/>
                    <a:pt x="1056" y="24"/>
                    <a:pt x="1152" y="24"/>
                  </a:cubicBezTo>
                  <a:cubicBezTo>
                    <a:pt x="1248" y="24"/>
                    <a:pt x="1416" y="456"/>
                    <a:pt x="1440" y="600"/>
                  </a:cubicBezTo>
                  <a:cubicBezTo>
                    <a:pt x="1464" y="744"/>
                    <a:pt x="1296" y="936"/>
                    <a:pt x="1296" y="888"/>
                  </a:cubicBezTo>
                  <a:cubicBezTo>
                    <a:pt x="1296" y="840"/>
                    <a:pt x="1392" y="456"/>
                    <a:pt x="1440" y="312"/>
                  </a:cubicBezTo>
                  <a:cubicBezTo>
                    <a:pt x="1488" y="168"/>
                    <a:pt x="1512" y="0"/>
                    <a:pt x="1584" y="24"/>
                  </a:cubicBezTo>
                  <a:cubicBezTo>
                    <a:pt x="1656" y="48"/>
                    <a:pt x="1848" y="312"/>
                    <a:pt x="1872" y="456"/>
                  </a:cubicBezTo>
                  <a:cubicBezTo>
                    <a:pt x="1896" y="600"/>
                    <a:pt x="1752" y="864"/>
                    <a:pt x="1728" y="888"/>
                  </a:cubicBezTo>
                  <a:cubicBezTo>
                    <a:pt x="1704" y="912"/>
                    <a:pt x="1680" y="744"/>
                    <a:pt x="1728" y="600"/>
                  </a:cubicBezTo>
                  <a:cubicBezTo>
                    <a:pt x="1776" y="456"/>
                    <a:pt x="1944" y="48"/>
                    <a:pt x="2016" y="24"/>
                  </a:cubicBezTo>
                  <a:cubicBezTo>
                    <a:pt x="2088" y="0"/>
                    <a:pt x="2124" y="228"/>
                    <a:pt x="2160" y="45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cxnSp>
          <p:nvCxnSpPr>
            <p:cNvPr id="46" name="Line 28"/>
            <p:cNvCxnSpPr>
              <a:cxnSpLocks noChangeShapeType="1"/>
            </p:cNvCxnSpPr>
            <p:nvPr/>
          </p:nvCxnSpPr>
          <p:spPr bwMode="auto">
            <a:xfrm>
              <a:off x="8348654" y="3195273"/>
              <a:ext cx="0" cy="2723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0" name="Text Box 31"/>
            <p:cNvSpPr txBox="1">
              <a:spLocks noChangeArrowheads="1"/>
            </p:cNvSpPr>
            <p:nvPr/>
          </p:nvSpPr>
          <p:spPr bwMode="auto">
            <a:xfrm>
              <a:off x="7900567" y="2930388"/>
              <a:ext cx="288729" cy="2723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 b="0" ker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R</a:t>
              </a:r>
              <a:endParaRPr lang="en-US" b="1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1" name="Text Box 32"/>
            <p:cNvSpPr txBox="1">
              <a:spLocks noChangeArrowheads="1"/>
            </p:cNvSpPr>
            <p:nvPr/>
          </p:nvSpPr>
          <p:spPr bwMode="auto">
            <a:xfrm>
              <a:off x="7900567" y="3588811"/>
              <a:ext cx="288729" cy="2723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r">
                <a:spcBef>
                  <a:spcPts val="0"/>
                </a:spcBef>
                <a:spcAft>
                  <a:spcPts val="0"/>
                </a:spcAft>
              </a:pPr>
              <a:r>
                <a:rPr lang="en-US" b="0" kern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Z</a:t>
              </a:r>
              <a:r>
                <a:rPr lang="en-US" b="0" kern="0" baseline="-2500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L</a:t>
              </a:r>
              <a:endParaRPr lang="en-US" b="1" kern="0" baseline="-250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6857361" y="2652042"/>
              <a:ext cx="1490725" cy="180704"/>
            </a:xfrm>
            <a:custGeom>
              <a:avLst/>
              <a:gdLst>
                <a:gd name="connsiteX0" fmla="*/ 0 w 818941"/>
                <a:gd name="connsiteY0" fmla="*/ 205991 h 205991"/>
                <a:gd name="connsiteX1" fmla="*/ 5025 w 818941"/>
                <a:gd name="connsiteY1" fmla="*/ 0 h 205991"/>
                <a:gd name="connsiteX2" fmla="*/ 818941 w 818941"/>
                <a:gd name="connsiteY2" fmla="*/ 0 h 205991"/>
                <a:gd name="connsiteX3" fmla="*/ 818941 w 818941"/>
                <a:gd name="connsiteY3" fmla="*/ 185895 h 20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941" h="205991">
                  <a:moveTo>
                    <a:pt x="0" y="205991"/>
                  </a:moveTo>
                  <a:lnTo>
                    <a:pt x="5025" y="0"/>
                  </a:lnTo>
                  <a:lnTo>
                    <a:pt x="818941" y="0"/>
                  </a:lnTo>
                  <a:lnTo>
                    <a:pt x="818941" y="185895"/>
                  </a:lnTo>
                </a:path>
              </a:pathLst>
            </a:cu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" name="Straight Arrow Connector 3"/>
            <p:cNvCxnSpPr/>
            <p:nvPr/>
          </p:nvCxnSpPr>
          <p:spPr>
            <a:xfrm>
              <a:off x="8494319" y="3500440"/>
              <a:ext cx="0" cy="4285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9" name="Object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7982790"/>
                </p:ext>
              </p:extLst>
            </p:nvPr>
          </p:nvGraphicFramePr>
          <p:xfrm>
            <a:off x="6350144" y="3423414"/>
            <a:ext cx="32226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241200" progId="Equation.DSMT4">
                    <p:embed/>
                  </p:oleObj>
                </mc:Choice>
                <mc:Fallback>
                  <p:oleObj name="Equation" r:id="rId12" imgW="1774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0144" y="3423414"/>
                          <a:ext cx="322263" cy="4318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1480166"/>
                </p:ext>
              </p:extLst>
            </p:nvPr>
          </p:nvGraphicFramePr>
          <p:xfrm>
            <a:off x="8529638" y="3495675"/>
            <a:ext cx="29845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4880" imgH="241200" progId="Equation.DSMT4">
                    <p:embed/>
                  </p:oleObj>
                </mc:Choice>
                <mc:Fallback>
                  <p:oleObj name="Equation" r:id="rId14" imgW="16488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9638" y="3495675"/>
                          <a:ext cx="298450" cy="4318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8237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" grpId="0"/>
      <p:bldP spid="7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0" name="Title 1"/>
          <p:cNvSpPr txBox="1">
            <a:spLocks/>
          </p:cNvSpPr>
          <p:nvPr/>
        </p:nvSpPr>
        <p:spPr>
          <a:xfrm>
            <a:off x="228600" y="304800"/>
            <a:ext cx="3429000" cy="507831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Ở thời điểm t</a:t>
            </a:r>
            <a:r>
              <a:rPr lang="en-US" sz="24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 t  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4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6142483" y="313268"/>
            <a:ext cx="2772917" cy="1638215"/>
            <a:chOff x="5968658" y="2792314"/>
            <a:chExt cx="3099142" cy="1892130"/>
          </a:xfrm>
        </p:grpSpPr>
        <p:grpSp>
          <p:nvGrpSpPr>
            <p:cNvPr id="72" name="Group 71"/>
            <p:cNvGrpSpPr/>
            <p:nvPr/>
          </p:nvGrpSpPr>
          <p:grpSpPr>
            <a:xfrm>
              <a:off x="5968658" y="2792314"/>
              <a:ext cx="3099142" cy="1892130"/>
              <a:chOff x="-115352" y="84398"/>
              <a:chExt cx="1756358" cy="1100052"/>
            </a:xfrm>
          </p:grpSpPr>
          <p:cxnSp>
            <p:nvCxnSpPr>
              <p:cNvPr id="74" name="Line 29"/>
              <p:cNvCxnSpPr>
                <a:cxnSpLocks noChangeShapeType="1"/>
              </p:cNvCxnSpPr>
              <p:nvPr/>
            </p:nvCxnSpPr>
            <p:spPr bwMode="auto">
              <a:xfrm>
                <a:off x="1256043" y="899328"/>
                <a:ext cx="0" cy="17082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5" name="Group 74"/>
              <p:cNvGrpSpPr/>
              <p:nvPr/>
            </p:nvGrpSpPr>
            <p:grpSpPr>
              <a:xfrm>
                <a:off x="-115352" y="84398"/>
                <a:ext cx="1756358" cy="1100052"/>
                <a:chOff x="-115352" y="84398"/>
                <a:chExt cx="1756358" cy="1100052"/>
              </a:xfrm>
            </p:grpSpPr>
            <p:sp>
              <p:nvSpPr>
                <p:cNvPr id="76" name="Freeform 75"/>
                <p:cNvSpPr/>
                <p:nvPr/>
              </p:nvSpPr>
              <p:spPr>
                <a:xfrm>
                  <a:off x="326571" y="482321"/>
                  <a:ext cx="944245" cy="592455"/>
                </a:xfrm>
                <a:custGeom>
                  <a:avLst/>
                  <a:gdLst>
                    <a:gd name="connsiteX0" fmla="*/ 0 w 944545"/>
                    <a:gd name="connsiteY0" fmla="*/ 0 h 592853"/>
                    <a:gd name="connsiteX1" fmla="*/ 0 w 944545"/>
                    <a:gd name="connsiteY1" fmla="*/ 592853 h 592853"/>
                    <a:gd name="connsiteX2" fmla="*/ 944545 w 944545"/>
                    <a:gd name="connsiteY2" fmla="*/ 592853 h 592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44545" h="592853">
                      <a:moveTo>
                        <a:pt x="0" y="0"/>
                      </a:moveTo>
                      <a:lnTo>
                        <a:pt x="0" y="592853"/>
                      </a:lnTo>
                      <a:lnTo>
                        <a:pt x="944545" y="59285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/>
                <p:cNvGrpSpPr/>
                <p:nvPr/>
              </p:nvGrpSpPr>
              <p:grpSpPr>
                <a:xfrm>
                  <a:off x="-115352" y="633046"/>
                  <a:ext cx="1166741" cy="551404"/>
                  <a:chOff x="-115388" y="0"/>
                  <a:chExt cx="1167108" cy="551404"/>
                </a:xfrm>
              </p:grpSpPr>
              <p:grpSp>
                <p:nvGrpSpPr>
                  <p:cNvPr id="94" name="Group 93"/>
                  <p:cNvGrpSpPr/>
                  <p:nvPr/>
                </p:nvGrpSpPr>
                <p:grpSpPr>
                  <a:xfrm>
                    <a:off x="216040" y="0"/>
                    <a:ext cx="835680" cy="551404"/>
                    <a:chOff x="0" y="0"/>
                    <a:chExt cx="835680" cy="551404"/>
                  </a:xfrm>
                </p:grpSpPr>
                <p:sp>
                  <p:nvSpPr>
                    <p:cNvPr id="96" name="Oval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228600" cy="2286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97" name="Line 9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5363" y="75363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98" name="Line 1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116625" y="45218"/>
                      <a:ext cx="0" cy="76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99" name="Line 1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81456" y="170822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102" name="Oval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7080" y="322804"/>
                      <a:ext cx="228600" cy="228600"/>
                    </a:xfrm>
                    <a:prstGeom prst="ellipse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103" name="Line 10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73227" y="398291"/>
                      <a:ext cx="0" cy="7620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04" name="Line 1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33813" y="433142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cxnSp>
                  <p:nvCxnSpPr>
                    <p:cNvPr id="106" name="Line 11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637460" y="432583"/>
                      <a:ext cx="7620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</p:grpSp>
              <p:sp>
                <p:nvSpPr>
                  <p:cNvPr id="95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-115388" y="0"/>
                    <a:ext cx="298268" cy="18722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kern="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E</a:t>
                    </a:r>
                    <a:r>
                      <a:rPr lang="en-US" kern="0" baseline="-250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2</a:t>
                    </a:r>
                    <a:r>
                      <a:rPr lang="en-US" kern="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/s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89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5072" y="271230"/>
                  <a:ext cx="182641" cy="1757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0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endParaRPr lang="en-US" b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80" name="Group 79"/>
                <p:cNvGrpSpPr>
                  <a:grpSpLocks/>
                </p:cNvGrpSpPr>
                <p:nvPr/>
              </p:nvGrpSpPr>
              <p:grpSpPr bwMode="auto">
                <a:xfrm>
                  <a:off x="263406" y="150725"/>
                  <a:ext cx="1057275" cy="746760"/>
                  <a:chOff x="5708" y="2228"/>
                  <a:chExt cx="1665" cy="1176"/>
                </a:xfrm>
              </p:grpSpPr>
              <p:sp>
                <p:nvSpPr>
                  <p:cNvPr id="85" name="Freeform 84"/>
                  <p:cNvSpPr>
                    <a:spLocks/>
                  </p:cNvSpPr>
                  <p:nvPr/>
                </p:nvSpPr>
                <p:spPr bwMode="auto">
                  <a:xfrm rot="5400000">
                    <a:off x="7014" y="2414"/>
                    <a:ext cx="546" cy="173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6" name="Freeform 85"/>
                  <p:cNvSpPr>
                    <a:spLocks/>
                  </p:cNvSpPr>
                  <p:nvPr/>
                </p:nvSpPr>
                <p:spPr bwMode="auto">
                  <a:xfrm rot="5400000">
                    <a:off x="7063" y="3109"/>
                    <a:ext cx="432" cy="158"/>
                  </a:xfrm>
                  <a:custGeom>
                    <a:avLst/>
                    <a:gdLst>
                      <a:gd name="T0" fmla="*/ 0 w 2160"/>
                      <a:gd name="T1" fmla="*/ 456 h 936"/>
                      <a:gd name="T2" fmla="*/ 288 w 2160"/>
                      <a:gd name="T3" fmla="*/ 24 h 936"/>
                      <a:gd name="T4" fmla="*/ 576 w 2160"/>
                      <a:gd name="T5" fmla="*/ 456 h 936"/>
                      <a:gd name="T6" fmla="*/ 432 w 2160"/>
                      <a:gd name="T7" fmla="*/ 888 h 936"/>
                      <a:gd name="T8" fmla="*/ 432 w 2160"/>
                      <a:gd name="T9" fmla="*/ 600 h 936"/>
                      <a:gd name="T10" fmla="*/ 720 w 2160"/>
                      <a:gd name="T11" fmla="*/ 24 h 936"/>
                      <a:gd name="T12" fmla="*/ 1008 w 2160"/>
                      <a:gd name="T13" fmla="*/ 456 h 936"/>
                      <a:gd name="T14" fmla="*/ 864 w 2160"/>
                      <a:gd name="T15" fmla="*/ 888 h 936"/>
                      <a:gd name="T16" fmla="*/ 864 w 2160"/>
                      <a:gd name="T17" fmla="*/ 600 h 936"/>
                      <a:gd name="T18" fmla="*/ 1152 w 2160"/>
                      <a:gd name="T19" fmla="*/ 24 h 936"/>
                      <a:gd name="T20" fmla="*/ 1440 w 2160"/>
                      <a:gd name="T21" fmla="*/ 600 h 936"/>
                      <a:gd name="T22" fmla="*/ 1296 w 2160"/>
                      <a:gd name="T23" fmla="*/ 888 h 936"/>
                      <a:gd name="T24" fmla="*/ 1440 w 2160"/>
                      <a:gd name="T25" fmla="*/ 312 h 936"/>
                      <a:gd name="T26" fmla="*/ 1584 w 2160"/>
                      <a:gd name="T27" fmla="*/ 24 h 936"/>
                      <a:gd name="T28" fmla="*/ 1872 w 2160"/>
                      <a:gd name="T29" fmla="*/ 456 h 936"/>
                      <a:gd name="T30" fmla="*/ 1728 w 2160"/>
                      <a:gd name="T31" fmla="*/ 888 h 936"/>
                      <a:gd name="T32" fmla="*/ 1728 w 2160"/>
                      <a:gd name="T33" fmla="*/ 600 h 936"/>
                      <a:gd name="T34" fmla="*/ 2016 w 2160"/>
                      <a:gd name="T35" fmla="*/ 24 h 936"/>
                      <a:gd name="T36" fmla="*/ 2160 w 2160"/>
                      <a:gd name="T37" fmla="*/ 456 h 9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160" h="936">
                        <a:moveTo>
                          <a:pt x="0" y="456"/>
                        </a:moveTo>
                        <a:cubicBezTo>
                          <a:pt x="96" y="240"/>
                          <a:pt x="192" y="24"/>
                          <a:pt x="288" y="24"/>
                        </a:cubicBezTo>
                        <a:cubicBezTo>
                          <a:pt x="384" y="24"/>
                          <a:pt x="552" y="312"/>
                          <a:pt x="576" y="456"/>
                        </a:cubicBezTo>
                        <a:cubicBezTo>
                          <a:pt x="600" y="600"/>
                          <a:pt x="456" y="864"/>
                          <a:pt x="432" y="888"/>
                        </a:cubicBezTo>
                        <a:cubicBezTo>
                          <a:pt x="408" y="912"/>
                          <a:pt x="384" y="744"/>
                          <a:pt x="432" y="600"/>
                        </a:cubicBezTo>
                        <a:cubicBezTo>
                          <a:pt x="480" y="456"/>
                          <a:pt x="624" y="48"/>
                          <a:pt x="720" y="24"/>
                        </a:cubicBezTo>
                        <a:cubicBezTo>
                          <a:pt x="816" y="0"/>
                          <a:pt x="984" y="312"/>
                          <a:pt x="1008" y="456"/>
                        </a:cubicBezTo>
                        <a:cubicBezTo>
                          <a:pt x="1032" y="600"/>
                          <a:pt x="888" y="864"/>
                          <a:pt x="864" y="888"/>
                        </a:cubicBezTo>
                        <a:cubicBezTo>
                          <a:pt x="840" y="912"/>
                          <a:pt x="816" y="744"/>
                          <a:pt x="864" y="600"/>
                        </a:cubicBezTo>
                        <a:cubicBezTo>
                          <a:pt x="912" y="456"/>
                          <a:pt x="1056" y="24"/>
                          <a:pt x="1152" y="24"/>
                        </a:cubicBezTo>
                        <a:cubicBezTo>
                          <a:pt x="1248" y="24"/>
                          <a:pt x="1416" y="456"/>
                          <a:pt x="1440" y="600"/>
                        </a:cubicBezTo>
                        <a:cubicBezTo>
                          <a:pt x="1464" y="744"/>
                          <a:pt x="1296" y="936"/>
                          <a:pt x="1296" y="888"/>
                        </a:cubicBezTo>
                        <a:cubicBezTo>
                          <a:pt x="1296" y="840"/>
                          <a:pt x="1392" y="456"/>
                          <a:pt x="1440" y="312"/>
                        </a:cubicBezTo>
                        <a:cubicBezTo>
                          <a:pt x="1488" y="168"/>
                          <a:pt x="1512" y="0"/>
                          <a:pt x="1584" y="24"/>
                        </a:cubicBezTo>
                        <a:cubicBezTo>
                          <a:pt x="1656" y="48"/>
                          <a:pt x="1848" y="312"/>
                          <a:pt x="1872" y="456"/>
                        </a:cubicBezTo>
                        <a:cubicBezTo>
                          <a:pt x="1896" y="600"/>
                          <a:pt x="1752" y="864"/>
                          <a:pt x="1728" y="888"/>
                        </a:cubicBezTo>
                        <a:cubicBezTo>
                          <a:pt x="1704" y="912"/>
                          <a:pt x="1680" y="744"/>
                          <a:pt x="1728" y="600"/>
                        </a:cubicBezTo>
                        <a:cubicBezTo>
                          <a:pt x="1776" y="456"/>
                          <a:pt x="1944" y="48"/>
                          <a:pt x="2016" y="24"/>
                        </a:cubicBezTo>
                        <a:cubicBezTo>
                          <a:pt x="2088" y="0"/>
                          <a:pt x="2124" y="228"/>
                          <a:pt x="2160" y="456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  <p:cxnSp>
                <p:nvCxnSpPr>
                  <p:cNvPr id="87" name="Line 28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7283" y="2698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  <p:sp>
                <p:nvSpPr>
                  <p:cNvPr id="100" name="Freeform 99"/>
                  <p:cNvSpPr>
                    <a:spLocks/>
                  </p:cNvSpPr>
                  <p:nvPr/>
                </p:nvSpPr>
                <p:spPr bwMode="auto">
                  <a:xfrm rot="5400000">
                    <a:off x="5522" y="2474"/>
                    <a:ext cx="546" cy="173"/>
                  </a:xfrm>
                  <a:custGeom>
                    <a:avLst/>
                    <a:gdLst>
                      <a:gd name="T0" fmla="*/ 0 w 1728"/>
                      <a:gd name="T1" fmla="*/ 144 h 288"/>
                      <a:gd name="T2" fmla="*/ 288 w 1728"/>
                      <a:gd name="T3" fmla="*/ 144 h 288"/>
                      <a:gd name="T4" fmla="*/ 432 w 1728"/>
                      <a:gd name="T5" fmla="*/ 0 h 288"/>
                      <a:gd name="T6" fmla="*/ 576 w 1728"/>
                      <a:gd name="T7" fmla="*/ 288 h 288"/>
                      <a:gd name="T8" fmla="*/ 720 w 1728"/>
                      <a:gd name="T9" fmla="*/ 0 h 288"/>
                      <a:gd name="T10" fmla="*/ 864 w 1728"/>
                      <a:gd name="T11" fmla="*/ 288 h 288"/>
                      <a:gd name="T12" fmla="*/ 1008 w 1728"/>
                      <a:gd name="T13" fmla="*/ 0 h 288"/>
                      <a:gd name="T14" fmla="*/ 1152 w 1728"/>
                      <a:gd name="T15" fmla="*/ 288 h 288"/>
                      <a:gd name="T16" fmla="*/ 1296 w 1728"/>
                      <a:gd name="T17" fmla="*/ 0 h 288"/>
                      <a:gd name="T18" fmla="*/ 1440 w 1728"/>
                      <a:gd name="T19" fmla="*/ 144 h 288"/>
                      <a:gd name="T20" fmla="*/ 1728 w 1728"/>
                      <a:gd name="T21" fmla="*/ 144 h 28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728" h="288">
                        <a:moveTo>
                          <a:pt x="0" y="144"/>
                        </a:moveTo>
                        <a:lnTo>
                          <a:pt x="288" y="144"/>
                        </a:lnTo>
                        <a:lnTo>
                          <a:pt x="432" y="0"/>
                        </a:lnTo>
                        <a:lnTo>
                          <a:pt x="576" y="288"/>
                        </a:lnTo>
                        <a:lnTo>
                          <a:pt x="720" y="0"/>
                        </a:lnTo>
                        <a:lnTo>
                          <a:pt x="864" y="288"/>
                        </a:lnTo>
                        <a:lnTo>
                          <a:pt x="1008" y="0"/>
                        </a:lnTo>
                        <a:lnTo>
                          <a:pt x="1152" y="288"/>
                        </a:lnTo>
                        <a:lnTo>
                          <a:pt x="1296" y="0"/>
                        </a:lnTo>
                        <a:lnTo>
                          <a:pt x="1440" y="144"/>
                        </a:lnTo>
                        <a:lnTo>
                          <a:pt x="1728" y="144"/>
                        </a:ln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81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979714" y="271306"/>
                  <a:ext cx="182880" cy="1828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0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R</a:t>
                  </a:r>
                  <a:endParaRPr lang="en-US" b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82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979714" y="713433"/>
                  <a:ext cx="182880" cy="18288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 algn="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b="0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sL</a:t>
                  </a:r>
                  <a:endParaRPr lang="en-US" b="1" kern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8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378657" y="713433"/>
                  <a:ext cx="262349" cy="19795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baseline="-250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(t)</a:t>
                  </a:r>
                  <a:endParaRPr lang="en-US">
                    <a:effectLst/>
                    <a:latin typeface=".VnTime" panose="020B7200000000000000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Freeform 83"/>
                <p:cNvSpPr/>
                <p:nvPr/>
              </p:nvSpPr>
              <p:spPr>
                <a:xfrm>
                  <a:off x="318950" y="84398"/>
                  <a:ext cx="944221" cy="121342"/>
                </a:xfrm>
                <a:custGeom>
                  <a:avLst/>
                  <a:gdLst>
                    <a:gd name="connsiteX0" fmla="*/ 0 w 818941"/>
                    <a:gd name="connsiteY0" fmla="*/ 205991 h 205991"/>
                    <a:gd name="connsiteX1" fmla="*/ 5025 w 818941"/>
                    <a:gd name="connsiteY1" fmla="*/ 0 h 205991"/>
                    <a:gd name="connsiteX2" fmla="*/ 818941 w 818941"/>
                    <a:gd name="connsiteY2" fmla="*/ 0 h 205991"/>
                    <a:gd name="connsiteX3" fmla="*/ 818941 w 818941"/>
                    <a:gd name="connsiteY3" fmla="*/ 185895 h 205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8941" h="205991">
                      <a:moveTo>
                        <a:pt x="0" y="205991"/>
                      </a:moveTo>
                      <a:lnTo>
                        <a:pt x="5025" y="0"/>
                      </a:lnTo>
                      <a:lnTo>
                        <a:pt x="818941" y="0"/>
                      </a:lnTo>
                      <a:lnTo>
                        <a:pt x="818941" y="185895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595457" y="768124"/>
                  <a:ext cx="398493" cy="171927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marL="0" marR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Li</a:t>
                  </a:r>
                  <a:r>
                    <a:rPr lang="en-US" baseline="-2500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L</a:t>
                  </a:r>
                  <a:r>
                    <a:rPr lang="en-US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(0)</a:t>
                  </a:r>
                  <a:endParaRPr lang="en-US">
                    <a:effectLst/>
                    <a:latin typeface=".VnTime" panose="020B7200000000000000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cxnSp>
          <p:nvCxnSpPr>
            <p:cNvPr id="73" name="Straight Arrow Connector 72"/>
            <p:cNvCxnSpPr/>
            <p:nvPr/>
          </p:nvCxnSpPr>
          <p:spPr>
            <a:xfrm>
              <a:off x="8564537" y="3772210"/>
              <a:ext cx="0" cy="494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1" name="Object 1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724200"/>
              </p:ext>
            </p:extLst>
          </p:nvPr>
        </p:nvGraphicFramePr>
        <p:xfrm>
          <a:off x="384602" y="762000"/>
          <a:ext cx="3622675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280" imgH="431640" progId="Equation.DSMT4">
                  <p:embed/>
                </p:oleObj>
              </mc:Choice>
              <mc:Fallback>
                <p:oleObj name="Equation" r:id="rId3" imgW="2006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4602" y="762000"/>
                        <a:ext cx="3622675" cy="77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790277"/>
              </p:ext>
            </p:extLst>
          </p:nvPr>
        </p:nvGraphicFramePr>
        <p:xfrm>
          <a:off x="379250" y="1600200"/>
          <a:ext cx="5773738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49280" imgH="279360" progId="Equation.DSMT4">
                  <p:embed/>
                </p:oleObj>
              </mc:Choice>
              <mc:Fallback>
                <p:oleObj name="Equation" r:id="rId5" imgW="3149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9250" y="1600200"/>
                        <a:ext cx="5773738" cy="512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5182611" y="2362200"/>
            <a:ext cx="3732789" cy="2057400"/>
            <a:chOff x="5728294" y="2314575"/>
            <a:chExt cx="3412085" cy="1826908"/>
          </a:xfrm>
        </p:grpSpPr>
        <p:grpSp>
          <p:nvGrpSpPr>
            <p:cNvPr id="88" name="Group 87"/>
            <p:cNvGrpSpPr/>
            <p:nvPr/>
          </p:nvGrpSpPr>
          <p:grpSpPr>
            <a:xfrm>
              <a:off x="5728294" y="2315691"/>
              <a:ext cx="3412085" cy="1825792"/>
              <a:chOff x="5968658" y="2792314"/>
              <a:chExt cx="3813503" cy="2108781"/>
            </a:xfrm>
          </p:grpSpPr>
          <p:grpSp>
            <p:nvGrpSpPr>
              <p:cNvPr id="90" name="Group 89"/>
              <p:cNvGrpSpPr/>
              <p:nvPr/>
            </p:nvGrpSpPr>
            <p:grpSpPr>
              <a:xfrm>
                <a:off x="5968658" y="2792314"/>
                <a:ext cx="3813503" cy="2108781"/>
                <a:chOff x="-115352" y="84398"/>
                <a:chExt cx="2161203" cy="1226009"/>
              </a:xfrm>
            </p:grpSpPr>
            <p:cxnSp>
              <p:nvCxnSpPr>
                <p:cNvPr id="92" name="Line 29"/>
                <p:cNvCxnSpPr>
                  <a:cxnSpLocks noChangeShapeType="1"/>
                </p:cNvCxnSpPr>
                <p:nvPr/>
              </p:nvCxnSpPr>
              <p:spPr bwMode="auto">
                <a:xfrm>
                  <a:off x="1284287" y="1139585"/>
                  <a:ext cx="0" cy="17082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93" name="Group 92"/>
                <p:cNvGrpSpPr/>
                <p:nvPr/>
              </p:nvGrpSpPr>
              <p:grpSpPr>
                <a:xfrm>
                  <a:off x="-115352" y="84398"/>
                  <a:ext cx="2161203" cy="1223290"/>
                  <a:chOff x="-115352" y="84398"/>
                  <a:chExt cx="2161203" cy="1223290"/>
                </a:xfrm>
              </p:grpSpPr>
              <p:sp>
                <p:nvSpPr>
                  <p:cNvPr id="101" name="Freeform 100"/>
                  <p:cNvSpPr/>
                  <p:nvPr/>
                </p:nvSpPr>
                <p:spPr>
                  <a:xfrm>
                    <a:off x="320538" y="482320"/>
                    <a:ext cx="944245" cy="825368"/>
                  </a:xfrm>
                  <a:custGeom>
                    <a:avLst/>
                    <a:gdLst>
                      <a:gd name="connsiteX0" fmla="*/ 0 w 944545"/>
                      <a:gd name="connsiteY0" fmla="*/ 0 h 592853"/>
                      <a:gd name="connsiteX1" fmla="*/ 0 w 944545"/>
                      <a:gd name="connsiteY1" fmla="*/ 592853 h 592853"/>
                      <a:gd name="connsiteX2" fmla="*/ 944545 w 944545"/>
                      <a:gd name="connsiteY2" fmla="*/ 592853 h 592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944545" h="592853">
                        <a:moveTo>
                          <a:pt x="0" y="0"/>
                        </a:moveTo>
                        <a:lnTo>
                          <a:pt x="0" y="592853"/>
                        </a:lnTo>
                        <a:lnTo>
                          <a:pt x="944545" y="592853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05" name="Group 104"/>
                  <p:cNvGrpSpPr/>
                  <p:nvPr/>
                </p:nvGrpSpPr>
                <p:grpSpPr>
                  <a:xfrm>
                    <a:off x="-115352" y="633046"/>
                    <a:ext cx="1507201" cy="533949"/>
                    <a:chOff x="-115388" y="0"/>
                    <a:chExt cx="1507675" cy="533949"/>
                  </a:xfrm>
                </p:grpSpPr>
                <p:grpSp>
                  <p:nvGrpSpPr>
                    <p:cNvPr id="120" name="Group 119"/>
                    <p:cNvGrpSpPr/>
                    <p:nvPr/>
                  </p:nvGrpSpPr>
                  <p:grpSpPr>
                    <a:xfrm>
                      <a:off x="216040" y="0"/>
                      <a:ext cx="1176247" cy="533949"/>
                      <a:chOff x="0" y="0"/>
                      <a:chExt cx="1176247" cy="533949"/>
                    </a:xfrm>
                  </p:grpSpPr>
                  <p:sp>
                    <p:nvSpPr>
                      <p:cNvPr id="122" name="Oval 1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228600" cy="2286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123" name="Line 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75363" y="75363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24" name="Line 1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16625" y="45218"/>
                        <a:ext cx="0" cy="7620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25" name="Line 1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81456" y="170822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132" name="Oval 1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47647" y="305349"/>
                        <a:ext cx="228600" cy="2286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133" name="Line 1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69790" y="434356"/>
                        <a:ext cx="0" cy="7620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4" name="Line 1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29103" y="470468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5" name="Line 1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25889" y="372267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sp>
                  <p:nvSpPr>
                    <p:cNvPr id="121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115388" y="0"/>
                      <a:ext cx="298268" cy="18722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rot="0" vert="horz" wrap="square" lIns="0" tIns="0" rIns="0" bIns="0" anchor="t" anchorCtr="0" upright="1">
                      <a:noAutofit/>
                    </a:bodyPr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kern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kern="0" baseline="-250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kern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/s</a:t>
                      </a:r>
                      <a:endParaRPr lang="en-US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07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072" y="271230"/>
                    <a:ext cx="182641" cy="17572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08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263406" y="132945"/>
                    <a:ext cx="1782445" cy="666115"/>
                    <a:chOff x="5708" y="2200"/>
                    <a:chExt cx="2807" cy="1049"/>
                  </a:xfrm>
                </p:grpSpPr>
                <p:sp>
                  <p:nvSpPr>
                    <p:cNvPr id="116" name="Freeform 115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7005" y="2386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" name="Freeform 11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7063" y="2954"/>
                      <a:ext cx="432" cy="158"/>
                    </a:xfrm>
                    <a:custGeom>
                      <a:avLst/>
                      <a:gdLst>
                        <a:gd name="T0" fmla="*/ 0 w 2160"/>
                        <a:gd name="T1" fmla="*/ 456 h 936"/>
                        <a:gd name="T2" fmla="*/ 288 w 2160"/>
                        <a:gd name="T3" fmla="*/ 24 h 936"/>
                        <a:gd name="T4" fmla="*/ 576 w 2160"/>
                        <a:gd name="T5" fmla="*/ 456 h 936"/>
                        <a:gd name="T6" fmla="*/ 432 w 2160"/>
                        <a:gd name="T7" fmla="*/ 888 h 936"/>
                        <a:gd name="T8" fmla="*/ 432 w 2160"/>
                        <a:gd name="T9" fmla="*/ 600 h 936"/>
                        <a:gd name="T10" fmla="*/ 720 w 2160"/>
                        <a:gd name="T11" fmla="*/ 24 h 936"/>
                        <a:gd name="T12" fmla="*/ 1008 w 2160"/>
                        <a:gd name="T13" fmla="*/ 456 h 936"/>
                        <a:gd name="T14" fmla="*/ 864 w 2160"/>
                        <a:gd name="T15" fmla="*/ 888 h 936"/>
                        <a:gd name="T16" fmla="*/ 864 w 2160"/>
                        <a:gd name="T17" fmla="*/ 600 h 936"/>
                        <a:gd name="T18" fmla="*/ 1152 w 2160"/>
                        <a:gd name="T19" fmla="*/ 24 h 936"/>
                        <a:gd name="T20" fmla="*/ 1440 w 2160"/>
                        <a:gd name="T21" fmla="*/ 600 h 936"/>
                        <a:gd name="T22" fmla="*/ 1296 w 2160"/>
                        <a:gd name="T23" fmla="*/ 888 h 936"/>
                        <a:gd name="T24" fmla="*/ 1440 w 2160"/>
                        <a:gd name="T25" fmla="*/ 312 h 936"/>
                        <a:gd name="T26" fmla="*/ 1584 w 2160"/>
                        <a:gd name="T27" fmla="*/ 24 h 936"/>
                        <a:gd name="T28" fmla="*/ 1872 w 2160"/>
                        <a:gd name="T29" fmla="*/ 456 h 936"/>
                        <a:gd name="T30" fmla="*/ 1728 w 2160"/>
                        <a:gd name="T31" fmla="*/ 888 h 936"/>
                        <a:gd name="T32" fmla="*/ 1728 w 2160"/>
                        <a:gd name="T33" fmla="*/ 600 h 936"/>
                        <a:gd name="T34" fmla="*/ 2016 w 2160"/>
                        <a:gd name="T35" fmla="*/ 24 h 936"/>
                        <a:gd name="T36" fmla="*/ 2160 w 2160"/>
                        <a:gd name="T37" fmla="*/ 456 h 9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</a:cxnLst>
                      <a:rect l="0" t="0" r="r" b="b"/>
                      <a:pathLst>
                        <a:path w="2160" h="936">
                          <a:moveTo>
                            <a:pt x="0" y="456"/>
                          </a:moveTo>
                          <a:cubicBezTo>
                            <a:pt x="96" y="240"/>
                            <a:pt x="192" y="24"/>
                            <a:pt x="288" y="24"/>
                          </a:cubicBezTo>
                          <a:cubicBezTo>
                            <a:pt x="384" y="24"/>
                            <a:pt x="552" y="312"/>
                            <a:pt x="576" y="456"/>
                          </a:cubicBezTo>
                          <a:cubicBezTo>
                            <a:pt x="600" y="600"/>
                            <a:pt x="456" y="864"/>
                            <a:pt x="432" y="888"/>
                          </a:cubicBezTo>
                          <a:cubicBezTo>
                            <a:pt x="408" y="912"/>
                            <a:pt x="384" y="744"/>
                            <a:pt x="432" y="600"/>
                          </a:cubicBezTo>
                          <a:cubicBezTo>
                            <a:pt x="480" y="456"/>
                            <a:pt x="624" y="48"/>
                            <a:pt x="720" y="24"/>
                          </a:cubicBezTo>
                          <a:cubicBezTo>
                            <a:pt x="816" y="0"/>
                            <a:pt x="984" y="312"/>
                            <a:pt x="1008" y="456"/>
                          </a:cubicBezTo>
                          <a:cubicBezTo>
                            <a:pt x="1032" y="600"/>
                            <a:pt x="888" y="864"/>
                            <a:pt x="864" y="888"/>
                          </a:cubicBezTo>
                          <a:cubicBezTo>
                            <a:pt x="840" y="912"/>
                            <a:pt x="816" y="744"/>
                            <a:pt x="864" y="600"/>
                          </a:cubicBezTo>
                          <a:cubicBezTo>
                            <a:pt x="912" y="456"/>
                            <a:pt x="1056" y="24"/>
                            <a:pt x="1152" y="24"/>
                          </a:cubicBezTo>
                          <a:cubicBezTo>
                            <a:pt x="1248" y="24"/>
                            <a:pt x="1416" y="456"/>
                            <a:pt x="1440" y="600"/>
                          </a:cubicBezTo>
                          <a:cubicBezTo>
                            <a:pt x="1464" y="744"/>
                            <a:pt x="1296" y="936"/>
                            <a:pt x="1296" y="888"/>
                          </a:cubicBezTo>
                          <a:cubicBezTo>
                            <a:pt x="1296" y="840"/>
                            <a:pt x="1392" y="456"/>
                            <a:pt x="1440" y="312"/>
                          </a:cubicBezTo>
                          <a:cubicBezTo>
                            <a:pt x="1488" y="168"/>
                            <a:pt x="1512" y="0"/>
                            <a:pt x="1584" y="24"/>
                          </a:cubicBezTo>
                          <a:cubicBezTo>
                            <a:pt x="1656" y="48"/>
                            <a:pt x="1848" y="312"/>
                            <a:pt x="1872" y="456"/>
                          </a:cubicBezTo>
                          <a:cubicBezTo>
                            <a:pt x="1896" y="600"/>
                            <a:pt x="1752" y="864"/>
                            <a:pt x="1728" y="888"/>
                          </a:cubicBezTo>
                          <a:cubicBezTo>
                            <a:pt x="1704" y="912"/>
                            <a:pt x="1680" y="744"/>
                            <a:pt x="1728" y="600"/>
                          </a:cubicBezTo>
                          <a:cubicBezTo>
                            <a:pt x="1776" y="456"/>
                            <a:pt x="1944" y="48"/>
                            <a:pt x="2016" y="24"/>
                          </a:cubicBezTo>
                          <a:cubicBezTo>
                            <a:pt x="2088" y="0"/>
                            <a:pt x="2124" y="228"/>
                            <a:pt x="2160" y="456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118" name="Line 28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283" y="2698"/>
                      <a:ext cx="0" cy="1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119" name="Freeform 118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5522" y="2474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" name="Freeform 129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8156" y="2752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9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9714" y="271306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2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9714" y="713433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sL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3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78657" y="615205"/>
                    <a:ext cx="262349" cy="19795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1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b="1" baseline="-25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endParaRPr lang="en-US" b="1">
                      <a:effectLst/>
                      <a:latin typeface=".VnTime" panose="020B7200000000000000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4" name="Freeform 113"/>
                  <p:cNvSpPr/>
                  <p:nvPr/>
                </p:nvSpPr>
                <p:spPr>
                  <a:xfrm>
                    <a:off x="318950" y="84398"/>
                    <a:ext cx="944221" cy="121342"/>
                  </a:xfrm>
                  <a:custGeom>
                    <a:avLst/>
                    <a:gdLst>
                      <a:gd name="connsiteX0" fmla="*/ 0 w 818941"/>
                      <a:gd name="connsiteY0" fmla="*/ 205991 h 205991"/>
                      <a:gd name="connsiteX1" fmla="*/ 5025 w 818941"/>
                      <a:gd name="connsiteY1" fmla="*/ 0 h 205991"/>
                      <a:gd name="connsiteX2" fmla="*/ 818941 w 818941"/>
                      <a:gd name="connsiteY2" fmla="*/ 0 h 205991"/>
                      <a:gd name="connsiteX3" fmla="*/ 818941 w 818941"/>
                      <a:gd name="connsiteY3" fmla="*/ 185895 h 2059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8941" h="205991">
                        <a:moveTo>
                          <a:pt x="0" y="205991"/>
                        </a:moveTo>
                        <a:lnTo>
                          <a:pt x="5025" y="0"/>
                        </a:lnTo>
                        <a:lnTo>
                          <a:pt x="818941" y="0"/>
                        </a:lnTo>
                        <a:lnTo>
                          <a:pt x="818941" y="185895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5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6499" y="978114"/>
                    <a:ext cx="415334" cy="194779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Li</a:t>
                    </a:r>
                    <a:r>
                      <a:rPr lang="en-US" baseline="-25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(t</a:t>
                    </a:r>
                    <a:r>
                      <a:rPr lang="en-US" baseline="-25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en-US">
                      <a:effectLst/>
                      <a:latin typeface=".VnTime" panose="020B7200000000000000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1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1202" y="443777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136" name="Line 29"/>
                <p:cNvCxnSpPr>
                  <a:cxnSpLocks noChangeShapeType="1"/>
                </p:cNvCxnSpPr>
                <p:nvPr/>
              </p:nvCxnSpPr>
              <p:spPr bwMode="auto">
                <a:xfrm>
                  <a:off x="1277149" y="777461"/>
                  <a:ext cx="0" cy="17082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91" name="Straight Arrow Connector 90"/>
              <p:cNvCxnSpPr/>
              <p:nvPr/>
            </p:nvCxnSpPr>
            <p:spPr>
              <a:xfrm>
                <a:off x="8564537" y="3603253"/>
                <a:ext cx="0" cy="4949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Freeform 2"/>
            <p:cNvSpPr/>
            <p:nvPr/>
          </p:nvSpPr>
          <p:spPr>
            <a:xfrm>
              <a:off x="7896225" y="2314575"/>
              <a:ext cx="1162994" cy="438150"/>
            </a:xfrm>
            <a:custGeom>
              <a:avLst/>
              <a:gdLst>
                <a:gd name="connsiteX0" fmla="*/ 0 w 742950"/>
                <a:gd name="connsiteY0" fmla="*/ 0 h 438150"/>
                <a:gd name="connsiteX1" fmla="*/ 742950 w 742950"/>
                <a:gd name="connsiteY1" fmla="*/ 0 h 438150"/>
                <a:gd name="connsiteX2" fmla="*/ 742950 w 742950"/>
                <a:gd name="connsiteY2" fmla="*/ 43815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950" h="438150">
                  <a:moveTo>
                    <a:pt x="0" y="0"/>
                  </a:moveTo>
                  <a:lnTo>
                    <a:pt x="742950" y="0"/>
                  </a:lnTo>
                  <a:lnTo>
                    <a:pt x="742950" y="43815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/>
            <p:cNvSpPr/>
            <p:nvPr/>
          </p:nvSpPr>
          <p:spPr>
            <a:xfrm>
              <a:off x="7877175" y="3190875"/>
              <a:ext cx="1166526" cy="946559"/>
            </a:xfrm>
            <a:custGeom>
              <a:avLst/>
              <a:gdLst>
                <a:gd name="connsiteX0" fmla="*/ 0 w 762000"/>
                <a:gd name="connsiteY0" fmla="*/ 600075 h 600075"/>
                <a:gd name="connsiteX1" fmla="*/ 762000 w 762000"/>
                <a:gd name="connsiteY1" fmla="*/ 600075 h 600075"/>
                <a:gd name="connsiteX2" fmla="*/ 762000 w 762000"/>
                <a:gd name="connsiteY2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0" h="600075">
                  <a:moveTo>
                    <a:pt x="0" y="600075"/>
                  </a:moveTo>
                  <a:lnTo>
                    <a:pt x="762000" y="600075"/>
                  </a:lnTo>
                  <a:lnTo>
                    <a:pt x="76200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Arc 10"/>
          <p:cNvSpPr/>
          <p:nvPr/>
        </p:nvSpPr>
        <p:spPr>
          <a:xfrm>
            <a:off x="6082446" y="2815682"/>
            <a:ext cx="914400" cy="914400"/>
          </a:xfrm>
          <a:prstGeom prst="arc">
            <a:avLst>
              <a:gd name="adj1" fmla="val 12461975"/>
              <a:gd name="adj2" fmla="val 6100523"/>
            </a:avLst>
          </a:prstGeom>
          <a:ln w="19050">
            <a:solidFill>
              <a:srgbClr val="FF0000"/>
            </a:solidFill>
            <a:prstDash val="dash"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I</a:t>
            </a:r>
          </a:p>
        </p:txBody>
      </p:sp>
      <p:sp>
        <p:nvSpPr>
          <p:cNvPr id="137" name="Arc 136"/>
          <p:cNvSpPr/>
          <p:nvPr/>
        </p:nvSpPr>
        <p:spPr>
          <a:xfrm>
            <a:off x="7984520" y="2831432"/>
            <a:ext cx="778480" cy="914400"/>
          </a:xfrm>
          <a:prstGeom prst="arc">
            <a:avLst>
              <a:gd name="adj1" fmla="val 2545342"/>
              <a:gd name="adj2" fmla="val 18423965"/>
            </a:avLst>
          </a:prstGeom>
          <a:ln w="19050">
            <a:solidFill>
              <a:srgbClr val="FF0000"/>
            </a:solidFill>
            <a:prstDash val="dash"/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II</a:t>
            </a:r>
          </a:p>
        </p:txBody>
      </p:sp>
      <p:graphicFrame>
        <p:nvGraphicFramePr>
          <p:cNvPr id="138" name="Object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072297"/>
              </p:ext>
            </p:extLst>
          </p:nvPr>
        </p:nvGraphicFramePr>
        <p:xfrm>
          <a:off x="301414" y="2819400"/>
          <a:ext cx="5157744" cy="1165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35160" imgH="685800" progId="Equation.DSMT4">
                  <p:embed/>
                </p:oleObj>
              </mc:Choice>
              <mc:Fallback>
                <p:oleObj name="Equation" r:id="rId7" imgW="30351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1414" y="2819400"/>
                        <a:ext cx="5157744" cy="1165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" name="Object 1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758049"/>
              </p:ext>
            </p:extLst>
          </p:nvPr>
        </p:nvGraphicFramePr>
        <p:xfrm>
          <a:off x="504558" y="4191000"/>
          <a:ext cx="4663748" cy="6857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79480" imgH="393480" progId="Equation.DSMT4">
                  <p:embed/>
                </p:oleObj>
              </mc:Choice>
              <mc:Fallback>
                <p:oleObj name="Equation" r:id="rId9" imgW="26794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4558" y="4191000"/>
                        <a:ext cx="4663748" cy="6857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" name="Object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756366"/>
              </p:ext>
            </p:extLst>
          </p:nvPr>
        </p:nvGraphicFramePr>
        <p:xfrm>
          <a:off x="586128" y="5026907"/>
          <a:ext cx="7051676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051080" imgH="799920" progId="Equation.DSMT4">
                  <p:embed/>
                </p:oleObj>
              </mc:Choice>
              <mc:Fallback>
                <p:oleObj name="Equation" r:id="rId11" imgW="40510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86128" y="5026907"/>
                        <a:ext cx="7051676" cy="1392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Title 1"/>
          <p:cNvSpPr txBox="1">
            <a:spLocks/>
          </p:cNvSpPr>
          <p:nvPr/>
        </p:nvSpPr>
        <p:spPr>
          <a:xfrm>
            <a:off x="299254" y="2089124"/>
            <a:ext cx="5053260" cy="877163"/>
          </a:xfrm>
          <a:prstGeom prst="rect">
            <a:avLst/>
          </a:prstGeom>
          <a:noFill/>
          <a:ln>
            <a:noFill/>
          </a:ln>
        </p:spPr>
        <p:txBody>
          <a:bodyPr wrap="square" bIns="91440" anchor="t" anchorCtr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Ở thời điểm t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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4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Dời gốc thời gian về tại 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t=t</a:t>
            </a:r>
            <a:r>
              <a:rPr lang="en-US" sz="24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en-US" sz="24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hay đặt biến 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  <a:sym typeface="Symbol" panose="05050102010706020507" pitchFamily="18" charset="2"/>
              </a:rPr>
              <a:t></a:t>
            </a:r>
            <a:r>
              <a:rPr lang="en-US" sz="2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=t-t</a:t>
            </a:r>
            <a:r>
              <a:rPr lang="en-US" sz="2400" baseline="-250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2</a:t>
            </a:r>
            <a:endParaRPr lang="en-US" sz="240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429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7" grpId="0" animBg="1"/>
      <p:bldP spid="1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9B1F9-F562-4738-914B-3ECD1CF941CB}" type="slidenum">
              <a:rPr lang="en-US" smtClean="0"/>
              <a:pPr/>
              <a:t>32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182611" y="457200"/>
            <a:ext cx="3732789" cy="2057400"/>
            <a:chOff x="5728294" y="2314575"/>
            <a:chExt cx="3412085" cy="1826908"/>
          </a:xfrm>
        </p:grpSpPr>
        <p:grpSp>
          <p:nvGrpSpPr>
            <p:cNvPr id="88" name="Group 87"/>
            <p:cNvGrpSpPr/>
            <p:nvPr/>
          </p:nvGrpSpPr>
          <p:grpSpPr>
            <a:xfrm>
              <a:off x="5728294" y="2315691"/>
              <a:ext cx="3412085" cy="1825792"/>
              <a:chOff x="5968658" y="2792314"/>
              <a:chExt cx="3813503" cy="2108781"/>
            </a:xfrm>
          </p:grpSpPr>
          <p:grpSp>
            <p:nvGrpSpPr>
              <p:cNvPr id="90" name="Group 89"/>
              <p:cNvGrpSpPr/>
              <p:nvPr/>
            </p:nvGrpSpPr>
            <p:grpSpPr>
              <a:xfrm>
                <a:off x="5968658" y="2792314"/>
                <a:ext cx="3813503" cy="2108781"/>
                <a:chOff x="-115352" y="84398"/>
                <a:chExt cx="2161203" cy="1226009"/>
              </a:xfrm>
            </p:grpSpPr>
            <p:cxnSp>
              <p:nvCxnSpPr>
                <p:cNvPr id="92" name="Line 29"/>
                <p:cNvCxnSpPr>
                  <a:cxnSpLocks noChangeShapeType="1"/>
                </p:cNvCxnSpPr>
                <p:nvPr/>
              </p:nvCxnSpPr>
              <p:spPr bwMode="auto">
                <a:xfrm>
                  <a:off x="1284287" y="1139585"/>
                  <a:ext cx="0" cy="17082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93" name="Group 92"/>
                <p:cNvGrpSpPr/>
                <p:nvPr/>
              </p:nvGrpSpPr>
              <p:grpSpPr>
                <a:xfrm>
                  <a:off x="-115352" y="84398"/>
                  <a:ext cx="2161203" cy="1223290"/>
                  <a:chOff x="-115352" y="84398"/>
                  <a:chExt cx="2161203" cy="1223290"/>
                </a:xfrm>
              </p:grpSpPr>
              <p:sp>
                <p:nvSpPr>
                  <p:cNvPr id="101" name="Freeform 100"/>
                  <p:cNvSpPr/>
                  <p:nvPr/>
                </p:nvSpPr>
                <p:spPr>
                  <a:xfrm>
                    <a:off x="320538" y="482320"/>
                    <a:ext cx="944245" cy="825368"/>
                  </a:xfrm>
                  <a:custGeom>
                    <a:avLst/>
                    <a:gdLst>
                      <a:gd name="connsiteX0" fmla="*/ 0 w 944545"/>
                      <a:gd name="connsiteY0" fmla="*/ 0 h 592853"/>
                      <a:gd name="connsiteX1" fmla="*/ 0 w 944545"/>
                      <a:gd name="connsiteY1" fmla="*/ 592853 h 592853"/>
                      <a:gd name="connsiteX2" fmla="*/ 944545 w 944545"/>
                      <a:gd name="connsiteY2" fmla="*/ 592853 h 592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944545" h="592853">
                        <a:moveTo>
                          <a:pt x="0" y="0"/>
                        </a:moveTo>
                        <a:lnTo>
                          <a:pt x="0" y="592853"/>
                        </a:lnTo>
                        <a:lnTo>
                          <a:pt x="944545" y="592853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05" name="Group 104"/>
                  <p:cNvGrpSpPr/>
                  <p:nvPr/>
                </p:nvGrpSpPr>
                <p:grpSpPr>
                  <a:xfrm>
                    <a:off x="-115352" y="633046"/>
                    <a:ext cx="1507201" cy="533949"/>
                    <a:chOff x="-115388" y="0"/>
                    <a:chExt cx="1507675" cy="533949"/>
                  </a:xfrm>
                </p:grpSpPr>
                <p:grpSp>
                  <p:nvGrpSpPr>
                    <p:cNvPr id="120" name="Group 119"/>
                    <p:cNvGrpSpPr/>
                    <p:nvPr/>
                  </p:nvGrpSpPr>
                  <p:grpSpPr>
                    <a:xfrm>
                      <a:off x="216040" y="0"/>
                      <a:ext cx="1176247" cy="533949"/>
                      <a:chOff x="0" y="0"/>
                      <a:chExt cx="1176247" cy="533949"/>
                    </a:xfrm>
                  </p:grpSpPr>
                  <p:sp>
                    <p:nvSpPr>
                      <p:cNvPr id="122" name="Oval 12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228600" cy="2286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123" name="Line 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75363" y="75363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24" name="Line 1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16625" y="45218"/>
                        <a:ext cx="0" cy="7620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25" name="Line 1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81456" y="170822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sp>
                    <p:nvSpPr>
                      <p:cNvPr id="132" name="Oval 13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47647" y="305349"/>
                        <a:ext cx="228600" cy="2286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133" name="Line 1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69790" y="434356"/>
                        <a:ext cx="0" cy="7620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4" name="Line 1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29103" y="470468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35" name="Line 1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025889" y="372267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sp>
                  <p:nvSpPr>
                    <p:cNvPr id="121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115388" y="0"/>
                      <a:ext cx="298268" cy="187225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rot="0" vert="horz" wrap="square" lIns="0" tIns="0" rIns="0" bIns="0" anchor="t" anchorCtr="0" upright="1">
                      <a:noAutofit/>
                    </a:bodyPr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kern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kern="0" baseline="-250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en-US" kern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/s</a:t>
                      </a:r>
                      <a:endParaRPr lang="en-US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07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072" y="271230"/>
                    <a:ext cx="182641" cy="17572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08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263406" y="132945"/>
                    <a:ext cx="1782445" cy="666115"/>
                    <a:chOff x="5708" y="2200"/>
                    <a:chExt cx="2807" cy="1049"/>
                  </a:xfrm>
                </p:grpSpPr>
                <p:sp>
                  <p:nvSpPr>
                    <p:cNvPr id="116" name="Freeform 115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7005" y="2386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7" name="Freeform 11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7063" y="2954"/>
                      <a:ext cx="432" cy="158"/>
                    </a:xfrm>
                    <a:custGeom>
                      <a:avLst/>
                      <a:gdLst>
                        <a:gd name="T0" fmla="*/ 0 w 2160"/>
                        <a:gd name="T1" fmla="*/ 456 h 936"/>
                        <a:gd name="T2" fmla="*/ 288 w 2160"/>
                        <a:gd name="T3" fmla="*/ 24 h 936"/>
                        <a:gd name="T4" fmla="*/ 576 w 2160"/>
                        <a:gd name="T5" fmla="*/ 456 h 936"/>
                        <a:gd name="T6" fmla="*/ 432 w 2160"/>
                        <a:gd name="T7" fmla="*/ 888 h 936"/>
                        <a:gd name="T8" fmla="*/ 432 w 2160"/>
                        <a:gd name="T9" fmla="*/ 600 h 936"/>
                        <a:gd name="T10" fmla="*/ 720 w 2160"/>
                        <a:gd name="T11" fmla="*/ 24 h 936"/>
                        <a:gd name="T12" fmla="*/ 1008 w 2160"/>
                        <a:gd name="T13" fmla="*/ 456 h 936"/>
                        <a:gd name="T14" fmla="*/ 864 w 2160"/>
                        <a:gd name="T15" fmla="*/ 888 h 936"/>
                        <a:gd name="T16" fmla="*/ 864 w 2160"/>
                        <a:gd name="T17" fmla="*/ 600 h 936"/>
                        <a:gd name="T18" fmla="*/ 1152 w 2160"/>
                        <a:gd name="T19" fmla="*/ 24 h 936"/>
                        <a:gd name="T20" fmla="*/ 1440 w 2160"/>
                        <a:gd name="T21" fmla="*/ 600 h 936"/>
                        <a:gd name="T22" fmla="*/ 1296 w 2160"/>
                        <a:gd name="T23" fmla="*/ 888 h 936"/>
                        <a:gd name="T24" fmla="*/ 1440 w 2160"/>
                        <a:gd name="T25" fmla="*/ 312 h 936"/>
                        <a:gd name="T26" fmla="*/ 1584 w 2160"/>
                        <a:gd name="T27" fmla="*/ 24 h 936"/>
                        <a:gd name="T28" fmla="*/ 1872 w 2160"/>
                        <a:gd name="T29" fmla="*/ 456 h 936"/>
                        <a:gd name="T30" fmla="*/ 1728 w 2160"/>
                        <a:gd name="T31" fmla="*/ 888 h 936"/>
                        <a:gd name="T32" fmla="*/ 1728 w 2160"/>
                        <a:gd name="T33" fmla="*/ 600 h 936"/>
                        <a:gd name="T34" fmla="*/ 2016 w 2160"/>
                        <a:gd name="T35" fmla="*/ 24 h 936"/>
                        <a:gd name="T36" fmla="*/ 2160 w 2160"/>
                        <a:gd name="T37" fmla="*/ 456 h 9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</a:cxnLst>
                      <a:rect l="0" t="0" r="r" b="b"/>
                      <a:pathLst>
                        <a:path w="2160" h="936">
                          <a:moveTo>
                            <a:pt x="0" y="456"/>
                          </a:moveTo>
                          <a:cubicBezTo>
                            <a:pt x="96" y="240"/>
                            <a:pt x="192" y="24"/>
                            <a:pt x="288" y="24"/>
                          </a:cubicBezTo>
                          <a:cubicBezTo>
                            <a:pt x="384" y="24"/>
                            <a:pt x="552" y="312"/>
                            <a:pt x="576" y="456"/>
                          </a:cubicBezTo>
                          <a:cubicBezTo>
                            <a:pt x="600" y="600"/>
                            <a:pt x="456" y="864"/>
                            <a:pt x="432" y="888"/>
                          </a:cubicBezTo>
                          <a:cubicBezTo>
                            <a:pt x="408" y="912"/>
                            <a:pt x="384" y="744"/>
                            <a:pt x="432" y="600"/>
                          </a:cubicBezTo>
                          <a:cubicBezTo>
                            <a:pt x="480" y="456"/>
                            <a:pt x="624" y="48"/>
                            <a:pt x="720" y="24"/>
                          </a:cubicBezTo>
                          <a:cubicBezTo>
                            <a:pt x="816" y="0"/>
                            <a:pt x="984" y="312"/>
                            <a:pt x="1008" y="456"/>
                          </a:cubicBezTo>
                          <a:cubicBezTo>
                            <a:pt x="1032" y="600"/>
                            <a:pt x="888" y="864"/>
                            <a:pt x="864" y="888"/>
                          </a:cubicBezTo>
                          <a:cubicBezTo>
                            <a:pt x="840" y="912"/>
                            <a:pt x="816" y="744"/>
                            <a:pt x="864" y="600"/>
                          </a:cubicBezTo>
                          <a:cubicBezTo>
                            <a:pt x="912" y="456"/>
                            <a:pt x="1056" y="24"/>
                            <a:pt x="1152" y="24"/>
                          </a:cubicBezTo>
                          <a:cubicBezTo>
                            <a:pt x="1248" y="24"/>
                            <a:pt x="1416" y="456"/>
                            <a:pt x="1440" y="600"/>
                          </a:cubicBezTo>
                          <a:cubicBezTo>
                            <a:pt x="1464" y="744"/>
                            <a:pt x="1296" y="936"/>
                            <a:pt x="1296" y="888"/>
                          </a:cubicBezTo>
                          <a:cubicBezTo>
                            <a:pt x="1296" y="840"/>
                            <a:pt x="1392" y="456"/>
                            <a:pt x="1440" y="312"/>
                          </a:cubicBezTo>
                          <a:cubicBezTo>
                            <a:pt x="1488" y="168"/>
                            <a:pt x="1512" y="0"/>
                            <a:pt x="1584" y="24"/>
                          </a:cubicBezTo>
                          <a:cubicBezTo>
                            <a:pt x="1656" y="48"/>
                            <a:pt x="1848" y="312"/>
                            <a:pt x="1872" y="456"/>
                          </a:cubicBezTo>
                          <a:cubicBezTo>
                            <a:pt x="1896" y="600"/>
                            <a:pt x="1752" y="864"/>
                            <a:pt x="1728" y="888"/>
                          </a:cubicBezTo>
                          <a:cubicBezTo>
                            <a:pt x="1704" y="912"/>
                            <a:pt x="1680" y="744"/>
                            <a:pt x="1728" y="600"/>
                          </a:cubicBezTo>
                          <a:cubicBezTo>
                            <a:pt x="1776" y="456"/>
                            <a:pt x="1944" y="48"/>
                            <a:pt x="2016" y="24"/>
                          </a:cubicBezTo>
                          <a:cubicBezTo>
                            <a:pt x="2088" y="0"/>
                            <a:pt x="2124" y="228"/>
                            <a:pt x="2160" y="456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118" name="Line 28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283" y="2698"/>
                      <a:ext cx="0" cy="1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119" name="Freeform 118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5522" y="2474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30" name="Freeform 129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8156" y="2752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9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9714" y="271306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2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15345" y="616968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sL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3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29736" y="532911"/>
                    <a:ext cx="262349" cy="19795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b="1" baseline="-25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endParaRPr lang="en-US" b="1">
                      <a:effectLst/>
                      <a:latin typeface=".VnTime" panose="020B7200000000000000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4" name="Freeform 113"/>
                  <p:cNvSpPr/>
                  <p:nvPr/>
                </p:nvSpPr>
                <p:spPr>
                  <a:xfrm>
                    <a:off x="318950" y="84398"/>
                    <a:ext cx="944221" cy="121342"/>
                  </a:xfrm>
                  <a:custGeom>
                    <a:avLst/>
                    <a:gdLst>
                      <a:gd name="connsiteX0" fmla="*/ 0 w 818941"/>
                      <a:gd name="connsiteY0" fmla="*/ 205991 h 205991"/>
                      <a:gd name="connsiteX1" fmla="*/ 5025 w 818941"/>
                      <a:gd name="connsiteY1" fmla="*/ 0 h 205991"/>
                      <a:gd name="connsiteX2" fmla="*/ 818941 w 818941"/>
                      <a:gd name="connsiteY2" fmla="*/ 0 h 205991"/>
                      <a:gd name="connsiteX3" fmla="*/ 818941 w 818941"/>
                      <a:gd name="connsiteY3" fmla="*/ 185895 h 2059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8941" h="205991">
                        <a:moveTo>
                          <a:pt x="0" y="205991"/>
                        </a:moveTo>
                        <a:lnTo>
                          <a:pt x="5025" y="0"/>
                        </a:lnTo>
                        <a:lnTo>
                          <a:pt x="818941" y="0"/>
                        </a:lnTo>
                        <a:lnTo>
                          <a:pt x="818941" y="185895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5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726499" y="978114"/>
                    <a:ext cx="415334" cy="194779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Li</a:t>
                    </a:r>
                    <a:r>
                      <a:rPr lang="en-US" baseline="-25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(t</a:t>
                    </a:r>
                    <a:r>
                      <a:rPr lang="en-US" baseline="-25000"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)</a:t>
                    </a:r>
                    <a:endParaRPr lang="en-US">
                      <a:effectLst/>
                      <a:latin typeface=".VnTime" panose="020B7200000000000000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1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1202" y="443777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136" name="Line 29"/>
                <p:cNvCxnSpPr>
                  <a:cxnSpLocks noChangeShapeType="1"/>
                </p:cNvCxnSpPr>
                <p:nvPr/>
              </p:nvCxnSpPr>
              <p:spPr bwMode="auto">
                <a:xfrm>
                  <a:off x="1277149" y="777461"/>
                  <a:ext cx="0" cy="17082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91" name="Straight Arrow Connector 90"/>
              <p:cNvCxnSpPr/>
              <p:nvPr/>
            </p:nvCxnSpPr>
            <p:spPr>
              <a:xfrm>
                <a:off x="8247543" y="3501412"/>
                <a:ext cx="0" cy="4949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" name="Freeform 2"/>
            <p:cNvSpPr/>
            <p:nvPr/>
          </p:nvSpPr>
          <p:spPr>
            <a:xfrm>
              <a:off x="7896225" y="2314575"/>
              <a:ext cx="1162994" cy="438150"/>
            </a:xfrm>
            <a:custGeom>
              <a:avLst/>
              <a:gdLst>
                <a:gd name="connsiteX0" fmla="*/ 0 w 742950"/>
                <a:gd name="connsiteY0" fmla="*/ 0 h 438150"/>
                <a:gd name="connsiteX1" fmla="*/ 742950 w 742950"/>
                <a:gd name="connsiteY1" fmla="*/ 0 h 438150"/>
                <a:gd name="connsiteX2" fmla="*/ 742950 w 742950"/>
                <a:gd name="connsiteY2" fmla="*/ 43815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950" h="438150">
                  <a:moveTo>
                    <a:pt x="0" y="0"/>
                  </a:moveTo>
                  <a:lnTo>
                    <a:pt x="742950" y="0"/>
                  </a:lnTo>
                  <a:lnTo>
                    <a:pt x="742950" y="43815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/>
            <p:cNvSpPr/>
            <p:nvPr/>
          </p:nvSpPr>
          <p:spPr>
            <a:xfrm>
              <a:off x="7877175" y="3190875"/>
              <a:ext cx="1166526" cy="946559"/>
            </a:xfrm>
            <a:custGeom>
              <a:avLst/>
              <a:gdLst>
                <a:gd name="connsiteX0" fmla="*/ 0 w 762000"/>
                <a:gd name="connsiteY0" fmla="*/ 600075 h 600075"/>
                <a:gd name="connsiteX1" fmla="*/ 762000 w 762000"/>
                <a:gd name="connsiteY1" fmla="*/ 600075 h 600075"/>
                <a:gd name="connsiteX2" fmla="*/ 762000 w 762000"/>
                <a:gd name="connsiteY2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0" h="600075">
                  <a:moveTo>
                    <a:pt x="0" y="600075"/>
                  </a:moveTo>
                  <a:lnTo>
                    <a:pt x="762000" y="600075"/>
                  </a:lnTo>
                  <a:lnTo>
                    <a:pt x="76200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Arc 10"/>
          <p:cNvSpPr/>
          <p:nvPr/>
        </p:nvSpPr>
        <p:spPr>
          <a:xfrm>
            <a:off x="6082446" y="986882"/>
            <a:ext cx="750226" cy="808581"/>
          </a:xfrm>
          <a:prstGeom prst="arc">
            <a:avLst>
              <a:gd name="adj1" fmla="val 12461975"/>
              <a:gd name="adj2" fmla="val 6100523"/>
            </a:avLst>
          </a:prstGeom>
          <a:ln w="12700">
            <a:prstDash val="dash"/>
            <a:headEnd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I</a:t>
            </a:r>
          </a:p>
        </p:txBody>
      </p:sp>
      <p:sp>
        <p:nvSpPr>
          <p:cNvPr id="137" name="Arc 136"/>
          <p:cNvSpPr/>
          <p:nvPr/>
        </p:nvSpPr>
        <p:spPr>
          <a:xfrm>
            <a:off x="7948783" y="1017457"/>
            <a:ext cx="814217" cy="838200"/>
          </a:xfrm>
          <a:prstGeom prst="arc">
            <a:avLst>
              <a:gd name="adj1" fmla="val 2545342"/>
              <a:gd name="adj2" fmla="val 18423965"/>
            </a:avLst>
          </a:prstGeom>
          <a:ln w="12700">
            <a:prstDash val="dash"/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II</a:t>
            </a:r>
          </a:p>
        </p:txBody>
      </p:sp>
      <p:graphicFrame>
        <p:nvGraphicFramePr>
          <p:cNvPr id="140" name="Object 1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953170"/>
              </p:ext>
            </p:extLst>
          </p:nvPr>
        </p:nvGraphicFramePr>
        <p:xfrm>
          <a:off x="488950" y="381000"/>
          <a:ext cx="4464050" cy="141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65360" imgH="812520" progId="Equation.DSMT4">
                  <p:embed/>
                </p:oleObj>
              </mc:Choice>
              <mc:Fallback>
                <p:oleObj name="Equation" r:id="rId3" imgW="25653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950" y="381000"/>
                        <a:ext cx="4464050" cy="1414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976364"/>
              </p:ext>
            </p:extLst>
          </p:nvPr>
        </p:nvGraphicFramePr>
        <p:xfrm>
          <a:off x="496887" y="1981200"/>
          <a:ext cx="5370513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85920" imgH="482400" progId="Equation.DSMT4">
                  <p:embed/>
                </p:oleObj>
              </mc:Choice>
              <mc:Fallback>
                <p:oleObj name="Equation" r:id="rId5" imgW="30859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887" y="1981200"/>
                        <a:ext cx="5370513" cy="839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37338"/>
              </p:ext>
            </p:extLst>
          </p:nvPr>
        </p:nvGraphicFramePr>
        <p:xfrm>
          <a:off x="533400" y="3002271"/>
          <a:ext cx="4782867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90560" imgH="1295280" progId="Equation.DSMT4">
                  <p:embed/>
                </p:oleObj>
              </mc:Choice>
              <mc:Fallback>
                <p:oleObj name="Equation" r:id="rId7" imgW="2590560" imgH="1295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400" y="3002271"/>
                        <a:ext cx="4782867" cy="2482850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7" name="Group 126"/>
          <p:cNvGrpSpPr/>
          <p:nvPr/>
        </p:nvGrpSpPr>
        <p:grpSpPr>
          <a:xfrm>
            <a:off x="5410200" y="3886200"/>
            <a:ext cx="3456128" cy="1600200"/>
            <a:chOff x="5900027" y="2314575"/>
            <a:chExt cx="3240353" cy="1442863"/>
          </a:xfrm>
        </p:grpSpPr>
        <p:grpSp>
          <p:nvGrpSpPr>
            <p:cNvPr id="128" name="Group 127"/>
            <p:cNvGrpSpPr/>
            <p:nvPr/>
          </p:nvGrpSpPr>
          <p:grpSpPr>
            <a:xfrm>
              <a:off x="5900027" y="2315692"/>
              <a:ext cx="3240353" cy="1441746"/>
              <a:chOff x="6160594" y="2792314"/>
              <a:chExt cx="3621567" cy="1665209"/>
            </a:xfrm>
          </p:grpSpPr>
          <p:grpSp>
            <p:nvGrpSpPr>
              <p:cNvPr id="142" name="Group 141"/>
              <p:cNvGrpSpPr/>
              <p:nvPr/>
            </p:nvGrpSpPr>
            <p:grpSpPr>
              <a:xfrm>
                <a:off x="6160594" y="2792314"/>
                <a:ext cx="3621567" cy="1665209"/>
                <a:chOff x="-6577" y="84398"/>
                <a:chExt cx="2052428" cy="968124"/>
              </a:xfrm>
            </p:grpSpPr>
            <p:grpSp>
              <p:nvGrpSpPr>
                <p:cNvPr id="145" name="Group 144"/>
                <p:cNvGrpSpPr/>
                <p:nvPr/>
              </p:nvGrpSpPr>
              <p:grpSpPr>
                <a:xfrm>
                  <a:off x="-6577" y="84398"/>
                  <a:ext cx="2052428" cy="968124"/>
                  <a:chOff x="-6577" y="84398"/>
                  <a:chExt cx="2052428" cy="968124"/>
                </a:xfrm>
              </p:grpSpPr>
              <p:sp>
                <p:nvSpPr>
                  <p:cNvPr id="147" name="Freeform 146"/>
                  <p:cNvSpPr/>
                  <p:nvPr/>
                </p:nvSpPr>
                <p:spPr>
                  <a:xfrm>
                    <a:off x="320538" y="482320"/>
                    <a:ext cx="944245" cy="570202"/>
                  </a:xfrm>
                  <a:custGeom>
                    <a:avLst/>
                    <a:gdLst>
                      <a:gd name="connsiteX0" fmla="*/ 0 w 944545"/>
                      <a:gd name="connsiteY0" fmla="*/ 0 h 592853"/>
                      <a:gd name="connsiteX1" fmla="*/ 0 w 944545"/>
                      <a:gd name="connsiteY1" fmla="*/ 592853 h 592853"/>
                      <a:gd name="connsiteX2" fmla="*/ 944545 w 944545"/>
                      <a:gd name="connsiteY2" fmla="*/ 592853 h 5928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944545" h="592853">
                        <a:moveTo>
                          <a:pt x="0" y="0"/>
                        </a:moveTo>
                        <a:lnTo>
                          <a:pt x="0" y="592853"/>
                        </a:lnTo>
                        <a:lnTo>
                          <a:pt x="944545" y="592853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grpSp>
                <p:nvGrpSpPr>
                  <p:cNvPr id="148" name="Group 147"/>
                  <p:cNvGrpSpPr/>
                  <p:nvPr/>
                </p:nvGrpSpPr>
                <p:grpSpPr>
                  <a:xfrm>
                    <a:off x="-6577" y="633046"/>
                    <a:ext cx="451077" cy="228600"/>
                    <a:chOff x="-6579" y="0"/>
                    <a:chExt cx="451219" cy="228600"/>
                  </a:xfrm>
                </p:grpSpPr>
                <p:grpSp>
                  <p:nvGrpSpPr>
                    <p:cNvPr id="162" name="Group 161"/>
                    <p:cNvGrpSpPr/>
                    <p:nvPr/>
                  </p:nvGrpSpPr>
                  <p:grpSpPr>
                    <a:xfrm>
                      <a:off x="216040" y="0"/>
                      <a:ext cx="228600" cy="228600"/>
                      <a:chOff x="0" y="0"/>
                      <a:chExt cx="228600" cy="228600"/>
                    </a:xfrm>
                  </p:grpSpPr>
                  <p:sp>
                    <p:nvSpPr>
                      <p:cNvPr id="164" name="Oval 16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0"/>
                        <a:ext cx="228600" cy="2286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 upright="1">
                        <a:noAutofit/>
                      </a:bodyPr>
                      <a:lstStyle/>
                      <a:p>
                        <a:endParaRPr lang="en-US"/>
                      </a:p>
                    </p:txBody>
                  </p:sp>
                  <p:cxnSp>
                    <p:nvCxnSpPr>
                      <p:cNvPr id="165" name="Line 9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75363" y="75363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66" name="Line 10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116625" y="45218"/>
                        <a:ext cx="0" cy="7620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  <p:cxnSp>
                    <p:nvCxnSpPr>
                      <p:cNvPr id="167" name="Line 11"/>
                      <p:cNvCxnSpPr>
                        <a:cxnSpLocks noChangeShapeType="1"/>
                      </p:cNvCxnSpPr>
                      <p:nvPr/>
                    </p:nvCxnSpPr>
                    <p:spPr bwMode="auto">
                      <a:xfrm>
                        <a:off x="81456" y="170822"/>
                        <a:ext cx="76200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</p:cxnSp>
                </p:grpSp>
                <p:sp>
                  <p:nvSpPr>
                    <p:cNvPr id="163" name="Text Box 1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-6579" y="31293"/>
                      <a:ext cx="173833" cy="166014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rot="0" vert="horz" wrap="square" lIns="0" tIns="0" rIns="0" bIns="0" anchor="t" anchorCtr="0" upright="1">
                      <a:noAutofit/>
                    </a:bodyPr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kern="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</a:t>
                      </a:r>
                      <a:r>
                        <a:rPr lang="en-US" kern="0" baseline="-250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49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072" y="271230"/>
                    <a:ext cx="182641" cy="175725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50" name="Group 149"/>
                  <p:cNvGrpSpPr>
                    <a:grpSpLocks/>
                  </p:cNvGrpSpPr>
                  <p:nvPr/>
                </p:nvGrpSpPr>
                <p:grpSpPr bwMode="auto">
                  <a:xfrm>
                    <a:off x="263406" y="132945"/>
                    <a:ext cx="1782445" cy="666115"/>
                    <a:chOff x="5708" y="2200"/>
                    <a:chExt cx="2807" cy="1049"/>
                  </a:xfrm>
                </p:grpSpPr>
                <p:sp>
                  <p:nvSpPr>
                    <p:cNvPr id="157" name="Freeform 156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7005" y="2386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8" name="Freeform 157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7063" y="2954"/>
                      <a:ext cx="432" cy="158"/>
                    </a:xfrm>
                    <a:custGeom>
                      <a:avLst/>
                      <a:gdLst>
                        <a:gd name="T0" fmla="*/ 0 w 2160"/>
                        <a:gd name="T1" fmla="*/ 456 h 936"/>
                        <a:gd name="T2" fmla="*/ 288 w 2160"/>
                        <a:gd name="T3" fmla="*/ 24 h 936"/>
                        <a:gd name="T4" fmla="*/ 576 w 2160"/>
                        <a:gd name="T5" fmla="*/ 456 h 936"/>
                        <a:gd name="T6" fmla="*/ 432 w 2160"/>
                        <a:gd name="T7" fmla="*/ 888 h 936"/>
                        <a:gd name="T8" fmla="*/ 432 w 2160"/>
                        <a:gd name="T9" fmla="*/ 600 h 936"/>
                        <a:gd name="T10" fmla="*/ 720 w 2160"/>
                        <a:gd name="T11" fmla="*/ 24 h 936"/>
                        <a:gd name="T12" fmla="*/ 1008 w 2160"/>
                        <a:gd name="T13" fmla="*/ 456 h 936"/>
                        <a:gd name="T14" fmla="*/ 864 w 2160"/>
                        <a:gd name="T15" fmla="*/ 888 h 936"/>
                        <a:gd name="T16" fmla="*/ 864 w 2160"/>
                        <a:gd name="T17" fmla="*/ 600 h 936"/>
                        <a:gd name="T18" fmla="*/ 1152 w 2160"/>
                        <a:gd name="T19" fmla="*/ 24 h 936"/>
                        <a:gd name="T20" fmla="*/ 1440 w 2160"/>
                        <a:gd name="T21" fmla="*/ 600 h 936"/>
                        <a:gd name="T22" fmla="*/ 1296 w 2160"/>
                        <a:gd name="T23" fmla="*/ 888 h 936"/>
                        <a:gd name="T24" fmla="*/ 1440 w 2160"/>
                        <a:gd name="T25" fmla="*/ 312 h 936"/>
                        <a:gd name="T26" fmla="*/ 1584 w 2160"/>
                        <a:gd name="T27" fmla="*/ 24 h 936"/>
                        <a:gd name="T28" fmla="*/ 1872 w 2160"/>
                        <a:gd name="T29" fmla="*/ 456 h 936"/>
                        <a:gd name="T30" fmla="*/ 1728 w 2160"/>
                        <a:gd name="T31" fmla="*/ 888 h 936"/>
                        <a:gd name="T32" fmla="*/ 1728 w 2160"/>
                        <a:gd name="T33" fmla="*/ 600 h 936"/>
                        <a:gd name="T34" fmla="*/ 2016 w 2160"/>
                        <a:gd name="T35" fmla="*/ 24 h 936"/>
                        <a:gd name="T36" fmla="*/ 2160 w 2160"/>
                        <a:gd name="T37" fmla="*/ 456 h 9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</a:cxnLst>
                      <a:rect l="0" t="0" r="r" b="b"/>
                      <a:pathLst>
                        <a:path w="2160" h="936">
                          <a:moveTo>
                            <a:pt x="0" y="456"/>
                          </a:moveTo>
                          <a:cubicBezTo>
                            <a:pt x="96" y="240"/>
                            <a:pt x="192" y="24"/>
                            <a:pt x="288" y="24"/>
                          </a:cubicBezTo>
                          <a:cubicBezTo>
                            <a:pt x="384" y="24"/>
                            <a:pt x="552" y="312"/>
                            <a:pt x="576" y="456"/>
                          </a:cubicBezTo>
                          <a:cubicBezTo>
                            <a:pt x="600" y="600"/>
                            <a:pt x="456" y="864"/>
                            <a:pt x="432" y="888"/>
                          </a:cubicBezTo>
                          <a:cubicBezTo>
                            <a:pt x="408" y="912"/>
                            <a:pt x="384" y="744"/>
                            <a:pt x="432" y="600"/>
                          </a:cubicBezTo>
                          <a:cubicBezTo>
                            <a:pt x="480" y="456"/>
                            <a:pt x="624" y="48"/>
                            <a:pt x="720" y="24"/>
                          </a:cubicBezTo>
                          <a:cubicBezTo>
                            <a:pt x="816" y="0"/>
                            <a:pt x="984" y="312"/>
                            <a:pt x="1008" y="456"/>
                          </a:cubicBezTo>
                          <a:cubicBezTo>
                            <a:pt x="1032" y="600"/>
                            <a:pt x="888" y="864"/>
                            <a:pt x="864" y="888"/>
                          </a:cubicBezTo>
                          <a:cubicBezTo>
                            <a:pt x="840" y="912"/>
                            <a:pt x="816" y="744"/>
                            <a:pt x="864" y="600"/>
                          </a:cubicBezTo>
                          <a:cubicBezTo>
                            <a:pt x="912" y="456"/>
                            <a:pt x="1056" y="24"/>
                            <a:pt x="1152" y="24"/>
                          </a:cubicBezTo>
                          <a:cubicBezTo>
                            <a:pt x="1248" y="24"/>
                            <a:pt x="1416" y="456"/>
                            <a:pt x="1440" y="600"/>
                          </a:cubicBezTo>
                          <a:cubicBezTo>
                            <a:pt x="1464" y="744"/>
                            <a:pt x="1296" y="936"/>
                            <a:pt x="1296" y="888"/>
                          </a:cubicBezTo>
                          <a:cubicBezTo>
                            <a:pt x="1296" y="840"/>
                            <a:pt x="1392" y="456"/>
                            <a:pt x="1440" y="312"/>
                          </a:cubicBezTo>
                          <a:cubicBezTo>
                            <a:pt x="1488" y="168"/>
                            <a:pt x="1512" y="0"/>
                            <a:pt x="1584" y="24"/>
                          </a:cubicBezTo>
                          <a:cubicBezTo>
                            <a:pt x="1656" y="48"/>
                            <a:pt x="1848" y="312"/>
                            <a:pt x="1872" y="456"/>
                          </a:cubicBezTo>
                          <a:cubicBezTo>
                            <a:pt x="1896" y="600"/>
                            <a:pt x="1752" y="864"/>
                            <a:pt x="1728" y="888"/>
                          </a:cubicBezTo>
                          <a:cubicBezTo>
                            <a:pt x="1704" y="912"/>
                            <a:pt x="1680" y="744"/>
                            <a:pt x="1728" y="600"/>
                          </a:cubicBezTo>
                          <a:cubicBezTo>
                            <a:pt x="1776" y="456"/>
                            <a:pt x="1944" y="48"/>
                            <a:pt x="2016" y="24"/>
                          </a:cubicBezTo>
                          <a:cubicBezTo>
                            <a:pt x="2088" y="0"/>
                            <a:pt x="2124" y="228"/>
                            <a:pt x="2160" y="456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cxnSp>
                  <p:nvCxnSpPr>
                    <p:cNvPr id="159" name="Line 28"/>
                    <p:cNvCxnSpPr>
                      <a:cxnSpLocks noChangeShapeType="1"/>
                    </p:cNvCxnSpPr>
                    <p:nvPr/>
                  </p:nvCxnSpPr>
                  <p:spPr bwMode="auto">
                    <a:xfrm>
                      <a:off x="7283" y="2698"/>
                      <a:ext cx="0" cy="1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</p:cxnSp>
                <p:sp>
                  <p:nvSpPr>
                    <p:cNvPr id="160" name="Freeform 159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5522" y="2474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1" name="Freeform 160"/>
                    <p:cNvSpPr>
                      <a:spLocks/>
                    </p:cNvSpPr>
                    <p:nvPr/>
                  </p:nvSpPr>
                  <p:spPr bwMode="auto">
                    <a:xfrm rot="5400000">
                      <a:off x="8156" y="2752"/>
                      <a:ext cx="546" cy="173"/>
                    </a:xfrm>
                    <a:custGeom>
                      <a:avLst/>
                      <a:gdLst>
                        <a:gd name="T0" fmla="*/ 0 w 1728"/>
                        <a:gd name="T1" fmla="*/ 144 h 288"/>
                        <a:gd name="T2" fmla="*/ 288 w 1728"/>
                        <a:gd name="T3" fmla="*/ 144 h 288"/>
                        <a:gd name="T4" fmla="*/ 432 w 1728"/>
                        <a:gd name="T5" fmla="*/ 0 h 288"/>
                        <a:gd name="T6" fmla="*/ 576 w 1728"/>
                        <a:gd name="T7" fmla="*/ 288 h 288"/>
                        <a:gd name="T8" fmla="*/ 720 w 1728"/>
                        <a:gd name="T9" fmla="*/ 0 h 288"/>
                        <a:gd name="T10" fmla="*/ 864 w 1728"/>
                        <a:gd name="T11" fmla="*/ 288 h 288"/>
                        <a:gd name="T12" fmla="*/ 1008 w 1728"/>
                        <a:gd name="T13" fmla="*/ 0 h 288"/>
                        <a:gd name="T14" fmla="*/ 1152 w 1728"/>
                        <a:gd name="T15" fmla="*/ 288 h 288"/>
                        <a:gd name="T16" fmla="*/ 1296 w 1728"/>
                        <a:gd name="T17" fmla="*/ 0 h 288"/>
                        <a:gd name="T18" fmla="*/ 1440 w 1728"/>
                        <a:gd name="T19" fmla="*/ 144 h 288"/>
                        <a:gd name="T20" fmla="*/ 1728 w 1728"/>
                        <a:gd name="T21" fmla="*/ 144 h 28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728" h="288">
                          <a:moveTo>
                            <a:pt x="0" y="144"/>
                          </a:moveTo>
                          <a:lnTo>
                            <a:pt x="288" y="144"/>
                          </a:lnTo>
                          <a:lnTo>
                            <a:pt x="432" y="0"/>
                          </a:lnTo>
                          <a:lnTo>
                            <a:pt x="576" y="288"/>
                          </a:lnTo>
                          <a:lnTo>
                            <a:pt x="720" y="0"/>
                          </a:lnTo>
                          <a:lnTo>
                            <a:pt x="864" y="288"/>
                          </a:lnTo>
                          <a:lnTo>
                            <a:pt x="1008" y="0"/>
                          </a:lnTo>
                          <a:lnTo>
                            <a:pt x="1152" y="288"/>
                          </a:lnTo>
                          <a:lnTo>
                            <a:pt x="1296" y="0"/>
                          </a:lnTo>
                          <a:lnTo>
                            <a:pt x="1440" y="144"/>
                          </a:lnTo>
                          <a:lnTo>
                            <a:pt x="1728" y="1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51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9714" y="271306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2" name="Text Box 3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9714" y="713433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L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3" name="Text Box 3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78657" y="615205"/>
                    <a:ext cx="262349" cy="197953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baseline="-25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L</a:t>
                    </a:r>
                    <a:r>
                      <a:rPr lang="en-US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(t)</a:t>
                    </a:r>
                    <a:endParaRPr lang="en-US">
                      <a:effectLst/>
                      <a:latin typeface=".VnTime" panose="020B7200000000000000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" name="Freeform 153"/>
                  <p:cNvSpPr/>
                  <p:nvPr/>
                </p:nvSpPr>
                <p:spPr>
                  <a:xfrm>
                    <a:off x="318950" y="84398"/>
                    <a:ext cx="944221" cy="121342"/>
                  </a:xfrm>
                  <a:custGeom>
                    <a:avLst/>
                    <a:gdLst>
                      <a:gd name="connsiteX0" fmla="*/ 0 w 818941"/>
                      <a:gd name="connsiteY0" fmla="*/ 205991 h 205991"/>
                      <a:gd name="connsiteX1" fmla="*/ 5025 w 818941"/>
                      <a:gd name="connsiteY1" fmla="*/ 0 h 205991"/>
                      <a:gd name="connsiteX2" fmla="*/ 818941 w 818941"/>
                      <a:gd name="connsiteY2" fmla="*/ 0 h 205991"/>
                      <a:gd name="connsiteX3" fmla="*/ 818941 w 818941"/>
                      <a:gd name="connsiteY3" fmla="*/ 185895 h 2059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18941" h="205991">
                        <a:moveTo>
                          <a:pt x="0" y="205991"/>
                        </a:moveTo>
                        <a:lnTo>
                          <a:pt x="5025" y="0"/>
                        </a:lnTo>
                        <a:lnTo>
                          <a:pt x="818941" y="0"/>
                        </a:lnTo>
                        <a:lnTo>
                          <a:pt x="818941" y="185895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56" name="Text Box 3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1202" y="443777"/>
                    <a:ext cx="182880" cy="18288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0" tIns="0" rIns="0" bIns="0" anchor="t" anchorCtr="0" upright="1">
                    <a:noAutofit/>
                  </a:bodyPr>
                  <a:lstStyle/>
                  <a:p>
                    <a:pPr marL="0" marR="0" algn="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b="0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R</a:t>
                    </a:r>
                    <a:endParaRPr lang="en-US" b="1" kern="0"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146" name="Line 29"/>
                <p:cNvCxnSpPr>
                  <a:cxnSpLocks noChangeShapeType="1"/>
                </p:cNvCxnSpPr>
                <p:nvPr/>
              </p:nvCxnSpPr>
              <p:spPr bwMode="auto">
                <a:xfrm>
                  <a:off x="1277149" y="825345"/>
                  <a:ext cx="0" cy="22717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43" name="Straight Arrow Connector 142"/>
              <p:cNvCxnSpPr/>
              <p:nvPr/>
            </p:nvCxnSpPr>
            <p:spPr>
              <a:xfrm>
                <a:off x="8564537" y="3603253"/>
                <a:ext cx="0" cy="4949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Freeform 128"/>
            <p:cNvSpPr/>
            <p:nvPr/>
          </p:nvSpPr>
          <p:spPr>
            <a:xfrm>
              <a:off x="7896225" y="2314575"/>
              <a:ext cx="1162994" cy="438150"/>
            </a:xfrm>
            <a:custGeom>
              <a:avLst/>
              <a:gdLst>
                <a:gd name="connsiteX0" fmla="*/ 0 w 742950"/>
                <a:gd name="connsiteY0" fmla="*/ 0 h 438150"/>
                <a:gd name="connsiteX1" fmla="*/ 742950 w 742950"/>
                <a:gd name="connsiteY1" fmla="*/ 0 h 438150"/>
                <a:gd name="connsiteX2" fmla="*/ 742950 w 742950"/>
                <a:gd name="connsiteY2" fmla="*/ 438150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2950" h="438150">
                  <a:moveTo>
                    <a:pt x="0" y="0"/>
                  </a:moveTo>
                  <a:lnTo>
                    <a:pt x="742950" y="0"/>
                  </a:lnTo>
                  <a:lnTo>
                    <a:pt x="742950" y="43815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Freeform 140"/>
            <p:cNvSpPr/>
            <p:nvPr/>
          </p:nvSpPr>
          <p:spPr>
            <a:xfrm>
              <a:off x="7877175" y="3190875"/>
              <a:ext cx="1166526" cy="563552"/>
            </a:xfrm>
            <a:custGeom>
              <a:avLst/>
              <a:gdLst>
                <a:gd name="connsiteX0" fmla="*/ 0 w 762000"/>
                <a:gd name="connsiteY0" fmla="*/ 600075 h 600075"/>
                <a:gd name="connsiteX1" fmla="*/ 762000 w 762000"/>
                <a:gd name="connsiteY1" fmla="*/ 600075 h 600075"/>
                <a:gd name="connsiteX2" fmla="*/ 762000 w 762000"/>
                <a:gd name="connsiteY2" fmla="*/ 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000" h="600075">
                  <a:moveTo>
                    <a:pt x="0" y="600075"/>
                  </a:moveTo>
                  <a:lnTo>
                    <a:pt x="762000" y="600075"/>
                  </a:lnTo>
                  <a:lnTo>
                    <a:pt x="76200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73" name="Object 1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166198"/>
              </p:ext>
            </p:extLst>
          </p:nvPr>
        </p:nvGraphicFramePr>
        <p:xfrm>
          <a:off x="5950461" y="5564187"/>
          <a:ext cx="2717800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62040" imgH="393480" progId="Equation.DSMT4">
                  <p:embed/>
                </p:oleObj>
              </mc:Choice>
              <mc:Fallback>
                <p:oleObj name="Equation" r:id="rId9" imgW="156204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50461" y="5564187"/>
                        <a:ext cx="2717800" cy="684213"/>
                      </a:xfrm>
                      <a:prstGeom prst="rect">
                        <a:avLst/>
                      </a:prstGeom>
                      <a:ln w="1270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762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C9C02E-99CF-456A-AA5D-F39F735517D3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>
          <a:xfrm>
            <a:off x="580731" y="845424"/>
            <a:ext cx="4829469" cy="5261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MẠCH QUÁ ĐỘ RL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31427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987363754"/>
              </p:ext>
            </p:extLst>
          </p:nvPr>
        </p:nvGraphicFramePr>
        <p:xfrm>
          <a:off x="572535" y="1447800"/>
          <a:ext cx="2022058" cy="455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228600" progId="Equation.DSMT4">
                  <p:embed/>
                </p:oleObj>
              </mc:Choice>
              <mc:Fallback>
                <p:oleObj name="Equation" r:id="rId3" imgW="101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535" y="1447800"/>
                        <a:ext cx="2022058" cy="4555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28" name="Object 4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602057456"/>
              </p:ext>
            </p:extLst>
          </p:nvPr>
        </p:nvGraphicFramePr>
        <p:xfrm>
          <a:off x="609600" y="3173412"/>
          <a:ext cx="2601913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0" imgH="914400" progId="Equation.DSMT4">
                  <p:embed/>
                </p:oleObj>
              </mc:Choice>
              <mc:Fallback>
                <p:oleObj name="Equation" r:id="rId5" imgW="13968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173412"/>
                        <a:ext cx="2601913" cy="170338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6"/>
          <p:cNvSpPr txBox="1">
            <a:spLocks noChangeArrowheads="1"/>
          </p:cNvSpPr>
          <p:nvPr/>
        </p:nvSpPr>
        <p:spPr>
          <a:xfrm>
            <a:off x="1295400" y="5262912"/>
            <a:ext cx="2841078" cy="4134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: Hằng</a:t>
            </a:r>
            <a:r>
              <a:rPr kumimoji="0" lang="en-US" sz="220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số thời gian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6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064149230"/>
              </p:ext>
            </p:extLst>
          </p:nvPr>
        </p:nvGraphicFramePr>
        <p:xfrm>
          <a:off x="510228" y="5105400"/>
          <a:ext cx="839168" cy="839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93480" imgH="393480" progId="Equation.DSMT4">
                  <p:embed/>
                </p:oleObj>
              </mc:Choice>
              <mc:Fallback>
                <p:oleObj name="Equation" r:id="rId7" imgW="393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28" y="5105400"/>
                        <a:ext cx="839168" cy="8391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7" name="Group 196"/>
          <p:cNvGrpSpPr/>
          <p:nvPr/>
        </p:nvGrpSpPr>
        <p:grpSpPr>
          <a:xfrm>
            <a:off x="5638800" y="1447800"/>
            <a:ext cx="2846085" cy="1572565"/>
            <a:chOff x="330455" y="942035"/>
            <a:chExt cx="2846085" cy="1572565"/>
          </a:xfrm>
        </p:grpSpPr>
        <p:grpSp>
          <p:nvGrpSpPr>
            <p:cNvPr id="93" name="Group 92"/>
            <p:cNvGrpSpPr/>
            <p:nvPr/>
          </p:nvGrpSpPr>
          <p:grpSpPr>
            <a:xfrm>
              <a:off x="330455" y="942035"/>
              <a:ext cx="2846085" cy="1572565"/>
              <a:chOff x="5410200" y="228600"/>
              <a:chExt cx="3041612" cy="1550794"/>
            </a:xfrm>
          </p:grpSpPr>
          <p:sp>
            <p:nvSpPr>
              <p:cNvPr id="94" name="Text Box 113"/>
              <p:cNvSpPr txBox="1">
                <a:spLocks noChangeArrowheads="1"/>
              </p:cNvSpPr>
              <p:nvPr/>
            </p:nvSpPr>
            <p:spPr bwMode="auto">
              <a:xfrm>
                <a:off x="7335169" y="1053222"/>
                <a:ext cx="364591" cy="3128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5" name="Text Box 115"/>
              <p:cNvSpPr txBox="1">
                <a:spLocks noChangeArrowheads="1"/>
              </p:cNvSpPr>
              <p:nvPr/>
            </p:nvSpPr>
            <p:spPr bwMode="auto">
              <a:xfrm>
                <a:off x="7198222" y="326525"/>
                <a:ext cx="364591" cy="2186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Text Box 116"/>
              <p:cNvSpPr txBox="1">
                <a:spLocks noChangeArrowheads="1"/>
              </p:cNvSpPr>
              <p:nvPr/>
            </p:nvSpPr>
            <p:spPr bwMode="auto">
              <a:xfrm>
                <a:off x="5814436" y="1088162"/>
                <a:ext cx="277783" cy="29159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E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Text Box 117"/>
              <p:cNvSpPr txBox="1">
                <a:spLocks noChangeArrowheads="1"/>
              </p:cNvSpPr>
              <p:nvPr/>
            </p:nvSpPr>
            <p:spPr bwMode="auto">
              <a:xfrm>
                <a:off x="6197944" y="228600"/>
                <a:ext cx="277783" cy="25312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Text Box 118"/>
              <p:cNvSpPr txBox="1">
                <a:spLocks noChangeArrowheads="1"/>
              </p:cNvSpPr>
              <p:nvPr/>
            </p:nvSpPr>
            <p:spPr bwMode="auto">
              <a:xfrm>
                <a:off x="6888627" y="760208"/>
                <a:ext cx="551830" cy="25179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 = 0</a:t>
                </a:r>
                <a:endParaRPr lang="en-US" sz="20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9" name="Freeform 98"/>
              <p:cNvSpPr>
                <a:spLocks/>
              </p:cNvSpPr>
              <p:nvPr/>
            </p:nvSpPr>
            <p:spPr bwMode="auto">
              <a:xfrm>
                <a:off x="5994748" y="509849"/>
                <a:ext cx="555567" cy="175161"/>
              </a:xfrm>
              <a:custGeom>
                <a:avLst/>
                <a:gdLst>
                  <a:gd name="T0" fmla="*/ 0 w 1728"/>
                  <a:gd name="T1" fmla="*/ 144 h 288"/>
                  <a:gd name="T2" fmla="*/ 288 w 1728"/>
                  <a:gd name="T3" fmla="*/ 144 h 288"/>
                  <a:gd name="T4" fmla="*/ 432 w 1728"/>
                  <a:gd name="T5" fmla="*/ 0 h 288"/>
                  <a:gd name="T6" fmla="*/ 576 w 1728"/>
                  <a:gd name="T7" fmla="*/ 288 h 288"/>
                  <a:gd name="T8" fmla="*/ 720 w 1728"/>
                  <a:gd name="T9" fmla="*/ 0 h 288"/>
                  <a:gd name="T10" fmla="*/ 864 w 1728"/>
                  <a:gd name="T11" fmla="*/ 288 h 288"/>
                  <a:gd name="T12" fmla="*/ 1008 w 1728"/>
                  <a:gd name="T13" fmla="*/ 0 h 288"/>
                  <a:gd name="T14" fmla="*/ 1152 w 1728"/>
                  <a:gd name="T15" fmla="*/ 288 h 288"/>
                  <a:gd name="T16" fmla="*/ 1296 w 1728"/>
                  <a:gd name="T17" fmla="*/ 0 h 288"/>
                  <a:gd name="T18" fmla="*/ 1440 w 1728"/>
                  <a:gd name="T19" fmla="*/ 144 h 288"/>
                  <a:gd name="T20" fmla="*/ 1728 w 1728"/>
                  <a:gd name="T21" fmla="*/ 144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28" h="288">
                    <a:moveTo>
                      <a:pt x="0" y="144"/>
                    </a:moveTo>
                    <a:lnTo>
                      <a:pt x="288" y="144"/>
                    </a:lnTo>
                    <a:lnTo>
                      <a:pt x="432" y="0"/>
                    </a:lnTo>
                    <a:lnTo>
                      <a:pt x="576" y="288"/>
                    </a:lnTo>
                    <a:lnTo>
                      <a:pt x="720" y="0"/>
                    </a:lnTo>
                    <a:lnTo>
                      <a:pt x="864" y="288"/>
                    </a:lnTo>
                    <a:lnTo>
                      <a:pt x="1008" y="0"/>
                    </a:lnTo>
                    <a:lnTo>
                      <a:pt x="1152" y="288"/>
                    </a:lnTo>
                    <a:lnTo>
                      <a:pt x="1296" y="0"/>
                    </a:lnTo>
                    <a:lnTo>
                      <a:pt x="1440" y="144"/>
                    </a:lnTo>
                    <a:lnTo>
                      <a:pt x="1728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00" name="Freeform 99"/>
              <p:cNvSpPr>
                <a:spLocks/>
              </p:cNvSpPr>
              <p:nvPr/>
            </p:nvSpPr>
            <p:spPr bwMode="auto">
              <a:xfrm>
                <a:off x="7239682" y="620300"/>
                <a:ext cx="555567" cy="291598"/>
              </a:xfrm>
              <a:custGeom>
                <a:avLst/>
                <a:gdLst>
                  <a:gd name="T0" fmla="*/ 0 w 576"/>
                  <a:gd name="T1" fmla="*/ 0 h 432"/>
                  <a:gd name="T2" fmla="*/ 576 w 576"/>
                  <a:gd name="T3" fmla="*/ 0 h 432"/>
                  <a:gd name="T4" fmla="*/ 576 w 576"/>
                  <a:gd name="T5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76" h="432">
                    <a:moveTo>
                      <a:pt x="0" y="0"/>
                    </a:moveTo>
                    <a:lnTo>
                      <a:pt x="576" y="0"/>
                    </a:lnTo>
                    <a:lnTo>
                      <a:pt x="576" y="43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oval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01" name="Freeform 100"/>
              <p:cNvSpPr>
                <a:spLocks/>
              </p:cNvSpPr>
              <p:nvPr/>
            </p:nvSpPr>
            <p:spPr bwMode="auto">
              <a:xfrm rot="1600492">
                <a:off x="6825080" y="467973"/>
                <a:ext cx="416675" cy="291598"/>
              </a:xfrm>
              <a:custGeom>
                <a:avLst/>
                <a:gdLst>
                  <a:gd name="T0" fmla="*/ 0 w 432"/>
                  <a:gd name="T1" fmla="*/ 0 h 432"/>
                  <a:gd name="T2" fmla="*/ 288 w 432"/>
                  <a:gd name="T3" fmla="*/ 144 h 432"/>
                  <a:gd name="T4" fmla="*/ 432 w 432"/>
                  <a:gd name="T5" fmla="*/ 432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" h="432">
                    <a:moveTo>
                      <a:pt x="0" y="0"/>
                    </a:moveTo>
                    <a:cubicBezTo>
                      <a:pt x="108" y="36"/>
                      <a:pt x="216" y="72"/>
                      <a:pt x="288" y="144"/>
                    </a:cubicBezTo>
                    <a:cubicBezTo>
                      <a:pt x="360" y="216"/>
                      <a:pt x="408" y="384"/>
                      <a:pt x="432" y="432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02" name="Freeform 101"/>
              <p:cNvSpPr>
                <a:spLocks/>
              </p:cNvSpPr>
              <p:nvPr/>
            </p:nvSpPr>
            <p:spPr bwMode="auto">
              <a:xfrm>
                <a:off x="6591816" y="1414897"/>
                <a:ext cx="1202346" cy="364497"/>
              </a:xfrm>
              <a:custGeom>
                <a:avLst/>
                <a:gdLst>
                  <a:gd name="T0" fmla="*/ 0 w 1980"/>
                  <a:gd name="T1" fmla="*/ 360 h 360"/>
                  <a:gd name="T2" fmla="*/ 1980 w 1980"/>
                  <a:gd name="T3" fmla="*/ 360 h 360"/>
                  <a:gd name="T4" fmla="*/ 1980 w 1980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80" h="360">
                    <a:moveTo>
                      <a:pt x="0" y="360"/>
                    </a:moveTo>
                    <a:lnTo>
                      <a:pt x="1980" y="360"/>
                    </a:lnTo>
                    <a:lnTo>
                      <a:pt x="198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sp>
            <p:nvSpPr>
              <p:cNvPr id="103" name="Freeform 102"/>
              <p:cNvSpPr/>
              <p:nvPr/>
            </p:nvSpPr>
            <p:spPr>
              <a:xfrm>
                <a:off x="5574082" y="601249"/>
                <a:ext cx="1127343" cy="1177447"/>
              </a:xfrm>
              <a:custGeom>
                <a:avLst/>
                <a:gdLst>
                  <a:gd name="connsiteX0" fmla="*/ 450937 w 1127343"/>
                  <a:gd name="connsiteY0" fmla="*/ 0 h 1177447"/>
                  <a:gd name="connsiteX1" fmla="*/ 0 w 1127343"/>
                  <a:gd name="connsiteY1" fmla="*/ 0 h 1177447"/>
                  <a:gd name="connsiteX2" fmla="*/ 0 w 1127343"/>
                  <a:gd name="connsiteY2" fmla="*/ 1177447 h 1177447"/>
                  <a:gd name="connsiteX3" fmla="*/ 1127343 w 1127343"/>
                  <a:gd name="connsiteY3" fmla="*/ 1177447 h 1177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7343" h="1177447">
                    <a:moveTo>
                      <a:pt x="450937" y="0"/>
                    </a:moveTo>
                    <a:lnTo>
                      <a:pt x="0" y="0"/>
                    </a:lnTo>
                    <a:lnTo>
                      <a:pt x="0" y="1177447"/>
                    </a:lnTo>
                    <a:lnTo>
                      <a:pt x="1127343" y="117744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4" name="Group 103"/>
              <p:cNvGrpSpPr>
                <a:grpSpLocks/>
              </p:cNvGrpSpPr>
              <p:nvPr/>
            </p:nvGrpSpPr>
            <p:grpSpPr bwMode="auto">
              <a:xfrm>
                <a:off x="5410200" y="1012000"/>
                <a:ext cx="347229" cy="364497"/>
                <a:chOff x="1884" y="2304"/>
                <a:chExt cx="360" cy="360"/>
              </a:xfrm>
            </p:grpSpPr>
            <p:sp>
              <p:nvSpPr>
                <p:cNvPr id="113" name="Oval 112"/>
                <p:cNvSpPr>
                  <a:spLocks noChangeArrowheads="1"/>
                </p:cNvSpPr>
                <p:nvPr/>
              </p:nvSpPr>
              <p:spPr bwMode="auto">
                <a:xfrm>
                  <a:off x="1884" y="2304"/>
                  <a:ext cx="360" cy="360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en-US" sz="2000"/>
                </a:p>
              </p:txBody>
            </p:sp>
            <p:cxnSp>
              <p:nvCxnSpPr>
                <p:cNvPr id="114" name="Line 134"/>
                <p:cNvCxnSpPr>
                  <a:cxnSpLocks noChangeShapeType="1"/>
                </p:cNvCxnSpPr>
                <p:nvPr/>
              </p:nvCxnSpPr>
              <p:spPr bwMode="auto">
                <a:xfrm>
                  <a:off x="2009" y="2413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5" name="Line 135"/>
                <p:cNvCxnSpPr>
                  <a:cxnSpLocks noChangeShapeType="1"/>
                </p:cNvCxnSpPr>
                <p:nvPr/>
              </p:nvCxnSpPr>
              <p:spPr bwMode="auto">
                <a:xfrm>
                  <a:off x="2068" y="2354"/>
                  <a:ext cx="0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6" name="Line 136"/>
                <p:cNvCxnSpPr>
                  <a:cxnSpLocks noChangeShapeType="1"/>
                </p:cNvCxnSpPr>
                <p:nvPr/>
              </p:nvCxnSpPr>
              <p:spPr bwMode="auto">
                <a:xfrm>
                  <a:off x="2006" y="2581"/>
                  <a:ext cx="12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105" name="Freeform 104"/>
              <p:cNvSpPr/>
              <p:nvPr/>
            </p:nvSpPr>
            <p:spPr>
              <a:xfrm>
                <a:off x="6475956" y="433649"/>
                <a:ext cx="722266" cy="167600"/>
              </a:xfrm>
              <a:custGeom>
                <a:avLst/>
                <a:gdLst>
                  <a:gd name="connsiteX0" fmla="*/ 0 w 751562"/>
                  <a:gd name="connsiteY0" fmla="*/ 187890 h 187890"/>
                  <a:gd name="connsiteX1" fmla="*/ 475989 w 751562"/>
                  <a:gd name="connsiteY1" fmla="*/ 187890 h 187890"/>
                  <a:gd name="connsiteX2" fmla="*/ 751562 w 751562"/>
                  <a:gd name="connsiteY2" fmla="*/ 0 h 187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1562" h="187890">
                    <a:moveTo>
                      <a:pt x="0" y="187890"/>
                    </a:moveTo>
                    <a:lnTo>
                      <a:pt x="475989" y="187890"/>
                    </a:lnTo>
                    <a:lnTo>
                      <a:pt x="751562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tailEnd type="oval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6" name="Group 29"/>
              <p:cNvGrpSpPr>
                <a:grpSpLocks/>
              </p:cNvGrpSpPr>
              <p:nvPr/>
            </p:nvGrpSpPr>
            <p:grpSpPr bwMode="auto">
              <a:xfrm rot="5400000">
                <a:off x="7490918" y="1116208"/>
                <a:ext cx="651291" cy="135832"/>
                <a:chOff x="2448" y="1728"/>
                <a:chExt cx="571" cy="143"/>
              </a:xfrm>
            </p:grpSpPr>
            <p:sp>
              <p:nvSpPr>
                <p:cNvPr id="107" name="Freeform 30"/>
                <p:cNvSpPr>
                  <a:spLocks/>
                </p:cNvSpPr>
                <p:nvPr/>
              </p:nvSpPr>
              <p:spPr bwMode="auto">
                <a:xfrm>
                  <a:off x="2534" y="1733"/>
                  <a:ext cx="116" cy="138"/>
                </a:xfrm>
                <a:custGeom>
                  <a:avLst/>
                  <a:gdLst>
                    <a:gd name="T0" fmla="*/ 0 w 116"/>
                    <a:gd name="T1" fmla="*/ 89 h 138"/>
                    <a:gd name="T2" fmla="*/ 0 w 116"/>
                    <a:gd name="T3" fmla="*/ 69 h 138"/>
                    <a:gd name="T4" fmla="*/ 0 w 116"/>
                    <a:gd name="T5" fmla="*/ 54 h 138"/>
                    <a:gd name="T6" fmla="*/ 10 w 116"/>
                    <a:gd name="T7" fmla="*/ 40 h 138"/>
                    <a:gd name="T8" fmla="*/ 15 w 116"/>
                    <a:gd name="T9" fmla="*/ 25 h 138"/>
                    <a:gd name="T10" fmla="*/ 24 w 116"/>
                    <a:gd name="T11" fmla="*/ 15 h 138"/>
                    <a:gd name="T12" fmla="*/ 34 w 116"/>
                    <a:gd name="T13" fmla="*/ 5 h 138"/>
                    <a:gd name="T14" fmla="*/ 44 w 116"/>
                    <a:gd name="T15" fmla="*/ 0 h 138"/>
                    <a:gd name="T16" fmla="*/ 58 w 116"/>
                    <a:gd name="T17" fmla="*/ 0 h 138"/>
                    <a:gd name="T18" fmla="*/ 68 w 116"/>
                    <a:gd name="T19" fmla="*/ 0 h 138"/>
                    <a:gd name="T20" fmla="*/ 77 w 116"/>
                    <a:gd name="T21" fmla="*/ 5 h 138"/>
                    <a:gd name="T22" fmla="*/ 87 w 116"/>
                    <a:gd name="T23" fmla="*/ 15 h 138"/>
                    <a:gd name="T24" fmla="*/ 96 w 116"/>
                    <a:gd name="T25" fmla="*/ 25 h 138"/>
                    <a:gd name="T26" fmla="*/ 106 w 116"/>
                    <a:gd name="T27" fmla="*/ 40 h 138"/>
                    <a:gd name="T28" fmla="*/ 111 w 116"/>
                    <a:gd name="T29" fmla="*/ 54 h 138"/>
                    <a:gd name="T30" fmla="*/ 111 w 116"/>
                    <a:gd name="T31" fmla="*/ 69 h 138"/>
                    <a:gd name="T32" fmla="*/ 116 w 116"/>
                    <a:gd name="T33" fmla="*/ 89 h 138"/>
                    <a:gd name="T34" fmla="*/ 116 w 116"/>
                    <a:gd name="T35" fmla="*/ 93 h 138"/>
                    <a:gd name="T36" fmla="*/ 116 w 116"/>
                    <a:gd name="T37" fmla="*/ 98 h 138"/>
                    <a:gd name="T38" fmla="*/ 111 w 116"/>
                    <a:gd name="T39" fmla="*/ 108 h 138"/>
                    <a:gd name="T40" fmla="*/ 111 w 116"/>
                    <a:gd name="T41" fmla="*/ 113 h 138"/>
                    <a:gd name="T42" fmla="*/ 111 w 116"/>
                    <a:gd name="T43" fmla="*/ 118 h 138"/>
                    <a:gd name="T44" fmla="*/ 106 w 116"/>
                    <a:gd name="T45" fmla="*/ 128 h 138"/>
                    <a:gd name="T46" fmla="*/ 106 w 116"/>
                    <a:gd name="T47" fmla="*/ 133 h 138"/>
                    <a:gd name="T48" fmla="*/ 106 w 116"/>
                    <a:gd name="T49" fmla="*/ 138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38">
                      <a:moveTo>
                        <a:pt x="0" y="89"/>
                      </a:moveTo>
                      <a:lnTo>
                        <a:pt x="0" y="69"/>
                      </a:lnTo>
                      <a:lnTo>
                        <a:pt x="0" y="54"/>
                      </a:lnTo>
                      <a:lnTo>
                        <a:pt x="10" y="40"/>
                      </a:lnTo>
                      <a:lnTo>
                        <a:pt x="15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4" y="0"/>
                      </a:lnTo>
                      <a:lnTo>
                        <a:pt x="58" y="0"/>
                      </a:lnTo>
                      <a:lnTo>
                        <a:pt x="68" y="0"/>
                      </a:lnTo>
                      <a:lnTo>
                        <a:pt x="77" y="5"/>
                      </a:lnTo>
                      <a:lnTo>
                        <a:pt x="87" y="15"/>
                      </a:lnTo>
                      <a:lnTo>
                        <a:pt x="96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1" y="69"/>
                      </a:lnTo>
                      <a:lnTo>
                        <a:pt x="116" y="89"/>
                      </a:lnTo>
                      <a:lnTo>
                        <a:pt x="116" y="93"/>
                      </a:lnTo>
                      <a:lnTo>
                        <a:pt x="116" y="98"/>
                      </a:lnTo>
                      <a:lnTo>
                        <a:pt x="111" y="108"/>
                      </a:lnTo>
                      <a:lnTo>
                        <a:pt x="111" y="113"/>
                      </a:lnTo>
                      <a:lnTo>
                        <a:pt x="111" y="118"/>
                      </a:lnTo>
                      <a:lnTo>
                        <a:pt x="106" y="128"/>
                      </a:lnTo>
                      <a:lnTo>
                        <a:pt x="106" y="133"/>
                      </a:lnTo>
                      <a:lnTo>
                        <a:pt x="106" y="13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Freeform 31"/>
                <p:cNvSpPr>
                  <a:spLocks/>
                </p:cNvSpPr>
                <p:nvPr/>
              </p:nvSpPr>
              <p:spPr bwMode="auto">
                <a:xfrm>
                  <a:off x="2722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7 w 119"/>
                    <a:gd name="T31" fmla="*/ 5 h 143"/>
                    <a:gd name="T32" fmla="*/ 57 w 119"/>
                    <a:gd name="T33" fmla="*/ 0 h 143"/>
                    <a:gd name="T34" fmla="*/ 71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05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7" y="5"/>
                      </a:lnTo>
                      <a:lnTo>
                        <a:pt x="57" y="0"/>
                      </a:lnTo>
                      <a:lnTo>
                        <a:pt x="71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05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" name="Freeform 32"/>
                <p:cNvSpPr>
                  <a:spLocks/>
                </p:cNvSpPr>
                <p:nvPr/>
              </p:nvSpPr>
              <p:spPr bwMode="auto">
                <a:xfrm>
                  <a:off x="2817" y="1728"/>
                  <a:ext cx="116" cy="143"/>
                </a:xfrm>
                <a:custGeom>
                  <a:avLst/>
                  <a:gdLst>
                    <a:gd name="T0" fmla="*/ 10 w 116"/>
                    <a:gd name="T1" fmla="*/ 143 h 143"/>
                    <a:gd name="T2" fmla="*/ 10 w 116"/>
                    <a:gd name="T3" fmla="*/ 138 h 143"/>
                    <a:gd name="T4" fmla="*/ 5 w 116"/>
                    <a:gd name="T5" fmla="*/ 128 h 143"/>
                    <a:gd name="T6" fmla="*/ 5 w 116"/>
                    <a:gd name="T7" fmla="*/ 123 h 143"/>
                    <a:gd name="T8" fmla="*/ 5 w 116"/>
                    <a:gd name="T9" fmla="*/ 118 h 143"/>
                    <a:gd name="T10" fmla="*/ 0 w 116"/>
                    <a:gd name="T11" fmla="*/ 108 h 143"/>
                    <a:gd name="T12" fmla="*/ 0 w 116"/>
                    <a:gd name="T13" fmla="*/ 103 h 143"/>
                    <a:gd name="T14" fmla="*/ 0 w 116"/>
                    <a:gd name="T15" fmla="*/ 98 h 143"/>
                    <a:gd name="T16" fmla="*/ 0 w 116"/>
                    <a:gd name="T17" fmla="*/ 89 h 143"/>
                    <a:gd name="T18" fmla="*/ 0 w 116"/>
                    <a:gd name="T19" fmla="*/ 74 h 143"/>
                    <a:gd name="T20" fmla="*/ 5 w 116"/>
                    <a:gd name="T21" fmla="*/ 54 h 143"/>
                    <a:gd name="T22" fmla="*/ 10 w 116"/>
                    <a:gd name="T23" fmla="*/ 40 h 143"/>
                    <a:gd name="T24" fmla="*/ 20 w 116"/>
                    <a:gd name="T25" fmla="*/ 25 h 143"/>
                    <a:gd name="T26" fmla="*/ 24 w 116"/>
                    <a:gd name="T27" fmla="*/ 15 h 143"/>
                    <a:gd name="T28" fmla="*/ 34 w 116"/>
                    <a:gd name="T29" fmla="*/ 5 h 143"/>
                    <a:gd name="T30" fmla="*/ 48 w 116"/>
                    <a:gd name="T31" fmla="*/ 0 h 143"/>
                    <a:gd name="T32" fmla="*/ 58 w 116"/>
                    <a:gd name="T33" fmla="*/ 0 h 143"/>
                    <a:gd name="T34" fmla="*/ 72 w 116"/>
                    <a:gd name="T35" fmla="*/ 0 h 143"/>
                    <a:gd name="T36" fmla="*/ 82 w 116"/>
                    <a:gd name="T37" fmla="*/ 5 h 143"/>
                    <a:gd name="T38" fmla="*/ 92 w 116"/>
                    <a:gd name="T39" fmla="*/ 15 h 143"/>
                    <a:gd name="T40" fmla="*/ 101 w 116"/>
                    <a:gd name="T41" fmla="*/ 25 h 143"/>
                    <a:gd name="T42" fmla="*/ 106 w 116"/>
                    <a:gd name="T43" fmla="*/ 40 h 143"/>
                    <a:gd name="T44" fmla="*/ 111 w 116"/>
                    <a:gd name="T45" fmla="*/ 54 h 143"/>
                    <a:gd name="T46" fmla="*/ 116 w 116"/>
                    <a:gd name="T47" fmla="*/ 74 h 143"/>
                    <a:gd name="T48" fmla="*/ 116 w 116"/>
                    <a:gd name="T49" fmla="*/ 89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16" h="143">
                      <a:moveTo>
                        <a:pt x="10" y="143"/>
                      </a:moveTo>
                      <a:lnTo>
                        <a:pt x="10" y="138"/>
                      </a:lnTo>
                      <a:lnTo>
                        <a:pt x="5" y="128"/>
                      </a:lnTo>
                      <a:lnTo>
                        <a:pt x="5" y="123"/>
                      </a:lnTo>
                      <a:lnTo>
                        <a:pt x="5" y="118"/>
                      </a:lnTo>
                      <a:lnTo>
                        <a:pt x="0" y="108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5" y="54"/>
                      </a:lnTo>
                      <a:lnTo>
                        <a:pt x="10" y="40"/>
                      </a:lnTo>
                      <a:lnTo>
                        <a:pt x="20" y="25"/>
                      </a:lnTo>
                      <a:lnTo>
                        <a:pt x="24" y="15"/>
                      </a:lnTo>
                      <a:lnTo>
                        <a:pt x="34" y="5"/>
                      </a:lnTo>
                      <a:lnTo>
                        <a:pt x="48" y="0"/>
                      </a:lnTo>
                      <a:lnTo>
                        <a:pt x="58" y="0"/>
                      </a:lnTo>
                      <a:lnTo>
                        <a:pt x="72" y="0"/>
                      </a:lnTo>
                      <a:lnTo>
                        <a:pt x="82" y="5"/>
                      </a:lnTo>
                      <a:lnTo>
                        <a:pt x="92" y="15"/>
                      </a:lnTo>
                      <a:lnTo>
                        <a:pt x="101" y="25"/>
                      </a:lnTo>
                      <a:lnTo>
                        <a:pt x="106" y="40"/>
                      </a:lnTo>
                      <a:lnTo>
                        <a:pt x="111" y="54"/>
                      </a:lnTo>
                      <a:lnTo>
                        <a:pt x="116" y="74"/>
                      </a:lnTo>
                      <a:lnTo>
                        <a:pt x="116" y="89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33"/>
                <p:cNvSpPr>
                  <a:spLocks/>
                </p:cNvSpPr>
                <p:nvPr/>
              </p:nvSpPr>
              <p:spPr bwMode="auto">
                <a:xfrm>
                  <a:off x="2626" y="1728"/>
                  <a:ext cx="119" cy="143"/>
                </a:xfrm>
                <a:custGeom>
                  <a:avLst/>
                  <a:gdLst>
                    <a:gd name="T0" fmla="*/ 9 w 119"/>
                    <a:gd name="T1" fmla="*/ 143 h 143"/>
                    <a:gd name="T2" fmla="*/ 9 w 119"/>
                    <a:gd name="T3" fmla="*/ 138 h 143"/>
                    <a:gd name="T4" fmla="*/ 4 w 119"/>
                    <a:gd name="T5" fmla="*/ 128 h 143"/>
                    <a:gd name="T6" fmla="*/ 4 w 119"/>
                    <a:gd name="T7" fmla="*/ 123 h 143"/>
                    <a:gd name="T8" fmla="*/ 4 w 119"/>
                    <a:gd name="T9" fmla="*/ 118 h 143"/>
                    <a:gd name="T10" fmla="*/ 4 w 119"/>
                    <a:gd name="T11" fmla="*/ 113 h 143"/>
                    <a:gd name="T12" fmla="*/ 0 w 119"/>
                    <a:gd name="T13" fmla="*/ 103 h 143"/>
                    <a:gd name="T14" fmla="*/ 0 w 119"/>
                    <a:gd name="T15" fmla="*/ 98 h 143"/>
                    <a:gd name="T16" fmla="*/ 0 w 119"/>
                    <a:gd name="T17" fmla="*/ 89 h 143"/>
                    <a:gd name="T18" fmla="*/ 0 w 119"/>
                    <a:gd name="T19" fmla="*/ 74 h 143"/>
                    <a:gd name="T20" fmla="*/ 4 w 119"/>
                    <a:gd name="T21" fmla="*/ 54 h 143"/>
                    <a:gd name="T22" fmla="*/ 9 w 119"/>
                    <a:gd name="T23" fmla="*/ 40 h 143"/>
                    <a:gd name="T24" fmla="*/ 19 w 119"/>
                    <a:gd name="T25" fmla="*/ 30 h 143"/>
                    <a:gd name="T26" fmla="*/ 28 w 119"/>
                    <a:gd name="T27" fmla="*/ 15 h 143"/>
                    <a:gd name="T28" fmla="*/ 38 w 119"/>
                    <a:gd name="T29" fmla="*/ 10 h 143"/>
                    <a:gd name="T30" fmla="*/ 48 w 119"/>
                    <a:gd name="T31" fmla="*/ 5 h 143"/>
                    <a:gd name="T32" fmla="*/ 57 w 119"/>
                    <a:gd name="T33" fmla="*/ 0 h 143"/>
                    <a:gd name="T34" fmla="*/ 72 w 119"/>
                    <a:gd name="T35" fmla="*/ 5 h 143"/>
                    <a:gd name="T36" fmla="*/ 81 w 119"/>
                    <a:gd name="T37" fmla="*/ 10 h 143"/>
                    <a:gd name="T38" fmla="*/ 91 w 119"/>
                    <a:gd name="T39" fmla="*/ 15 h 143"/>
                    <a:gd name="T40" fmla="*/ 100 w 119"/>
                    <a:gd name="T41" fmla="*/ 30 h 143"/>
                    <a:gd name="T42" fmla="*/ 110 w 119"/>
                    <a:gd name="T43" fmla="*/ 40 h 143"/>
                    <a:gd name="T44" fmla="*/ 115 w 119"/>
                    <a:gd name="T45" fmla="*/ 54 h 143"/>
                    <a:gd name="T46" fmla="*/ 115 w 119"/>
                    <a:gd name="T47" fmla="*/ 74 h 143"/>
                    <a:gd name="T48" fmla="*/ 119 w 119"/>
                    <a:gd name="T49" fmla="*/ 89 h 143"/>
                    <a:gd name="T50" fmla="*/ 119 w 119"/>
                    <a:gd name="T51" fmla="*/ 98 h 143"/>
                    <a:gd name="T52" fmla="*/ 115 w 119"/>
                    <a:gd name="T53" fmla="*/ 103 h 143"/>
                    <a:gd name="T54" fmla="*/ 115 w 119"/>
                    <a:gd name="T55" fmla="*/ 113 h 143"/>
                    <a:gd name="T56" fmla="*/ 115 w 119"/>
                    <a:gd name="T57" fmla="*/ 118 h 143"/>
                    <a:gd name="T58" fmla="*/ 115 w 119"/>
                    <a:gd name="T59" fmla="*/ 123 h 143"/>
                    <a:gd name="T60" fmla="*/ 110 w 119"/>
                    <a:gd name="T61" fmla="*/ 128 h 143"/>
                    <a:gd name="T62" fmla="*/ 110 w 119"/>
                    <a:gd name="T63" fmla="*/ 138 h 143"/>
                    <a:gd name="T64" fmla="*/ 105 w 119"/>
                    <a:gd name="T65" fmla="*/ 143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19" h="143">
                      <a:moveTo>
                        <a:pt x="9" y="143"/>
                      </a:moveTo>
                      <a:lnTo>
                        <a:pt x="9" y="138"/>
                      </a:lnTo>
                      <a:lnTo>
                        <a:pt x="4" y="128"/>
                      </a:lnTo>
                      <a:lnTo>
                        <a:pt x="4" y="123"/>
                      </a:lnTo>
                      <a:lnTo>
                        <a:pt x="4" y="118"/>
                      </a:lnTo>
                      <a:lnTo>
                        <a:pt x="4" y="113"/>
                      </a:lnTo>
                      <a:lnTo>
                        <a:pt x="0" y="103"/>
                      </a:lnTo>
                      <a:lnTo>
                        <a:pt x="0" y="98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4" y="54"/>
                      </a:lnTo>
                      <a:lnTo>
                        <a:pt x="9" y="40"/>
                      </a:lnTo>
                      <a:lnTo>
                        <a:pt x="19" y="30"/>
                      </a:lnTo>
                      <a:lnTo>
                        <a:pt x="28" y="15"/>
                      </a:lnTo>
                      <a:lnTo>
                        <a:pt x="38" y="10"/>
                      </a:lnTo>
                      <a:lnTo>
                        <a:pt x="48" y="5"/>
                      </a:lnTo>
                      <a:lnTo>
                        <a:pt x="57" y="0"/>
                      </a:lnTo>
                      <a:lnTo>
                        <a:pt x="72" y="5"/>
                      </a:lnTo>
                      <a:lnTo>
                        <a:pt x="81" y="10"/>
                      </a:lnTo>
                      <a:lnTo>
                        <a:pt x="91" y="15"/>
                      </a:lnTo>
                      <a:lnTo>
                        <a:pt x="100" y="30"/>
                      </a:lnTo>
                      <a:lnTo>
                        <a:pt x="110" y="40"/>
                      </a:lnTo>
                      <a:lnTo>
                        <a:pt x="115" y="54"/>
                      </a:lnTo>
                      <a:lnTo>
                        <a:pt x="115" y="74"/>
                      </a:lnTo>
                      <a:lnTo>
                        <a:pt x="119" y="89"/>
                      </a:lnTo>
                      <a:lnTo>
                        <a:pt x="119" y="98"/>
                      </a:lnTo>
                      <a:lnTo>
                        <a:pt x="115" y="103"/>
                      </a:lnTo>
                      <a:lnTo>
                        <a:pt x="115" y="113"/>
                      </a:lnTo>
                      <a:lnTo>
                        <a:pt x="115" y="118"/>
                      </a:lnTo>
                      <a:lnTo>
                        <a:pt x="115" y="123"/>
                      </a:lnTo>
                      <a:lnTo>
                        <a:pt x="110" y="128"/>
                      </a:lnTo>
                      <a:lnTo>
                        <a:pt x="110" y="138"/>
                      </a:lnTo>
                      <a:lnTo>
                        <a:pt x="105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Line 34"/>
                <p:cNvSpPr>
                  <a:spLocks noChangeShapeType="1"/>
                </p:cNvSpPr>
                <p:nvPr/>
              </p:nvSpPr>
              <p:spPr bwMode="auto">
                <a:xfrm>
                  <a:off x="2933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Line 35"/>
                <p:cNvSpPr>
                  <a:spLocks noChangeShapeType="1"/>
                </p:cNvSpPr>
                <p:nvPr/>
              </p:nvSpPr>
              <p:spPr bwMode="auto">
                <a:xfrm>
                  <a:off x="2448" y="1820"/>
                  <a:ext cx="8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96" name="Text Box 113"/>
              <p:cNvSpPr txBox="1">
                <a:spLocks noChangeArrowheads="1"/>
              </p:cNvSpPr>
              <p:nvPr/>
            </p:nvSpPr>
            <p:spPr bwMode="auto">
              <a:xfrm>
                <a:off x="8087221" y="1005368"/>
                <a:ext cx="364591" cy="31286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b="1" i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i(t)</a:t>
                </a:r>
              </a:p>
            </p:txBody>
          </p:sp>
        </p:grpSp>
        <p:cxnSp>
          <p:nvCxnSpPr>
            <p:cNvPr id="195" name="Straight Arrow Connector 194"/>
            <p:cNvCxnSpPr/>
            <p:nvPr/>
          </p:nvCxnSpPr>
          <p:spPr>
            <a:xfrm>
              <a:off x="2743200" y="1630491"/>
              <a:ext cx="0" cy="56096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5" name="Group 224"/>
          <p:cNvGrpSpPr/>
          <p:nvPr/>
        </p:nvGrpSpPr>
        <p:grpSpPr>
          <a:xfrm>
            <a:off x="4114800" y="3371604"/>
            <a:ext cx="4513865" cy="2952996"/>
            <a:chOff x="3936361" y="838200"/>
            <a:chExt cx="4513865" cy="2952996"/>
          </a:xfrm>
        </p:grpSpPr>
        <p:grpSp>
          <p:nvGrpSpPr>
            <p:cNvPr id="204" name="Group 203"/>
            <p:cNvGrpSpPr/>
            <p:nvPr/>
          </p:nvGrpSpPr>
          <p:grpSpPr>
            <a:xfrm>
              <a:off x="3936361" y="838200"/>
              <a:ext cx="4513865" cy="2952996"/>
              <a:chOff x="3992881" y="2912722"/>
              <a:chExt cx="4513865" cy="2952996"/>
            </a:xfrm>
          </p:grpSpPr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5147312" y="5179918"/>
                <a:ext cx="1524000" cy="685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000" i="1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000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thái quá độ</a:t>
                </a:r>
                <a:endParaRPr lang="en-US" sz="20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Rectangle 37"/>
              <p:cNvSpPr>
                <a:spLocks noChangeArrowheads="1"/>
              </p:cNvSpPr>
              <p:nvPr/>
            </p:nvSpPr>
            <p:spPr bwMode="auto">
              <a:xfrm>
                <a:off x="6906546" y="5179918"/>
                <a:ext cx="1524000" cy="685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000" i="1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000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thái xác lập</a:t>
                </a:r>
                <a:endParaRPr lang="en-US" sz="20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Straight Arrow Connector 3"/>
              <p:cNvCxnSpPr/>
              <p:nvPr/>
            </p:nvCxnSpPr>
            <p:spPr>
              <a:xfrm flipV="1">
                <a:off x="4644949" y="5138918"/>
                <a:ext cx="2261597" cy="12456"/>
              </a:xfrm>
              <a:prstGeom prst="straightConnector1">
                <a:avLst/>
              </a:prstGeom>
              <a:ln w="9525">
                <a:headEnd type="stealth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6906546" y="3376107"/>
                <a:ext cx="0" cy="2262693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6906546" y="5141296"/>
                <a:ext cx="1600200" cy="0"/>
              </a:xfrm>
              <a:prstGeom prst="straightConnector1">
                <a:avLst/>
              </a:prstGeom>
              <a:ln w="9525"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474" name="Straight Arrow Connector 231473"/>
              <p:cNvCxnSpPr/>
              <p:nvPr/>
            </p:nvCxnSpPr>
            <p:spPr>
              <a:xfrm flipV="1">
                <a:off x="4644949" y="3046303"/>
                <a:ext cx="0" cy="2133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478" name="Straight Arrow Connector 231477"/>
              <p:cNvCxnSpPr/>
              <p:nvPr/>
            </p:nvCxnSpPr>
            <p:spPr>
              <a:xfrm>
                <a:off x="3992881" y="4798903"/>
                <a:ext cx="42458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1484" name="Freeform 231483"/>
              <p:cNvSpPr/>
              <p:nvPr/>
            </p:nvSpPr>
            <p:spPr>
              <a:xfrm>
                <a:off x="4665710" y="3554489"/>
                <a:ext cx="3645074" cy="1237106"/>
              </a:xfrm>
              <a:custGeom>
                <a:avLst/>
                <a:gdLst>
                  <a:gd name="connsiteX0" fmla="*/ 0 w 3645074"/>
                  <a:gd name="connsiteY0" fmla="*/ 1482780 h 1482780"/>
                  <a:gd name="connsiteX1" fmla="*/ 1177446 w 3645074"/>
                  <a:gd name="connsiteY1" fmla="*/ 192599 h 1482780"/>
                  <a:gd name="connsiteX2" fmla="*/ 3645074 w 3645074"/>
                  <a:gd name="connsiteY2" fmla="*/ 29761 h 1482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45074" h="1482780">
                    <a:moveTo>
                      <a:pt x="0" y="1482780"/>
                    </a:moveTo>
                    <a:cubicBezTo>
                      <a:pt x="284967" y="958774"/>
                      <a:pt x="569934" y="434769"/>
                      <a:pt x="1177446" y="192599"/>
                    </a:cubicBezTo>
                    <a:cubicBezTo>
                      <a:pt x="1784958" y="-49571"/>
                      <a:pt x="2715016" y="-9905"/>
                      <a:pt x="3645074" y="29761"/>
                    </a:cubicBezTo>
                  </a:path>
                </a:pathLst>
              </a:cu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/>
              <p:cNvSpPr>
                <a:spLocks noChangeArrowheads="1"/>
              </p:cNvSpPr>
              <p:nvPr/>
            </p:nvSpPr>
            <p:spPr bwMode="auto">
              <a:xfrm>
                <a:off x="4607698" y="2912722"/>
                <a:ext cx="662354" cy="3848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i(t)</a:t>
                </a:r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Rectangle 192"/>
              <p:cNvSpPr>
                <a:spLocks noChangeArrowheads="1"/>
              </p:cNvSpPr>
              <p:nvPr/>
            </p:nvSpPr>
            <p:spPr bwMode="auto">
              <a:xfrm>
                <a:off x="7782843" y="4404619"/>
                <a:ext cx="662354" cy="3848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0" name="Straight Connector 199"/>
              <p:cNvCxnSpPr/>
              <p:nvPr/>
            </p:nvCxnSpPr>
            <p:spPr>
              <a:xfrm flipH="1" flipV="1">
                <a:off x="4644949" y="3454126"/>
                <a:ext cx="3665835" cy="7508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Rectangle 6"/>
              <p:cNvSpPr txBox="1">
                <a:spLocks noChangeArrowheads="1"/>
              </p:cNvSpPr>
              <p:nvPr/>
            </p:nvSpPr>
            <p:spPr>
              <a:xfrm>
                <a:off x="5601181" y="4733253"/>
                <a:ext cx="543365" cy="44457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 anchorCtr="0">
                <a:no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kumimoji="0" 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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5" name="Rectangle 204"/>
              <p:cNvSpPr>
                <a:spLocks noChangeArrowheads="1"/>
              </p:cNvSpPr>
              <p:nvPr/>
            </p:nvSpPr>
            <p:spPr bwMode="auto">
              <a:xfrm>
                <a:off x="4097401" y="3302090"/>
                <a:ext cx="662354" cy="3848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E/R</a:t>
                </a:r>
                <a:endPara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4" name="Rectangle 223"/>
            <p:cNvSpPr>
              <a:spLocks noChangeArrowheads="1"/>
            </p:cNvSpPr>
            <p:nvPr/>
          </p:nvSpPr>
          <p:spPr bwMode="auto">
            <a:xfrm>
              <a:off x="4236026" y="2717073"/>
              <a:ext cx="496913" cy="3848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tx2"/>
                </a:buClr>
              </a:pP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61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489879954"/>
              </p:ext>
            </p:extLst>
          </p:nvPr>
        </p:nvGraphicFramePr>
        <p:xfrm>
          <a:off x="529268" y="1829406"/>
          <a:ext cx="4620775" cy="1260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24080" imgH="787320" progId="Equation.DSMT4">
                  <p:embed/>
                </p:oleObj>
              </mc:Choice>
              <mc:Fallback>
                <p:oleObj name="Equation" r:id="rId9" imgW="312408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68" y="1829406"/>
                        <a:ext cx="4620775" cy="1260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Title 1"/>
          <p:cNvSpPr txBox="1">
            <a:spLocks/>
          </p:cNvSpPr>
          <p:nvPr/>
        </p:nvSpPr>
        <p:spPr>
          <a:xfrm>
            <a:off x="304800" y="304800"/>
            <a:ext cx="8686800" cy="457200"/>
          </a:xfrm>
          <a:prstGeom prst="rect">
            <a:avLst/>
          </a:prstGeom>
        </p:spPr>
        <p:txBody>
          <a:bodyPr bIns="91440" anchor="t" anchorCtr="0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4.7 MẠCH QUÁ ĐỘ RL, RC, RLC</a:t>
            </a:r>
          </a:p>
        </p:txBody>
      </p:sp>
    </p:spTree>
    <p:extLst>
      <p:ext uri="{BB962C8B-B14F-4D97-AF65-F5344CB8AC3E}">
        <p14:creationId xmlns:p14="http://schemas.microsoft.com/office/powerpoint/2010/main" val="147757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C9C02E-99CF-456A-AA5D-F39F735517D3}" type="slidenum">
              <a:rPr lang="en-US"/>
              <a:pPr>
                <a:defRPr/>
              </a:pPr>
              <a:t>34</a:t>
            </a:fld>
            <a:endParaRPr lang="en-US"/>
          </a:p>
        </p:txBody>
      </p:sp>
      <p:graphicFrame>
        <p:nvGraphicFramePr>
          <p:cNvPr id="231427" name="Object 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692221792"/>
              </p:ext>
            </p:extLst>
          </p:nvPr>
        </p:nvGraphicFramePr>
        <p:xfrm>
          <a:off x="609600" y="1163637"/>
          <a:ext cx="2622654" cy="512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241200" progId="Equation.DSMT4">
                  <p:embed/>
                </p:oleObj>
              </mc:Choice>
              <mc:Fallback>
                <p:oleObj name="Equation" r:id="rId3" imgW="12315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163637"/>
                        <a:ext cx="2622654" cy="5129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" name="Group 224"/>
          <p:cNvGrpSpPr/>
          <p:nvPr/>
        </p:nvGrpSpPr>
        <p:grpSpPr>
          <a:xfrm>
            <a:off x="4325335" y="3124200"/>
            <a:ext cx="4513865" cy="2952996"/>
            <a:chOff x="3936361" y="838200"/>
            <a:chExt cx="4513865" cy="2952996"/>
          </a:xfrm>
        </p:grpSpPr>
        <p:grpSp>
          <p:nvGrpSpPr>
            <p:cNvPr id="204" name="Group 203"/>
            <p:cNvGrpSpPr/>
            <p:nvPr/>
          </p:nvGrpSpPr>
          <p:grpSpPr>
            <a:xfrm>
              <a:off x="3936361" y="838200"/>
              <a:ext cx="4513865" cy="2952996"/>
              <a:chOff x="3992881" y="2912722"/>
              <a:chExt cx="4513865" cy="2952996"/>
            </a:xfrm>
          </p:grpSpPr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5147312" y="5179918"/>
                <a:ext cx="1524000" cy="685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000" i="1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000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thái quá độ</a:t>
                </a:r>
                <a:endParaRPr lang="en-US" sz="20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Rectangle 37"/>
              <p:cNvSpPr>
                <a:spLocks noChangeArrowheads="1"/>
              </p:cNvSpPr>
              <p:nvPr/>
            </p:nvSpPr>
            <p:spPr bwMode="auto">
              <a:xfrm>
                <a:off x="6906546" y="5179918"/>
                <a:ext cx="1524000" cy="6858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000" i="1" err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lang="en-US" sz="2000" i="1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thái xác lập</a:t>
                </a:r>
                <a:endParaRPr lang="en-US" sz="20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" name="Straight Arrow Connector 3"/>
              <p:cNvCxnSpPr/>
              <p:nvPr/>
            </p:nvCxnSpPr>
            <p:spPr>
              <a:xfrm flipV="1">
                <a:off x="4644949" y="5138918"/>
                <a:ext cx="2261597" cy="12456"/>
              </a:xfrm>
              <a:prstGeom prst="straightConnector1">
                <a:avLst/>
              </a:prstGeom>
              <a:ln w="9525">
                <a:headEnd type="stealth" w="lg" len="lg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>
                <a:off x="6906546" y="3376107"/>
                <a:ext cx="0" cy="2262693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>
                <a:off x="6906546" y="5141296"/>
                <a:ext cx="1600200" cy="0"/>
              </a:xfrm>
              <a:prstGeom prst="straightConnector1">
                <a:avLst/>
              </a:prstGeom>
              <a:ln w="9525">
                <a:headEnd type="stealth" w="lg" len="lg"/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474" name="Straight Arrow Connector 231473"/>
              <p:cNvCxnSpPr/>
              <p:nvPr/>
            </p:nvCxnSpPr>
            <p:spPr>
              <a:xfrm flipV="1">
                <a:off x="4644949" y="3046303"/>
                <a:ext cx="0" cy="21336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478" name="Straight Arrow Connector 231477"/>
              <p:cNvCxnSpPr/>
              <p:nvPr/>
            </p:nvCxnSpPr>
            <p:spPr>
              <a:xfrm>
                <a:off x="3992881" y="4798903"/>
                <a:ext cx="424587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1484" name="Freeform 231483"/>
              <p:cNvSpPr/>
              <p:nvPr/>
            </p:nvSpPr>
            <p:spPr>
              <a:xfrm>
                <a:off x="4665710" y="3554489"/>
                <a:ext cx="3645074" cy="1237106"/>
              </a:xfrm>
              <a:custGeom>
                <a:avLst/>
                <a:gdLst>
                  <a:gd name="connsiteX0" fmla="*/ 0 w 3645074"/>
                  <a:gd name="connsiteY0" fmla="*/ 1482780 h 1482780"/>
                  <a:gd name="connsiteX1" fmla="*/ 1177446 w 3645074"/>
                  <a:gd name="connsiteY1" fmla="*/ 192599 h 1482780"/>
                  <a:gd name="connsiteX2" fmla="*/ 3645074 w 3645074"/>
                  <a:gd name="connsiteY2" fmla="*/ 29761 h 1482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45074" h="1482780">
                    <a:moveTo>
                      <a:pt x="0" y="1482780"/>
                    </a:moveTo>
                    <a:cubicBezTo>
                      <a:pt x="284967" y="958774"/>
                      <a:pt x="569934" y="434769"/>
                      <a:pt x="1177446" y="192599"/>
                    </a:cubicBezTo>
                    <a:cubicBezTo>
                      <a:pt x="1784958" y="-49571"/>
                      <a:pt x="2715016" y="-9905"/>
                      <a:pt x="3645074" y="29761"/>
                    </a:cubicBezTo>
                  </a:path>
                </a:pathLst>
              </a:cu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/>
              <p:cNvSpPr>
                <a:spLocks noChangeArrowheads="1"/>
              </p:cNvSpPr>
              <p:nvPr/>
            </p:nvSpPr>
            <p:spPr bwMode="auto">
              <a:xfrm>
                <a:off x="4607697" y="2912722"/>
                <a:ext cx="777077" cy="3848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sz="2400" i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(t)</a:t>
                </a:r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Rectangle 192"/>
              <p:cNvSpPr>
                <a:spLocks noChangeArrowheads="1"/>
              </p:cNvSpPr>
              <p:nvPr/>
            </p:nvSpPr>
            <p:spPr bwMode="auto">
              <a:xfrm>
                <a:off x="7782843" y="4404619"/>
                <a:ext cx="662354" cy="3848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0" name="Straight Connector 199"/>
              <p:cNvCxnSpPr/>
              <p:nvPr/>
            </p:nvCxnSpPr>
            <p:spPr>
              <a:xfrm flipH="1" flipV="1">
                <a:off x="4644949" y="3454126"/>
                <a:ext cx="3665835" cy="75089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Rectangle 6"/>
              <p:cNvSpPr txBox="1">
                <a:spLocks noChangeArrowheads="1"/>
              </p:cNvSpPr>
              <p:nvPr/>
            </p:nvSpPr>
            <p:spPr>
              <a:xfrm>
                <a:off x="5601181" y="4733253"/>
                <a:ext cx="543365" cy="44457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 anchorCtr="0">
                <a:noAutofit/>
              </a:bodyPr>
              <a:lstStyle/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kumimoji="0" 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Symbol" panose="05050102010706020507" pitchFamily="18" charset="2"/>
                  </a:rPr>
                  <a:t></a:t>
                </a: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5" name="Rectangle 204"/>
              <p:cNvSpPr>
                <a:spLocks noChangeArrowheads="1"/>
              </p:cNvSpPr>
              <p:nvPr/>
            </p:nvSpPr>
            <p:spPr bwMode="auto">
              <a:xfrm>
                <a:off x="4097401" y="3302090"/>
                <a:ext cx="662354" cy="3848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80000"/>
                  </a:lnSpc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en-US" sz="22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24" name="Rectangle 223"/>
            <p:cNvSpPr>
              <a:spLocks noChangeArrowheads="1"/>
            </p:cNvSpPr>
            <p:nvPr/>
          </p:nvSpPr>
          <p:spPr bwMode="auto">
            <a:xfrm>
              <a:off x="4236026" y="2717073"/>
              <a:ext cx="496913" cy="3848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20000"/>
                </a:spcBef>
                <a:buClr>
                  <a:schemeClr val="tx2"/>
                </a:buClr>
              </a:pPr>
              <a:r>
                <a:rPr lang="en-US" sz="2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5410200" y="1095143"/>
            <a:ext cx="2846085" cy="1571857"/>
            <a:chOff x="430515" y="914400"/>
            <a:chExt cx="2846085" cy="1571857"/>
          </a:xfrm>
        </p:grpSpPr>
        <p:sp>
          <p:nvSpPr>
            <p:cNvPr id="94" name="Text Box 113"/>
            <p:cNvSpPr txBox="1">
              <a:spLocks noChangeArrowheads="1"/>
            </p:cNvSpPr>
            <p:nvPr/>
          </p:nvSpPr>
          <p:spPr bwMode="auto">
            <a:xfrm>
              <a:off x="2231739" y="1750599"/>
              <a:ext cx="341154" cy="317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C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Box 115"/>
            <p:cNvSpPr txBox="1">
              <a:spLocks noChangeArrowheads="1"/>
            </p:cNvSpPr>
            <p:nvPr/>
          </p:nvSpPr>
          <p:spPr bwMode="auto">
            <a:xfrm>
              <a:off x="2103596" y="1013700"/>
              <a:ext cx="341154" cy="22176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Text Box 116"/>
            <p:cNvSpPr txBox="1">
              <a:spLocks noChangeArrowheads="1"/>
            </p:cNvSpPr>
            <p:nvPr/>
          </p:nvSpPr>
          <p:spPr bwMode="auto">
            <a:xfrm>
              <a:off x="808765" y="1786029"/>
              <a:ext cx="259926" cy="29569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Text Box 117"/>
            <p:cNvSpPr txBox="1">
              <a:spLocks noChangeArrowheads="1"/>
            </p:cNvSpPr>
            <p:nvPr/>
          </p:nvSpPr>
          <p:spPr bwMode="auto">
            <a:xfrm>
              <a:off x="1167620" y="914400"/>
              <a:ext cx="259926" cy="2566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 Box 118"/>
            <p:cNvSpPr txBox="1">
              <a:spLocks noChangeArrowheads="1"/>
            </p:cNvSpPr>
            <p:nvPr/>
          </p:nvSpPr>
          <p:spPr bwMode="auto">
            <a:xfrm>
              <a:off x="1813903" y="1453471"/>
              <a:ext cx="516356" cy="2553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 = 0</a:t>
              </a:r>
              <a:endParaRPr lang="en-US" sz="2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Freeform 98"/>
            <p:cNvSpPr>
              <a:spLocks/>
            </p:cNvSpPr>
            <p:nvPr/>
          </p:nvSpPr>
          <p:spPr bwMode="auto">
            <a:xfrm>
              <a:off x="977486" y="1199597"/>
              <a:ext cx="519853" cy="177620"/>
            </a:xfrm>
            <a:custGeom>
              <a:avLst/>
              <a:gdLst>
                <a:gd name="T0" fmla="*/ 0 w 1728"/>
                <a:gd name="T1" fmla="*/ 144 h 288"/>
                <a:gd name="T2" fmla="*/ 288 w 1728"/>
                <a:gd name="T3" fmla="*/ 144 h 288"/>
                <a:gd name="T4" fmla="*/ 432 w 1728"/>
                <a:gd name="T5" fmla="*/ 0 h 288"/>
                <a:gd name="T6" fmla="*/ 576 w 1728"/>
                <a:gd name="T7" fmla="*/ 288 h 288"/>
                <a:gd name="T8" fmla="*/ 720 w 1728"/>
                <a:gd name="T9" fmla="*/ 0 h 288"/>
                <a:gd name="T10" fmla="*/ 864 w 1728"/>
                <a:gd name="T11" fmla="*/ 288 h 288"/>
                <a:gd name="T12" fmla="*/ 1008 w 1728"/>
                <a:gd name="T13" fmla="*/ 0 h 288"/>
                <a:gd name="T14" fmla="*/ 1152 w 1728"/>
                <a:gd name="T15" fmla="*/ 288 h 288"/>
                <a:gd name="T16" fmla="*/ 1296 w 1728"/>
                <a:gd name="T17" fmla="*/ 0 h 288"/>
                <a:gd name="T18" fmla="*/ 1440 w 1728"/>
                <a:gd name="T19" fmla="*/ 144 h 288"/>
                <a:gd name="T20" fmla="*/ 1728 w 1728"/>
                <a:gd name="T21" fmla="*/ 144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28" h="288">
                  <a:moveTo>
                    <a:pt x="0" y="144"/>
                  </a:moveTo>
                  <a:lnTo>
                    <a:pt x="288" y="144"/>
                  </a:lnTo>
                  <a:lnTo>
                    <a:pt x="432" y="0"/>
                  </a:lnTo>
                  <a:lnTo>
                    <a:pt x="576" y="288"/>
                  </a:lnTo>
                  <a:lnTo>
                    <a:pt x="720" y="0"/>
                  </a:lnTo>
                  <a:lnTo>
                    <a:pt x="864" y="288"/>
                  </a:lnTo>
                  <a:lnTo>
                    <a:pt x="1008" y="0"/>
                  </a:lnTo>
                  <a:lnTo>
                    <a:pt x="1152" y="288"/>
                  </a:lnTo>
                  <a:lnTo>
                    <a:pt x="1296" y="0"/>
                  </a:lnTo>
                  <a:lnTo>
                    <a:pt x="1440" y="144"/>
                  </a:lnTo>
                  <a:lnTo>
                    <a:pt x="1728" y="1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00" name="Freeform 99"/>
            <p:cNvSpPr>
              <a:spLocks/>
            </p:cNvSpPr>
            <p:nvPr/>
          </p:nvSpPr>
          <p:spPr bwMode="auto">
            <a:xfrm>
              <a:off x="2142391" y="1311598"/>
              <a:ext cx="519853" cy="488813"/>
            </a:xfrm>
            <a:custGeom>
              <a:avLst/>
              <a:gdLst>
                <a:gd name="T0" fmla="*/ 0 w 576"/>
                <a:gd name="T1" fmla="*/ 0 h 432"/>
                <a:gd name="T2" fmla="*/ 576 w 576"/>
                <a:gd name="T3" fmla="*/ 0 h 432"/>
                <a:gd name="T4" fmla="*/ 576 w 576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6" h="432">
                  <a:moveTo>
                    <a:pt x="0" y="0"/>
                  </a:moveTo>
                  <a:lnTo>
                    <a:pt x="576" y="0"/>
                  </a:lnTo>
                  <a:lnTo>
                    <a:pt x="576" y="43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oval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01" name="Freeform 100"/>
            <p:cNvSpPr>
              <a:spLocks/>
            </p:cNvSpPr>
            <p:nvPr/>
          </p:nvSpPr>
          <p:spPr bwMode="auto">
            <a:xfrm rot="1600492">
              <a:off x="1754441" y="1157133"/>
              <a:ext cx="389889" cy="295692"/>
            </a:xfrm>
            <a:custGeom>
              <a:avLst/>
              <a:gdLst>
                <a:gd name="T0" fmla="*/ 0 w 432"/>
                <a:gd name="T1" fmla="*/ 0 h 432"/>
                <a:gd name="T2" fmla="*/ 288 w 432"/>
                <a:gd name="T3" fmla="*/ 144 h 432"/>
                <a:gd name="T4" fmla="*/ 432 w 432"/>
                <a:gd name="T5" fmla="*/ 432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" h="432">
                  <a:moveTo>
                    <a:pt x="0" y="0"/>
                  </a:moveTo>
                  <a:cubicBezTo>
                    <a:pt x="108" y="36"/>
                    <a:pt x="216" y="72"/>
                    <a:pt x="288" y="144"/>
                  </a:cubicBezTo>
                  <a:cubicBezTo>
                    <a:pt x="360" y="216"/>
                    <a:pt x="408" y="384"/>
                    <a:pt x="432" y="43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02" name="Freeform 101"/>
            <p:cNvSpPr>
              <a:spLocks/>
            </p:cNvSpPr>
            <p:nvPr/>
          </p:nvSpPr>
          <p:spPr bwMode="auto">
            <a:xfrm>
              <a:off x="1548698" y="1864014"/>
              <a:ext cx="1125054" cy="610425"/>
            </a:xfrm>
            <a:custGeom>
              <a:avLst/>
              <a:gdLst>
                <a:gd name="T0" fmla="*/ 0 w 1980"/>
                <a:gd name="T1" fmla="*/ 360 h 360"/>
                <a:gd name="T2" fmla="*/ 1980 w 1980"/>
                <a:gd name="T3" fmla="*/ 360 h 360"/>
                <a:gd name="T4" fmla="*/ 1980 w 1980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0" h="360">
                  <a:moveTo>
                    <a:pt x="0" y="360"/>
                  </a:moveTo>
                  <a:lnTo>
                    <a:pt x="1980" y="360"/>
                  </a:lnTo>
                  <a:lnTo>
                    <a:pt x="198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2000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583862" y="1292280"/>
              <a:ext cx="1054873" cy="1193977"/>
            </a:xfrm>
            <a:custGeom>
              <a:avLst/>
              <a:gdLst>
                <a:gd name="connsiteX0" fmla="*/ 450937 w 1127343"/>
                <a:gd name="connsiteY0" fmla="*/ 0 h 1177447"/>
                <a:gd name="connsiteX1" fmla="*/ 0 w 1127343"/>
                <a:gd name="connsiteY1" fmla="*/ 0 h 1177447"/>
                <a:gd name="connsiteX2" fmla="*/ 0 w 1127343"/>
                <a:gd name="connsiteY2" fmla="*/ 1177447 h 1177447"/>
                <a:gd name="connsiteX3" fmla="*/ 1127343 w 1127343"/>
                <a:gd name="connsiteY3" fmla="*/ 1177447 h 1177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7343" h="1177447">
                  <a:moveTo>
                    <a:pt x="450937" y="0"/>
                  </a:moveTo>
                  <a:lnTo>
                    <a:pt x="0" y="0"/>
                  </a:lnTo>
                  <a:lnTo>
                    <a:pt x="0" y="1177447"/>
                  </a:lnTo>
                  <a:lnTo>
                    <a:pt x="1127343" y="117744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4" name="Group 103"/>
            <p:cNvGrpSpPr>
              <a:grpSpLocks/>
            </p:cNvGrpSpPr>
            <p:nvPr/>
          </p:nvGrpSpPr>
          <p:grpSpPr bwMode="auto">
            <a:xfrm>
              <a:off x="430515" y="1708798"/>
              <a:ext cx="324908" cy="369614"/>
              <a:chOff x="1884" y="2304"/>
              <a:chExt cx="360" cy="360"/>
            </a:xfrm>
          </p:grpSpPr>
          <p:sp>
            <p:nvSpPr>
              <p:cNvPr id="113" name="Oval 112"/>
              <p:cNvSpPr>
                <a:spLocks noChangeArrowheads="1"/>
              </p:cNvSpPr>
              <p:nvPr/>
            </p:nvSpPr>
            <p:spPr bwMode="auto">
              <a:xfrm>
                <a:off x="1884" y="2304"/>
                <a:ext cx="360" cy="3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 sz="2000"/>
              </a:p>
            </p:txBody>
          </p:sp>
          <p:cxnSp>
            <p:nvCxnSpPr>
              <p:cNvPr id="114" name="Line 134"/>
              <p:cNvCxnSpPr>
                <a:cxnSpLocks noChangeShapeType="1"/>
              </p:cNvCxnSpPr>
              <p:nvPr/>
            </p:nvCxnSpPr>
            <p:spPr bwMode="auto">
              <a:xfrm>
                <a:off x="2009" y="2413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5" name="Line 135"/>
              <p:cNvCxnSpPr>
                <a:cxnSpLocks noChangeShapeType="1"/>
              </p:cNvCxnSpPr>
              <p:nvPr/>
            </p:nvCxnSpPr>
            <p:spPr bwMode="auto">
              <a:xfrm>
                <a:off x="2068" y="2354"/>
                <a:ext cx="0" cy="1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6" name="Line 136"/>
              <p:cNvCxnSpPr>
                <a:cxnSpLocks noChangeShapeType="1"/>
              </p:cNvCxnSpPr>
              <p:nvPr/>
            </p:nvCxnSpPr>
            <p:spPr bwMode="auto">
              <a:xfrm>
                <a:off x="2006" y="2581"/>
                <a:ext cx="1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05" name="Freeform 104"/>
            <p:cNvSpPr/>
            <p:nvPr/>
          </p:nvSpPr>
          <p:spPr>
            <a:xfrm>
              <a:off x="1427760" y="1122328"/>
              <a:ext cx="675836" cy="169953"/>
            </a:xfrm>
            <a:custGeom>
              <a:avLst/>
              <a:gdLst>
                <a:gd name="connsiteX0" fmla="*/ 0 w 751562"/>
                <a:gd name="connsiteY0" fmla="*/ 187890 h 187890"/>
                <a:gd name="connsiteX1" fmla="*/ 475989 w 751562"/>
                <a:gd name="connsiteY1" fmla="*/ 187890 h 187890"/>
                <a:gd name="connsiteX2" fmla="*/ 751562 w 751562"/>
                <a:gd name="connsiteY2" fmla="*/ 0 h 187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1562" h="187890">
                  <a:moveTo>
                    <a:pt x="0" y="187890"/>
                  </a:moveTo>
                  <a:lnTo>
                    <a:pt x="475989" y="187890"/>
                  </a:lnTo>
                  <a:lnTo>
                    <a:pt x="751562" y="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Text Box 113"/>
            <p:cNvSpPr txBox="1">
              <a:spLocks noChangeArrowheads="1"/>
            </p:cNvSpPr>
            <p:nvPr/>
          </p:nvSpPr>
          <p:spPr bwMode="auto">
            <a:xfrm>
              <a:off x="2935446" y="1702073"/>
              <a:ext cx="341154" cy="317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2000" b="1" i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i(t)</a:t>
              </a:r>
            </a:p>
          </p:txBody>
        </p:sp>
        <p:cxnSp>
          <p:nvCxnSpPr>
            <p:cNvPr id="195" name="Straight Arrow Connector 194"/>
            <p:cNvCxnSpPr/>
            <p:nvPr/>
          </p:nvCxnSpPr>
          <p:spPr>
            <a:xfrm>
              <a:off x="2843260" y="1602856"/>
              <a:ext cx="0" cy="560964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2514600" y="1796671"/>
              <a:ext cx="2760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2513376" y="1867422"/>
              <a:ext cx="27606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6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03839177"/>
              </p:ext>
            </p:extLst>
          </p:nvPr>
        </p:nvGraphicFramePr>
        <p:xfrm>
          <a:off x="496888" y="3729643"/>
          <a:ext cx="3197225" cy="1680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320" imgH="787320" progId="Equation.DSMT4">
                  <p:embed/>
                </p:oleObj>
              </mc:Choice>
              <mc:Fallback>
                <p:oleObj name="Equation" r:id="rId5" imgW="149832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8" y="3729643"/>
                        <a:ext cx="3197225" cy="168055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 6"/>
          <p:cNvSpPr txBox="1">
            <a:spLocks noChangeArrowheads="1"/>
          </p:cNvSpPr>
          <p:nvPr/>
        </p:nvSpPr>
        <p:spPr>
          <a:xfrm>
            <a:off x="381000" y="5410200"/>
            <a:ext cx="3429000" cy="52925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=RC</a:t>
            </a: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: Hằng</a:t>
            </a:r>
            <a:r>
              <a:rPr kumimoji="0" lang="en-US" sz="220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số thời gian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8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316932317"/>
              </p:ext>
            </p:extLst>
          </p:nvPr>
        </p:nvGraphicFramePr>
        <p:xfrm>
          <a:off x="546100" y="1965325"/>
          <a:ext cx="2959100" cy="150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863280" progId="Equation.DSMT4">
                  <p:embed/>
                </p:oleObj>
              </mc:Choice>
              <mc:Fallback>
                <p:oleObj name="Equation" r:id="rId7" imgW="170172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965325"/>
                        <a:ext cx="2959100" cy="150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2274" y="381000"/>
            <a:ext cx="4775526" cy="5261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MẠCH QUÁ ĐỘ RC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43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D5C7CF-61C5-4C94-B01E-395F177A75EF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482274" y="381000"/>
            <a:ext cx="5156526" cy="5261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MẠCH QUÁ ĐỘ RLC NỐI TIẾP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473326" y="418578"/>
            <a:ext cx="3413995" cy="2175667"/>
            <a:chOff x="5473326" y="418578"/>
            <a:chExt cx="3413995" cy="2175667"/>
          </a:xfrm>
        </p:grpSpPr>
        <p:sp>
          <p:nvSpPr>
            <p:cNvPr id="17" name="Rectangle 6"/>
            <p:cNvSpPr txBox="1">
              <a:spLocks noChangeArrowheads="1"/>
            </p:cNvSpPr>
            <p:nvPr/>
          </p:nvSpPr>
          <p:spPr>
            <a:xfrm>
              <a:off x="5638800" y="2175812"/>
              <a:ext cx="2971800" cy="418433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/>
            <a:p>
              <a:pPr marR="0" lvl="0" algn="ctr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Với e(t) = cos</a:t>
              </a: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</a:t>
              </a:r>
              <a:r>
                <a:rPr lang="en-US" sz="2400" baseline="-25000">
                  <a:latin typeface="Arial" panose="020B0604020202020204" pitchFamily="34" charset="0"/>
                  <a:cs typeface="Arial" panose="020B0604020202020204" pitchFamily="34" charset="0"/>
                  <a:sym typeface="Symbol" panose="05050102010706020507" pitchFamily="18" charset="2"/>
                </a:rPr>
                <a:t>0</a:t>
              </a: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kumimoji="0" lang="en-US" sz="2200" i="0" u="none" strike="noStrike" kern="1200" cap="none" spc="0" normalizeH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5473326" y="418578"/>
              <a:ext cx="3413995" cy="1867171"/>
              <a:chOff x="5473326" y="457200"/>
              <a:chExt cx="3413995" cy="1867171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3326" y="457200"/>
                <a:ext cx="3413995" cy="1867171"/>
              </a:xfrm>
              <a:prstGeom prst="rect">
                <a:avLst/>
              </a:prstGeom>
            </p:spPr>
          </p:pic>
          <p:sp>
            <p:nvSpPr>
              <p:cNvPr id="3" name="Arc 2"/>
              <p:cNvSpPr/>
              <p:nvPr/>
            </p:nvSpPr>
            <p:spPr>
              <a:xfrm>
                <a:off x="7201422" y="556480"/>
                <a:ext cx="914400" cy="914400"/>
              </a:xfrm>
              <a:prstGeom prst="arc">
                <a:avLst>
                  <a:gd name="adj1" fmla="val 17570024"/>
                  <a:gd name="adj2" fmla="val 20716359"/>
                </a:avLst>
              </a:prstGeom>
              <a:ln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21240"/>
              </p:ext>
            </p:extLst>
          </p:nvPr>
        </p:nvGraphicFramePr>
        <p:xfrm>
          <a:off x="457200" y="1038563"/>
          <a:ext cx="4001714" cy="2274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1193760" progId="Equation.DSMT4">
                  <p:embed/>
                </p:oleObj>
              </mc:Choice>
              <mc:Fallback>
                <p:oleObj name="Equation" r:id="rId4" imgW="2273040" imgH="1193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038563"/>
                        <a:ext cx="4001714" cy="2274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381000" y="3432175"/>
            <a:ext cx="4648200" cy="798513"/>
            <a:chOff x="381000" y="3432175"/>
            <a:chExt cx="4648200" cy="798513"/>
          </a:xfrm>
        </p:grpSpPr>
        <p:graphicFrame>
          <p:nvGraphicFramePr>
            <p:cNvPr id="1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9298299"/>
                </p:ext>
              </p:extLst>
            </p:nvPr>
          </p:nvGraphicFramePr>
          <p:xfrm>
            <a:off x="1069975" y="3432175"/>
            <a:ext cx="3959225" cy="798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47840" imgH="419040" progId="Equation.DSMT4">
                    <p:embed/>
                  </p:oleObj>
                </mc:Choice>
                <mc:Fallback>
                  <p:oleObj name="Equation" r:id="rId6" imgW="224784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9975" y="3432175"/>
                          <a:ext cx="3959225" cy="798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Rectangle 6"/>
            <p:cNvSpPr txBox="1">
              <a:spLocks noChangeArrowheads="1"/>
            </p:cNvSpPr>
            <p:nvPr/>
          </p:nvSpPr>
          <p:spPr>
            <a:xfrm>
              <a:off x="381000" y="3581400"/>
              <a:ext cx="762000" cy="413424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Đặt:</a:t>
              </a:r>
              <a:endPara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992314" y="3581400"/>
            <a:ext cx="4227886" cy="477807"/>
            <a:chOff x="4763714" y="3624467"/>
            <a:chExt cx="4227886" cy="477807"/>
          </a:xfrm>
        </p:grpSpPr>
        <p:sp>
          <p:nvSpPr>
            <p:cNvPr id="21" name="Rectangle 6"/>
            <p:cNvSpPr txBox="1">
              <a:spLocks noChangeArrowheads="1"/>
            </p:cNvSpPr>
            <p:nvPr/>
          </p:nvSpPr>
          <p:spPr>
            <a:xfrm>
              <a:off x="4763714" y="3624467"/>
              <a:ext cx="4227886" cy="413424"/>
            </a:xfrm>
            <a:prstGeom prst="rect">
              <a:avLst/>
            </a:prstGeom>
            <a:noFill/>
          </p:spPr>
          <p:txBody>
            <a:bodyPr vert="horz" lIns="91440" tIns="45720" rIns="91440" bIns="45720" rtlCol="0">
              <a:no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2200">
                  <a:latin typeface="Arial" panose="020B0604020202020204" pitchFamily="34" charset="0"/>
                  <a:cs typeface="Arial" panose="020B0604020202020204" pitchFamily="34" charset="0"/>
                </a:rPr>
                <a:t>và              : tổn hao nhỏ (R bé)</a:t>
              </a:r>
              <a:endParaRPr kumimoji="0" lang="en-US" sz="22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aphicFrame>
          <p:nvGraphicFramePr>
            <p:cNvPr id="2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9752810"/>
                </p:ext>
              </p:extLst>
            </p:nvPr>
          </p:nvGraphicFramePr>
          <p:xfrm>
            <a:off x="5245274" y="3665711"/>
            <a:ext cx="939800" cy="436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33160" imgH="228600" progId="Equation.DSMT4">
                    <p:embed/>
                  </p:oleObj>
                </mc:Choice>
                <mc:Fallback>
                  <p:oleObj name="Equation" r:id="rId8" imgW="5331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5274" y="3665711"/>
                          <a:ext cx="939800" cy="436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302709"/>
              </p:ext>
            </p:extLst>
          </p:nvPr>
        </p:nvGraphicFramePr>
        <p:xfrm>
          <a:off x="482273" y="4412427"/>
          <a:ext cx="8405047" cy="921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181480" imgH="482400" progId="Equation.DSMT4">
                  <p:embed/>
                </p:oleObj>
              </mc:Choice>
              <mc:Fallback>
                <p:oleObj name="Equation" r:id="rId10" imgW="518148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73" y="4412427"/>
                        <a:ext cx="8405047" cy="9215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eft Brace 9"/>
          <p:cNvSpPr/>
          <p:nvPr/>
        </p:nvSpPr>
        <p:spPr>
          <a:xfrm rot="16200000">
            <a:off x="4270343" y="4270343"/>
            <a:ext cx="337475" cy="2094638"/>
          </a:xfrm>
          <a:prstGeom prst="leftBrace">
            <a:avLst>
              <a:gd name="adj1" fmla="val 0"/>
              <a:gd name="adj2" fmla="val 4521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Left Brace 27"/>
          <p:cNvSpPr/>
          <p:nvPr/>
        </p:nvSpPr>
        <p:spPr>
          <a:xfrm rot="16200000">
            <a:off x="7244432" y="4060370"/>
            <a:ext cx="337475" cy="2547259"/>
          </a:xfrm>
          <a:prstGeom prst="leftBrace">
            <a:avLst>
              <a:gd name="adj1" fmla="val 0"/>
              <a:gd name="adj2" fmla="val 4521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6"/>
          <p:cNvSpPr txBox="1">
            <a:spLocks noChangeArrowheads="1"/>
          </p:cNvSpPr>
          <p:nvPr/>
        </p:nvSpPr>
        <p:spPr>
          <a:xfrm>
            <a:off x="3124956" y="5573862"/>
            <a:ext cx="2742444" cy="4134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kumimoji="0" lang="en-US" sz="220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phần xác lập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6"/>
          <p:cNvSpPr txBox="1">
            <a:spLocks noChangeArrowheads="1"/>
          </p:cNvSpPr>
          <p:nvPr/>
        </p:nvSpPr>
        <p:spPr>
          <a:xfrm>
            <a:off x="6096000" y="5562758"/>
            <a:ext cx="2742444" cy="41342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2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kumimoji="0" lang="en-US" sz="2200" i="0" u="none" strike="noStrike" kern="1200" cap="none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phần quá độ</a:t>
            </a:r>
            <a:endParaRPr kumimoji="0" lang="en-US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92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8" grpId="0" animBg="1"/>
      <p:bldP spid="29" grpId="0"/>
      <p:bldP spid="31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11182</TotalTime>
  <Words>1837</Words>
  <Application>Microsoft Office PowerPoint</Application>
  <PresentationFormat>On-screen Show (4:3)</PresentationFormat>
  <Paragraphs>446</Paragraphs>
  <Slides>35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.VnTime</vt:lpstr>
      <vt:lpstr>Arial</vt:lpstr>
      <vt:lpstr>Arial </vt:lpstr>
      <vt:lpstr>Calibri</vt:lpstr>
      <vt:lpstr>Franklin Gothic Book</vt:lpstr>
      <vt:lpstr>Perpetua</vt:lpstr>
      <vt:lpstr>Times New Roman</vt:lpstr>
      <vt:lpstr>Wingdings</vt:lpstr>
      <vt:lpstr>Wingdings 2</vt:lpstr>
      <vt:lpstr>Equity</vt:lpstr>
      <vt:lpstr>Equation</vt:lpstr>
      <vt:lpstr>Chương 4: QUÁ TRÌNH QUÁ ĐỘ TRONG MẠCH RLC</vt:lpstr>
      <vt:lpstr>4.1 ĐÁP ỨNG CỦA MẠCH TRẠNG THÁI QUÁ ĐỘ</vt:lpstr>
      <vt:lpstr>PowerPoint Presentation</vt:lpstr>
      <vt:lpstr>PowerPoint Presentation</vt:lpstr>
      <vt:lpstr>4.2 BIẾN ĐỔI LAPLACE</vt:lpstr>
      <vt:lpstr>PowerPoint Presentation</vt:lpstr>
      <vt:lpstr>PowerPoint Presentation</vt:lpstr>
      <vt:lpstr>PowerPoint Presentation</vt:lpstr>
      <vt:lpstr>Bảng biến đổi Laplace một số hàm thường dùng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MẠCH QUÁ ĐỘ RL</vt:lpstr>
      <vt:lpstr>2. MẠCH QUÁ ĐỘ RC</vt:lpstr>
      <vt:lpstr>3. MẠCH QUÁ ĐỘ RLC NỐI TIẾP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ĐO DÒNG DC</dc:title>
  <dc:creator>DTZ</dc:creator>
  <cp:lastModifiedBy>Admin</cp:lastModifiedBy>
  <cp:revision>389</cp:revision>
  <dcterms:created xsi:type="dcterms:W3CDTF">2012-02-20T01:11:37Z</dcterms:created>
  <dcterms:modified xsi:type="dcterms:W3CDTF">2024-03-27T09:16:22Z</dcterms:modified>
</cp:coreProperties>
</file>