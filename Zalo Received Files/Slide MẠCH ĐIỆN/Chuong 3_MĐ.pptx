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95" r:id="rId2"/>
    <p:sldId id="327" r:id="rId3"/>
    <p:sldId id="328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3" r:id="rId14"/>
    <p:sldId id="344" r:id="rId15"/>
    <p:sldId id="340" r:id="rId16"/>
    <p:sldId id="341" r:id="rId17"/>
    <p:sldId id="345" r:id="rId18"/>
    <p:sldId id="352" r:id="rId19"/>
    <p:sldId id="342" r:id="rId20"/>
    <p:sldId id="346" r:id="rId21"/>
    <p:sldId id="347" r:id="rId22"/>
    <p:sldId id="348" r:id="rId23"/>
    <p:sldId id="349" r:id="rId24"/>
    <p:sldId id="350" r:id="rId25"/>
    <p:sldId id="35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  <a:srgbClr val="0000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799" autoAdjust="0"/>
  </p:normalViewPr>
  <p:slideViewPr>
    <p:cSldViewPr>
      <p:cViewPr varScale="1">
        <p:scale>
          <a:sx n="88" d="100"/>
          <a:sy n="88" d="100"/>
        </p:scale>
        <p:origin x="1181" y="7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5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6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70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4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60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22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23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57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47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8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1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51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82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09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26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10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63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15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917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64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781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07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92B60-4A2C-47CA-BDEF-52F5456F574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0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1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59252-B0BA-4D7D-9FDF-CEFFC21F1F3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9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9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.emf"/><Relationship Id="rId10" Type="http://schemas.openxmlformats.org/officeDocument/2006/relationships/image" Target="../media/image17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5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7" Type="http://schemas.openxmlformats.org/officeDocument/2006/relationships/image" Target="../media/image27.w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25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6.wmf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3.wmf"/><Relationship Id="rId3" Type="http://schemas.openxmlformats.org/officeDocument/2006/relationships/image" Target="../media/image28.pn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oleObject" Target="../embeddings/oleObject4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4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3.wmf"/><Relationship Id="rId10" Type="http://schemas.openxmlformats.org/officeDocument/2006/relationships/image" Target="../media/image46.wmf"/><Relationship Id="rId4" Type="http://schemas.openxmlformats.org/officeDocument/2006/relationships/oleObject" Target="../embeddings/oleObject41.bin"/><Relationship Id="rId9" Type="http://schemas.openxmlformats.org/officeDocument/2006/relationships/oleObject" Target="../embeddings/oleObject4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9.bin"/><Relationship Id="rId18" Type="http://schemas.openxmlformats.org/officeDocument/2006/relationships/oleObject" Target="../embeddings/oleObject52.bin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44.bin"/><Relationship Id="rId21" Type="http://schemas.openxmlformats.org/officeDocument/2006/relationships/image" Target="../media/image55.w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7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3.wmf"/><Relationship Id="rId20" Type="http://schemas.openxmlformats.org/officeDocument/2006/relationships/oleObject" Target="../embeddings/oleObject53.bin"/><Relationship Id="rId29" Type="http://schemas.openxmlformats.org/officeDocument/2006/relationships/oleObject" Target="../embeddings/oleObject59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8.bin"/><Relationship Id="rId24" Type="http://schemas.openxmlformats.org/officeDocument/2006/relationships/oleObject" Target="../embeddings/oleObject56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57.wmf"/><Relationship Id="rId10" Type="http://schemas.openxmlformats.org/officeDocument/2006/relationships/image" Target="../media/image50.wmf"/><Relationship Id="rId19" Type="http://schemas.openxmlformats.org/officeDocument/2006/relationships/image" Target="../media/image54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2.wmf"/><Relationship Id="rId22" Type="http://schemas.openxmlformats.org/officeDocument/2006/relationships/oleObject" Target="../embeddings/oleObject54.bin"/><Relationship Id="rId27" Type="http://schemas.openxmlformats.org/officeDocument/2006/relationships/oleObject" Target="../embeddings/oleObject58.bin"/><Relationship Id="rId30" Type="http://schemas.openxmlformats.org/officeDocument/2006/relationships/image" Target="../media/image5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58.wmf"/><Relationship Id="rId26" Type="http://schemas.openxmlformats.org/officeDocument/2006/relationships/image" Target="../media/image62.wmf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61.wmf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52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7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82.bin"/><Relationship Id="rId3" Type="http://schemas.openxmlformats.org/officeDocument/2006/relationships/image" Target="../media/image68.png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75.wmf"/><Relationship Id="rId2" Type="http://schemas.openxmlformats.org/officeDocument/2006/relationships/notesSlide" Target="../notesSlides/notesSlide17.xml"/><Relationship Id="rId16" Type="http://schemas.openxmlformats.org/officeDocument/2006/relationships/oleObject" Target="../embeddings/oleObject8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76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8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7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8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102.bin"/><Relationship Id="rId3" Type="http://schemas.openxmlformats.org/officeDocument/2006/relationships/oleObject" Target="../embeddings/oleObject94.bin"/><Relationship Id="rId21" Type="http://schemas.openxmlformats.org/officeDocument/2006/relationships/image" Target="../media/image94.wmf"/><Relationship Id="rId7" Type="http://schemas.openxmlformats.org/officeDocument/2006/relationships/oleObject" Target="../embeddings/oleObject96.bin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92.wmf"/><Relationship Id="rId2" Type="http://schemas.openxmlformats.org/officeDocument/2006/relationships/notesSlide" Target="../notesSlides/notesSlide23.xml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wmf"/><Relationship Id="rId11" Type="http://schemas.openxmlformats.org/officeDocument/2006/relationships/image" Target="../media/image89.wmf"/><Relationship Id="rId5" Type="http://schemas.openxmlformats.org/officeDocument/2006/relationships/oleObject" Target="../embeddings/oleObject95.bin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93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7.bin"/><Relationship Id="rId14" Type="http://schemas.openxmlformats.org/officeDocument/2006/relationships/oleObject" Target="../embeddings/oleObject10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oleObject" Target="../embeddings/oleObject107.bin"/><Relationship Id="rId3" Type="http://schemas.openxmlformats.org/officeDocument/2006/relationships/image" Target="../media/image95.png"/><Relationship Id="rId7" Type="http://schemas.openxmlformats.org/officeDocument/2006/relationships/image" Target="../media/image98.wmf"/><Relationship Id="rId12" Type="http://schemas.openxmlformats.org/officeDocument/2006/relationships/image" Target="../media/image10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04.bin"/><Relationship Id="rId11" Type="http://schemas.openxmlformats.org/officeDocument/2006/relationships/oleObject" Target="../embeddings/oleObject106.bin"/><Relationship Id="rId5" Type="http://schemas.openxmlformats.org/officeDocument/2006/relationships/image" Target="../media/image97.png"/><Relationship Id="rId10" Type="http://schemas.openxmlformats.org/officeDocument/2006/relationships/image" Target="../media/image100.png"/><Relationship Id="rId4" Type="http://schemas.openxmlformats.org/officeDocument/2006/relationships/image" Target="../media/image96.png"/><Relationship Id="rId9" Type="http://schemas.openxmlformats.org/officeDocument/2006/relationships/image" Target="../media/image99.wmf"/><Relationship Id="rId14" Type="http://schemas.openxmlformats.org/officeDocument/2006/relationships/image" Target="../media/image10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686800" cy="400110"/>
          </a:xfrm>
        </p:spPr>
        <p:txBody>
          <a:bodyPr lIns="0" tIns="0" rIns="0" bIns="0">
            <a:spAutoFit/>
          </a:bodyPr>
          <a:lstStyle/>
          <a:p>
            <a:pPr marL="2114550" indent="-2114550" algn="l" eaLnBrk="1" hangingPunct="1"/>
            <a:r>
              <a:rPr lang="en-US" sz="2600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3</a:t>
            </a:r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CÁC PHƯƠNG PHÁP PHÂN TÍCH MẠCH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8077200" cy="3505200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3.1  Phương pháp điện thế nút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3.2  Phương pháp dòng điện vòng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3.3  Nguyên lý xếp chồng và nguyên lý tỷ lệ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3.4  Định lý Thevenin - Norton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 bwMode="auto">
          <a:solidFill>
            <a:schemeClr val="accent1"/>
          </a:solidFill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24DB8A-C316-4528-8FD3-B6B01D41C440}" type="slidenum">
              <a:rPr lang="en-US" sz="1200" smtClean="0">
                <a:solidFill>
                  <a:schemeClr val="bg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97161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38" y="3048000"/>
            <a:ext cx="8229600" cy="3505200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buClrTx/>
              <a:buFontTx/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gốc và quy ước điện thế nút gốc =0, điện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này.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eaLnBrk="1" hangingPunct="1">
              <a:buClrTx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Gán tên cho tất cả các nút của mạch điện.</a:t>
            </a:r>
          </a:p>
          <a:p>
            <a:pPr marL="533400" indent="-533400" eaLnBrk="1" hangingPunct="1">
              <a:buClrTx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Gán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nút vừa đặt tên ở bước 2,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ý.</a:t>
            </a:r>
          </a:p>
          <a:p>
            <a:pPr marL="533400" indent="-533400" algn="just" eaLnBrk="1" hangingPunct="1">
              <a:buClrTx/>
              <a:buFontTx/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ĐL Kirchhoff 1, viết biểu thức dòng điện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theo biến điện thế các nút.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buClrTx/>
              <a:buFontTx/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điện thế các nút  dòng điện trên các nhánh.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4235328" cy="1829042"/>
          </a:xfrm>
        </p:spPr>
        <p:txBody>
          <a:bodyPr anchor="t" anchorCtr="0"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i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Phương pháp Điện thế nút thường áp dụng cho mạch có nhiều nhánh mắc song song giữa các nút, không ghép hỗ cảm.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318181" y="533400"/>
            <a:ext cx="5359219" cy="2628899"/>
            <a:chOff x="1752600" y="533400"/>
            <a:chExt cx="5359219" cy="2628899"/>
          </a:xfrm>
        </p:grpSpPr>
        <p:grpSp>
          <p:nvGrpSpPr>
            <p:cNvPr id="21" name="Group 20"/>
            <p:cNvGrpSpPr/>
            <p:nvPr/>
          </p:nvGrpSpPr>
          <p:grpSpPr>
            <a:xfrm>
              <a:off x="1752600" y="533400"/>
              <a:ext cx="5359219" cy="2628899"/>
              <a:chOff x="0" y="0"/>
              <a:chExt cx="2363470" cy="1185545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363470" cy="118554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3" name="Group 22"/>
              <p:cNvGrpSpPr/>
              <p:nvPr/>
            </p:nvGrpSpPr>
            <p:grpSpPr>
              <a:xfrm>
                <a:off x="522514" y="155749"/>
                <a:ext cx="1649734" cy="632459"/>
                <a:chOff x="0" y="0"/>
                <a:chExt cx="1650225" cy="632741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5024" y="0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56270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114048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1502229" y="487346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798844" y="341644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296426" y="326572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0" y="472273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3294276" y="952066"/>
              <a:ext cx="1564012" cy="1917960"/>
              <a:chOff x="5732676" y="1001157"/>
              <a:chExt cx="1564012" cy="1917960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5732676" y="1003489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882216" y="1001157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358196" y="2504645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594504" y="1387236"/>
              <a:ext cx="3004419" cy="961109"/>
              <a:chOff x="5032904" y="1477291"/>
              <a:chExt cx="3004419" cy="961109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>
                <a:off x="5032904" y="1574104"/>
                <a:ext cx="529696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>
                <a:off x="7467600" y="1575148"/>
                <a:ext cx="569723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6248400" y="1574104"/>
                <a:ext cx="48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5791200" y="1898276"/>
                <a:ext cx="0" cy="540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6932320" y="1909525"/>
                <a:ext cx="0" cy="5288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Content Placeholder 2"/>
              <p:cNvSpPr txBox="1">
                <a:spLocks/>
              </p:cNvSpPr>
              <p:nvPr/>
            </p:nvSpPr>
            <p:spPr>
              <a:xfrm>
                <a:off x="5156520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7574978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4" name="Content Placeholder 2"/>
              <p:cNvSpPr txBox="1">
                <a:spLocks/>
              </p:cNvSpPr>
              <p:nvPr/>
            </p:nvSpPr>
            <p:spPr>
              <a:xfrm>
                <a:off x="6347379" y="1477291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5" name="Content Placeholder 2"/>
              <p:cNvSpPr txBox="1">
                <a:spLocks/>
              </p:cNvSpPr>
              <p:nvPr/>
            </p:nvSpPr>
            <p:spPr>
              <a:xfrm>
                <a:off x="5486400" y="1865535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6642404" y="1880452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</p:grpSp>
      </p:grpSp>
      <p:sp>
        <p:nvSpPr>
          <p:cNvPr id="37" name="Title 1"/>
          <p:cNvSpPr txBox="1">
            <a:spLocks/>
          </p:cNvSpPr>
          <p:nvPr/>
        </p:nvSpPr>
        <p:spPr>
          <a:xfrm>
            <a:off x="533400" y="381000"/>
            <a:ext cx="8153400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3.1 PHƯƠNG PHÁP ĐIỆN THẾ NÚT</a:t>
            </a:r>
          </a:p>
        </p:txBody>
      </p:sp>
    </p:spTree>
    <p:extLst>
      <p:ext uri="{BB962C8B-B14F-4D97-AF65-F5344CB8AC3E}">
        <p14:creationId xmlns:p14="http://schemas.microsoft.com/office/powerpoint/2010/main" val="314811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91139" name="Object 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0697422"/>
              </p:ext>
            </p:extLst>
          </p:nvPr>
        </p:nvGraphicFramePr>
        <p:xfrm>
          <a:off x="1532732" y="793782"/>
          <a:ext cx="2079548" cy="101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482400" progId="Equation.DSMT4">
                  <p:embed/>
                </p:oleObj>
              </mc:Choice>
              <mc:Fallback>
                <p:oleObj name="Equation" r:id="rId3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732" y="793782"/>
                        <a:ext cx="2079548" cy="10124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98275" y="813084"/>
            <a:ext cx="1157223" cy="894431"/>
            <a:chOff x="5136156" y="1255532"/>
            <a:chExt cx="1157223" cy="894431"/>
          </a:xfrm>
        </p:grpSpPr>
        <p:sp>
          <p:nvSpPr>
            <p:cNvPr id="33" name="Content Placeholder 2"/>
            <p:cNvSpPr txBox="1">
              <a:spLocks/>
            </p:cNvSpPr>
            <p:nvPr/>
          </p:nvSpPr>
          <p:spPr>
            <a:xfrm>
              <a:off x="5181152" y="1255532"/>
              <a:ext cx="1112227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Nút 1:</a:t>
              </a:r>
            </a:p>
          </p:txBody>
        </p:sp>
        <p:sp>
          <p:nvSpPr>
            <p:cNvPr id="34" name="Content Placeholder 2"/>
            <p:cNvSpPr txBox="1">
              <a:spLocks/>
            </p:cNvSpPr>
            <p:nvPr/>
          </p:nvSpPr>
          <p:spPr>
            <a:xfrm>
              <a:off x="5136156" y="1778472"/>
              <a:ext cx="1112227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Nút 2:</a:t>
              </a:r>
            </a:p>
          </p:txBody>
        </p:sp>
      </p:grpSp>
      <p:graphicFrame>
        <p:nvGraphicFramePr>
          <p:cNvPr id="37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47693358"/>
              </p:ext>
            </p:extLst>
          </p:nvPr>
        </p:nvGraphicFramePr>
        <p:xfrm>
          <a:off x="1053599" y="2436377"/>
          <a:ext cx="3162997" cy="1913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914400" progId="Equation.DSMT4">
                  <p:embed/>
                </p:oleObj>
              </mc:Choice>
              <mc:Fallback>
                <p:oleObj name="Equation" r:id="rId5" imgW="15112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599" y="2436377"/>
                        <a:ext cx="3162997" cy="19134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038600" y="0"/>
            <a:ext cx="5359219" cy="2628900"/>
            <a:chOff x="92256" y="576763"/>
            <a:chExt cx="5359219" cy="2628900"/>
          </a:xfrm>
        </p:grpSpPr>
        <p:grpSp>
          <p:nvGrpSpPr>
            <p:cNvPr id="7" name="Group 6"/>
            <p:cNvGrpSpPr/>
            <p:nvPr/>
          </p:nvGrpSpPr>
          <p:grpSpPr>
            <a:xfrm>
              <a:off x="92256" y="576763"/>
              <a:ext cx="5359219" cy="2628900"/>
              <a:chOff x="0" y="0"/>
              <a:chExt cx="2363470" cy="1185545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363470" cy="118554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" name="Group 9"/>
              <p:cNvGrpSpPr/>
              <p:nvPr/>
            </p:nvGrpSpPr>
            <p:grpSpPr>
              <a:xfrm>
                <a:off x="522514" y="155749"/>
                <a:ext cx="1649734" cy="632459"/>
                <a:chOff x="0" y="0"/>
                <a:chExt cx="1650225" cy="632741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5024" y="0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56270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114048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502229" y="487346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798844" y="341644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96426" y="326572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0" y="472273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1633932" y="995429"/>
              <a:ext cx="1564012" cy="1917960"/>
              <a:chOff x="5732676" y="1001157"/>
              <a:chExt cx="1564012" cy="191796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5732676" y="1003489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6882216" y="1001157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6358196" y="2504645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914400" y="1421871"/>
              <a:ext cx="3004419" cy="1651982"/>
              <a:chOff x="5032904" y="1477291"/>
              <a:chExt cx="3004419" cy="1651982"/>
            </a:xfrm>
          </p:grpSpPr>
          <p:cxnSp>
            <p:nvCxnSpPr>
              <p:cNvPr id="39" name="Straight Arrow Connector 38"/>
              <p:cNvCxnSpPr/>
              <p:nvPr/>
            </p:nvCxnSpPr>
            <p:spPr>
              <a:xfrm>
                <a:off x="5032904" y="1574104"/>
                <a:ext cx="529696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7467600" y="1575148"/>
                <a:ext cx="569723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248400" y="1574104"/>
                <a:ext cx="48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5791200" y="1898276"/>
                <a:ext cx="0" cy="540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6932320" y="1909525"/>
                <a:ext cx="0" cy="5288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Content Placeholder 2"/>
              <p:cNvSpPr txBox="1">
                <a:spLocks/>
              </p:cNvSpPr>
              <p:nvPr/>
            </p:nvSpPr>
            <p:spPr>
              <a:xfrm>
                <a:off x="5156520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5" name="Content Placeholder 2"/>
              <p:cNvSpPr txBox="1">
                <a:spLocks/>
              </p:cNvSpPr>
              <p:nvPr/>
            </p:nvSpPr>
            <p:spPr>
              <a:xfrm>
                <a:off x="7574978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6" name="Content Placeholder 2"/>
              <p:cNvSpPr txBox="1">
                <a:spLocks/>
              </p:cNvSpPr>
              <p:nvPr/>
            </p:nvSpPr>
            <p:spPr>
              <a:xfrm>
                <a:off x="6347379" y="1477291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" name="Content Placeholder 2"/>
              <p:cNvSpPr txBox="1">
                <a:spLocks/>
              </p:cNvSpPr>
              <p:nvPr/>
            </p:nvSpPr>
            <p:spPr>
              <a:xfrm>
                <a:off x="5486400" y="1865535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8" name="Content Placeholder 2"/>
              <p:cNvSpPr txBox="1">
                <a:spLocks/>
              </p:cNvSpPr>
              <p:nvPr/>
            </p:nvSpPr>
            <p:spPr>
              <a:xfrm>
                <a:off x="6642404" y="1880452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" name="Content Placeholder 2"/>
              <p:cNvSpPr txBox="1">
                <a:spLocks/>
              </p:cNvSpPr>
              <p:nvPr/>
            </p:nvSpPr>
            <p:spPr>
              <a:xfrm>
                <a:off x="5808024" y="2757782"/>
                <a:ext cx="777168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r>
                  <a:rPr lang="en-US" sz="200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=0</a:t>
                </a:r>
                <a:endParaRPr lang="en-US" sz="2000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50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93623040"/>
              </p:ext>
            </p:extLst>
          </p:nvPr>
        </p:nvGraphicFramePr>
        <p:xfrm>
          <a:off x="5015600" y="2443273"/>
          <a:ext cx="3214000" cy="190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965160" progId="Equation.DSMT4">
                  <p:embed/>
                </p:oleObj>
              </mc:Choice>
              <mc:Fallback>
                <p:oleObj name="Equation" r:id="rId8" imgW="16254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600" y="2443273"/>
                        <a:ext cx="3214000" cy="19090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34185700"/>
              </p:ext>
            </p:extLst>
          </p:nvPr>
        </p:nvGraphicFramePr>
        <p:xfrm>
          <a:off x="1066800" y="4445118"/>
          <a:ext cx="4211206" cy="1955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360" imgH="990360" progId="Equation.DSMT4">
                  <p:embed/>
                </p:oleObj>
              </mc:Choice>
              <mc:Fallback>
                <p:oleObj name="Equation" r:id="rId10" imgW="21333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45118"/>
                        <a:ext cx="4211206" cy="1955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ight Arrow 48"/>
          <p:cNvSpPr/>
          <p:nvPr/>
        </p:nvSpPr>
        <p:spPr>
          <a:xfrm>
            <a:off x="4557571" y="3222906"/>
            <a:ext cx="304800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>
            <a:off x="685800" y="5204106"/>
            <a:ext cx="304800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9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25403734"/>
              </p:ext>
            </p:extLst>
          </p:nvPr>
        </p:nvGraphicFramePr>
        <p:xfrm>
          <a:off x="386122" y="476166"/>
          <a:ext cx="3718957" cy="1727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360" imgH="990360" progId="Equation.DSMT4">
                  <p:embed/>
                </p:oleObj>
              </mc:Choice>
              <mc:Fallback>
                <p:oleObj name="Equation" r:id="rId3" imgW="21333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22" y="476166"/>
                        <a:ext cx="3718957" cy="1727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20217361"/>
              </p:ext>
            </p:extLst>
          </p:nvPr>
        </p:nvGraphicFramePr>
        <p:xfrm>
          <a:off x="385763" y="2811463"/>
          <a:ext cx="27035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482400" progId="Equation.DSMT4">
                  <p:embed/>
                </p:oleObj>
              </mc:Choice>
              <mc:Fallback>
                <p:oleObj name="Equation" r:id="rId5" imgW="1422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2811463"/>
                        <a:ext cx="2703512" cy="91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7613460"/>
              </p:ext>
            </p:extLst>
          </p:nvPr>
        </p:nvGraphicFramePr>
        <p:xfrm>
          <a:off x="4660900" y="2362200"/>
          <a:ext cx="3617913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45960" imgH="990360" progId="Equation.DSMT4">
                  <p:embed/>
                </p:oleObj>
              </mc:Choice>
              <mc:Fallback>
                <p:oleObj name="Equation" r:id="rId7" imgW="21459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2362200"/>
                        <a:ext cx="3617913" cy="167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Content Placeholder 2"/>
          <p:cNvSpPr txBox="1">
            <a:spLocks/>
          </p:cNvSpPr>
          <p:nvPr/>
        </p:nvSpPr>
        <p:spPr>
          <a:xfrm>
            <a:off x="1143000" y="4191000"/>
            <a:ext cx="7349395" cy="214168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Tổng điện dẫn nối đến nút 1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Tổng điện dẫn nối đến nút 2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Tổng điện dẫn nối giữa nút 1-2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Tổng điện dẫn nối giữa nút 2-1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Tổng đại số các dòng điện đi vào, ra nút 1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Tổng đại số các dòng điện đi vào, ra nút 2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1371600" y="2286000"/>
            <a:ext cx="609600" cy="2667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4047995" y="2971800"/>
            <a:ext cx="381000" cy="533400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038600" y="-76200"/>
            <a:ext cx="5359219" cy="2628900"/>
            <a:chOff x="4038600" y="-76200"/>
            <a:chExt cx="5359219" cy="2628900"/>
          </a:xfrm>
        </p:grpSpPr>
        <p:grpSp>
          <p:nvGrpSpPr>
            <p:cNvPr id="7" name="Group 6"/>
            <p:cNvGrpSpPr/>
            <p:nvPr/>
          </p:nvGrpSpPr>
          <p:grpSpPr>
            <a:xfrm>
              <a:off x="4038600" y="-76200"/>
              <a:ext cx="5359219" cy="2628900"/>
              <a:chOff x="0" y="0"/>
              <a:chExt cx="2363470" cy="1185545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363470" cy="118554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" name="Group 9"/>
              <p:cNvGrpSpPr/>
              <p:nvPr/>
            </p:nvGrpSpPr>
            <p:grpSpPr>
              <a:xfrm>
                <a:off x="522514" y="155749"/>
                <a:ext cx="1649734" cy="632459"/>
                <a:chOff x="0" y="0"/>
                <a:chExt cx="1650225" cy="632741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5024" y="0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56270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1140488" y="5025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502229" y="487346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798844" y="341644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96426" y="326572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0" y="472273"/>
                  <a:ext cx="147996" cy="1453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5580276" y="342466"/>
              <a:ext cx="1564012" cy="1917960"/>
              <a:chOff x="5732676" y="1001157"/>
              <a:chExt cx="1564012" cy="191796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5732676" y="1003489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6882216" y="1001157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6358196" y="2504645"/>
                <a:ext cx="414472" cy="414472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4860744" y="768908"/>
              <a:ext cx="3004419" cy="961109"/>
              <a:chOff x="5032904" y="1477291"/>
              <a:chExt cx="3004419" cy="961109"/>
            </a:xfrm>
          </p:grpSpPr>
          <p:cxnSp>
            <p:nvCxnSpPr>
              <p:cNvPr id="39" name="Straight Arrow Connector 38"/>
              <p:cNvCxnSpPr/>
              <p:nvPr/>
            </p:nvCxnSpPr>
            <p:spPr>
              <a:xfrm>
                <a:off x="5032904" y="1574104"/>
                <a:ext cx="529696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7467600" y="1575148"/>
                <a:ext cx="569723" cy="0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248400" y="1574104"/>
                <a:ext cx="48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5791200" y="1898276"/>
                <a:ext cx="0" cy="540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6932320" y="1909525"/>
                <a:ext cx="0" cy="5288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Content Placeholder 2"/>
              <p:cNvSpPr txBox="1">
                <a:spLocks/>
              </p:cNvSpPr>
              <p:nvPr/>
            </p:nvSpPr>
            <p:spPr>
              <a:xfrm>
                <a:off x="5156520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5" name="Content Placeholder 2"/>
              <p:cNvSpPr txBox="1">
                <a:spLocks/>
              </p:cNvSpPr>
              <p:nvPr/>
            </p:nvSpPr>
            <p:spPr>
              <a:xfrm>
                <a:off x="7574978" y="1502110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6" name="Content Placeholder 2"/>
              <p:cNvSpPr txBox="1">
                <a:spLocks/>
              </p:cNvSpPr>
              <p:nvPr/>
            </p:nvSpPr>
            <p:spPr>
              <a:xfrm>
                <a:off x="6347379" y="1477291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" name="Content Placeholder 2"/>
              <p:cNvSpPr txBox="1">
                <a:spLocks/>
              </p:cNvSpPr>
              <p:nvPr/>
            </p:nvSpPr>
            <p:spPr>
              <a:xfrm>
                <a:off x="5486400" y="1865535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8" name="Content Placeholder 2"/>
              <p:cNvSpPr txBox="1">
                <a:spLocks/>
              </p:cNvSpPr>
              <p:nvPr/>
            </p:nvSpPr>
            <p:spPr>
              <a:xfrm>
                <a:off x="6642404" y="1880452"/>
                <a:ext cx="436106" cy="371491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35" name="Content Placeholder 2"/>
            <p:cNvSpPr txBox="1">
              <a:spLocks/>
            </p:cNvSpPr>
            <p:nvPr/>
          </p:nvSpPr>
          <p:spPr>
            <a:xfrm>
              <a:off x="5616104" y="2044326"/>
              <a:ext cx="777168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sz="2000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lang="en-US" sz="2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  <a:endParaRPr lang="en-US" sz="20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141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4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45114948"/>
              </p:ext>
            </p:extLst>
          </p:nvPr>
        </p:nvGraphicFramePr>
        <p:xfrm>
          <a:off x="304800" y="530225"/>
          <a:ext cx="27035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482400" progId="Equation.DSMT4">
                  <p:embed/>
                </p:oleObj>
              </mc:Choice>
              <mc:Fallback>
                <p:oleObj name="Equation" r:id="rId3" imgW="1422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0225"/>
                        <a:ext cx="2703512" cy="91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Content Placeholder 2"/>
          <p:cNvSpPr txBox="1">
            <a:spLocks/>
          </p:cNvSpPr>
          <p:nvPr/>
        </p:nvSpPr>
        <p:spPr>
          <a:xfrm>
            <a:off x="762000" y="3903937"/>
            <a:ext cx="6525893" cy="2344463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kk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Tổng dẫn nạp nối đến nút k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kl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 Tổng dẫn nạp giữa các nút k-l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dk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Tổng đại số các dòng điện đi vào, ra nút k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      (+) nếu nguồn dòng hướng vào nút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      (-) nếu nguồn dòng hướng ra khỏi nút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400" b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 thế tại nút k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sz="2400" baseline="-25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13904037"/>
              </p:ext>
            </p:extLst>
          </p:nvPr>
        </p:nvGraphicFramePr>
        <p:xfrm>
          <a:off x="3573463" y="373063"/>
          <a:ext cx="5310560" cy="140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84400" imgH="787320" progId="Equation.DSMT4">
                  <p:embed/>
                </p:oleObj>
              </mc:Choice>
              <mc:Fallback>
                <p:oleObj name="Equation" r:id="rId5" imgW="298440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373063"/>
                        <a:ext cx="5310560" cy="14014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ight Arrow 34"/>
          <p:cNvSpPr/>
          <p:nvPr/>
        </p:nvSpPr>
        <p:spPr>
          <a:xfrm>
            <a:off x="3192462" y="852768"/>
            <a:ext cx="304800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49462845"/>
              </p:ext>
            </p:extLst>
          </p:nvPr>
        </p:nvGraphicFramePr>
        <p:xfrm>
          <a:off x="3657600" y="1941513"/>
          <a:ext cx="5111750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06560" imgH="1015920" progId="Equation.DSMT4">
                  <p:embed/>
                </p:oleObj>
              </mc:Choice>
              <mc:Fallback>
                <p:oleObj name="Equation" r:id="rId7" imgW="28065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41513"/>
                        <a:ext cx="5111750" cy="1851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4091940" y="2257425"/>
            <a:ext cx="2156460" cy="1247775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2919299" y="2540483"/>
            <a:ext cx="585901" cy="47894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50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704" y="914400"/>
            <a:ext cx="8229600" cy="2743200"/>
          </a:xfrm>
        </p:spPr>
        <p:txBody>
          <a:bodyPr>
            <a:normAutofit/>
          </a:bodyPr>
          <a:lstStyle/>
          <a:p>
            <a:pPr marL="533400" indent="-533400">
              <a:buClrTx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Gán tên cho tất cả các nút, chọn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gốc và quy ước điện thế nút gốc =0.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buClrTx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Lập hệ PT điện thế (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cho các nút còn lại.</a:t>
            </a:r>
          </a:p>
          <a:p>
            <a:pPr marL="533400" indent="-533400">
              <a:buClrTx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Giải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PT điện thế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điện thế các nút  dòng điện trên các nhánh.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Lưu ý: 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Nếu mạch điện có chứa </a:t>
            </a:r>
            <a:endParaRPr lang="en-US" sz="2400" b="1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74904" y="381000"/>
            <a:ext cx="8153400" cy="609600"/>
          </a:xfrm>
        </p:spPr>
        <p:txBody>
          <a:bodyPr anchor="t" anchorCtr="0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 bước tiến hành theo p/p Điện thế nút: 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786251"/>
              </p:ext>
            </p:extLst>
          </p:nvPr>
        </p:nvGraphicFramePr>
        <p:xfrm>
          <a:off x="5289550" y="2997200"/>
          <a:ext cx="26812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279360" progId="Equation.DSMT4">
                  <p:embed/>
                </p:oleObj>
              </mc:Choice>
              <mc:Fallback>
                <p:oleObj name="Equation" r:id="rId3" imgW="1409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2997200"/>
                        <a:ext cx="2681288" cy="531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838200" y="3647713"/>
            <a:ext cx="7362589" cy="2295887"/>
            <a:chOff x="838200" y="3647713"/>
            <a:chExt cx="7362589" cy="229588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3647713"/>
              <a:ext cx="6781799" cy="2295887"/>
            </a:xfrm>
            <a:prstGeom prst="rect">
              <a:avLst/>
            </a:prstGeom>
          </p:spPr>
        </p:pic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745128"/>
                </p:ext>
              </p:extLst>
            </p:nvPr>
          </p:nvGraphicFramePr>
          <p:xfrm>
            <a:off x="7315200" y="4420620"/>
            <a:ext cx="885589" cy="865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40" imgH="419040" progId="Equation.DSMT4">
                    <p:embed/>
                  </p:oleObj>
                </mc:Choice>
                <mc:Fallback>
                  <p:oleObj name="Equation" r:id="rId6" imgW="43164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200" y="4420620"/>
                          <a:ext cx="885589" cy="86591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Right Arrow 1"/>
            <p:cNvSpPr/>
            <p:nvPr/>
          </p:nvSpPr>
          <p:spPr>
            <a:xfrm>
              <a:off x="3695699" y="4604866"/>
              <a:ext cx="1028701" cy="38100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594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09029159"/>
              </p:ext>
            </p:extLst>
          </p:nvPr>
        </p:nvGraphicFramePr>
        <p:xfrm>
          <a:off x="484537" y="2438400"/>
          <a:ext cx="3782663" cy="175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360" imgH="990360" progId="Equation.DSMT4">
                  <p:embed/>
                </p:oleObj>
              </mc:Choice>
              <mc:Fallback>
                <p:oleObj name="Equation" r:id="rId3" imgW="21333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37" y="2438400"/>
                        <a:ext cx="3782663" cy="17566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255937" y="399340"/>
            <a:ext cx="433174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1: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trên các nhánh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54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49516354"/>
              </p:ext>
            </p:extLst>
          </p:nvPr>
        </p:nvGraphicFramePr>
        <p:xfrm>
          <a:off x="436871" y="1371600"/>
          <a:ext cx="27035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482400" progId="Equation.DSMT4">
                  <p:embed/>
                </p:oleObj>
              </mc:Choice>
              <mc:Fallback>
                <p:oleObj name="Equation" r:id="rId5" imgW="1422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71" y="1371600"/>
                        <a:ext cx="2703512" cy="91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4724400" y="2263914"/>
            <a:ext cx="35052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en-US" sz="2000" baseline="-25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=R</a:t>
            </a:r>
            <a:r>
              <a:rPr lang="en-US" sz="2000" baseline="-25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=R</a:t>
            </a:r>
            <a:r>
              <a:rPr lang="en-US" sz="2000" baseline="-25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4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=R</a:t>
            </a:r>
            <a:r>
              <a:rPr lang="en-US" sz="2000" baseline="-25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5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=20; R3=10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00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kumimoji="0" lang="en-US" sz="2000" u="none" strike="noStrike" cap="none" normalizeH="0" baseline="-2500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sz="200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=20</a:t>
            </a:r>
            <a:r>
              <a:rPr kumimoji="0" lang="en-US" sz="2000" u="none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V; 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sz="2000" baseline="-25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=80 V</a:t>
            </a:r>
            <a:endParaRPr kumimoji="0" lang="en-US" sz="200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56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28501029"/>
              </p:ext>
            </p:extLst>
          </p:nvPr>
        </p:nvGraphicFramePr>
        <p:xfrm>
          <a:off x="4848419" y="3140076"/>
          <a:ext cx="1933381" cy="93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960" imgH="482400" progId="Equation.DSMT4">
                  <p:embed/>
                </p:oleObj>
              </mc:Choice>
              <mc:Fallback>
                <p:oleObj name="Equation" r:id="rId7" imgW="1002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419" y="3140076"/>
                        <a:ext cx="1933381" cy="930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859563280"/>
              </p:ext>
            </p:extLst>
          </p:nvPr>
        </p:nvGraphicFramePr>
        <p:xfrm>
          <a:off x="7318375" y="3189288"/>
          <a:ext cx="14446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82400" progId="Equation.DSMT4">
                  <p:embed/>
                </p:oleObj>
              </mc:Choice>
              <mc:Fallback>
                <p:oleObj name="Equation" r:id="rId9" imgW="838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75" y="3189288"/>
                        <a:ext cx="1444625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ight Arrow 57"/>
          <p:cNvSpPr/>
          <p:nvPr/>
        </p:nvSpPr>
        <p:spPr>
          <a:xfrm>
            <a:off x="4456112" y="3425857"/>
            <a:ext cx="270353" cy="3584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>
            <a:off x="6935113" y="3414745"/>
            <a:ext cx="270353" cy="3584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>
            <a:off x="561782" y="5368538"/>
            <a:ext cx="270353" cy="3584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86081750"/>
              </p:ext>
            </p:extLst>
          </p:nvPr>
        </p:nvGraphicFramePr>
        <p:xfrm>
          <a:off x="1371600" y="4366273"/>
          <a:ext cx="3598513" cy="226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20760" imgH="1333440" progId="Equation.DSMT4">
                  <p:embed/>
                </p:oleObj>
              </mc:Choice>
              <mc:Fallback>
                <p:oleObj name="Equation" r:id="rId11" imgW="2120760" imgH="1333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366273"/>
                        <a:ext cx="3598513" cy="22631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73319282"/>
              </p:ext>
            </p:extLst>
          </p:nvPr>
        </p:nvGraphicFramePr>
        <p:xfrm>
          <a:off x="5722831" y="4630520"/>
          <a:ext cx="2497576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34960" imgH="888840" progId="Equation.DSMT4">
                  <p:embed/>
                </p:oleObj>
              </mc:Choice>
              <mc:Fallback>
                <p:oleObj name="Equation" r:id="rId13" imgW="14349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831" y="4630520"/>
                        <a:ext cx="2497576" cy="1547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eft Brace 1"/>
          <p:cNvSpPr/>
          <p:nvPr/>
        </p:nvSpPr>
        <p:spPr>
          <a:xfrm>
            <a:off x="942782" y="4495800"/>
            <a:ext cx="304800" cy="2027286"/>
          </a:xfrm>
          <a:prstGeom prst="leftBrace">
            <a:avLst>
              <a:gd name="adj1" fmla="val 8333"/>
              <a:gd name="adj2" fmla="val 518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114800" y="0"/>
            <a:ext cx="5359219" cy="2628900"/>
            <a:chOff x="4114800" y="0"/>
            <a:chExt cx="5359219" cy="2628900"/>
          </a:xfrm>
        </p:grpSpPr>
        <p:grpSp>
          <p:nvGrpSpPr>
            <p:cNvPr id="4" name="Group 3"/>
            <p:cNvGrpSpPr/>
            <p:nvPr/>
          </p:nvGrpSpPr>
          <p:grpSpPr>
            <a:xfrm>
              <a:off x="4114800" y="0"/>
              <a:ext cx="5359219" cy="2628900"/>
              <a:chOff x="92256" y="576763"/>
              <a:chExt cx="5359219" cy="2628900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92256" y="576763"/>
                <a:ext cx="5359219" cy="2628900"/>
                <a:chOff x="0" y="0"/>
                <a:chExt cx="2363470" cy="1185545"/>
              </a:xfrm>
            </p:grpSpPr>
            <p:pic>
              <p:nvPicPr>
                <p:cNvPr id="8" name="Picture 7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2363470" cy="118554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0" name="Group 9"/>
                <p:cNvGrpSpPr/>
                <p:nvPr/>
              </p:nvGrpSpPr>
              <p:grpSpPr>
                <a:xfrm>
                  <a:off x="522514" y="155749"/>
                  <a:ext cx="1649734" cy="632459"/>
                  <a:chOff x="0" y="0"/>
                  <a:chExt cx="1650225" cy="632741"/>
                </a:xfrm>
              </p:grpSpPr>
              <p:sp>
                <p:nvSpPr>
                  <p:cNvPr id="11" name="Rectangle 10"/>
                  <p:cNvSpPr/>
                  <p:nvPr/>
                </p:nvSpPr>
                <p:spPr>
                  <a:xfrm>
                    <a:off x="5024" y="0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" name="Rectangle 11"/>
                  <p:cNvSpPr/>
                  <p:nvPr/>
                </p:nvSpPr>
                <p:spPr>
                  <a:xfrm>
                    <a:off x="562708" y="5025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1140488" y="5025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" name="Rectangle 13"/>
                  <p:cNvSpPr/>
                  <p:nvPr/>
                </p:nvSpPr>
                <p:spPr>
                  <a:xfrm>
                    <a:off x="1502229" y="487346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>
                  <a:xfrm>
                    <a:off x="798844" y="341644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" name="Rectangle 15"/>
                  <p:cNvSpPr/>
                  <p:nvPr/>
                </p:nvSpPr>
                <p:spPr>
                  <a:xfrm>
                    <a:off x="296426" y="326572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>
                  <a:xfrm>
                    <a:off x="0" y="472273"/>
                    <a:ext cx="147996" cy="1453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8" name="Group 17"/>
              <p:cNvGrpSpPr/>
              <p:nvPr/>
            </p:nvGrpSpPr>
            <p:grpSpPr>
              <a:xfrm>
                <a:off x="1633932" y="995429"/>
                <a:ext cx="1564012" cy="1977830"/>
                <a:chOff x="5732676" y="1001157"/>
                <a:chExt cx="1564012" cy="1977830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5732676" y="1003489"/>
                  <a:ext cx="414472" cy="414472"/>
                </a:xfrm>
                <a:prstGeom prst="ellipse">
                  <a:avLst/>
                </a:prstGeom>
                <a:noFill/>
                <a:ln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>
                      <a:solidFill>
                        <a:srgbClr val="FF000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882216" y="1001157"/>
                  <a:ext cx="414472" cy="414472"/>
                </a:xfrm>
                <a:prstGeom prst="ellipse">
                  <a:avLst/>
                </a:prstGeom>
                <a:noFill/>
                <a:ln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>
                      <a:solidFill>
                        <a:srgbClr val="FF000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6345964" y="2564515"/>
                  <a:ext cx="414472" cy="414472"/>
                </a:xfrm>
                <a:prstGeom prst="ellipse">
                  <a:avLst/>
                </a:prstGeom>
                <a:noFill/>
                <a:ln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>
                      <a:solidFill>
                        <a:srgbClr val="FF000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  <a:endParaRPr lang="en-US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914400" y="1421871"/>
                <a:ext cx="3004419" cy="961109"/>
                <a:chOff x="5032904" y="1477291"/>
                <a:chExt cx="3004419" cy="961109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>
                  <a:off x="5032904" y="1574104"/>
                  <a:ext cx="529696" cy="0"/>
                </a:xfrm>
                <a:prstGeom prst="straightConnector1">
                  <a:avLst/>
                </a:prstGeom>
                <a:ln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 flipH="1">
                  <a:off x="7467600" y="1575148"/>
                  <a:ext cx="569723" cy="0"/>
                </a:xfrm>
                <a:prstGeom prst="straightConnector1">
                  <a:avLst/>
                </a:prstGeom>
                <a:ln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6248400" y="1574104"/>
                  <a:ext cx="48225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5791200" y="1898276"/>
                  <a:ext cx="0" cy="54012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6932320" y="1909525"/>
                  <a:ext cx="0" cy="5288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Content Placeholder 2"/>
                <p:cNvSpPr txBox="1">
                  <a:spLocks/>
                </p:cNvSpPr>
                <p:nvPr/>
              </p:nvSpPr>
              <p:spPr>
                <a:xfrm>
                  <a:off x="5156520" y="1502110"/>
                  <a:ext cx="436106" cy="371491"/>
                </a:xfrm>
                <a:prstGeom prst="rect">
                  <a:avLst/>
                </a:prstGeom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Wingdings 2"/>
                    <a:buNone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5" name="Content Placeholder 2"/>
                <p:cNvSpPr txBox="1">
                  <a:spLocks/>
                </p:cNvSpPr>
                <p:nvPr/>
              </p:nvSpPr>
              <p:spPr>
                <a:xfrm>
                  <a:off x="7574978" y="1502110"/>
                  <a:ext cx="436106" cy="371491"/>
                </a:xfrm>
                <a:prstGeom prst="rect">
                  <a:avLst/>
                </a:prstGeom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Wingdings 2"/>
                    <a:buNone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6" name="Content Placeholder 2"/>
                <p:cNvSpPr txBox="1">
                  <a:spLocks/>
                </p:cNvSpPr>
                <p:nvPr/>
              </p:nvSpPr>
              <p:spPr>
                <a:xfrm>
                  <a:off x="6347379" y="1477291"/>
                  <a:ext cx="436106" cy="371491"/>
                </a:xfrm>
                <a:prstGeom prst="rect">
                  <a:avLst/>
                </a:prstGeom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Wingdings 2"/>
                    <a:buNone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7" name="Content Placeholder 2"/>
                <p:cNvSpPr txBox="1">
                  <a:spLocks/>
                </p:cNvSpPr>
                <p:nvPr/>
              </p:nvSpPr>
              <p:spPr>
                <a:xfrm>
                  <a:off x="5486400" y="1865535"/>
                  <a:ext cx="436106" cy="371491"/>
                </a:xfrm>
                <a:prstGeom prst="rect">
                  <a:avLst/>
                </a:prstGeom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Wingdings 2"/>
                    <a:buNone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8" name="Content Placeholder 2"/>
                <p:cNvSpPr txBox="1">
                  <a:spLocks/>
                </p:cNvSpPr>
                <p:nvPr/>
              </p:nvSpPr>
              <p:spPr>
                <a:xfrm>
                  <a:off x="6642404" y="1880452"/>
                  <a:ext cx="436106" cy="371491"/>
                </a:xfrm>
                <a:prstGeom prst="rect">
                  <a:avLst/>
                </a:prstGeom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Wingdings 2"/>
                    <a:buNone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</p:grpSp>
        <p:sp>
          <p:nvSpPr>
            <p:cNvPr id="50" name="Content Placeholder 2"/>
            <p:cNvSpPr txBox="1">
              <a:spLocks/>
            </p:cNvSpPr>
            <p:nvPr/>
          </p:nvSpPr>
          <p:spPr>
            <a:xfrm>
              <a:off x="6048688" y="1644641"/>
              <a:ext cx="777168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sz="2000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lang="en-US" sz="2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  <a:endParaRPr lang="en-US" sz="20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 Box 7"/>
          <p:cNvSpPr txBox="1">
            <a:spLocks noChangeArrowheads="1"/>
          </p:cNvSpPr>
          <p:nvPr/>
        </p:nvSpPr>
        <p:spPr bwMode="auto">
          <a:xfrm flipV="1">
            <a:off x="3198182" y="1469886"/>
            <a:ext cx="1050663" cy="89231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Nút 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Nút 2</a:t>
            </a:r>
            <a:endParaRPr lang="en-US" sz="2000" baseline="-2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03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2" grpId="0" animBg="1"/>
      <p:bldP spid="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448311125"/>
              </p:ext>
            </p:extLst>
          </p:nvPr>
        </p:nvGraphicFramePr>
        <p:xfrm>
          <a:off x="457200" y="2830392"/>
          <a:ext cx="4972455" cy="171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960" imgH="965160" progId="Equation.DSMT4">
                  <p:embed/>
                </p:oleObj>
              </mc:Choice>
              <mc:Fallback>
                <p:oleObj name="Equation" r:id="rId3" imgW="279396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30392"/>
                        <a:ext cx="4972455" cy="1717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255937" y="272534"/>
            <a:ext cx="4331743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2: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biên độ phức     dòng điện trên các nhánh.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54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68324276"/>
              </p:ext>
            </p:extLst>
          </p:nvPr>
        </p:nvGraphicFramePr>
        <p:xfrm>
          <a:off x="228600" y="1530580"/>
          <a:ext cx="3225583" cy="113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507960" progId="Equation.DSMT4">
                  <p:embed/>
                </p:oleObj>
              </mc:Choice>
              <mc:Fallback>
                <p:oleObj name="Equation" r:id="rId5" imgW="13586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30580"/>
                        <a:ext cx="3225583" cy="11367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ight Arrow 58"/>
          <p:cNvSpPr/>
          <p:nvPr/>
        </p:nvSpPr>
        <p:spPr>
          <a:xfrm>
            <a:off x="5831997" y="3501937"/>
            <a:ext cx="270353" cy="3584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99818"/>
              </p:ext>
            </p:extLst>
          </p:nvPr>
        </p:nvGraphicFramePr>
        <p:xfrm>
          <a:off x="6284913" y="3151188"/>
          <a:ext cx="23018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482400" progId="Equation.DSMT4">
                  <p:embed/>
                </p:oleObj>
              </mc:Choice>
              <mc:Fallback>
                <p:oleObj name="Equation" r:id="rId7" imgW="1269720" imgH="48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3151188"/>
                        <a:ext cx="2301875" cy="996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192702"/>
              </p:ext>
            </p:extLst>
          </p:nvPr>
        </p:nvGraphicFramePr>
        <p:xfrm>
          <a:off x="1752600" y="4778375"/>
          <a:ext cx="6413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13000" imgH="419040" progId="Equation.DSMT4">
                  <p:embed/>
                </p:oleObj>
              </mc:Choice>
              <mc:Fallback>
                <p:oleObj name="Equation" r:id="rId9" imgW="321300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778375"/>
                        <a:ext cx="6413500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373188"/>
              </p:ext>
            </p:extLst>
          </p:nvPr>
        </p:nvGraphicFramePr>
        <p:xfrm>
          <a:off x="1752600" y="5638800"/>
          <a:ext cx="5894387" cy="85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82880" imgH="419040" progId="Equation.DSMT4">
                  <p:embed/>
                </p:oleObj>
              </mc:Choice>
              <mc:Fallback>
                <p:oleObj name="Equation" r:id="rId11" imgW="288288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38800"/>
                        <a:ext cx="5894387" cy="8573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eft Brace 24"/>
          <p:cNvSpPr/>
          <p:nvPr/>
        </p:nvSpPr>
        <p:spPr>
          <a:xfrm>
            <a:off x="1447799" y="5029200"/>
            <a:ext cx="304801" cy="1295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609600" y="5495597"/>
            <a:ext cx="270353" cy="3584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572000" y="272534"/>
            <a:ext cx="4495800" cy="2603334"/>
            <a:chOff x="4267200" y="228600"/>
            <a:chExt cx="4771454" cy="264726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7200" y="228600"/>
              <a:ext cx="4771454" cy="2538657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5941568" y="571500"/>
              <a:ext cx="324000" cy="324000"/>
            </a:xfrm>
            <a:prstGeom prst="ellipse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7306102" y="549176"/>
              <a:ext cx="324000" cy="324000"/>
            </a:xfrm>
            <a:prstGeom prst="ellipse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>
                  <a:solidFill>
                    <a:srgbClr val="FF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6499927" y="2551868"/>
              <a:ext cx="324000" cy="324000"/>
            </a:xfrm>
            <a:prstGeom prst="ellipse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>
                  <a:solidFill>
                    <a:srgbClr val="FF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6770654" y="2342377"/>
              <a:ext cx="777168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endParaRPr lang="en-US" sz="20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77979"/>
              </p:ext>
            </p:extLst>
          </p:nvPr>
        </p:nvGraphicFramePr>
        <p:xfrm>
          <a:off x="6826665" y="2454988"/>
          <a:ext cx="537417" cy="275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9800" imgH="241200" progId="Equation.DSMT4">
                  <p:embed/>
                </p:oleObj>
              </mc:Choice>
              <mc:Fallback>
                <p:oleObj name="Equation" r:id="rId14" imgW="469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26665" y="2454988"/>
                        <a:ext cx="537417" cy="275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47344"/>
              </p:ext>
            </p:extLst>
          </p:nvPr>
        </p:nvGraphicFramePr>
        <p:xfrm>
          <a:off x="3152775" y="669925"/>
          <a:ext cx="5810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80" imgH="266400" progId="Equation.DSMT4">
                  <p:embed/>
                </p:oleObj>
              </mc:Choice>
              <mc:Fallback>
                <p:oleObj name="Equation" r:id="rId16" imgW="3808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52775" y="669925"/>
                        <a:ext cx="581025" cy="40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/>
          <p:cNvSpPr txBox="1">
            <a:spLocks noChangeArrowheads="1"/>
          </p:cNvSpPr>
          <p:nvPr/>
        </p:nvSpPr>
        <p:spPr bwMode="auto">
          <a:xfrm flipV="1">
            <a:off x="3352800" y="1767538"/>
            <a:ext cx="857877" cy="89231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Nút 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Nút 2</a:t>
            </a:r>
            <a:endParaRPr lang="en-US" sz="2000" baseline="-2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5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5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534400" cy="780261"/>
          </a:xfrm>
        </p:spPr>
        <p:txBody>
          <a:bodyPr anchor="t" anchorCtr="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i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Phương pháp Dòng điện vòng thường áp dụng cho mạch có ít số vòng.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595095"/>
            <a:ext cx="4115101" cy="1833905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259576"/>
              </p:ext>
            </p:extLst>
          </p:nvPr>
        </p:nvGraphicFramePr>
        <p:xfrm>
          <a:off x="1752600" y="1648076"/>
          <a:ext cx="2749296" cy="1552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0" imgH="787400" progId="Equation.DSMT4">
                  <p:embed/>
                </p:oleObj>
              </mc:Choice>
              <mc:Fallback>
                <p:oleObj name="Equation" r:id="rId4" imgW="1397000" imgH="787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48076"/>
                        <a:ext cx="2749296" cy="15523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Content Placeholder 2"/>
          <p:cNvSpPr txBox="1">
            <a:spLocks/>
          </p:cNvSpPr>
          <p:nvPr/>
        </p:nvSpPr>
        <p:spPr>
          <a:xfrm>
            <a:off x="792773" y="1650333"/>
            <a:ext cx="1112227" cy="371491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Nút 1:</a:t>
            </a: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665311" y="2181476"/>
            <a:ext cx="1060705" cy="371491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Vòng I:</a:t>
            </a:r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576585" y="2651457"/>
            <a:ext cx="1060705" cy="371491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Vòng II: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008438"/>
              </p:ext>
            </p:extLst>
          </p:nvPr>
        </p:nvGraphicFramePr>
        <p:xfrm>
          <a:off x="293688" y="3349625"/>
          <a:ext cx="33051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558720" progId="Equation.DSMT4">
                  <p:embed/>
                </p:oleObj>
              </mc:Choice>
              <mc:Fallback>
                <p:oleObj name="Equation" r:id="rId6" imgW="1815840" imgH="558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3349625"/>
                        <a:ext cx="3305175" cy="1017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56552"/>
              </p:ext>
            </p:extLst>
          </p:nvPr>
        </p:nvGraphicFramePr>
        <p:xfrm>
          <a:off x="4825666" y="3656494"/>
          <a:ext cx="3937334" cy="464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300" imgH="241300" progId="Equation.DSMT4">
                  <p:embed/>
                </p:oleObj>
              </mc:Choice>
              <mc:Fallback>
                <p:oleObj name="Equation" r:id="rId8" imgW="20193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666" y="3656494"/>
                        <a:ext cx="3937334" cy="464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eft Arrow 18"/>
          <p:cNvSpPr/>
          <p:nvPr/>
        </p:nvSpPr>
        <p:spPr>
          <a:xfrm>
            <a:off x="4139866" y="3656494"/>
            <a:ext cx="304800" cy="464308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278833"/>
              </p:ext>
            </p:extLst>
          </p:nvPr>
        </p:nvGraphicFramePr>
        <p:xfrm>
          <a:off x="304800" y="4916488"/>
          <a:ext cx="34956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360" imgH="533160" progId="Equation.DSMT4">
                  <p:embed/>
                </p:oleObj>
              </mc:Choice>
              <mc:Fallback>
                <p:oleObj name="Equation" r:id="rId10" imgW="1917360" imgH="5331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16488"/>
                        <a:ext cx="3495675" cy="1027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/>
          <p:cNvGrpSpPr/>
          <p:nvPr/>
        </p:nvGrpSpPr>
        <p:grpSpPr>
          <a:xfrm>
            <a:off x="3962400" y="4457700"/>
            <a:ext cx="4953301" cy="2095500"/>
            <a:chOff x="3901857" y="3879850"/>
            <a:chExt cx="4953301" cy="2095500"/>
          </a:xfrm>
        </p:grpSpPr>
        <p:sp>
          <p:nvSpPr>
            <p:cNvPr id="48" name="Content Placeholder 2"/>
            <p:cNvSpPr txBox="1">
              <a:spLocks/>
            </p:cNvSpPr>
            <p:nvPr/>
          </p:nvSpPr>
          <p:spPr>
            <a:xfrm>
              <a:off x="3901857" y="3879850"/>
              <a:ext cx="4953301" cy="2095500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ClrTx/>
                <a:buFont typeface="Wingdings 2"/>
                <a:buNone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(Z</a:t>
              </a:r>
              <a:r>
                <a:rPr lang="en-US" sz="2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+Z</a:t>
              </a:r>
              <a:r>
                <a:rPr lang="en-US" sz="2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): Tổng trở kháng vòng I</a:t>
              </a:r>
            </a:p>
            <a:p>
              <a:pPr marL="0" indent="0">
                <a:spcBef>
                  <a:spcPts val="0"/>
                </a:spcBef>
                <a:buClrTx/>
                <a:buNone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   Z</a:t>
              </a:r>
              <a:r>
                <a:rPr lang="en-US" sz="2200" baseline="-25000">
                  <a:latin typeface="Arial" panose="020B0604020202020204" pitchFamily="34" charset="0"/>
                  <a:cs typeface="Arial" panose="020B0604020202020204" pitchFamily="34" charset="0"/>
                </a:rPr>
                <a:t>3       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: Trở kháng chung 2 vòng</a:t>
              </a:r>
            </a:p>
            <a:p>
              <a:pPr marL="0" indent="0">
                <a:spcBef>
                  <a:spcPts val="0"/>
                </a:spcBef>
                <a:buClrTx/>
                <a:buNone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(Z</a:t>
              </a:r>
              <a:r>
                <a:rPr lang="en-US" sz="2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+Z</a:t>
              </a:r>
              <a:r>
                <a:rPr lang="en-US" sz="2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): Tổng trở kháng vòng II</a:t>
              </a:r>
            </a:p>
            <a:p>
              <a:pPr marL="0" indent="0">
                <a:spcBef>
                  <a:spcPts val="0"/>
                </a:spcBef>
                <a:buClrTx/>
                <a:buNone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            : Tổng đại số nguồn áp vòng I</a:t>
              </a:r>
            </a:p>
            <a:p>
              <a:pPr marL="0" indent="0">
                <a:spcBef>
                  <a:spcPts val="600"/>
                </a:spcBef>
                <a:buClrTx/>
                <a:buNone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            : Tổng đại số nguồn áp vòng II</a:t>
              </a:r>
            </a:p>
          </p:txBody>
        </p: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176390"/>
                </p:ext>
              </p:extLst>
            </p:nvPr>
          </p:nvGraphicFramePr>
          <p:xfrm>
            <a:off x="4011612" y="4890468"/>
            <a:ext cx="892175" cy="46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57200" imgH="241200" progId="Equation.DSMT4">
                    <p:embed/>
                  </p:oleObj>
                </mc:Choice>
                <mc:Fallback>
                  <p:oleObj name="Equation" r:id="rId12" imgW="4572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1612" y="4890468"/>
                          <a:ext cx="892175" cy="4651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9302648"/>
                </p:ext>
              </p:extLst>
            </p:nvPr>
          </p:nvGraphicFramePr>
          <p:xfrm>
            <a:off x="4011613" y="5326063"/>
            <a:ext cx="941387" cy="46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82400" imgH="241200" progId="Equation.DSMT4">
                    <p:embed/>
                  </p:oleObj>
                </mc:Choice>
                <mc:Fallback>
                  <p:oleObj name="Equation" r:id="rId14" imgW="4824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1613" y="5326063"/>
                          <a:ext cx="941387" cy="4651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itle 1"/>
          <p:cNvSpPr txBox="1">
            <a:spLocks/>
          </p:cNvSpPr>
          <p:nvPr/>
        </p:nvSpPr>
        <p:spPr>
          <a:xfrm>
            <a:off x="304800" y="228600"/>
            <a:ext cx="8153400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3.2 PHƯƠNG PHÁP DÒNG ĐIỆN VÒNG</a:t>
            </a:r>
          </a:p>
        </p:txBody>
      </p:sp>
    </p:spTree>
    <p:extLst>
      <p:ext uri="{BB962C8B-B14F-4D97-AF65-F5344CB8AC3E}">
        <p14:creationId xmlns:p14="http://schemas.microsoft.com/office/powerpoint/2010/main" val="254861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1" grpId="0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42079"/>
              </p:ext>
            </p:extLst>
          </p:nvPr>
        </p:nvGraphicFramePr>
        <p:xfrm>
          <a:off x="457200" y="762000"/>
          <a:ext cx="4032504" cy="1959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500" imgH="990600" progId="Equation.DSMT4">
                  <p:embed/>
                </p:oleObj>
              </mc:Choice>
              <mc:Fallback>
                <p:oleObj name="Equation" r:id="rId3" imgW="23495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0"/>
                        <a:ext cx="4032504" cy="19594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374904" y="228600"/>
            <a:ext cx="8153400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PT dòng điện cho L vòng: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052008"/>
              </p:ext>
            </p:extLst>
          </p:nvPr>
        </p:nvGraphicFramePr>
        <p:xfrm>
          <a:off x="5246318" y="875464"/>
          <a:ext cx="3745282" cy="1741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800" imgH="863600" progId="Equation.DSMT4">
                  <p:embed/>
                </p:oleObj>
              </mc:Choice>
              <mc:Fallback>
                <p:oleObj name="Equation" r:id="rId5" imgW="2082800" imgH="86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318" y="875464"/>
                        <a:ext cx="3745282" cy="17414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ontent Placeholder 2"/>
          <p:cNvSpPr txBox="1">
            <a:spLocks/>
          </p:cNvSpPr>
          <p:nvPr/>
        </p:nvSpPr>
        <p:spPr>
          <a:xfrm>
            <a:off x="609600" y="2971800"/>
            <a:ext cx="8305800" cy="3335063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k-l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(+)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(-)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(+)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(-) -&gt; (+)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(-)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(+) -&gt; (-)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vòng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endParaRPr lang="en-US" sz="24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702382"/>
              </p:ext>
            </p:extLst>
          </p:nvPr>
        </p:nvGraphicFramePr>
        <p:xfrm>
          <a:off x="762000" y="5686615"/>
          <a:ext cx="479425" cy="620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241200" progId="Equation.DSMT4">
                  <p:embed/>
                </p:oleObj>
              </mc:Choice>
              <mc:Fallback>
                <p:oleObj name="Equation" r:id="rId7" imgW="203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686615"/>
                        <a:ext cx="479425" cy="620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Content Placeholder 2"/>
          <p:cNvSpPr txBox="1">
            <a:spLocks/>
          </p:cNvSpPr>
          <p:nvPr/>
        </p:nvSpPr>
        <p:spPr>
          <a:xfrm>
            <a:off x="4354882" y="1461655"/>
            <a:ext cx="902918" cy="519531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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42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534400" cy="4876800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Tx/>
              <a:buSzPct val="100000"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Vẽ chiều dòng điện các vòng.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138" indent="-338138">
              <a:spcBef>
                <a:spcPts val="1200"/>
              </a:spcBef>
              <a:buClrTx/>
              <a:buSzPct val="100000"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Lập hệ PT dòng điện cho các vòng (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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38138" indent="-338138">
              <a:lnSpc>
                <a:spcPct val="110000"/>
              </a:lnSpc>
              <a:spcBef>
                <a:spcPts val="1200"/>
              </a:spcBef>
              <a:buClrTx/>
              <a:buSzPct val="100000"/>
              <a:buFontTx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Giải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PT dòng điện vòng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dòng điện vòng  dòng điện trên các nhánh:                    :</a:t>
            </a:r>
          </a:p>
          <a:p>
            <a:pPr marL="0" indent="287338">
              <a:spcBef>
                <a:spcPts val="600"/>
              </a:spcBef>
              <a:buClrTx/>
              <a:buSzPct val="10000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(+) nếu chiều 	cùng chiều với       </a:t>
            </a:r>
          </a:p>
          <a:p>
            <a:pPr marL="0" indent="287338">
              <a:spcBef>
                <a:spcPts val="600"/>
              </a:spcBef>
              <a:buClrTx/>
              <a:buSzPct val="10000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(-) nếu chiều 	ngược chiều với       </a:t>
            </a:r>
          </a:p>
          <a:p>
            <a:pPr>
              <a:spcBef>
                <a:spcPts val="240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Lưu ý: </a:t>
            </a:r>
          </a:p>
          <a:p>
            <a:pPr>
              <a:spcBef>
                <a:spcPts val="1200"/>
              </a:spcBef>
              <a:buClrTx/>
              <a:buFont typeface="Wingdings" panose="05000000000000000000" pitchFamily="2" charset="2"/>
              <a:buChar char="ü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 Nếu mạch điện có chứa</a:t>
            </a:r>
          </a:p>
          <a:p>
            <a:pPr>
              <a:spcBef>
                <a:spcPts val="1200"/>
              </a:spcBef>
              <a:buClrTx/>
              <a:buFont typeface="Wingdings" panose="05000000000000000000" pitchFamily="2" charset="2"/>
              <a:buChar char="ü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Mạch có ghép hỗ cảm (xem ví dụ 2)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74904" y="381000"/>
            <a:ext cx="8153400" cy="609600"/>
          </a:xfrm>
        </p:spPr>
        <p:txBody>
          <a:bodyPr anchor="t" anchorCtr="0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 bước tiến hành theo p/p Dòng điện vòng: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743200" y="2452905"/>
            <a:ext cx="3925518" cy="2639969"/>
            <a:chOff x="2743200" y="2452905"/>
            <a:chExt cx="3925518" cy="2639969"/>
          </a:xfrm>
        </p:grpSpPr>
        <p:graphicFrame>
          <p:nvGraphicFramePr>
            <p:cNvPr id="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6204506"/>
                </p:ext>
              </p:extLst>
            </p:nvPr>
          </p:nvGraphicFramePr>
          <p:xfrm>
            <a:off x="3048000" y="2452905"/>
            <a:ext cx="159385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61760" imgH="253800" progId="Equation.DSMT4">
                    <p:embed/>
                  </p:oleObj>
                </mc:Choice>
                <mc:Fallback>
                  <p:oleObj name="Equation" r:id="rId3" imgW="761760" imgH="25380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2452905"/>
                          <a:ext cx="1593850" cy="5397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324499"/>
                </p:ext>
              </p:extLst>
            </p:nvPr>
          </p:nvGraphicFramePr>
          <p:xfrm>
            <a:off x="4255718" y="4554712"/>
            <a:ext cx="2413000" cy="538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55600" imgH="253800" progId="Equation.DSMT4">
                    <p:embed/>
                  </p:oleObj>
                </mc:Choice>
                <mc:Fallback>
                  <p:oleObj name="Equation" r:id="rId5" imgW="11556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5718" y="4554712"/>
                          <a:ext cx="2413000" cy="5381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528668"/>
                </p:ext>
              </p:extLst>
            </p:nvPr>
          </p:nvGraphicFramePr>
          <p:xfrm>
            <a:off x="2747854" y="2903712"/>
            <a:ext cx="425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41200" progId="Equation.DSMT4">
                    <p:embed/>
                  </p:oleObj>
                </mc:Choice>
                <mc:Fallback>
                  <p:oleObj name="Equation" r:id="rId7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854" y="2903712"/>
                          <a:ext cx="425450" cy="512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1613626"/>
                </p:ext>
              </p:extLst>
            </p:nvPr>
          </p:nvGraphicFramePr>
          <p:xfrm>
            <a:off x="5410200" y="2908126"/>
            <a:ext cx="34607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41200" progId="Equation.DSMT4">
                    <p:embed/>
                  </p:oleObj>
                </mc:Choice>
                <mc:Fallback>
                  <p:oleObj name="Equation" r:id="rId9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0200" y="2908126"/>
                          <a:ext cx="346075" cy="5127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2840393"/>
                </p:ext>
              </p:extLst>
            </p:nvPr>
          </p:nvGraphicFramePr>
          <p:xfrm>
            <a:off x="2743200" y="3369023"/>
            <a:ext cx="425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41200" progId="Equation.DSMT4">
                    <p:embed/>
                  </p:oleObj>
                </mc:Choice>
                <mc:Fallback>
                  <p:oleObj name="Equation" r:id="rId11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3369023"/>
                          <a:ext cx="425450" cy="512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4718596"/>
                </p:ext>
              </p:extLst>
            </p:nvPr>
          </p:nvGraphicFramePr>
          <p:xfrm>
            <a:off x="5638800" y="3373437"/>
            <a:ext cx="34607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41200" progId="Equation.DSMT4">
                    <p:embed/>
                  </p:oleObj>
                </mc:Choice>
                <mc:Fallback>
                  <p:oleObj name="Equation" r:id="rId12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8800" y="3373437"/>
                          <a:ext cx="346075" cy="5127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1985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374904" y="464403"/>
            <a:ext cx="263966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1: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I</a:t>
            </a:r>
            <a:r>
              <a:rPr lang="en-US" sz="24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1</a:t>
            </a:r>
            <a:endParaRPr kumimoji="0" lang="en-US" sz="2400" b="1" i="1" u="none" strike="noStrike" cap="none" normalizeH="0" baseline="-2500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3733800" y="5015821"/>
            <a:ext cx="270353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659" y="152400"/>
            <a:ext cx="5602941" cy="2029549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62283"/>
              </p:ext>
            </p:extLst>
          </p:nvPr>
        </p:nvGraphicFramePr>
        <p:xfrm>
          <a:off x="342900" y="4391025"/>
          <a:ext cx="3009900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761760" progId="Equation.DSMT4">
                  <p:embed/>
                </p:oleObj>
              </mc:Choice>
              <mc:Fallback>
                <p:oleObj name="Equation" r:id="rId4" imgW="1333440" imgH="7617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4391025"/>
                        <a:ext cx="3009900" cy="173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800910"/>
              </p:ext>
            </p:extLst>
          </p:nvPr>
        </p:nvGraphicFramePr>
        <p:xfrm>
          <a:off x="4114800" y="4981725"/>
          <a:ext cx="4543826" cy="50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228600" progId="Equation.DSMT4">
                  <p:embed/>
                </p:oleObj>
              </mc:Choice>
              <mc:Fallback>
                <p:oleObj name="Equation" r:id="rId6" imgW="21209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81725"/>
                        <a:ext cx="4543826" cy="507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1" y="2342895"/>
            <a:ext cx="4495800" cy="2140858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 rot="531536">
            <a:off x="8187017" y="1973170"/>
            <a:ext cx="577249" cy="1817444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42"/>
          <p:cNvSpPr>
            <a:spLocks noChangeArrowheads="1"/>
          </p:cNvSpPr>
          <p:nvPr/>
        </p:nvSpPr>
        <p:spPr bwMode="auto">
          <a:xfrm>
            <a:off x="407561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575973"/>
              </p:ext>
            </p:extLst>
          </p:nvPr>
        </p:nvGraphicFramePr>
        <p:xfrm>
          <a:off x="319513" y="1828800"/>
          <a:ext cx="2995187" cy="1065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545760" progId="Equation.DSMT4">
                  <p:embed/>
                </p:oleObj>
              </mc:Choice>
              <mc:Fallback>
                <p:oleObj name="Equation" r:id="rId9" imgW="1536480" imgH="545760" progId="Equation.DSMT4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13" y="1828800"/>
                        <a:ext cx="2995187" cy="1065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own Arrow 9"/>
          <p:cNvSpPr/>
          <p:nvPr/>
        </p:nvSpPr>
        <p:spPr>
          <a:xfrm>
            <a:off x="1333500" y="3276600"/>
            <a:ext cx="228600" cy="762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E5B591-7CC0-4C92-85F3-EA07933017A8}"/>
              </a:ext>
            </a:extLst>
          </p:cNvPr>
          <p:cNvSpPr/>
          <p:nvPr/>
        </p:nvSpPr>
        <p:spPr>
          <a:xfrm>
            <a:off x="1167295" y="1599653"/>
            <a:ext cx="1540213" cy="1404792"/>
          </a:xfrm>
          <a:prstGeom prst="rect">
            <a:avLst/>
          </a:prstGeom>
          <a:solidFill>
            <a:srgbClr val="FFFF99"/>
          </a:solidFill>
          <a:ln w="254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415406" y="457200"/>
            <a:ext cx="58153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2: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Lập hệ PT dòng điện cho 2 vòng</a:t>
            </a:r>
            <a:endParaRPr kumimoji="0" lang="en-US" sz="2400" b="1" i="1" u="none" strike="noStrike" cap="none" normalizeH="0" baseline="-2500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pSp>
        <p:nvGrpSpPr>
          <p:cNvPr id="342" name="Group 341"/>
          <p:cNvGrpSpPr/>
          <p:nvPr/>
        </p:nvGrpSpPr>
        <p:grpSpPr>
          <a:xfrm>
            <a:off x="152400" y="1600200"/>
            <a:ext cx="3581400" cy="2485792"/>
            <a:chOff x="5362575" y="365289"/>
            <a:chExt cx="2657475" cy="1844511"/>
          </a:xfrm>
        </p:grpSpPr>
        <p:grpSp>
          <p:nvGrpSpPr>
            <p:cNvPr id="343" name="Group 342"/>
            <p:cNvGrpSpPr/>
            <p:nvPr/>
          </p:nvGrpSpPr>
          <p:grpSpPr>
            <a:xfrm>
              <a:off x="5813720" y="712120"/>
              <a:ext cx="1530998" cy="1497680"/>
              <a:chOff x="0" y="0"/>
              <a:chExt cx="1215939" cy="1206500"/>
            </a:xfrm>
          </p:grpSpPr>
          <p:cxnSp>
            <p:nvCxnSpPr>
              <p:cNvPr id="395" name="Line 41"/>
              <p:cNvCxnSpPr>
                <a:cxnSpLocks noChangeShapeType="1"/>
              </p:cNvCxnSpPr>
              <p:nvPr/>
            </p:nvCxnSpPr>
            <p:spPr bwMode="auto">
              <a:xfrm>
                <a:off x="736600" y="0"/>
                <a:ext cx="0" cy="1714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6" name="Line 42"/>
              <p:cNvCxnSpPr>
                <a:cxnSpLocks noChangeShapeType="1"/>
              </p:cNvCxnSpPr>
              <p:nvPr/>
            </p:nvCxnSpPr>
            <p:spPr bwMode="auto">
              <a:xfrm>
                <a:off x="736600" y="463550"/>
                <a:ext cx="0" cy="7429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7" name="Straight Arrow Connector 396"/>
              <p:cNvCxnSpPr/>
              <p:nvPr/>
            </p:nvCxnSpPr>
            <p:spPr>
              <a:xfrm flipH="1">
                <a:off x="899074" y="6350"/>
                <a:ext cx="31686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Arrow Connector 397"/>
              <p:cNvCxnSpPr/>
              <p:nvPr/>
            </p:nvCxnSpPr>
            <p:spPr>
              <a:xfrm>
                <a:off x="632460" y="606425"/>
                <a:ext cx="0" cy="219075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Arrow Connector 398"/>
              <p:cNvCxnSpPr/>
              <p:nvPr/>
            </p:nvCxnSpPr>
            <p:spPr>
              <a:xfrm>
                <a:off x="0" y="0"/>
                <a:ext cx="234950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Oval 343"/>
            <p:cNvSpPr>
              <a:spLocks noChangeArrowheads="1"/>
            </p:cNvSpPr>
            <p:nvPr/>
          </p:nvSpPr>
          <p:spPr bwMode="auto">
            <a:xfrm>
              <a:off x="6229478" y="554469"/>
              <a:ext cx="57566" cy="5675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grpSp>
          <p:nvGrpSpPr>
            <p:cNvPr id="345" name="Group 344"/>
            <p:cNvGrpSpPr>
              <a:grpSpLocks/>
            </p:cNvGrpSpPr>
            <p:nvPr/>
          </p:nvGrpSpPr>
          <p:grpSpPr bwMode="auto">
            <a:xfrm>
              <a:off x="6141529" y="641177"/>
              <a:ext cx="456534" cy="112720"/>
              <a:chOff x="2448" y="1728"/>
              <a:chExt cx="571" cy="143"/>
            </a:xfrm>
          </p:grpSpPr>
          <p:sp>
            <p:nvSpPr>
              <p:cNvPr id="389" name="Freeform 388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0" name="Freeform 389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1" name="Freeform 390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2" name="Freeform 391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93" name="Line 12"/>
              <p:cNvCxnSpPr>
                <a:cxnSpLocks noChangeShapeType="1"/>
              </p:cNvCxnSpPr>
              <p:nvPr/>
            </p:nvCxn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4" name="Line 13"/>
              <p:cNvCxnSpPr>
                <a:cxnSpLocks noChangeShapeType="1"/>
              </p:cNvCxnSpPr>
              <p:nvPr/>
            </p:nvCxn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46" name="Group 345"/>
            <p:cNvGrpSpPr>
              <a:grpSpLocks/>
            </p:cNvGrpSpPr>
            <p:nvPr/>
          </p:nvGrpSpPr>
          <p:grpSpPr bwMode="auto">
            <a:xfrm rot="16200000">
              <a:off x="6499604" y="1066027"/>
              <a:ext cx="450092" cy="114333"/>
              <a:chOff x="2448" y="1728"/>
              <a:chExt cx="571" cy="143"/>
            </a:xfrm>
          </p:grpSpPr>
          <p:sp>
            <p:nvSpPr>
              <p:cNvPr id="383" name="Freeform 382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4" name="Freeform 383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5" name="Freeform 384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6" name="Freeform 385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87" name="Line 19"/>
              <p:cNvCxnSpPr>
                <a:cxnSpLocks noChangeShapeType="1"/>
              </p:cNvCxnSpPr>
              <p:nvPr/>
            </p:nvCxn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8" name="Line 20"/>
              <p:cNvCxnSpPr>
                <a:cxnSpLocks noChangeShapeType="1"/>
              </p:cNvCxnSpPr>
              <p:nvPr/>
            </p:nvCxn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47" name="Oval 346"/>
            <p:cNvSpPr>
              <a:spLocks noChangeArrowheads="1"/>
            </p:cNvSpPr>
            <p:nvPr/>
          </p:nvSpPr>
          <p:spPr bwMode="auto">
            <a:xfrm>
              <a:off x="6581273" y="1263896"/>
              <a:ext cx="57566" cy="5675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48" name="Text Box 61"/>
            <p:cNvSpPr txBox="1">
              <a:spLocks noChangeArrowheads="1"/>
            </p:cNvSpPr>
            <p:nvPr/>
          </p:nvSpPr>
          <p:spPr bwMode="auto">
            <a:xfrm>
              <a:off x="5362575" y="1095375"/>
              <a:ext cx="255851" cy="2270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Text Box 65"/>
            <p:cNvSpPr txBox="1">
              <a:spLocks noChangeArrowheads="1"/>
            </p:cNvSpPr>
            <p:nvPr/>
          </p:nvSpPr>
          <p:spPr bwMode="auto">
            <a:xfrm>
              <a:off x="6349408" y="381000"/>
              <a:ext cx="409994" cy="16347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0" name="Text Box 65"/>
            <p:cNvSpPr txBox="1">
              <a:spLocks noChangeArrowheads="1"/>
            </p:cNvSpPr>
            <p:nvPr/>
          </p:nvSpPr>
          <p:spPr bwMode="auto">
            <a:xfrm>
              <a:off x="6858000" y="1082597"/>
              <a:ext cx="366932" cy="1946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51" name="Group 350"/>
            <p:cNvGrpSpPr>
              <a:grpSpLocks/>
            </p:cNvGrpSpPr>
            <p:nvPr/>
          </p:nvGrpSpPr>
          <p:grpSpPr bwMode="auto">
            <a:xfrm>
              <a:off x="6600825" y="1830779"/>
              <a:ext cx="287832" cy="283771"/>
              <a:chOff x="1884" y="2304"/>
              <a:chExt cx="360" cy="360"/>
            </a:xfrm>
          </p:grpSpPr>
          <p:sp>
            <p:nvSpPr>
              <p:cNvPr id="379" name="Oval 378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80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1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2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2" name="Rectangle 351"/>
            <p:cNvSpPr/>
            <p:nvPr/>
          </p:nvSpPr>
          <p:spPr>
            <a:xfrm>
              <a:off x="6678683" y="1474983"/>
              <a:ext cx="99942" cy="266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5717776" y="712120"/>
              <a:ext cx="1934871" cy="1489797"/>
            </a:xfrm>
            <a:custGeom>
              <a:avLst/>
              <a:gdLst>
                <a:gd name="connsiteX0" fmla="*/ 368300 w 1536700"/>
                <a:gd name="connsiteY0" fmla="*/ 6350 h 1219200"/>
                <a:gd name="connsiteX1" fmla="*/ 0 w 1536700"/>
                <a:gd name="connsiteY1" fmla="*/ 0 h 1219200"/>
                <a:gd name="connsiteX2" fmla="*/ 0 w 1536700"/>
                <a:gd name="connsiteY2" fmla="*/ 1219200 h 1219200"/>
                <a:gd name="connsiteX3" fmla="*/ 1536700 w 1536700"/>
                <a:gd name="connsiteY3" fmla="*/ 1219200 h 1219200"/>
                <a:gd name="connsiteX4" fmla="*/ 1536700 w 1536700"/>
                <a:gd name="connsiteY4" fmla="*/ 0 h 1219200"/>
                <a:gd name="connsiteX5" fmla="*/ 641350 w 1536700"/>
                <a:gd name="connsiteY5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6700" h="1219200">
                  <a:moveTo>
                    <a:pt x="368300" y="635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536700" y="1219200"/>
                  </a:lnTo>
                  <a:lnTo>
                    <a:pt x="1536700" y="0"/>
                  </a:lnTo>
                  <a:lnTo>
                    <a:pt x="64135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354" name="Group 353"/>
            <p:cNvGrpSpPr>
              <a:grpSpLocks/>
            </p:cNvGrpSpPr>
            <p:nvPr/>
          </p:nvGrpSpPr>
          <p:grpSpPr bwMode="auto">
            <a:xfrm>
              <a:off x="5557869" y="1602845"/>
              <a:ext cx="287832" cy="283771"/>
              <a:chOff x="1884" y="2304"/>
              <a:chExt cx="360" cy="360"/>
            </a:xfrm>
          </p:grpSpPr>
          <p:sp>
            <p:nvSpPr>
              <p:cNvPr id="375" name="Oval 374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76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7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8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5" name="Rectangle 354"/>
            <p:cNvSpPr/>
            <p:nvPr/>
          </p:nvSpPr>
          <p:spPr>
            <a:xfrm>
              <a:off x="5669804" y="1082598"/>
              <a:ext cx="99942" cy="266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6" name="Text Box 61"/>
            <p:cNvSpPr txBox="1">
              <a:spLocks noChangeArrowheads="1"/>
            </p:cNvSpPr>
            <p:nvPr/>
          </p:nvSpPr>
          <p:spPr bwMode="auto">
            <a:xfrm>
              <a:off x="6859324" y="1495281"/>
              <a:ext cx="255851" cy="2270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Text Box 61"/>
            <p:cNvSpPr txBox="1">
              <a:spLocks noChangeArrowheads="1"/>
            </p:cNvSpPr>
            <p:nvPr/>
          </p:nvSpPr>
          <p:spPr bwMode="auto">
            <a:xfrm>
              <a:off x="7764199" y="1082598"/>
              <a:ext cx="255851" cy="2270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58" name="Group 357"/>
            <p:cNvGrpSpPr>
              <a:grpSpLocks/>
            </p:cNvGrpSpPr>
            <p:nvPr/>
          </p:nvGrpSpPr>
          <p:grpSpPr bwMode="auto">
            <a:xfrm>
              <a:off x="7492741" y="1587080"/>
              <a:ext cx="287832" cy="283771"/>
              <a:chOff x="1884" y="2304"/>
              <a:chExt cx="360" cy="360"/>
            </a:xfrm>
          </p:grpSpPr>
          <p:sp>
            <p:nvSpPr>
              <p:cNvPr id="371" name="Oval 370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72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3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4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9" name="Rectangle 358"/>
            <p:cNvSpPr/>
            <p:nvPr/>
          </p:nvSpPr>
          <p:spPr>
            <a:xfrm>
              <a:off x="7604676" y="1066833"/>
              <a:ext cx="99942" cy="266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0" name="Text Box 65"/>
            <p:cNvSpPr txBox="1">
              <a:spLocks noChangeArrowheads="1"/>
            </p:cNvSpPr>
            <p:nvPr/>
          </p:nvSpPr>
          <p:spPr bwMode="auto">
            <a:xfrm>
              <a:off x="6353375" y="760763"/>
              <a:ext cx="365385" cy="20415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1" name="Text Box 58"/>
            <p:cNvSpPr txBox="1">
              <a:spLocks noChangeArrowheads="1"/>
            </p:cNvSpPr>
            <p:nvPr/>
          </p:nvSpPr>
          <p:spPr bwMode="auto">
            <a:xfrm>
              <a:off x="5869688" y="365289"/>
              <a:ext cx="176697" cy="2837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Text Box 58"/>
            <p:cNvSpPr txBox="1">
              <a:spLocks noChangeArrowheads="1"/>
            </p:cNvSpPr>
            <p:nvPr/>
          </p:nvSpPr>
          <p:spPr bwMode="auto">
            <a:xfrm>
              <a:off x="7252881" y="365289"/>
              <a:ext cx="208678" cy="2837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4" name="Object 3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6686751"/>
                </p:ext>
              </p:extLst>
            </p:nvPr>
          </p:nvGraphicFramePr>
          <p:xfrm>
            <a:off x="5851382" y="1606130"/>
            <a:ext cx="213308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480" imgH="241200" progId="Equation.DSMT4">
                    <p:embed/>
                  </p:oleObj>
                </mc:Choice>
                <mc:Fallback>
                  <p:oleObj name="Equation" r:id="rId3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1382" y="1606130"/>
                          <a:ext cx="213308" cy="3159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5" name="Object 3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391599"/>
                </p:ext>
              </p:extLst>
            </p:nvPr>
          </p:nvGraphicFramePr>
          <p:xfrm>
            <a:off x="6902450" y="1806575"/>
            <a:ext cx="227013" cy="315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2450" y="1806575"/>
                          <a:ext cx="227013" cy="3159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" name="Object 3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2953008"/>
                </p:ext>
              </p:extLst>
            </p:nvPr>
          </p:nvGraphicFramePr>
          <p:xfrm>
            <a:off x="7770791" y="1587080"/>
            <a:ext cx="227013" cy="315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0791" y="1587080"/>
                          <a:ext cx="227013" cy="3159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7" name="Object 3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9221025"/>
                </p:ext>
              </p:extLst>
            </p:nvPr>
          </p:nvGraphicFramePr>
          <p:xfrm>
            <a:off x="5758132" y="388325"/>
            <a:ext cx="169863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680" imgH="241200" progId="Equation.DSMT4">
                    <p:embed/>
                  </p:oleObj>
                </mc:Choice>
                <mc:Fallback>
                  <p:oleObj name="Equation" r:id="rId9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8132" y="388325"/>
                          <a:ext cx="169863" cy="3159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" name="Object 3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795020"/>
                </p:ext>
              </p:extLst>
            </p:nvPr>
          </p:nvGraphicFramePr>
          <p:xfrm>
            <a:off x="7341546" y="404813"/>
            <a:ext cx="201612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241200" progId="Equation.DSMT4">
                    <p:embed/>
                  </p:oleObj>
                </mc:Choice>
                <mc:Fallback>
                  <p:oleObj name="Equation" r:id="rId11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1546" y="404813"/>
                          <a:ext cx="201612" cy="3159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" name="Object 3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5333161"/>
                </p:ext>
              </p:extLst>
            </p:nvPr>
          </p:nvGraphicFramePr>
          <p:xfrm>
            <a:off x="6382615" y="1406386"/>
            <a:ext cx="184150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80" imgH="241200" progId="Equation.DSMT4">
                    <p:embed/>
                  </p:oleObj>
                </mc:Choice>
                <mc:Fallback>
                  <p:oleObj name="Equation" r:id="rId13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2615" y="1406386"/>
                          <a:ext cx="184150" cy="3159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0" name="Arc 56"/>
            <p:cNvSpPr>
              <a:spLocks/>
            </p:cNvSpPr>
            <p:nvPr/>
          </p:nvSpPr>
          <p:spPr bwMode="auto">
            <a:xfrm rot="10800000">
              <a:off x="6301436" y="814592"/>
              <a:ext cx="418156" cy="369690"/>
            </a:xfrm>
            <a:custGeom>
              <a:avLst/>
              <a:gdLst>
                <a:gd name="G0" fmla="+- 0 0 0"/>
                <a:gd name="G1" fmla="+- 21118 0 0"/>
                <a:gd name="G2" fmla="+- 21600 0 0"/>
                <a:gd name="T0" fmla="*/ 4536 w 21600"/>
                <a:gd name="T1" fmla="*/ 0 h 21118"/>
                <a:gd name="T2" fmla="*/ 21600 w 21600"/>
                <a:gd name="T3" fmla="*/ 21118 h 21118"/>
                <a:gd name="T4" fmla="*/ 0 w 21600"/>
                <a:gd name="T5" fmla="*/ 21118 h 2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118" fill="none" extrusionOk="0">
                  <a:moveTo>
                    <a:pt x="4536" y="-1"/>
                  </a:moveTo>
                  <a:cubicBezTo>
                    <a:pt x="14490" y="2137"/>
                    <a:pt x="21600" y="10936"/>
                    <a:pt x="21600" y="21118"/>
                  </a:cubicBezTo>
                </a:path>
                <a:path w="21600" h="21118" stroke="0" extrusionOk="0">
                  <a:moveTo>
                    <a:pt x="4536" y="-1"/>
                  </a:moveTo>
                  <a:cubicBezTo>
                    <a:pt x="14490" y="2137"/>
                    <a:pt x="21600" y="10936"/>
                    <a:pt x="21600" y="21118"/>
                  </a:cubicBezTo>
                  <a:lnTo>
                    <a:pt x="0" y="21118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417" name="Right Arrow 416"/>
          <p:cNvSpPr/>
          <p:nvPr/>
        </p:nvSpPr>
        <p:spPr>
          <a:xfrm>
            <a:off x="762000" y="5799088"/>
            <a:ext cx="539608" cy="40824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9" name="Object 4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40883"/>
              </p:ext>
            </p:extLst>
          </p:nvPr>
        </p:nvGraphicFramePr>
        <p:xfrm>
          <a:off x="2071688" y="5760988"/>
          <a:ext cx="37957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81080" imgH="241200" progId="Equation.DSMT4">
                  <p:embed/>
                </p:oleObj>
              </mc:Choice>
              <mc:Fallback>
                <p:oleObj name="Equation" r:id="rId15" imgW="1981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760988"/>
                        <a:ext cx="37957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" name="Content Placeholder 2"/>
          <p:cNvSpPr txBox="1">
            <a:spLocks/>
          </p:cNvSpPr>
          <p:nvPr/>
        </p:nvSpPr>
        <p:spPr>
          <a:xfrm>
            <a:off x="3748539" y="2816884"/>
            <a:ext cx="1592809" cy="39802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Khử hỗ cảm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FA08AA-BD47-4E02-82F5-41A7229BC60F}"/>
              </a:ext>
            </a:extLst>
          </p:cNvPr>
          <p:cNvGrpSpPr/>
          <p:nvPr/>
        </p:nvGrpSpPr>
        <p:grpSpPr>
          <a:xfrm>
            <a:off x="3886200" y="1660141"/>
            <a:ext cx="5029200" cy="2530859"/>
            <a:chOff x="3886200" y="1660141"/>
            <a:chExt cx="5029200" cy="2530859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A4BA9EB-48B1-4ABD-90E0-1B4FCFDB8917}"/>
                </a:ext>
              </a:extLst>
            </p:cNvPr>
            <p:cNvSpPr/>
            <p:nvPr/>
          </p:nvSpPr>
          <p:spPr>
            <a:xfrm>
              <a:off x="6041102" y="1660141"/>
              <a:ext cx="1759166" cy="1265813"/>
            </a:xfrm>
            <a:prstGeom prst="rect">
              <a:avLst/>
            </a:prstGeom>
            <a:solidFill>
              <a:srgbClr val="FFFF99"/>
            </a:solidFill>
            <a:ln w="254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Freeform 399"/>
            <p:cNvSpPr/>
            <p:nvPr/>
          </p:nvSpPr>
          <p:spPr>
            <a:xfrm>
              <a:off x="5702597" y="2142670"/>
              <a:ext cx="2690037" cy="2030818"/>
            </a:xfrm>
            <a:custGeom>
              <a:avLst/>
              <a:gdLst>
                <a:gd name="connsiteX0" fmla="*/ 1382233 w 2690037"/>
                <a:gd name="connsiteY0" fmla="*/ 0 h 2030818"/>
                <a:gd name="connsiteX1" fmla="*/ 0 w 2690037"/>
                <a:gd name="connsiteY1" fmla="*/ 0 h 2030818"/>
                <a:gd name="connsiteX2" fmla="*/ 0 w 2690037"/>
                <a:gd name="connsiteY2" fmla="*/ 2030818 h 2030818"/>
                <a:gd name="connsiteX3" fmla="*/ 2690037 w 2690037"/>
                <a:gd name="connsiteY3" fmla="*/ 2030818 h 2030818"/>
                <a:gd name="connsiteX4" fmla="*/ 2690037 w 2690037"/>
                <a:gd name="connsiteY4" fmla="*/ 0 h 2030818"/>
                <a:gd name="connsiteX5" fmla="*/ 1382233 w 2690037"/>
                <a:gd name="connsiteY5" fmla="*/ 0 h 203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037" h="2030818">
                  <a:moveTo>
                    <a:pt x="1382233" y="0"/>
                  </a:moveTo>
                  <a:lnTo>
                    <a:pt x="0" y="0"/>
                  </a:lnTo>
                  <a:lnTo>
                    <a:pt x="0" y="2030818"/>
                  </a:lnTo>
                  <a:lnTo>
                    <a:pt x="2690037" y="2030818"/>
                  </a:lnTo>
                  <a:lnTo>
                    <a:pt x="2690037" y="0"/>
                  </a:lnTo>
                  <a:lnTo>
                    <a:pt x="1382233" y="0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5832127" y="2141454"/>
              <a:ext cx="2516206" cy="2020635"/>
              <a:chOff x="0" y="-1349"/>
              <a:chExt cx="1482858" cy="1207849"/>
            </a:xfrm>
          </p:grpSpPr>
          <p:cxnSp>
            <p:nvCxnSpPr>
              <p:cNvPr id="330" name="Line 41"/>
              <p:cNvCxnSpPr>
                <a:cxnSpLocks noChangeShapeType="1"/>
                <a:endCxn id="292" idx="0"/>
              </p:cNvCxnSpPr>
              <p:nvPr/>
            </p:nvCxnSpPr>
            <p:spPr bwMode="auto">
              <a:xfrm>
                <a:off x="733010" y="0"/>
                <a:ext cx="5233" cy="571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1" name="Line 42"/>
              <p:cNvCxnSpPr>
                <a:cxnSpLocks noChangeShapeType="1"/>
              </p:cNvCxnSpPr>
              <p:nvPr/>
            </p:nvCxnSpPr>
            <p:spPr bwMode="auto">
              <a:xfrm>
                <a:off x="736600" y="463550"/>
                <a:ext cx="0" cy="7429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2" name="Straight Arrow Connector 331"/>
              <p:cNvCxnSpPr/>
              <p:nvPr/>
            </p:nvCxnSpPr>
            <p:spPr>
              <a:xfrm flipH="1">
                <a:off x="1165993" y="-1349"/>
                <a:ext cx="31686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Arrow Connector 332"/>
              <p:cNvCxnSpPr/>
              <p:nvPr/>
            </p:nvCxnSpPr>
            <p:spPr>
              <a:xfrm>
                <a:off x="800204" y="421872"/>
                <a:ext cx="0" cy="2190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Arrow Connector 333"/>
              <p:cNvCxnSpPr/>
              <p:nvPr/>
            </p:nvCxnSpPr>
            <p:spPr>
              <a:xfrm>
                <a:off x="0" y="0"/>
                <a:ext cx="23495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8" name="Text Box 61"/>
            <p:cNvSpPr txBox="1">
              <a:spLocks noChangeArrowheads="1"/>
            </p:cNvSpPr>
            <p:nvPr/>
          </p:nvSpPr>
          <p:spPr bwMode="auto">
            <a:xfrm>
              <a:off x="5224132" y="2660212"/>
              <a:ext cx="344803" cy="3059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Text Box 65"/>
            <p:cNvSpPr txBox="1">
              <a:spLocks noChangeArrowheads="1"/>
            </p:cNvSpPr>
            <p:nvPr/>
          </p:nvSpPr>
          <p:spPr bwMode="auto">
            <a:xfrm>
              <a:off x="7162800" y="1780831"/>
              <a:ext cx="567846" cy="29957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Text Box 65"/>
            <p:cNvSpPr txBox="1">
              <a:spLocks noChangeArrowheads="1"/>
            </p:cNvSpPr>
            <p:nvPr/>
          </p:nvSpPr>
          <p:spPr bwMode="auto">
            <a:xfrm>
              <a:off x="6126357" y="2410824"/>
              <a:ext cx="905996" cy="28363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(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-M)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1" name="Group 290"/>
            <p:cNvGrpSpPr>
              <a:grpSpLocks/>
            </p:cNvGrpSpPr>
            <p:nvPr/>
          </p:nvGrpSpPr>
          <p:grpSpPr bwMode="auto">
            <a:xfrm>
              <a:off x="6892885" y="3651294"/>
              <a:ext cx="387903" cy="382430"/>
              <a:chOff x="1884" y="2304"/>
              <a:chExt cx="360" cy="360"/>
            </a:xfrm>
          </p:grpSpPr>
          <p:sp>
            <p:nvSpPr>
              <p:cNvPr id="314" name="Oval 313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15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6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7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2" name="Rectangle 291"/>
            <p:cNvSpPr/>
            <p:nvPr/>
          </p:nvSpPr>
          <p:spPr>
            <a:xfrm>
              <a:off x="7017478" y="3099784"/>
              <a:ext cx="134689" cy="3590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294" name="Group 293"/>
            <p:cNvGrpSpPr>
              <a:grpSpLocks/>
            </p:cNvGrpSpPr>
            <p:nvPr/>
          </p:nvGrpSpPr>
          <p:grpSpPr bwMode="auto">
            <a:xfrm>
              <a:off x="5487324" y="3344114"/>
              <a:ext cx="387903" cy="382430"/>
              <a:chOff x="1884" y="2304"/>
              <a:chExt cx="360" cy="360"/>
            </a:xfrm>
          </p:grpSpPr>
          <p:sp>
            <p:nvSpPr>
              <p:cNvPr id="310" name="Oval 309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11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2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3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5" name="Rectangle 294"/>
            <p:cNvSpPr/>
            <p:nvPr/>
          </p:nvSpPr>
          <p:spPr>
            <a:xfrm>
              <a:off x="5638175" y="2642993"/>
              <a:ext cx="134689" cy="3590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6" name="Text Box 61"/>
            <p:cNvSpPr txBox="1">
              <a:spLocks noChangeArrowheads="1"/>
            </p:cNvSpPr>
            <p:nvPr/>
          </p:nvSpPr>
          <p:spPr bwMode="auto">
            <a:xfrm>
              <a:off x="6635909" y="3116386"/>
              <a:ext cx="344803" cy="3059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Text Box 61"/>
            <p:cNvSpPr txBox="1">
              <a:spLocks noChangeArrowheads="1"/>
            </p:cNvSpPr>
            <p:nvPr/>
          </p:nvSpPr>
          <p:spPr bwMode="auto">
            <a:xfrm>
              <a:off x="8570597" y="2642993"/>
              <a:ext cx="344803" cy="3059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0" name="Group 299"/>
            <p:cNvGrpSpPr>
              <a:grpSpLocks/>
            </p:cNvGrpSpPr>
            <p:nvPr/>
          </p:nvGrpSpPr>
          <p:grpSpPr bwMode="auto">
            <a:xfrm>
              <a:off x="8204761" y="3322868"/>
              <a:ext cx="387903" cy="382430"/>
              <a:chOff x="1884" y="2304"/>
              <a:chExt cx="360" cy="360"/>
            </a:xfrm>
          </p:grpSpPr>
          <p:sp>
            <p:nvSpPr>
              <p:cNvPr id="306" name="Oval 305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07" name="Line 5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8" name="Line 5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Line 5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01" name="Rectangle 300"/>
            <p:cNvSpPr/>
            <p:nvPr/>
          </p:nvSpPr>
          <p:spPr>
            <a:xfrm>
              <a:off x="8325297" y="2621747"/>
              <a:ext cx="134689" cy="3590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4" name="Text Box 58"/>
            <p:cNvSpPr txBox="1">
              <a:spLocks noChangeArrowheads="1"/>
            </p:cNvSpPr>
            <p:nvPr/>
          </p:nvSpPr>
          <p:spPr bwMode="auto">
            <a:xfrm>
              <a:off x="7771641" y="1676297"/>
              <a:ext cx="281229" cy="3824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5" name="Object 3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2492536"/>
                </p:ext>
              </p:extLst>
            </p:nvPr>
          </p:nvGraphicFramePr>
          <p:xfrm>
            <a:off x="5181600" y="3348541"/>
            <a:ext cx="287469" cy="425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241200" progId="Equation.DSMT4">
                    <p:embed/>
                  </p:oleObj>
                </mc:Choice>
                <mc:Fallback>
                  <p:oleObj name="Equation" r:id="rId17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3348541"/>
                          <a:ext cx="287469" cy="4257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6" name="Object 3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9447231"/>
                </p:ext>
              </p:extLst>
            </p:nvPr>
          </p:nvGraphicFramePr>
          <p:xfrm>
            <a:off x="7239000" y="3765254"/>
            <a:ext cx="305939" cy="425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0440" imgH="241200" progId="Equation.DSMT4">
                    <p:embed/>
                  </p:oleObj>
                </mc:Choice>
                <mc:Fallback>
                  <p:oleObj name="Equation" r:id="rId18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9000" y="3765254"/>
                          <a:ext cx="305939" cy="4257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" name="Object 3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0047642"/>
                </p:ext>
              </p:extLst>
            </p:nvPr>
          </p:nvGraphicFramePr>
          <p:xfrm>
            <a:off x="8580107" y="3323364"/>
            <a:ext cx="3048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90440" imgH="241200" progId="Equation.DSMT4">
                    <p:embed/>
                  </p:oleObj>
                </mc:Choice>
                <mc:Fallback>
                  <p:oleObj name="Equation" r:id="rId20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0107" y="3323364"/>
                          <a:ext cx="304800" cy="425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" name="Object 3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7513032"/>
                </p:ext>
              </p:extLst>
            </p:nvPr>
          </p:nvGraphicFramePr>
          <p:xfrm>
            <a:off x="5833732" y="2122758"/>
            <a:ext cx="228919" cy="425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241200" progId="Equation.DSMT4">
                    <p:embed/>
                  </p:oleObj>
                </mc:Choice>
                <mc:Fallback>
                  <p:oleObj name="Equation" r:id="rId22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3732" y="2122758"/>
                          <a:ext cx="228919" cy="4257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9" name="Object 3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4859096"/>
                </p:ext>
              </p:extLst>
            </p:nvPr>
          </p:nvGraphicFramePr>
          <p:xfrm>
            <a:off x="7924800" y="1729562"/>
            <a:ext cx="271706" cy="425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41200" progId="Equation.DSMT4">
                    <p:embed/>
                  </p:oleObj>
                </mc:Choice>
                <mc:Fallback>
                  <p:oleObj name="Equation" r:id="rId23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4800" y="1729562"/>
                          <a:ext cx="271706" cy="4257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" name="Object 3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475616"/>
                </p:ext>
              </p:extLst>
            </p:nvPr>
          </p:nvGraphicFramePr>
          <p:xfrm>
            <a:off x="7176010" y="3040530"/>
            <a:ext cx="248173" cy="425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52280" imgH="241200" progId="Equation.DSMT4">
                    <p:embed/>
                  </p:oleObj>
                </mc:Choice>
                <mc:Fallback>
                  <p:oleObj name="Equation" r:id="rId24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6010" y="3040530"/>
                          <a:ext cx="248173" cy="4257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2" name="Rectangle 401"/>
            <p:cNvSpPr/>
            <p:nvPr/>
          </p:nvSpPr>
          <p:spPr>
            <a:xfrm>
              <a:off x="7009043" y="2442218"/>
              <a:ext cx="134689" cy="359058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6367727" y="2080403"/>
              <a:ext cx="367430" cy="137969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339663" y="2073685"/>
              <a:ext cx="367430" cy="137969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Text Box 65"/>
            <p:cNvSpPr txBox="1">
              <a:spLocks noChangeArrowheads="1"/>
            </p:cNvSpPr>
            <p:nvPr/>
          </p:nvSpPr>
          <p:spPr bwMode="auto">
            <a:xfrm>
              <a:off x="6104404" y="1753448"/>
              <a:ext cx="905996" cy="28363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(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-M)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Right Arrow 419"/>
            <p:cNvSpPr/>
            <p:nvPr/>
          </p:nvSpPr>
          <p:spPr>
            <a:xfrm>
              <a:off x="3886200" y="3268786"/>
              <a:ext cx="1143000" cy="245288"/>
            </a:xfrm>
            <a:prstGeom prst="right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Rectangle 4"/>
          <p:cNvSpPr>
            <a:spLocks noChangeArrowheads="1"/>
          </p:cNvSpPr>
          <p:nvPr/>
        </p:nvSpPr>
        <p:spPr bwMode="auto">
          <a:xfrm>
            <a:off x="415406" y="990600"/>
            <a:ext cx="54945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400" u="sng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Cách 1:</a:t>
            </a:r>
            <a:r>
              <a:rPr kumimoji="0" lang="en-US" sz="2400" u="none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Khử hỗ cảm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CF6A2B-A887-48B1-B729-CB9A47D5264F}"/>
              </a:ext>
            </a:extLst>
          </p:cNvPr>
          <p:cNvGrpSpPr/>
          <p:nvPr/>
        </p:nvGrpSpPr>
        <p:grpSpPr>
          <a:xfrm>
            <a:off x="285533" y="4463015"/>
            <a:ext cx="8325067" cy="1115460"/>
            <a:chOff x="285533" y="4463015"/>
            <a:chExt cx="8325067" cy="1115460"/>
          </a:xfrm>
        </p:grpSpPr>
        <p:graphicFrame>
          <p:nvGraphicFramePr>
            <p:cNvPr id="416" name="Object 4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123786"/>
                </p:ext>
              </p:extLst>
            </p:nvPr>
          </p:nvGraphicFramePr>
          <p:xfrm>
            <a:off x="1362075" y="4502150"/>
            <a:ext cx="7248525" cy="1076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974760" imgH="558720" progId="Equation.DSMT4">
                    <p:embed/>
                  </p:oleObj>
                </mc:Choice>
                <mc:Fallback>
                  <p:oleObj name="Equation" r:id="rId25" imgW="3974760" imgH="558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075" y="4502150"/>
                          <a:ext cx="7248525" cy="10763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0" name="Content Placeholder 2">
              <a:extLst>
                <a:ext uri="{FF2B5EF4-FFF2-40B4-BE49-F238E27FC236}">
                  <a16:creationId xmlns:a16="http://schemas.microsoft.com/office/drawing/2014/main" id="{B02FFF8A-C01E-4DA8-B8EB-A2240E571768}"/>
                </a:ext>
              </a:extLst>
            </p:cNvPr>
            <p:cNvSpPr txBox="1">
              <a:spLocks/>
            </p:cNvSpPr>
            <p:nvPr/>
          </p:nvSpPr>
          <p:spPr>
            <a:xfrm>
              <a:off x="285533" y="4463015"/>
              <a:ext cx="1136509" cy="947185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spcBef>
                  <a:spcPts val="600"/>
                </a:spcBef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Vòng 1:</a:t>
              </a:r>
            </a:p>
            <a:p>
              <a:pPr marL="0" indent="0">
                <a:lnSpc>
                  <a:spcPct val="150000"/>
                </a:lnSpc>
                <a:spcBef>
                  <a:spcPts val="600"/>
                </a:spcBef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Vòng 2: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A51D37-85DF-4923-90BB-EFF43AD979AB}"/>
              </a:ext>
            </a:extLst>
          </p:cNvPr>
          <p:cNvGrpSpPr/>
          <p:nvPr/>
        </p:nvGrpSpPr>
        <p:grpSpPr>
          <a:xfrm>
            <a:off x="5922115" y="2999933"/>
            <a:ext cx="2404940" cy="1053703"/>
            <a:chOff x="5900860" y="2984897"/>
            <a:chExt cx="2404940" cy="1053703"/>
          </a:xfrm>
        </p:grpSpPr>
        <p:sp>
          <p:nvSpPr>
            <p:cNvPr id="407" name="Arc 406"/>
            <p:cNvSpPr/>
            <p:nvPr/>
          </p:nvSpPr>
          <p:spPr>
            <a:xfrm>
              <a:off x="5900860" y="3061097"/>
              <a:ext cx="837335" cy="977503"/>
            </a:xfrm>
            <a:prstGeom prst="arc">
              <a:avLst>
                <a:gd name="adj1" fmla="val 11722569"/>
                <a:gd name="adj2" fmla="val 6720672"/>
              </a:avLst>
            </a:prstGeom>
            <a:ln w="127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Arc 407"/>
            <p:cNvSpPr/>
            <p:nvPr/>
          </p:nvSpPr>
          <p:spPr>
            <a:xfrm>
              <a:off x="7391498" y="2984897"/>
              <a:ext cx="914302" cy="977503"/>
            </a:xfrm>
            <a:prstGeom prst="arc">
              <a:avLst>
                <a:gd name="adj1" fmla="val 4593142"/>
                <a:gd name="adj2" fmla="val 20047698"/>
              </a:avLst>
            </a:prstGeom>
            <a:ln w="127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11" name="Object 4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466369"/>
                </p:ext>
              </p:extLst>
            </p:nvPr>
          </p:nvGraphicFramePr>
          <p:xfrm>
            <a:off x="6206795" y="3276600"/>
            <a:ext cx="312737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90440" imgH="241200" progId="Equation.DSMT4">
                    <p:embed/>
                  </p:oleObj>
                </mc:Choice>
                <mc:Fallback>
                  <p:oleObj name="Equation" r:id="rId27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6795" y="3276600"/>
                          <a:ext cx="312737" cy="425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" name="Object 4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2757806"/>
                </p:ext>
              </p:extLst>
            </p:nvPr>
          </p:nvGraphicFramePr>
          <p:xfrm>
            <a:off x="7602207" y="3232150"/>
            <a:ext cx="3333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03040" imgH="241200" progId="Equation.DSMT4">
                    <p:embed/>
                  </p:oleObj>
                </mc:Choice>
                <mc:Fallback>
                  <p:oleObj name="Equation" r:id="rId29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2207" y="3232150"/>
                          <a:ext cx="333375" cy="425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319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7" grpId="0" animBg="1"/>
      <p:bldP spid="4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/>
          <p:cNvSpPr/>
          <p:nvPr/>
        </p:nvSpPr>
        <p:spPr>
          <a:xfrm>
            <a:off x="7131115" y="3283472"/>
            <a:ext cx="412685" cy="48895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69821" y="3276600"/>
            <a:ext cx="412685" cy="48895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486400" y="333608"/>
            <a:ext cx="3581400" cy="2485792"/>
            <a:chOff x="152400" y="1600200"/>
            <a:chExt cx="3581400" cy="2485792"/>
          </a:xfrm>
        </p:grpSpPr>
        <p:grpSp>
          <p:nvGrpSpPr>
            <p:cNvPr id="342" name="Group 341"/>
            <p:cNvGrpSpPr/>
            <p:nvPr/>
          </p:nvGrpSpPr>
          <p:grpSpPr>
            <a:xfrm>
              <a:off x="152400" y="1600200"/>
              <a:ext cx="3581400" cy="2485792"/>
              <a:chOff x="5362575" y="365289"/>
              <a:chExt cx="2657475" cy="1844511"/>
            </a:xfrm>
          </p:grpSpPr>
          <p:grpSp>
            <p:nvGrpSpPr>
              <p:cNvPr id="343" name="Group 342"/>
              <p:cNvGrpSpPr/>
              <p:nvPr/>
            </p:nvGrpSpPr>
            <p:grpSpPr>
              <a:xfrm>
                <a:off x="5813720" y="712120"/>
                <a:ext cx="1702207" cy="1497680"/>
                <a:chOff x="0" y="0"/>
                <a:chExt cx="1351915" cy="1206500"/>
              </a:xfrm>
            </p:grpSpPr>
            <p:cxnSp>
              <p:nvCxnSpPr>
                <p:cNvPr id="395" name="Line 41"/>
                <p:cNvCxnSpPr>
                  <a:cxnSpLocks noChangeShapeType="1"/>
                </p:cNvCxnSpPr>
                <p:nvPr/>
              </p:nvCxnSpPr>
              <p:spPr bwMode="auto">
                <a:xfrm>
                  <a:off x="736600" y="0"/>
                  <a:ext cx="0" cy="1714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6" name="Line 42"/>
                <p:cNvCxnSpPr>
                  <a:cxnSpLocks noChangeShapeType="1"/>
                </p:cNvCxnSpPr>
                <p:nvPr/>
              </p:nvCxnSpPr>
              <p:spPr bwMode="auto">
                <a:xfrm>
                  <a:off x="736600" y="463550"/>
                  <a:ext cx="0" cy="7429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7" name="Straight Arrow Connector 396"/>
                <p:cNvCxnSpPr/>
                <p:nvPr/>
              </p:nvCxnSpPr>
              <p:spPr>
                <a:xfrm flipH="1">
                  <a:off x="1035050" y="6350"/>
                  <a:ext cx="31686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Arrow Connector 397"/>
                <p:cNvCxnSpPr/>
                <p:nvPr/>
              </p:nvCxnSpPr>
              <p:spPr>
                <a:xfrm>
                  <a:off x="787400" y="44450"/>
                  <a:ext cx="0" cy="2190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Arrow Connector 398"/>
                <p:cNvCxnSpPr/>
                <p:nvPr/>
              </p:nvCxnSpPr>
              <p:spPr>
                <a:xfrm>
                  <a:off x="0" y="0"/>
                  <a:ext cx="23495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4" name="Oval 343"/>
              <p:cNvSpPr>
                <a:spLocks noChangeArrowheads="1"/>
              </p:cNvSpPr>
              <p:nvPr/>
            </p:nvSpPr>
            <p:spPr bwMode="auto">
              <a:xfrm>
                <a:off x="6229478" y="554469"/>
                <a:ext cx="57566" cy="5675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345" name="Group 344"/>
              <p:cNvGrpSpPr>
                <a:grpSpLocks/>
              </p:cNvGrpSpPr>
              <p:nvPr/>
            </p:nvGrpSpPr>
            <p:grpSpPr bwMode="auto">
              <a:xfrm>
                <a:off x="6141529" y="641177"/>
                <a:ext cx="456534" cy="112720"/>
                <a:chOff x="2448" y="1728"/>
                <a:chExt cx="571" cy="143"/>
              </a:xfrm>
            </p:grpSpPr>
            <p:sp>
              <p:nvSpPr>
                <p:cNvPr id="389" name="Freeform 388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90" name="Freeform 389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91" name="Freeform 390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92" name="Freeform 391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93" name="Line 12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Line 13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46" name="Group 345"/>
              <p:cNvGrpSpPr>
                <a:grpSpLocks/>
              </p:cNvGrpSpPr>
              <p:nvPr/>
            </p:nvGrpSpPr>
            <p:grpSpPr bwMode="auto">
              <a:xfrm rot="16200000">
                <a:off x="6499604" y="1066027"/>
                <a:ext cx="450092" cy="114333"/>
                <a:chOff x="2448" y="1728"/>
                <a:chExt cx="571" cy="143"/>
              </a:xfrm>
            </p:grpSpPr>
            <p:sp>
              <p:nvSpPr>
                <p:cNvPr id="383" name="Freeform 382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4" name="Freeform 383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5" name="Freeform 384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6" name="Freeform 385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87" name="Line 19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8" name="Line 20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47" name="Oval 346"/>
              <p:cNvSpPr>
                <a:spLocks noChangeArrowheads="1"/>
              </p:cNvSpPr>
              <p:nvPr/>
            </p:nvSpPr>
            <p:spPr bwMode="auto">
              <a:xfrm>
                <a:off x="6581273" y="1263896"/>
                <a:ext cx="57566" cy="5675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8" name="Text Box 61"/>
              <p:cNvSpPr txBox="1">
                <a:spLocks noChangeArrowheads="1"/>
              </p:cNvSpPr>
              <p:nvPr/>
            </p:nvSpPr>
            <p:spPr bwMode="auto">
              <a:xfrm>
                <a:off x="5362575" y="1095375"/>
                <a:ext cx="255851" cy="2270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9" name="Text Box 65"/>
              <p:cNvSpPr txBox="1">
                <a:spLocks noChangeArrowheads="1"/>
              </p:cNvSpPr>
              <p:nvPr/>
            </p:nvSpPr>
            <p:spPr bwMode="auto">
              <a:xfrm>
                <a:off x="6349408" y="381000"/>
                <a:ext cx="421354" cy="2222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Text Box 65"/>
              <p:cNvSpPr txBox="1">
                <a:spLocks noChangeArrowheads="1"/>
              </p:cNvSpPr>
              <p:nvPr/>
            </p:nvSpPr>
            <p:spPr bwMode="auto">
              <a:xfrm>
                <a:off x="6858000" y="1066800"/>
                <a:ext cx="421355" cy="2104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51" name="Group 350"/>
              <p:cNvGrpSpPr>
                <a:grpSpLocks/>
              </p:cNvGrpSpPr>
              <p:nvPr/>
            </p:nvGrpSpPr>
            <p:grpSpPr bwMode="auto">
              <a:xfrm>
                <a:off x="6600825" y="1830779"/>
                <a:ext cx="287832" cy="283771"/>
                <a:chOff x="1884" y="2304"/>
                <a:chExt cx="360" cy="360"/>
              </a:xfrm>
            </p:grpSpPr>
            <p:sp>
              <p:nvSpPr>
                <p:cNvPr id="379" name="Oval 378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80" name="Line 52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1" name="Line 53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2" name="Line 54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52" name="Rectangle 351"/>
              <p:cNvSpPr/>
              <p:nvPr/>
            </p:nvSpPr>
            <p:spPr>
              <a:xfrm>
                <a:off x="6697796" y="1421547"/>
                <a:ext cx="99942" cy="2664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3" name="Freeform 352"/>
              <p:cNvSpPr/>
              <p:nvPr/>
            </p:nvSpPr>
            <p:spPr>
              <a:xfrm>
                <a:off x="5717776" y="712120"/>
                <a:ext cx="1934871" cy="1489797"/>
              </a:xfrm>
              <a:custGeom>
                <a:avLst/>
                <a:gdLst>
                  <a:gd name="connsiteX0" fmla="*/ 368300 w 1536700"/>
                  <a:gd name="connsiteY0" fmla="*/ 6350 h 1219200"/>
                  <a:gd name="connsiteX1" fmla="*/ 0 w 1536700"/>
                  <a:gd name="connsiteY1" fmla="*/ 0 h 1219200"/>
                  <a:gd name="connsiteX2" fmla="*/ 0 w 1536700"/>
                  <a:gd name="connsiteY2" fmla="*/ 1219200 h 1219200"/>
                  <a:gd name="connsiteX3" fmla="*/ 1536700 w 1536700"/>
                  <a:gd name="connsiteY3" fmla="*/ 1219200 h 1219200"/>
                  <a:gd name="connsiteX4" fmla="*/ 1536700 w 1536700"/>
                  <a:gd name="connsiteY4" fmla="*/ 0 h 1219200"/>
                  <a:gd name="connsiteX5" fmla="*/ 641350 w 1536700"/>
                  <a:gd name="connsiteY5" fmla="*/ 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6700" h="1219200">
                    <a:moveTo>
                      <a:pt x="368300" y="6350"/>
                    </a:moveTo>
                    <a:lnTo>
                      <a:pt x="0" y="0"/>
                    </a:lnTo>
                    <a:lnTo>
                      <a:pt x="0" y="1219200"/>
                    </a:lnTo>
                    <a:lnTo>
                      <a:pt x="1536700" y="1219200"/>
                    </a:lnTo>
                    <a:lnTo>
                      <a:pt x="1536700" y="0"/>
                    </a:lnTo>
                    <a:lnTo>
                      <a:pt x="64135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354" name="Group 353"/>
              <p:cNvGrpSpPr>
                <a:grpSpLocks/>
              </p:cNvGrpSpPr>
              <p:nvPr/>
            </p:nvGrpSpPr>
            <p:grpSpPr bwMode="auto">
              <a:xfrm>
                <a:off x="5557869" y="1602845"/>
                <a:ext cx="287832" cy="283771"/>
                <a:chOff x="1884" y="2304"/>
                <a:chExt cx="360" cy="360"/>
              </a:xfrm>
            </p:grpSpPr>
            <p:sp>
              <p:nvSpPr>
                <p:cNvPr id="375" name="Oval 374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76" name="Line 52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7" name="Line 53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8" name="Line 54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55" name="Rectangle 354"/>
              <p:cNvSpPr/>
              <p:nvPr/>
            </p:nvSpPr>
            <p:spPr>
              <a:xfrm>
                <a:off x="5669804" y="1082598"/>
                <a:ext cx="99942" cy="2664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6" name="Text Box 61"/>
              <p:cNvSpPr txBox="1">
                <a:spLocks noChangeArrowheads="1"/>
              </p:cNvSpPr>
              <p:nvPr/>
            </p:nvSpPr>
            <p:spPr bwMode="auto">
              <a:xfrm>
                <a:off x="6859324" y="1460960"/>
                <a:ext cx="255851" cy="2270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7" name="Text Box 61"/>
              <p:cNvSpPr txBox="1">
                <a:spLocks noChangeArrowheads="1"/>
              </p:cNvSpPr>
              <p:nvPr/>
            </p:nvSpPr>
            <p:spPr bwMode="auto">
              <a:xfrm>
                <a:off x="7764199" y="1082598"/>
                <a:ext cx="255851" cy="2270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58" name="Group 357"/>
              <p:cNvGrpSpPr>
                <a:grpSpLocks/>
              </p:cNvGrpSpPr>
              <p:nvPr/>
            </p:nvGrpSpPr>
            <p:grpSpPr bwMode="auto">
              <a:xfrm>
                <a:off x="7492741" y="1587080"/>
                <a:ext cx="287832" cy="283771"/>
                <a:chOff x="1884" y="2304"/>
                <a:chExt cx="360" cy="360"/>
              </a:xfrm>
            </p:grpSpPr>
            <p:sp>
              <p:nvSpPr>
                <p:cNvPr id="371" name="Oval 370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72" name="Line 52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3" name="Line 53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Line 54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59" name="Rectangle 358"/>
              <p:cNvSpPr/>
              <p:nvPr/>
            </p:nvSpPr>
            <p:spPr>
              <a:xfrm>
                <a:off x="7604676" y="1066833"/>
                <a:ext cx="99942" cy="2664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0" name="Text Box 65"/>
              <p:cNvSpPr txBox="1">
                <a:spLocks noChangeArrowheads="1"/>
              </p:cNvSpPr>
              <p:nvPr/>
            </p:nvSpPr>
            <p:spPr bwMode="auto">
              <a:xfrm>
                <a:off x="6018881" y="990600"/>
                <a:ext cx="365385" cy="20415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1" name="Text Box 58"/>
              <p:cNvSpPr txBox="1">
                <a:spLocks noChangeArrowheads="1"/>
              </p:cNvSpPr>
              <p:nvPr/>
            </p:nvSpPr>
            <p:spPr bwMode="auto">
              <a:xfrm>
                <a:off x="5869688" y="365289"/>
                <a:ext cx="176697" cy="2837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non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2" name="Text Box 58"/>
              <p:cNvSpPr txBox="1">
                <a:spLocks noChangeArrowheads="1"/>
              </p:cNvSpPr>
              <p:nvPr/>
            </p:nvSpPr>
            <p:spPr bwMode="auto">
              <a:xfrm>
                <a:off x="7252881" y="365289"/>
                <a:ext cx="208678" cy="2837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non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3" name="Text Box 58"/>
              <p:cNvSpPr txBox="1">
                <a:spLocks noChangeArrowheads="1"/>
              </p:cNvSpPr>
              <p:nvPr/>
            </p:nvSpPr>
            <p:spPr bwMode="auto">
              <a:xfrm>
                <a:off x="6853114" y="775180"/>
                <a:ext cx="192688" cy="2601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non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64" name="Object 363"/>
              <p:cNvGraphicFramePr>
                <a:graphicFrameLocks noChangeAspect="1"/>
              </p:cNvGraphicFramePr>
              <p:nvPr/>
            </p:nvGraphicFramePr>
            <p:xfrm>
              <a:off x="5851382" y="1606130"/>
              <a:ext cx="213308" cy="315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77480" imgH="241200" progId="Equation.DSMT4">
                      <p:embed/>
                    </p:oleObj>
                  </mc:Choice>
                  <mc:Fallback>
                    <p:oleObj name="Equation" r:id="rId3" imgW="1774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51382" y="1606130"/>
                            <a:ext cx="213308" cy="31591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5" name="Object 364"/>
              <p:cNvGraphicFramePr>
                <a:graphicFrameLocks noChangeAspect="1"/>
              </p:cNvGraphicFramePr>
              <p:nvPr/>
            </p:nvGraphicFramePr>
            <p:xfrm>
              <a:off x="6902450" y="1806575"/>
              <a:ext cx="227013" cy="315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2450" y="1806575"/>
                            <a:ext cx="227013" cy="315913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6" name="Object 365"/>
              <p:cNvGraphicFramePr>
                <a:graphicFrameLocks noChangeAspect="1"/>
              </p:cNvGraphicFramePr>
              <p:nvPr/>
            </p:nvGraphicFramePr>
            <p:xfrm>
              <a:off x="7770791" y="1587080"/>
              <a:ext cx="227013" cy="315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90440" imgH="241200" progId="Equation.DSMT4">
                      <p:embed/>
                    </p:oleObj>
                  </mc:Choice>
                  <mc:Fallback>
                    <p:oleObj name="Equation" r:id="rId7" imgW="1904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70791" y="1587080"/>
                            <a:ext cx="227013" cy="315913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7" name="Object 366"/>
              <p:cNvGraphicFramePr>
                <a:graphicFrameLocks noChangeAspect="1"/>
              </p:cNvGraphicFramePr>
              <p:nvPr/>
            </p:nvGraphicFramePr>
            <p:xfrm>
              <a:off x="5817756" y="388325"/>
              <a:ext cx="169863" cy="315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39680" imgH="241200" progId="Equation.DSMT4">
                      <p:embed/>
                    </p:oleObj>
                  </mc:Choice>
                  <mc:Fallback>
                    <p:oleObj name="Equation" r:id="rId9" imgW="1396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17756" y="388325"/>
                            <a:ext cx="169863" cy="31591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" name="Object 367"/>
              <p:cNvGraphicFramePr>
                <a:graphicFrameLocks noChangeAspect="1"/>
              </p:cNvGraphicFramePr>
              <p:nvPr/>
            </p:nvGraphicFramePr>
            <p:xfrm>
              <a:off x="7269163" y="404813"/>
              <a:ext cx="201612" cy="315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64880" imgH="241200" progId="Equation.DSMT4">
                      <p:embed/>
                    </p:oleObj>
                  </mc:Choice>
                  <mc:Fallback>
                    <p:oleObj name="Equation" r:id="rId11" imgW="1648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69163" y="404813"/>
                            <a:ext cx="201612" cy="31591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9" name="Object 368"/>
              <p:cNvGraphicFramePr>
                <a:graphicFrameLocks noChangeAspect="1"/>
              </p:cNvGraphicFramePr>
              <p:nvPr/>
            </p:nvGraphicFramePr>
            <p:xfrm>
              <a:off x="6851650" y="735013"/>
              <a:ext cx="184150" cy="315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52280" imgH="241200" progId="Equation.DSMT4">
                      <p:embed/>
                    </p:oleObj>
                  </mc:Choice>
                  <mc:Fallback>
                    <p:oleObj name="Equation" r:id="rId13" imgW="1522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1650" y="735013"/>
                            <a:ext cx="184150" cy="31591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0" name="Arc 56"/>
              <p:cNvSpPr>
                <a:spLocks/>
              </p:cNvSpPr>
              <p:nvPr/>
            </p:nvSpPr>
            <p:spPr bwMode="auto">
              <a:xfrm rot="10800000">
                <a:off x="6301436" y="814592"/>
                <a:ext cx="418156" cy="369690"/>
              </a:xfrm>
              <a:custGeom>
                <a:avLst/>
                <a:gdLst>
                  <a:gd name="G0" fmla="+- 0 0 0"/>
                  <a:gd name="G1" fmla="+- 21118 0 0"/>
                  <a:gd name="G2" fmla="+- 21600 0 0"/>
                  <a:gd name="T0" fmla="*/ 4536 w 21600"/>
                  <a:gd name="T1" fmla="*/ 0 h 21118"/>
                  <a:gd name="T2" fmla="*/ 21600 w 21600"/>
                  <a:gd name="T3" fmla="*/ 21118 h 21118"/>
                  <a:gd name="T4" fmla="*/ 0 w 21600"/>
                  <a:gd name="T5" fmla="*/ 21118 h 2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118" fill="none" extrusionOk="0">
                    <a:moveTo>
                      <a:pt x="4536" y="-1"/>
                    </a:moveTo>
                    <a:cubicBezTo>
                      <a:pt x="14490" y="2137"/>
                      <a:pt x="21600" y="10936"/>
                      <a:pt x="21600" y="21118"/>
                    </a:cubicBezTo>
                  </a:path>
                  <a:path w="21600" h="21118" stroke="0" extrusionOk="0">
                    <a:moveTo>
                      <a:pt x="4536" y="-1"/>
                    </a:moveTo>
                    <a:cubicBezTo>
                      <a:pt x="14490" y="2137"/>
                      <a:pt x="21600" y="10936"/>
                      <a:pt x="21600" y="21118"/>
                    </a:cubicBezTo>
                    <a:lnTo>
                      <a:pt x="0" y="2111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407" name="Arc 406"/>
            <p:cNvSpPr/>
            <p:nvPr/>
          </p:nvSpPr>
          <p:spPr>
            <a:xfrm>
              <a:off x="815672" y="2784479"/>
              <a:ext cx="837335" cy="977503"/>
            </a:xfrm>
            <a:prstGeom prst="arc">
              <a:avLst>
                <a:gd name="adj1" fmla="val 11722569"/>
                <a:gd name="adj2" fmla="val 4205773"/>
              </a:avLst>
            </a:prstGeom>
            <a:ln w="127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Arc 407"/>
            <p:cNvSpPr/>
            <p:nvPr/>
          </p:nvSpPr>
          <p:spPr>
            <a:xfrm>
              <a:off x="2405855" y="2807958"/>
              <a:ext cx="782679" cy="883030"/>
            </a:xfrm>
            <a:prstGeom prst="arc">
              <a:avLst>
                <a:gd name="adj1" fmla="val 6390228"/>
                <a:gd name="adj2" fmla="val 21100559"/>
              </a:avLst>
            </a:prstGeom>
            <a:ln w="127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11" name="Object 4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4426974"/>
                </p:ext>
              </p:extLst>
            </p:nvPr>
          </p:nvGraphicFramePr>
          <p:xfrm>
            <a:off x="1121607" y="2950697"/>
            <a:ext cx="312737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41200" progId="Equation.DSMT4">
                    <p:embed/>
                  </p:oleObj>
                </mc:Choice>
                <mc:Fallback>
                  <p:oleObj name="Equation" r:id="rId15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1607" y="2950697"/>
                          <a:ext cx="312737" cy="425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" name="Object 4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1039057"/>
                </p:ext>
              </p:extLst>
            </p:nvPr>
          </p:nvGraphicFramePr>
          <p:xfrm>
            <a:off x="2517019" y="2984035"/>
            <a:ext cx="3333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41200" progId="Equation.DSMT4">
                    <p:embed/>
                  </p:oleObj>
                </mc:Choice>
                <mc:Fallback>
                  <p:oleObj name="Equation" r:id="rId17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019" y="2984035"/>
                          <a:ext cx="333375" cy="425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6" name="Object 4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063060"/>
              </p:ext>
            </p:extLst>
          </p:nvPr>
        </p:nvGraphicFramePr>
        <p:xfrm>
          <a:off x="547688" y="5129213"/>
          <a:ext cx="7710487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228920" imgH="558720" progId="Equation.DSMT4">
                  <p:embed/>
                </p:oleObj>
              </mc:Choice>
              <mc:Fallback>
                <p:oleObj name="Equation" r:id="rId19" imgW="42289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5129213"/>
                        <a:ext cx="7710487" cy="1074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Rectangle 4"/>
          <p:cNvSpPr>
            <a:spLocks noChangeArrowheads="1"/>
          </p:cNvSpPr>
          <p:nvPr/>
        </p:nvSpPr>
        <p:spPr bwMode="auto">
          <a:xfrm>
            <a:off x="228600" y="304800"/>
            <a:ext cx="61041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400" u="sng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Cách 2:</a:t>
            </a:r>
            <a:r>
              <a:rPr kumimoji="0" lang="en-US" sz="2400" u="none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Lập hệ phương trình trực tiếp</a:t>
            </a:r>
          </a:p>
        </p:txBody>
      </p:sp>
      <p:sp>
        <p:nvSpPr>
          <p:cNvPr id="116" name="Rectangle 4"/>
          <p:cNvSpPr>
            <a:spLocks noChangeArrowheads="1"/>
          </p:cNvSpPr>
          <p:nvPr/>
        </p:nvSpPr>
        <p:spPr bwMode="auto">
          <a:xfrm>
            <a:off x="228600" y="906482"/>
            <a:ext cx="53227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200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Nếu ghép hỗ cảm trong cùng 1 vòng </a:t>
            </a:r>
            <a:r>
              <a:rPr kumimoji="0" lang="en-US" sz="2200" b="1" i="1" strike="noStrike" cap="none" normalizeH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 </a:t>
            </a:r>
            <a:r>
              <a:rPr kumimoji="0" lang="en-US" sz="2200" strike="noStrike" cap="none" normalizeH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t</a:t>
            </a:r>
            <a:r>
              <a:rPr lang="en-US" sz="2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hì thêm vào thành phần </a:t>
            </a:r>
            <a:r>
              <a:rPr lang="en-US" sz="22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2200" b="1" baseline="-25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kk</a:t>
            </a:r>
            <a:r>
              <a:rPr lang="en-US" sz="22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:  j2M</a:t>
            </a:r>
          </a:p>
          <a:p>
            <a:pPr marL="801688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(+) nếu chiều của vòng </a:t>
            </a:r>
            <a:r>
              <a:rPr lang="en-US" sz="2200" b="1" i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cùng đi vào (cùng đi ra) các cực cùng tên;</a:t>
            </a:r>
          </a:p>
          <a:p>
            <a:pPr marL="287338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200" strike="noStrike" cap="none" normalizeH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(-)  ngược lại</a:t>
            </a:r>
          </a:p>
          <a:p>
            <a:pPr marL="342900" indent="-342900" algn="just" fontAlgn="base">
              <a:spcBef>
                <a:spcPts val="120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Nếu ghép hỗ cảm giữa 2 vòng </a:t>
            </a:r>
            <a:r>
              <a:rPr lang="en-US" sz="2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 &amp; l</a:t>
            </a:r>
            <a:r>
              <a:rPr lang="en-US" sz="2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thì thêm vào thành phần </a:t>
            </a:r>
            <a:r>
              <a:rPr lang="en-US" sz="22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2200" b="1" baseline="-25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kl </a:t>
            </a:r>
            <a:r>
              <a:rPr lang="en-US" sz="22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:  jM</a:t>
            </a:r>
          </a:p>
          <a:p>
            <a:pPr marL="801688" lvl="0" indent="-514350" algn="just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(+) nếu chiều của mỗi vòng </a:t>
            </a:r>
            <a:r>
              <a:rPr lang="en-US" sz="2200" b="1" i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sz="22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vk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 và </a:t>
            </a:r>
            <a:r>
              <a:rPr lang="en-US" sz="2200" b="1" i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sz="22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vl 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cùng đi vào (cùng đi ra) các cực cùng tên nằm trong vòng đó;</a:t>
            </a:r>
          </a:p>
          <a:p>
            <a:pPr marL="287338" lvl="0" algn="just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(-)  ngược lại</a:t>
            </a:r>
            <a:endParaRPr lang="en-US" sz="22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119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638652"/>
              </p:ext>
            </p:extLst>
          </p:nvPr>
        </p:nvGraphicFramePr>
        <p:xfrm>
          <a:off x="5931074" y="3276600"/>
          <a:ext cx="26622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60160" imgH="507960" progId="Equation.DSMT4">
                  <p:embed/>
                </p:oleObj>
              </mc:Choice>
              <mc:Fallback>
                <p:oleObj name="Equation" r:id="rId21" imgW="1460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1074" y="3276600"/>
                        <a:ext cx="2662237" cy="977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615172"/>
              </p:ext>
            </p:extLst>
          </p:nvPr>
        </p:nvGraphicFramePr>
        <p:xfrm>
          <a:off x="3124200" y="5232748"/>
          <a:ext cx="955371" cy="360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45760" imgH="203040" progId="Equation.DSMT4">
                  <p:embed/>
                </p:oleObj>
              </mc:Choice>
              <mc:Fallback>
                <p:oleObj name="Equation" r:id="rId23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232748"/>
                        <a:ext cx="955371" cy="360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689749"/>
              </p:ext>
            </p:extLst>
          </p:nvPr>
        </p:nvGraphicFramePr>
        <p:xfrm>
          <a:off x="5917504" y="5217765"/>
          <a:ext cx="8207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69800" imgH="203040" progId="Equation.DSMT4">
                  <p:embed/>
                </p:oleObj>
              </mc:Choice>
              <mc:Fallback>
                <p:oleObj name="Equation" r:id="rId25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504" y="5217765"/>
                        <a:ext cx="8207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381082"/>
              </p:ext>
            </p:extLst>
          </p:nvPr>
        </p:nvGraphicFramePr>
        <p:xfrm>
          <a:off x="1905000" y="5734316"/>
          <a:ext cx="8207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69800" imgH="203040" progId="Equation.DSMT4">
                  <p:embed/>
                </p:oleObj>
              </mc:Choice>
              <mc:Fallback>
                <p:oleObj name="Equation" r:id="rId27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34316"/>
                        <a:ext cx="8207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wn Arrow 3"/>
          <p:cNvSpPr/>
          <p:nvPr/>
        </p:nvSpPr>
        <p:spPr>
          <a:xfrm>
            <a:off x="6959633" y="4572000"/>
            <a:ext cx="542107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8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6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219200"/>
            <a:ext cx="8176281" cy="2184490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lý xếp chồng thường được áp dụng cho mạch điện có các nguồn tác động khác tần số.</a:t>
            </a:r>
          </a:p>
          <a:p>
            <a:pPr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Nguyên lý xếp chồng: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“Đáp ứng tạo bởi các nguồn kích thích tác động đồng thời thì bằng tổng các đáp ứng được tạo bởi từng nguồn kích thích tác động riêng rẽ”.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3.3 NGUYÊN LÝ XẾP CHỒNG VÀ TỶ LỆ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84" y="4135364"/>
            <a:ext cx="2292096" cy="15924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352800"/>
            <a:ext cx="2057800" cy="1564492"/>
          </a:xfrm>
          <a:prstGeom prst="rect">
            <a:avLst/>
          </a:prstGeom>
        </p:spPr>
      </p:pic>
      <p:pic>
        <p:nvPicPr>
          <p:cNvPr id="90112" name="Picture 901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207" y="5029820"/>
            <a:ext cx="1981600" cy="1447179"/>
          </a:xfrm>
          <a:prstGeom prst="rect">
            <a:avLst/>
          </a:prstGeom>
        </p:spPr>
      </p:pic>
      <p:sp>
        <p:nvSpPr>
          <p:cNvPr id="90121" name="Equal 90120"/>
          <p:cNvSpPr/>
          <p:nvPr/>
        </p:nvSpPr>
        <p:spPr>
          <a:xfrm>
            <a:off x="3145198" y="4841091"/>
            <a:ext cx="588602" cy="399881"/>
          </a:xfrm>
          <a:prstGeom prst="mathEqua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122" name="Right Arrow 90121"/>
          <p:cNvSpPr/>
          <p:nvPr/>
        </p:nvSpPr>
        <p:spPr>
          <a:xfrm>
            <a:off x="6267062" y="4769967"/>
            <a:ext cx="321420" cy="515825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5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365708"/>
              </p:ext>
            </p:extLst>
          </p:nvPr>
        </p:nvGraphicFramePr>
        <p:xfrm>
          <a:off x="6934200" y="4190999"/>
          <a:ext cx="1581150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787320" progId="Equation.DSMT4">
                  <p:embed/>
                </p:oleObj>
              </mc:Choice>
              <mc:Fallback>
                <p:oleObj name="Equation" r:id="rId6" imgW="82548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190999"/>
                        <a:ext cx="1581150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F58B37-19AB-3D3A-C80F-B70DC41A93A6}"/>
              </a:ext>
            </a:extLst>
          </p:cNvPr>
          <p:cNvSpPr txBox="1">
            <a:spLocks/>
          </p:cNvSpPr>
          <p:nvPr/>
        </p:nvSpPr>
        <p:spPr>
          <a:xfrm>
            <a:off x="457200" y="762000"/>
            <a:ext cx="8153400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3.3.1 NGUYÊN LÝ XẾP CHỒNG</a:t>
            </a:r>
          </a:p>
        </p:txBody>
      </p:sp>
    </p:spTree>
    <p:extLst>
      <p:ext uri="{BB962C8B-B14F-4D97-AF65-F5344CB8AC3E}">
        <p14:creationId xmlns:p14="http://schemas.microsoft.com/office/powerpoint/2010/main" val="91237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0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0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 animBg="1"/>
      <p:bldP spid="901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86500"/>
            <a:ext cx="457200" cy="457200"/>
          </a:xfrm>
        </p:spPr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9934" y="304800"/>
            <a:ext cx="8199162" cy="3188918"/>
          </a:xfrm>
          <a:ln>
            <a:noFill/>
          </a:ln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bước thực hiện theo nguyên lý xếp chồng:</a:t>
            </a:r>
          </a:p>
          <a:p>
            <a:pPr marL="338138" indent="-338138" eaLnBrk="1" hangingPunct="1">
              <a:spcBef>
                <a:spcPts val="0"/>
              </a:spcBef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1. Lần lượt cho các nguồn tác động làm việc riêng rẽ, các nguồn không làm việc theo nguyên tắc:</a:t>
            </a:r>
          </a:p>
          <a:p>
            <a:pPr marL="630238" indent="-342900" eaLnBrk="1" hangingPunct="1"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Nguồn áp -&gt; ngắn mạch;</a:t>
            </a:r>
          </a:p>
          <a:p>
            <a:pPr marL="630238" indent="-342900" eaLnBrk="1" hangingPunct="1"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Nguồn dòng -&gt; hở mạch.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2. Tính đáp ứng (u,i) tạo bởi từng nguồn tác dộng riêng rẽ.</a:t>
            </a:r>
          </a:p>
          <a:p>
            <a:pPr marL="338138" indent="-338138" algn="just" eaLnBrk="1" hangingPunct="1">
              <a:spcBef>
                <a:spcPts val="600"/>
              </a:spcBef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3. Tổng cộng các đáp ứng (u,i) tạo bởi các nguồn tác động riêng rẽ.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6200" y="3429000"/>
            <a:ext cx="8991600" cy="2602282"/>
            <a:chOff x="76200" y="3352800"/>
            <a:chExt cx="8991600" cy="260228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" y="3886200"/>
              <a:ext cx="2977896" cy="206888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7496" y="4082963"/>
              <a:ext cx="2362200" cy="179591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200" y="4106449"/>
              <a:ext cx="2438400" cy="1780783"/>
            </a:xfrm>
            <a:prstGeom prst="rect">
              <a:avLst/>
            </a:prstGeom>
          </p:spPr>
        </p:pic>
        <p:sp>
          <p:nvSpPr>
            <p:cNvPr id="3" name="Equal 2"/>
            <p:cNvSpPr/>
            <p:nvPr/>
          </p:nvSpPr>
          <p:spPr>
            <a:xfrm>
              <a:off x="3200400" y="4904852"/>
              <a:ext cx="457200" cy="274320"/>
            </a:xfrm>
            <a:prstGeom prst="mathEqua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Plus 3"/>
            <p:cNvSpPr/>
            <p:nvPr/>
          </p:nvSpPr>
          <p:spPr>
            <a:xfrm>
              <a:off x="6096000" y="4876800"/>
              <a:ext cx="407096" cy="381000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3713748" y="3414909"/>
              <a:ext cx="2687052" cy="738513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ClrTx/>
                <a:buFont typeface="Wingdings 2"/>
                <a:buNone/>
              </a:pPr>
              <a:r>
                <a:rPr lang="en-US" sz="1800" i="1">
                  <a:latin typeface="Arial" panose="020B0604020202020204" pitchFamily="34" charset="0"/>
                  <a:cs typeface="Arial" panose="020B0604020202020204" pitchFamily="34" charset="0"/>
                </a:rPr>
                <a:t>- Nguồn áp làm việc</a:t>
              </a:r>
            </a:p>
            <a:p>
              <a:pPr marL="0" indent="0">
                <a:spcBef>
                  <a:spcPts val="0"/>
                </a:spcBef>
                <a:buClrTx/>
                <a:buFont typeface="Wingdings 2"/>
                <a:buNone/>
              </a:pPr>
              <a:r>
                <a:rPr lang="en-US" sz="1800" i="1">
                  <a:latin typeface="Arial" panose="020B0604020202020204" pitchFamily="34" charset="0"/>
                  <a:cs typeface="Arial" panose="020B0604020202020204" pitchFamily="34" charset="0"/>
                </a:rPr>
                <a:t>- Hở mạch nguồn dòng</a:t>
              </a:r>
            </a:p>
          </p:txBody>
        </p:sp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6432993" y="3352800"/>
              <a:ext cx="2634807" cy="670663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1800" i="1">
                  <a:latin typeface="Arial" panose="020B0604020202020204" pitchFamily="34" charset="0"/>
                  <a:cs typeface="Arial" panose="020B0604020202020204" pitchFamily="34" charset="0"/>
                </a:rPr>
                <a:t>- Nguồn dòng làm việc</a:t>
              </a:r>
            </a:p>
            <a:p>
              <a:pPr marL="0" indent="0">
                <a:buClrTx/>
                <a:buFont typeface="Wingdings 2"/>
                <a:buNone/>
              </a:pPr>
              <a:r>
                <a:rPr lang="en-US" sz="1800" i="1">
                  <a:latin typeface="Arial" panose="020B0604020202020204" pitchFamily="34" charset="0"/>
                  <a:cs typeface="Arial" panose="020B0604020202020204" pitchFamily="34" charset="0"/>
                </a:rPr>
                <a:t>- Ngắn mạch nguồn áp</a:t>
              </a:r>
            </a:p>
          </p:txBody>
        </p:sp>
      </p:grp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62716"/>
              </p:ext>
            </p:extLst>
          </p:nvPr>
        </p:nvGraphicFramePr>
        <p:xfrm>
          <a:off x="4114800" y="6094084"/>
          <a:ext cx="4669982" cy="470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280" imgH="241200" progId="Equation.DSMT4">
                  <p:embed/>
                </p:oleObj>
              </mc:Choice>
              <mc:Fallback>
                <p:oleObj name="Equation" r:id="rId6" imgW="243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6094084"/>
                        <a:ext cx="4669982" cy="47059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58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F36521E-0834-482A-A955-53A3153AF409}"/>
              </a:ext>
            </a:extLst>
          </p:cNvPr>
          <p:cNvSpPr/>
          <p:nvPr/>
        </p:nvSpPr>
        <p:spPr>
          <a:xfrm>
            <a:off x="1956795" y="4025720"/>
            <a:ext cx="1713715" cy="1872625"/>
          </a:xfrm>
          <a:prstGeom prst="rect">
            <a:avLst/>
          </a:prstGeom>
          <a:solidFill>
            <a:srgbClr val="FFFF99"/>
          </a:solidFill>
          <a:ln w="254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457201" y="306050"/>
            <a:ext cx="4267199" cy="14465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</a:t>
            </a:r>
            <a:r>
              <a:rPr lang="en-US" sz="2200" b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qua điện trở 3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và công suất tiêu thụ TB trên nó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200" b="1" i="1" u="none" strike="noStrike" cap="none" normalizeH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e(t)=15cos2t V; J=8A</a:t>
            </a:r>
            <a:r>
              <a:rPr kumimoji="0" lang="en-US" sz="2200" u="none" strike="noStrike" cap="none" normalizeH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(nguồn DC)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712" y="228600"/>
            <a:ext cx="4219088" cy="2057400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78036" y="1820047"/>
            <a:ext cx="4267200" cy="66675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Nguồn J=8A làm việc, ngắn mạch nguồn e(t):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608634"/>
              </p:ext>
            </p:extLst>
          </p:nvPr>
        </p:nvGraphicFramePr>
        <p:xfrm>
          <a:off x="5538748" y="2416017"/>
          <a:ext cx="2266950" cy="64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393480" progId="Equation.DSMT4">
                  <p:embed/>
                </p:oleObj>
              </mc:Choice>
              <mc:Fallback>
                <p:oleObj name="Equation" r:id="rId4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48" y="2416017"/>
                        <a:ext cx="2266950" cy="6461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" name="Group 83"/>
          <p:cNvGrpSpPr/>
          <p:nvPr/>
        </p:nvGrpSpPr>
        <p:grpSpPr>
          <a:xfrm>
            <a:off x="2805081" y="2233721"/>
            <a:ext cx="2286000" cy="1371600"/>
            <a:chOff x="838200" y="2988098"/>
            <a:chExt cx="2514600" cy="1602952"/>
          </a:xfrm>
        </p:grpSpPr>
        <p:cxnSp>
          <p:nvCxnSpPr>
            <p:cNvPr id="49" name="Straight Connector 48"/>
            <p:cNvCxnSpPr>
              <a:cxnSpLocks noChangeShapeType="1"/>
            </p:cNvCxnSpPr>
            <p:nvPr/>
          </p:nvCxnSpPr>
          <p:spPr bwMode="auto">
            <a:xfrm flipV="1">
              <a:off x="1913331" y="3477756"/>
              <a:ext cx="0" cy="3132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0" name="Group 49"/>
            <p:cNvGrpSpPr/>
            <p:nvPr/>
          </p:nvGrpSpPr>
          <p:grpSpPr>
            <a:xfrm>
              <a:off x="838200" y="2988098"/>
              <a:ext cx="2514600" cy="1602952"/>
              <a:chOff x="0" y="-221249"/>
              <a:chExt cx="1338994" cy="880462"/>
            </a:xfrm>
          </p:grpSpPr>
          <p:cxnSp>
            <p:nvCxnSpPr>
              <p:cNvPr id="51" name="Straight Connector 50"/>
              <p:cNvCxnSpPr>
                <a:cxnSpLocks noChangeShapeType="1"/>
              </p:cNvCxnSpPr>
              <p:nvPr/>
            </p:nvCxnSpPr>
            <p:spPr bwMode="auto">
              <a:xfrm>
                <a:off x="564543" y="381663"/>
                <a:ext cx="0" cy="2667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52" name="Group 51"/>
              <p:cNvGrpSpPr/>
              <p:nvPr/>
            </p:nvGrpSpPr>
            <p:grpSpPr>
              <a:xfrm>
                <a:off x="0" y="-221249"/>
                <a:ext cx="1338994" cy="880462"/>
                <a:chOff x="0" y="-221249"/>
                <a:chExt cx="1338994" cy="880462"/>
              </a:xfrm>
            </p:grpSpPr>
            <p:grpSp>
              <p:nvGrpSpPr>
                <p:cNvPr id="54" name="Group 53"/>
                <p:cNvGrpSpPr/>
                <p:nvPr/>
              </p:nvGrpSpPr>
              <p:grpSpPr>
                <a:xfrm>
                  <a:off x="0" y="-221249"/>
                  <a:ext cx="1338994" cy="880462"/>
                  <a:chOff x="0" y="-221249"/>
                  <a:chExt cx="1338994" cy="880462"/>
                </a:xfrm>
              </p:grpSpPr>
              <p:sp>
                <p:nvSpPr>
                  <p:cNvPr id="56" name="Freeform 55"/>
                  <p:cNvSpPr>
                    <a:spLocks/>
                  </p:cNvSpPr>
                  <p:nvPr/>
                </p:nvSpPr>
                <p:spPr bwMode="auto">
                  <a:xfrm rot="21600000">
                    <a:off x="182880" y="0"/>
                    <a:ext cx="319405" cy="101600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2934" y="244739"/>
                    <a:ext cx="211455" cy="17653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J</a:t>
                    </a:r>
                    <a:endParaRPr lang="en-US" sz="2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    </a:t>
                    </a:r>
                    <a:endParaRPr lang="en-US" sz="2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 </a:t>
                    </a:r>
                    <a:endParaRPr lang="en-US" sz="2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Freeform 57"/>
                  <p:cNvSpPr>
                    <a:spLocks/>
                  </p:cNvSpPr>
                  <p:nvPr/>
                </p:nvSpPr>
                <p:spPr bwMode="auto">
                  <a:xfrm rot="5400000">
                    <a:off x="405517" y="270344"/>
                    <a:ext cx="319405" cy="100965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9958" y="270344"/>
                    <a:ext cx="213995" cy="14287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>
                        <a:effectLst/>
                        <a:latin typeface="VNI-Times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</a:t>
                    </a:r>
                    <a:endParaRPr lang="en-US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572" y="97757"/>
                    <a:ext cx="213995" cy="14287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3</a:t>
                    </a:r>
                    <a:r>
                      <a:rPr lang="en-US">
                        <a:effectLst/>
                        <a:latin typeface="VNI-Times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</a:t>
                    </a:r>
                    <a:endParaRPr lang="en-US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Freeform 60"/>
                  <p:cNvSpPr>
                    <a:spLocks/>
                  </p:cNvSpPr>
                  <p:nvPr/>
                </p:nvSpPr>
                <p:spPr bwMode="auto">
                  <a:xfrm>
                    <a:off x="0" y="47708"/>
                    <a:ext cx="1247775" cy="611505"/>
                  </a:xfrm>
                  <a:custGeom>
                    <a:avLst/>
                    <a:gdLst>
                      <a:gd name="T0" fmla="*/ 759 w 1965"/>
                      <a:gd name="T1" fmla="*/ 0 h 963"/>
                      <a:gd name="T2" fmla="*/ 1965 w 1965"/>
                      <a:gd name="T3" fmla="*/ 0 h 963"/>
                      <a:gd name="T4" fmla="*/ 1965 w 1965"/>
                      <a:gd name="T5" fmla="*/ 963 h 963"/>
                      <a:gd name="T6" fmla="*/ 0 w 1965"/>
                      <a:gd name="T7" fmla="*/ 963 h 963"/>
                      <a:gd name="T8" fmla="*/ 0 w 1965"/>
                      <a:gd name="T9" fmla="*/ 0 h 963"/>
                      <a:gd name="T10" fmla="*/ 358 w 1965"/>
                      <a:gd name="T11" fmla="*/ 0 h 9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965" h="963">
                        <a:moveTo>
                          <a:pt x="759" y="0"/>
                        </a:moveTo>
                        <a:lnTo>
                          <a:pt x="1965" y="0"/>
                        </a:lnTo>
                        <a:lnTo>
                          <a:pt x="1965" y="963"/>
                        </a:lnTo>
                        <a:lnTo>
                          <a:pt x="0" y="963"/>
                        </a:lnTo>
                        <a:lnTo>
                          <a:pt x="0" y="0"/>
                        </a:lnTo>
                        <a:lnTo>
                          <a:pt x="358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2" name="Oval 61"/>
                  <p:cNvSpPr>
                    <a:spLocks noChangeArrowheads="1"/>
                  </p:cNvSpPr>
                  <p:nvPr/>
                </p:nvSpPr>
                <p:spPr bwMode="auto">
                  <a:xfrm rot="21600000">
                    <a:off x="1152939" y="238539"/>
                    <a:ext cx="186055" cy="18542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6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6837" y="355559"/>
                    <a:ext cx="213995" cy="14287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baseline="-2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2</a:t>
                    </a:r>
                    <a:endParaRPr lang="en-US" baseline="-25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2627" y="-221249"/>
                    <a:ext cx="213995" cy="14287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b="1" baseline="-2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DC</a:t>
                    </a:r>
                    <a:endParaRPr lang="en-US" b="1" baseline="-25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55" name="Straight Connector 54"/>
                <p:cNvCxnSpPr>
                  <a:cxnSpLocks noChangeShapeType="1"/>
                </p:cNvCxnSpPr>
                <p:nvPr/>
              </p:nvCxnSpPr>
              <p:spPr bwMode="auto">
                <a:xfrm flipV="1">
                  <a:off x="1248355" y="262393"/>
                  <a:ext cx="0" cy="1276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cxnSp>
          <p:nvCxnSpPr>
            <p:cNvPr id="73" name="Straight Arrow Connector 72"/>
            <p:cNvCxnSpPr/>
            <p:nvPr/>
          </p:nvCxnSpPr>
          <p:spPr>
            <a:xfrm>
              <a:off x="1221137" y="3334067"/>
              <a:ext cx="531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V="1">
              <a:off x="1727548" y="3992880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ectangle 3"/>
          <p:cNvSpPr txBox="1">
            <a:spLocks noChangeArrowheads="1"/>
          </p:cNvSpPr>
          <p:nvPr/>
        </p:nvSpPr>
        <p:spPr>
          <a:xfrm>
            <a:off x="381000" y="3657600"/>
            <a:ext cx="5401433" cy="421896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Nguồn e(t) làm việc, hở mạch nguồn J: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3" name="Group 222"/>
          <p:cNvGrpSpPr/>
          <p:nvPr/>
        </p:nvGrpSpPr>
        <p:grpSpPr>
          <a:xfrm>
            <a:off x="222504" y="4038600"/>
            <a:ext cx="3299868" cy="1673604"/>
            <a:chOff x="374904" y="4038600"/>
            <a:chExt cx="3351408" cy="1828800"/>
          </a:xfrm>
        </p:grpSpPr>
        <p:cxnSp>
          <p:nvCxnSpPr>
            <p:cNvPr id="132" name="Line 47"/>
            <p:cNvCxnSpPr>
              <a:cxnSpLocks noChangeShapeType="1"/>
            </p:cNvCxnSpPr>
            <p:nvPr/>
          </p:nvCxnSpPr>
          <p:spPr bwMode="auto">
            <a:xfrm>
              <a:off x="2062616" y="4584032"/>
              <a:ext cx="5968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Line 49"/>
            <p:cNvCxnSpPr>
              <a:cxnSpLocks noChangeShapeType="1"/>
            </p:cNvCxnSpPr>
            <p:nvPr/>
          </p:nvCxnSpPr>
          <p:spPr bwMode="auto">
            <a:xfrm>
              <a:off x="1416553" y="4584032"/>
              <a:ext cx="192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Line 54"/>
            <p:cNvCxnSpPr>
              <a:cxnSpLocks noChangeShapeType="1"/>
            </p:cNvCxnSpPr>
            <p:nvPr/>
          </p:nvCxnSpPr>
          <p:spPr bwMode="auto">
            <a:xfrm>
              <a:off x="3642557" y="4573337"/>
              <a:ext cx="0" cy="368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Line 55"/>
            <p:cNvCxnSpPr>
              <a:cxnSpLocks noChangeShapeType="1"/>
            </p:cNvCxnSpPr>
            <p:nvPr/>
          </p:nvCxnSpPr>
          <p:spPr bwMode="auto">
            <a:xfrm>
              <a:off x="3653149" y="5364748"/>
              <a:ext cx="0" cy="4970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9" name="Freeform 138"/>
            <p:cNvSpPr>
              <a:spLocks/>
            </p:cNvSpPr>
            <p:nvPr/>
          </p:nvSpPr>
          <p:spPr bwMode="auto">
            <a:xfrm>
              <a:off x="1003496" y="4498474"/>
              <a:ext cx="487195" cy="14775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grpSp>
          <p:nvGrpSpPr>
            <p:cNvPr id="140" name="Group 139"/>
            <p:cNvGrpSpPr>
              <a:grpSpLocks/>
            </p:cNvGrpSpPr>
            <p:nvPr/>
          </p:nvGrpSpPr>
          <p:grpSpPr bwMode="auto">
            <a:xfrm>
              <a:off x="1586012" y="4509168"/>
              <a:ext cx="482966" cy="122135"/>
              <a:chOff x="2448" y="1728"/>
              <a:chExt cx="571" cy="143"/>
            </a:xfrm>
          </p:grpSpPr>
          <p:sp>
            <p:nvSpPr>
              <p:cNvPr id="182" name="Freeform 181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3" name="Freeform 182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4" name="Freeform 183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5" name="Freeform 184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86" name="Line 22"/>
              <p:cNvCxnSpPr>
                <a:cxnSpLocks noChangeShapeType="1"/>
              </p:cNvCxnSpPr>
              <p:nvPr/>
            </p:nvCxn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7" name="Line 23"/>
              <p:cNvCxnSpPr>
                <a:cxnSpLocks noChangeShapeType="1"/>
              </p:cNvCxnSpPr>
              <p:nvPr/>
            </p:nvCxn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2" name="Group 141"/>
            <p:cNvGrpSpPr>
              <a:grpSpLocks/>
            </p:cNvGrpSpPr>
            <p:nvPr/>
          </p:nvGrpSpPr>
          <p:grpSpPr bwMode="auto">
            <a:xfrm>
              <a:off x="2673043" y="4305968"/>
              <a:ext cx="659743" cy="553453"/>
              <a:chOff x="9964" y="3024"/>
              <a:chExt cx="780" cy="648"/>
            </a:xfrm>
          </p:grpSpPr>
          <p:grpSp>
            <p:nvGrpSpPr>
              <p:cNvPr id="161" name="Group 160"/>
              <p:cNvGrpSpPr>
                <a:grpSpLocks/>
              </p:cNvGrpSpPr>
              <p:nvPr/>
            </p:nvGrpSpPr>
            <p:grpSpPr bwMode="auto">
              <a:xfrm>
                <a:off x="10072" y="3456"/>
                <a:ext cx="574" cy="216"/>
                <a:chOff x="2307" y="1614"/>
                <a:chExt cx="567" cy="216"/>
              </a:xfrm>
            </p:grpSpPr>
            <p:grpSp>
              <p:nvGrpSpPr>
                <p:cNvPr id="171" name="Group 170"/>
                <p:cNvGrpSpPr>
                  <a:grpSpLocks/>
                </p:cNvGrpSpPr>
                <p:nvPr/>
              </p:nvGrpSpPr>
              <p:grpSpPr bwMode="auto">
                <a:xfrm>
                  <a:off x="2554" y="1614"/>
                  <a:ext cx="74" cy="216"/>
                  <a:chOff x="7702" y="4896"/>
                  <a:chExt cx="74" cy="216"/>
                </a:xfrm>
              </p:grpSpPr>
              <p:cxnSp>
                <p:nvCxnSpPr>
                  <p:cNvPr id="174" name="Line 3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76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5" name="Line 3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02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172" name="Line 36"/>
                <p:cNvCxnSpPr>
                  <a:cxnSpLocks noChangeShapeType="1"/>
                </p:cNvCxnSpPr>
                <p:nvPr/>
              </p:nvCxnSpPr>
              <p:spPr bwMode="auto">
                <a:xfrm>
                  <a:off x="2307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3" name="Line 37"/>
                <p:cNvCxnSpPr>
                  <a:cxnSpLocks noChangeShapeType="1"/>
                </p:cNvCxnSpPr>
                <p:nvPr/>
              </p:nvCxnSpPr>
              <p:spPr bwMode="auto">
                <a:xfrm>
                  <a:off x="2629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62" name="Group 161"/>
              <p:cNvGrpSpPr>
                <a:grpSpLocks/>
              </p:cNvGrpSpPr>
              <p:nvPr/>
            </p:nvGrpSpPr>
            <p:grpSpPr bwMode="auto">
              <a:xfrm>
                <a:off x="10080" y="3024"/>
                <a:ext cx="571" cy="143"/>
                <a:chOff x="2448" y="1728"/>
                <a:chExt cx="571" cy="143"/>
              </a:xfrm>
            </p:grpSpPr>
            <p:sp>
              <p:nvSpPr>
                <p:cNvPr id="165" name="Freeform 164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Freeform 165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7" name="Freeform 166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Freeform 167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69" name="Line 43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0" name="Line 44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63" name="Freeform 162"/>
              <p:cNvSpPr>
                <a:spLocks/>
              </p:cNvSpPr>
              <p:nvPr/>
            </p:nvSpPr>
            <p:spPr bwMode="auto">
              <a:xfrm>
                <a:off x="9964" y="3126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64" name="Freeform 163"/>
              <p:cNvSpPr>
                <a:spLocks/>
              </p:cNvSpPr>
              <p:nvPr/>
            </p:nvSpPr>
            <p:spPr bwMode="auto">
              <a:xfrm rot="10800000">
                <a:off x="10600" y="3122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</p:grpSp>
        <p:cxnSp>
          <p:nvCxnSpPr>
            <p:cNvPr id="143" name="Line 51"/>
            <p:cNvCxnSpPr>
              <a:cxnSpLocks noChangeShapeType="1"/>
            </p:cNvCxnSpPr>
            <p:nvPr/>
          </p:nvCxnSpPr>
          <p:spPr bwMode="auto">
            <a:xfrm>
              <a:off x="2393239" y="4573337"/>
              <a:ext cx="0" cy="6636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Line 52"/>
            <p:cNvCxnSpPr>
              <a:cxnSpLocks noChangeShapeType="1"/>
            </p:cNvCxnSpPr>
            <p:nvPr/>
          </p:nvCxnSpPr>
          <p:spPr bwMode="auto">
            <a:xfrm>
              <a:off x="2393239" y="5311273"/>
              <a:ext cx="0" cy="536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5" name="Freeform 144"/>
            <p:cNvSpPr>
              <a:spLocks/>
            </p:cNvSpPr>
            <p:nvPr/>
          </p:nvSpPr>
          <p:spPr bwMode="auto">
            <a:xfrm rot="5400000">
              <a:off x="3407169" y="5098094"/>
              <a:ext cx="491958" cy="14632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6" name="Text Box 69"/>
            <p:cNvSpPr txBox="1">
              <a:spLocks noChangeArrowheads="1"/>
            </p:cNvSpPr>
            <p:nvPr/>
          </p:nvSpPr>
          <p:spPr bwMode="auto">
            <a:xfrm>
              <a:off x="3176544" y="5118767"/>
              <a:ext cx="365396" cy="2459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 Box 70"/>
            <p:cNvSpPr txBox="1">
              <a:spLocks noChangeArrowheads="1"/>
            </p:cNvSpPr>
            <p:nvPr/>
          </p:nvSpPr>
          <p:spPr bwMode="auto">
            <a:xfrm>
              <a:off x="2482798" y="5253130"/>
              <a:ext cx="529562" cy="2138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-j2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 Box 71"/>
            <p:cNvSpPr txBox="1">
              <a:spLocks noChangeArrowheads="1"/>
            </p:cNvSpPr>
            <p:nvPr/>
          </p:nvSpPr>
          <p:spPr bwMode="auto">
            <a:xfrm>
              <a:off x="1109408" y="4209715"/>
              <a:ext cx="365396" cy="2459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 Box 72"/>
            <p:cNvSpPr txBox="1">
              <a:spLocks noChangeArrowheads="1"/>
            </p:cNvSpPr>
            <p:nvPr/>
          </p:nvSpPr>
          <p:spPr bwMode="auto">
            <a:xfrm>
              <a:off x="2757772" y="4038600"/>
              <a:ext cx="487195" cy="221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j1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 Box 73"/>
            <p:cNvSpPr txBox="1">
              <a:spLocks noChangeArrowheads="1"/>
            </p:cNvSpPr>
            <p:nvPr/>
          </p:nvSpPr>
          <p:spPr bwMode="auto">
            <a:xfrm>
              <a:off x="2821320" y="4851400"/>
              <a:ext cx="487195" cy="221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-j2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 Box 75"/>
            <p:cNvSpPr txBox="1">
              <a:spLocks noChangeArrowheads="1"/>
            </p:cNvSpPr>
            <p:nvPr/>
          </p:nvSpPr>
          <p:spPr bwMode="auto">
            <a:xfrm>
              <a:off x="1670741" y="4252495"/>
              <a:ext cx="487195" cy="221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3" name="Straight Connector 152"/>
            <p:cNvCxnSpPr/>
            <p:nvPr/>
          </p:nvCxnSpPr>
          <p:spPr>
            <a:xfrm>
              <a:off x="2265182" y="5247105"/>
              <a:ext cx="2435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2265182" y="5300579"/>
              <a:ext cx="2435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Freeform 154"/>
            <p:cNvSpPr/>
            <p:nvPr/>
          </p:nvSpPr>
          <p:spPr>
            <a:xfrm>
              <a:off x="823446" y="4562642"/>
              <a:ext cx="2826615" cy="1304758"/>
            </a:xfrm>
            <a:custGeom>
              <a:avLst/>
              <a:gdLst>
                <a:gd name="connsiteX0" fmla="*/ 135172 w 2361537"/>
                <a:gd name="connsiteY0" fmla="*/ 0 h 970059"/>
                <a:gd name="connsiteX1" fmla="*/ 0 w 2361537"/>
                <a:gd name="connsiteY1" fmla="*/ 23853 h 970059"/>
                <a:gd name="connsiteX2" fmla="*/ 0 w 2361537"/>
                <a:gd name="connsiteY2" fmla="*/ 970059 h 970059"/>
                <a:gd name="connsiteX3" fmla="*/ 2361537 w 2361537"/>
                <a:gd name="connsiteY3" fmla="*/ 970059 h 970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1537" h="970059">
                  <a:moveTo>
                    <a:pt x="135172" y="0"/>
                  </a:moveTo>
                  <a:lnTo>
                    <a:pt x="0" y="23853"/>
                  </a:lnTo>
                  <a:lnTo>
                    <a:pt x="0" y="970059"/>
                  </a:lnTo>
                  <a:lnTo>
                    <a:pt x="2361537" y="970059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56" name="Group 155"/>
            <p:cNvGrpSpPr>
              <a:grpSpLocks/>
            </p:cNvGrpSpPr>
            <p:nvPr/>
          </p:nvGrpSpPr>
          <p:grpSpPr bwMode="auto">
            <a:xfrm>
              <a:off x="641461" y="5001126"/>
              <a:ext cx="364970" cy="368538"/>
              <a:chOff x="1884" y="2304"/>
              <a:chExt cx="360" cy="360"/>
            </a:xfrm>
          </p:grpSpPr>
          <p:sp>
            <p:nvSpPr>
              <p:cNvPr id="157" name="Oval 156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58" name="Line 62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Line 63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0" name="Line 64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8" name="Straight Connector 137"/>
            <p:cNvCxnSpPr/>
            <p:nvPr/>
          </p:nvCxnSpPr>
          <p:spPr>
            <a:xfrm flipH="1">
              <a:off x="3335414" y="4562642"/>
              <a:ext cx="3146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/>
            <p:nvPr/>
          </p:nvCxnSpPr>
          <p:spPr>
            <a:xfrm>
              <a:off x="974345" y="4767179"/>
              <a:ext cx="500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94" name="Object 1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2548417"/>
                </p:ext>
              </p:extLst>
            </p:nvPr>
          </p:nvGraphicFramePr>
          <p:xfrm>
            <a:off x="1188856" y="4764361"/>
            <a:ext cx="374650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200" imgH="241200" progId="Equation.DSMT4">
                    <p:embed/>
                  </p:oleObj>
                </mc:Choice>
                <mc:Fallback>
                  <p:oleObj name="Equation" r:id="rId6" imgW="2412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8856" y="4764361"/>
                          <a:ext cx="374650" cy="395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" name="Object 1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513108"/>
                </p:ext>
              </p:extLst>
            </p:nvPr>
          </p:nvGraphicFramePr>
          <p:xfrm>
            <a:off x="374904" y="4991915"/>
            <a:ext cx="236538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190440" progId="Equation.DSMT4">
                    <p:embed/>
                  </p:oleObj>
                </mc:Choice>
                <mc:Fallback>
                  <p:oleObj name="Equation" r:id="rId8" imgW="1522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04" y="4991915"/>
                          <a:ext cx="236538" cy="3127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2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380930"/>
              </p:ext>
            </p:extLst>
          </p:nvPr>
        </p:nvGraphicFramePr>
        <p:xfrm>
          <a:off x="6303700" y="3886200"/>
          <a:ext cx="2611700" cy="202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65080" imgH="1295280" progId="Equation.DSMT4">
                  <p:embed/>
                </p:oleObj>
              </mc:Choice>
              <mc:Fallback>
                <p:oleObj name="Equation" r:id="rId10" imgW="1765080" imgH="1295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700" y="3886200"/>
                        <a:ext cx="2611700" cy="2025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2" name="Group 221"/>
          <p:cNvGrpSpPr/>
          <p:nvPr/>
        </p:nvGrpSpPr>
        <p:grpSpPr>
          <a:xfrm>
            <a:off x="3886335" y="4177813"/>
            <a:ext cx="2285865" cy="1512990"/>
            <a:chOff x="4407860" y="4379025"/>
            <a:chExt cx="2285865" cy="1512990"/>
          </a:xfrm>
        </p:grpSpPr>
        <p:graphicFrame>
          <p:nvGraphicFramePr>
            <p:cNvPr id="204" name="Object 2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241346"/>
                </p:ext>
              </p:extLst>
            </p:nvPr>
          </p:nvGraphicFramePr>
          <p:xfrm>
            <a:off x="4407860" y="5372198"/>
            <a:ext cx="13604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76240" imgH="228600" progId="Equation.DSMT4">
                    <p:embed/>
                  </p:oleObj>
                </mc:Choice>
                <mc:Fallback>
                  <p:oleObj name="Equation" r:id="rId12" imgW="876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860" y="5372198"/>
                          <a:ext cx="1360487" cy="3746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1" name="Group 220"/>
            <p:cNvGrpSpPr/>
            <p:nvPr/>
          </p:nvGrpSpPr>
          <p:grpSpPr>
            <a:xfrm>
              <a:off x="4656078" y="4379025"/>
              <a:ext cx="2037647" cy="1512990"/>
              <a:chOff x="4667953" y="4373460"/>
              <a:chExt cx="2037647" cy="1512990"/>
            </a:xfrm>
          </p:grpSpPr>
          <p:sp>
            <p:nvSpPr>
              <p:cNvPr id="205" name="Text Box 69"/>
              <p:cNvSpPr txBox="1">
                <a:spLocks noChangeArrowheads="1"/>
              </p:cNvSpPr>
              <p:nvPr/>
            </p:nvSpPr>
            <p:spPr bwMode="auto">
              <a:xfrm>
                <a:off x="6495019" y="5161706"/>
                <a:ext cx="210581" cy="24597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6" name="Straight Arrow Connector 205"/>
              <p:cNvCxnSpPr/>
              <p:nvPr/>
            </p:nvCxnSpPr>
            <p:spPr>
              <a:xfrm>
                <a:off x="5090006" y="4891056"/>
                <a:ext cx="50045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07" name="Object 20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65333"/>
                  </p:ext>
                </p:extLst>
              </p:nvPr>
            </p:nvGraphicFramePr>
            <p:xfrm>
              <a:off x="5304517" y="4888238"/>
              <a:ext cx="374650" cy="395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41200" imgH="241200" progId="Equation.DSMT4">
                      <p:embed/>
                    </p:oleObj>
                  </mc:Choice>
                  <mc:Fallback>
                    <p:oleObj name="Equation" r:id="rId14" imgW="2412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04517" y="4888238"/>
                            <a:ext cx="374650" cy="39528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" name="Freeform 207"/>
              <p:cNvSpPr>
                <a:spLocks/>
              </p:cNvSpPr>
              <p:nvPr/>
            </p:nvSpPr>
            <p:spPr bwMode="auto">
              <a:xfrm>
                <a:off x="5060919" y="4662219"/>
                <a:ext cx="487195" cy="147758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9" name="Text Box 71"/>
              <p:cNvSpPr txBox="1">
                <a:spLocks noChangeArrowheads="1"/>
              </p:cNvSpPr>
              <p:nvPr/>
            </p:nvSpPr>
            <p:spPr bwMode="auto">
              <a:xfrm>
                <a:off x="5166831" y="4373460"/>
                <a:ext cx="365396" cy="24597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Freeform 209"/>
              <p:cNvSpPr/>
              <p:nvPr/>
            </p:nvSpPr>
            <p:spPr>
              <a:xfrm>
                <a:off x="4828144" y="4724400"/>
                <a:ext cx="1572610" cy="1162050"/>
              </a:xfrm>
              <a:custGeom>
                <a:avLst/>
                <a:gdLst>
                  <a:gd name="connsiteX0" fmla="*/ 238125 w 1104900"/>
                  <a:gd name="connsiteY0" fmla="*/ 0 h 1162050"/>
                  <a:gd name="connsiteX1" fmla="*/ 0 w 1104900"/>
                  <a:gd name="connsiteY1" fmla="*/ 0 h 1162050"/>
                  <a:gd name="connsiteX2" fmla="*/ 0 w 1104900"/>
                  <a:gd name="connsiteY2" fmla="*/ 1162050 h 1162050"/>
                  <a:gd name="connsiteX3" fmla="*/ 1085850 w 1104900"/>
                  <a:gd name="connsiteY3" fmla="*/ 1162050 h 1162050"/>
                  <a:gd name="connsiteX4" fmla="*/ 1104900 w 1104900"/>
                  <a:gd name="connsiteY4" fmla="*/ 1038225 h 1162050"/>
                  <a:gd name="connsiteX5" fmla="*/ 1104900 w 1104900"/>
                  <a:gd name="connsiteY5" fmla="*/ 0 h 1162050"/>
                  <a:gd name="connsiteX6" fmla="*/ 752475 w 1104900"/>
                  <a:gd name="connsiteY6" fmla="*/ 0 h 1162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04900" h="1162050">
                    <a:moveTo>
                      <a:pt x="238125" y="0"/>
                    </a:moveTo>
                    <a:lnTo>
                      <a:pt x="0" y="0"/>
                    </a:lnTo>
                    <a:lnTo>
                      <a:pt x="0" y="1162050"/>
                    </a:lnTo>
                    <a:lnTo>
                      <a:pt x="1085850" y="1162050"/>
                    </a:lnTo>
                    <a:cubicBezTo>
                      <a:pt x="1095748" y="1043275"/>
                      <a:pt x="1068341" y="1074784"/>
                      <a:pt x="1104900" y="1038225"/>
                    </a:cubicBezTo>
                    <a:lnTo>
                      <a:pt x="1104900" y="0"/>
                    </a:lnTo>
                    <a:lnTo>
                      <a:pt x="75247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6327592" y="5074186"/>
                <a:ext cx="125288" cy="449889"/>
              </a:xfrm>
              <a:prstGeom prst="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9" name="Group 198"/>
              <p:cNvGrpSpPr>
                <a:grpSpLocks/>
              </p:cNvGrpSpPr>
              <p:nvPr/>
            </p:nvGrpSpPr>
            <p:grpSpPr bwMode="auto">
              <a:xfrm>
                <a:off x="4667953" y="5085001"/>
                <a:ext cx="364970" cy="368538"/>
                <a:chOff x="1884" y="2311"/>
                <a:chExt cx="360" cy="360"/>
              </a:xfrm>
            </p:grpSpPr>
            <p:sp>
              <p:nvSpPr>
                <p:cNvPr id="200" name="Oval 199"/>
                <p:cNvSpPr>
                  <a:spLocks noChangeArrowheads="1"/>
                </p:cNvSpPr>
                <p:nvPr/>
              </p:nvSpPr>
              <p:spPr bwMode="auto">
                <a:xfrm>
                  <a:off x="1884" y="2311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201" name="Line 62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2" name="Line 63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3" name="Line 64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13" name="Group 212"/>
              <p:cNvGrpSpPr>
                <a:grpSpLocks/>
              </p:cNvGrpSpPr>
              <p:nvPr/>
            </p:nvGrpSpPr>
            <p:grpSpPr bwMode="auto">
              <a:xfrm>
                <a:off x="5541683" y="4646232"/>
                <a:ext cx="482966" cy="122135"/>
                <a:chOff x="2448" y="1728"/>
                <a:chExt cx="571" cy="143"/>
              </a:xfrm>
            </p:grpSpPr>
            <p:sp>
              <p:nvSpPr>
                <p:cNvPr id="214" name="Freeform 213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Freeform 214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6" name="Freeform 215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Freeform 216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218" name="Line 22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9" name="Line 23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20" name="Text Box 75"/>
              <p:cNvSpPr txBox="1">
                <a:spLocks noChangeArrowheads="1"/>
              </p:cNvSpPr>
              <p:nvPr/>
            </p:nvSpPr>
            <p:spPr bwMode="auto">
              <a:xfrm>
                <a:off x="5626412" y="4389559"/>
                <a:ext cx="487195" cy="22121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j2</a:t>
                </a:r>
                <a:r>
                  <a:rPr lang="en-US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224" name="Object 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93521"/>
              </p:ext>
            </p:extLst>
          </p:nvPr>
        </p:nvGraphicFramePr>
        <p:xfrm>
          <a:off x="783836" y="6075309"/>
          <a:ext cx="76914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16240" imgH="228600" progId="Equation.DSMT4">
                  <p:embed/>
                </p:oleObj>
              </mc:Choice>
              <mc:Fallback>
                <p:oleObj name="Equation" r:id="rId16" imgW="501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836" y="6075309"/>
                        <a:ext cx="7691438" cy="3714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" name="Object 2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238390"/>
              </p:ext>
            </p:extLst>
          </p:nvPr>
        </p:nvGraphicFramePr>
        <p:xfrm>
          <a:off x="5500689" y="3093053"/>
          <a:ext cx="2305010" cy="386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3880" imgH="241200" progId="Equation.DSMT4">
                  <p:embed/>
                </p:oleObj>
              </mc:Choice>
              <mc:Fallback>
                <p:oleObj name="Equation" r:id="rId18" imgW="1523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9" y="3093053"/>
                        <a:ext cx="2305010" cy="3867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86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5" grpId="0"/>
      <p:bldP spid="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863510"/>
            <a:ext cx="8176281" cy="218449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lý tỷ lệ thường được áp dụng cho mạch điện có dạng như hình 3.2.</a:t>
            </a:r>
          </a:p>
          <a:p>
            <a:pPr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Nguyên lý tỷ lệ: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“Nếu nhân nguồn tác động lên K lần, thì đáp ứng trong mạch cũng nhân lên K lần”.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58B37-19AB-3D3A-C80F-B70DC41A93A6}"/>
              </a:ext>
            </a:extLst>
          </p:cNvPr>
          <p:cNvSpPr txBox="1">
            <a:spLocks/>
          </p:cNvSpPr>
          <p:nvPr/>
        </p:nvSpPr>
        <p:spPr>
          <a:xfrm>
            <a:off x="457200" y="304800"/>
            <a:ext cx="3886200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3.3.2 NGUYÊN LÝ TỶ LỆ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E5BD1E-3DED-EA63-0B8D-1B3E1615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083004"/>
            <a:ext cx="3657599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</a:t>
            </a:r>
            <a:r>
              <a:rPr lang="en-US" sz="2200" b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I</a:t>
            </a:r>
            <a:r>
              <a:rPr lang="en-US" sz="22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1</a:t>
            </a: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, biết: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t-IT" sz="220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it-IT" sz="220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t-IT" sz="220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it-IT" sz="220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it-IT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, J=5A</a:t>
            </a:r>
            <a:endParaRPr kumimoji="0" lang="en-US" sz="2200" u="none" strike="noStrike" cap="none" normalizeH="0" baseline="-2500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0011E82-72A2-B727-27AC-BA8A22EE8125}"/>
              </a:ext>
            </a:extLst>
          </p:cNvPr>
          <p:cNvGrpSpPr/>
          <p:nvPr/>
        </p:nvGrpSpPr>
        <p:grpSpPr>
          <a:xfrm>
            <a:off x="5181600" y="2590800"/>
            <a:ext cx="3100992" cy="1986416"/>
            <a:chOff x="5867443" y="2590821"/>
            <a:chExt cx="3100992" cy="1986416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CC2C272-8802-2C1E-837A-EC4A029ECA38}"/>
                </a:ext>
              </a:extLst>
            </p:cNvPr>
            <p:cNvSpPr/>
            <p:nvPr/>
          </p:nvSpPr>
          <p:spPr>
            <a:xfrm>
              <a:off x="6290230" y="3006436"/>
              <a:ext cx="2244169" cy="1143000"/>
            </a:xfrm>
            <a:custGeom>
              <a:avLst/>
              <a:gdLst>
                <a:gd name="connsiteX0" fmla="*/ 1115291 w 1835727"/>
                <a:gd name="connsiteY0" fmla="*/ 0 h 1143000"/>
                <a:gd name="connsiteX1" fmla="*/ 1835727 w 1835727"/>
                <a:gd name="connsiteY1" fmla="*/ 6928 h 1143000"/>
                <a:gd name="connsiteX2" fmla="*/ 1835727 w 1835727"/>
                <a:gd name="connsiteY2" fmla="*/ 1143000 h 1143000"/>
                <a:gd name="connsiteX3" fmla="*/ 0 w 1835727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5727" h="1143000">
                  <a:moveTo>
                    <a:pt x="1115291" y="0"/>
                  </a:moveTo>
                  <a:lnTo>
                    <a:pt x="1835727" y="6928"/>
                  </a:lnTo>
                  <a:lnTo>
                    <a:pt x="1835727" y="1143000"/>
                  </a:ln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EC9574-1CF8-36C5-64C1-987E313EB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7443" y="2590821"/>
              <a:ext cx="3100992" cy="1986416"/>
              <a:chOff x="7395" y="3222"/>
              <a:chExt cx="3638" cy="2137"/>
            </a:xfrm>
          </p:grpSpPr>
          <p:sp>
            <p:nvSpPr>
              <p:cNvPr id="17" name="Freeform 474">
                <a:extLst>
                  <a:ext uri="{FF2B5EF4-FFF2-40B4-BE49-F238E27FC236}">
                    <a16:creationId xmlns:a16="http://schemas.microsoft.com/office/drawing/2014/main" id="{5D81C4CD-8434-44EB-ECD5-14815EB3005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8475" y="4146"/>
                <a:ext cx="502" cy="159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" name="Text Box 476">
                <a:extLst>
                  <a:ext uri="{FF2B5EF4-FFF2-40B4-BE49-F238E27FC236}">
                    <a16:creationId xmlns:a16="http://schemas.microsoft.com/office/drawing/2014/main" id="{3D0209B4-A2C6-434F-1376-8725EE1921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3" y="4063"/>
                <a:ext cx="370" cy="2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 478">
                <a:extLst>
                  <a:ext uri="{FF2B5EF4-FFF2-40B4-BE49-F238E27FC236}">
                    <a16:creationId xmlns:a16="http://schemas.microsoft.com/office/drawing/2014/main" id="{893849C6-BD25-7413-1DA7-917F72DF9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0" y="3590"/>
                <a:ext cx="532" cy="160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" name="Text Box 494">
                <a:extLst>
                  <a:ext uri="{FF2B5EF4-FFF2-40B4-BE49-F238E27FC236}">
                    <a16:creationId xmlns:a16="http://schemas.microsoft.com/office/drawing/2014/main" id="{5F7B5B93-3D07-7D31-0D81-7AFEEF69A1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47" y="4165"/>
                <a:ext cx="486" cy="2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 Box 495">
                <a:extLst>
                  <a:ext uri="{FF2B5EF4-FFF2-40B4-BE49-F238E27FC236}">
                    <a16:creationId xmlns:a16="http://schemas.microsoft.com/office/drawing/2014/main" id="{8267A7AB-2587-99F4-510B-3EC63B80A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6" y="3764"/>
                <a:ext cx="338" cy="2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 Box 496">
                <a:extLst>
                  <a:ext uri="{FF2B5EF4-FFF2-40B4-BE49-F238E27FC236}">
                    <a16:creationId xmlns:a16="http://schemas.microsoft.com/office/drawing/2014/main" id="{453888CA-AE26-2A8E-78F3-B703D0063D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30" y="4962"/>
                <a:ext cx="1329" cy="39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Hình 3.2</a:t>
                </a:r>
                <a:endParaRPr lang="en-US" kern="0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0113" name="Line 505">
                <a:extLst>
                  <a:ext uri="{FF2B5EF4-FFF2-40B4-BE49-F238E27FC236}">
                    <a16:creationId xmlns:a16="http://schemas.microsoft.com/office/drawing/2014/main" id="{02345C3D-CF57-B4A7-37F3-2B66B03B0FB5}"/>
                  </a:ext>
                </a:extLst>
              </p:cNvPr>
              <p:cNvCxnSpPr/>
              <p:nvPr/>
            </p:nvCxnSpPr>
            <p:spPr bwMode="auto">
              <a:xfrm>
                <a:off x="8716" y="3674"/>
                <a:ext cx="0" cy="3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114" name="Line 506">
                <a:extLst>
                  <a:ext uri="{FF2B5EF4-FFF2-40B4-BE49-F238E27FC236}">
                    <a16:creationId xmlns:a16="http://schemas.microsoft.com/office/drawing/2014/main" id="{C5C98F8A-C093-AC8F-E800-FDFB289EC961}"/>
                  </a:ext>
                </a:extLst>
              </p:cNvPr>
              <p:cNvCxnSpPr/>
              <p:nvPr/>
            </p:nvCxnSpPr>
            <p:spPr bwMode="auto">
              <a:xfrm>
                <a:off x="8724" y="4426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90116" name="Group 90115">
                <a:extLst>
                  <a:ext uri="{FF2B5EF4-FFF2-40B4-BE49-F238E27FC236}">
                    <a16:creationId xmlns:a16="http://schemas.microsoft.com/office/drawing/2014/main" id="{ECF3B1E3-6305-0E5F-2F08-B2E686A64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68" y="4134"/>
                <a:ext cx="322" cy="292"/>
                <a:chOff x="9723" y="6201"/>
                <a:chExt cx="382" cy="347"/>
              </a:xfrm>
            </p:grpSpPr>
            <p:sp>
              <p:nvSpPr>
                <p:cNvPr id="90124" name="Oval 90123">
                  <a:extLst>
                    <a:ext uri="{FF2B5EF4-FFF2-40B4-BE49-F238E27FC236}">
                      <a16:creationId xmlns:a16="http://schemas.microsoft.com/office/drawing/2014/main" id="{3A4DD7E3-D5B4-D2BF-6DBD-B9278A369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23" y="6201"/>
                  <a:ext cx="382" cy="34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90125" name="Line 509">
                  <a:extLst>
                    <a:ext uri="{FF2B5EF4-FFF2-40B4-BE49-F238E27FC236}">
                      <a16:creationId xmlns:a16="http://schemas.microsoft.com/office/drawing/2014/main" id="{F9E4AD8F-F065-5379-E8FF-EE56ABF252BD}"/>
                    </a:ext>
                  </a:extLst>
                </p:cNvPr>
                <p:cNvCxnSpPr/>
                <p:nvPr/>
              </p:nvCxnSpPr>
              <p:spPr bwMode="auto">
                <a:xfrm flipV="1">
                  <a:off x="9912" y="6244"/>
                  <a:ext cx="0" cy="2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90117" name="Freeform 510">
                <a:extLst>
                  <a:ext uri="{FF2B5EF4-FFF2-40B4-BE49-F238E27FC236}">
                    <a16:creationId xmlns:a16="http://schemas.microsoft.com/office/drawing/2014/main" id="{074F932F-A54A-433C-530E-519231FC3621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9567" y="4169"/>
                <a:ext cx="503" cy="159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90119" name="Line 512">
                <a:extLst>
                  <a:ext uri="{FF2B5EF4-FFF2-40B4-BE49-F238E27FC236}">
                    <a16:creationId xmlns:a16="http://schemas.microsoft.com/office/drawing/2014/main" id="{D7896273-9F94-3E61-A1B1-DF44A1870B68}"/>
                  </a:ext>
                </a:extLst>
              </p:cNvPr>
              <p:cNvCxnSpPr/>
              <p:nvPr/>
            </p:nvCxnSpPr>
            <p:spPr bwMode="auto">
              <a:xfrm flipV="1">
                <a:off x="9816" y="3663"/>
                <a:ext cx="0" cy="3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120" name="Line 513">
                <a:extLst>
                  <a:ext uri="{FF2B5EF4-FFF2-40B4-BE49-F238E27FC236}">
                    <a16:creationId xmlns:a16="http://schemas.microsoft.com/office/drawing/2014/main" id="{2E331FDD-BBC2-4B71-599A-22F6E82BE66F}"/>
                  </a:ext>
                </a:extLst>
              </p:cNvPr>
              <p:cNvCxnSpPr/>
              <p:nvPr/>
            </p:nvCxnSpPr>
            <p:spPr bwMode="auto">
              <a:xfrm>
                <a:off x="9816" y="4457"/>
                <a:ext cx="0" cy="4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0123" name="Text Box 514">
                <a:extLst>
                  <a:ext uri="{FF2B5EF4-FFF2-40B4-BE49-F238E27FC236}">
                    <a16:creationId xmlns:a16="http://schemas.microsoft.com/office/drawing/2014/main" id="{1359E650-5666-30DB-F8C5-336EA7186A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98" y="4074"/>
                <a:ext cx="337" cy="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143" name="Freeform 474">
                <a:extLst>
                  <a:ext uri="{FF2B5EF4-FFF2-40B4-BE49-F238E27FC236}">
                    <a16:creationId xmlns:a16="http://schemas.microsoft.com/office/drawing/2014/main" id="{F3BA4578-0AFD-C100-345F-0DC860CE155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630" y="4160"/>
                <a:ext cx="502" cy="159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4" name="Text Box 476">
                <a:extLst>
                  <a:ext uri="{FF2B5EF4-FFF2-40B4-BE49-F238E27FC236}">
                    <a16:creationId xmlns:a16="http://schemas.microsoft.com/office/drawing/2014/main" id="{4D486707-2807-1878-3027-78858AB0D2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95" y="4077"/>
                <a:ext cx="370" cy="2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5" name="Line 505">
                <a:extLst>
                  <a:ext uri="{FF2B5EF4-FFF2-40B4-BE49-F238E27FC236}">
                    <a16:creationId xmlns:a16="http://schemas.microsoft.com/office/drawing/2014/main" id="{8C5F629A-9DB3-50D1-729E-B3F5EA963A7E}"/>
                  </a:ext>
                </a:extLst>
              </p:cNvPr>
              <p:cNvCxnSpPr>
                <a:cxnSpLocks/>
                <a:endCxn id="90143" idx="1"/>
              </p:cNvCxnSpPr>
              <p:nvPr/>
            </p:nvCxnSpPr>
            <p:spPr bwMode="auto">
              <a:xfrm>
                <a:off x="7871" y="3667"/>
                <a:ext cx="10" cy="4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Line 506">
                <a:extLst>
                  <a:ext uri="{FF2B5EF4-FFF2-40B4-BE49-F238E27FC236}">
                    <a16:creationId xmlns:a16="http://schemas.microsoft.com/office/drawing/2014/main" id="{6B1A9183-4925-B516-647D-9A4F4FB3E4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878" y="4412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8" name="Text Box 476">
                <a:extLst>
                  <a:ext uri="{FF2B5EF4-FFF2-40B4-BE49-F238E27FC236}">
                    <a16:creationId xmlns:a16="http://schemas.microsoft.com/office/drawing/2014/main" id="{2EBBD3F1-5F0B-5341-880B-EFB4804AD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8" y="4054"/>
                <a:ext cx="318" cy="3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-250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Text Box 476">
                <a:extLst>
                  <a:ext uri="{FF2B5EF4-FFF2-40B4-BE49-F238E27FC236}">
                    <a16:creationId xmlns:a16="http://schemas.microsoft.com/office/drawing/2014/main" id="{CFD156F2-BDBB-42FF-A1DD-18C2F2B22A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7" y="4041"/>
                <a:ext cx="370" cy="2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Text Box 495">
                <a:extLst>
                  <a:ext uri="{FF2B5EF4-FFF2-40B4-BE49-F238E27FC236}">
                    <a16:creationId xmlns:a16="http://schemas.microsoft.com/office/drawing/2014/main" id="{9AE6F794-B8D1-D36F-F20D-F5DA5409E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04" y="3222"/>
                <a:ext cx="338" cy="2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 Box 514">
                <a:extLst>
                  <a:ext uri="{FF2B5EF4-FFF2-40B4-BE49-F238E27FC236}">
                    <a16:creationId xmlns:a16="http://schemas.microsoft.com/office/drawing/2014/main" id="{C35FF98C-85D6-5CF5-0081-CFAAC0671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08" y="4087"/>
                <a:ext cx="337" cy="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>
                  <a:effectLst/>
                  <a:latin typeface="VNI-Times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866B315-7D44-5071-DC7D-65E09F5C11B3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6281704" y="3007253"/>
              <a:ext cx="91972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09DE16D-F2FF-A9A6-DDC6-C49B8689C152}"/>
                </a:ext>
              </a:extLst>
            </p:cNvPr>
            <p:cNvCxnSpPr/>
            <p:nvPr/>
          </p:nvCxnSpPr>
          <p:spPr>
            <a:xfrm>
              <a:off x="7124720" y="2887980"/>
              <a:ext cx="453471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762F5B1-1D3F-872A-444F-129FE435E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00" y="3276621"/>
              <a:ext cx="0" cy="42944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909D4A2-DAD3-5695-0EED-751E6647F9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5145" y="3267096"/>
              <a:ext cx="0" cy="42944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B04072C-DE28-FFE3-0D5C-4161E4E1C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8150" y="3276621"/>
              <a:ext cx="0" cy="4122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DCD440FC-9AD1-26D1-9A31-188A580E588E}"/>
              </a:ext>
            </a:extLst>
          </p:cNvPr>
          <p:cNvSpPr txBox="1">
            <a:spLocks/>
          </p:cNvSpPr>
          <p:nvPr/>
        </p:nvSpPr>
        <p:spPr>
          <a:xfrm>
            <a:off x="381000" y="4565864"/>
            <a:ext cx="1828800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Giả sử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0147" name="Content Placeholder 2">
            <a:extLst>
              <a:ext uri="{FF2B5EF4-FFF2-40B4-BE49-F238E27FC236}">
                <a16:creationId xmlns:a16="http://schemas.microsoft.com/office/drawing/2014/main" id="{CA911598-4BFF-C9B6-1019-64FAFAED3C8E}"/>
              </a:ext>
            </a:extLst>
          </p:cNvPr>
          <p:cNvSpPr txBox="1">
            <a:spLocks/>
          </p:cNvSpPr>
          <p:nvPr/>
        </p:nvSpPr>
        <p:spPr>
          <a:xfrm>
            <a:off x="380999" y="5105400"/>
            <a:ext cx="5147097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ĐL K2: R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+ R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- R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0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4A</a:t>
            </a:r>
          </a:p>
        </p:txBody>
      </p:sp>
      <p:sp>
        <p:nvSpPr>
          <p:cNvPr id="90149" name="Content Placeholder 2">
            <a:extLst>
              <a:ext uri="{FF2B5EF4-FFF2-40B4-BE49-F238E27FC236}">
                <a16:creationId xmlns:a16="http://schemas.microsoft.com/office/drawing/2014/main" id="{35DA84C8-95C0-1F54-A2C6-929FBF5B0249}"/>
              </a:ext>
            </a:extLst>
          </p:cNvPr>
          <p:cNvSpPr txBox="1">
            <a:spLocks/>
          </p:cNvSpPr>
          <p:nvPr/>
        </p:nvSpPr>
        <p:spPr>
          <a:xfrm>
            <a:off x="4953000" y="4495800"/>
            <a:ext cx="2817148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=-(I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+ 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0150" name="Content Placeholder 2">
            <a:extLst>
              <a:ext uri="{FF2B5EF4-FFF2-40B4-BE49-F238E27FC236}">
                <a16:creationId xmlns:a16="http://schemas.microsoft.com/office/drawing/2014/main" id="{5E196279-25FC-95B4-4B85-FC902B3A4413}"/>
              </a:ext>
            </a:extLst>
          </p:cNvPr>
          <p:cNvSpPr txBox="1">
            <a:spLocks/>
          </p:cNvSpPr>
          <p:nvPr/>
        </p:nvSpPr>
        <p:spPr>
          <a:xfrm>
            <a:off x="430539" y="5663363"/>
            <a:ext cx="2007861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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J=5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0151" name="Content Placeholder 2">
            <a:extLst>
              <a:ext uri="{FF2B5EF4-FFF2-40B4-BE49-F238E27FC236}">
                <a16:creationId xmlns:a16="http://schemas.microsoft.com/office/drawing/2014/main" id="{A282D915-C7AC-FFDA-BEFB-A26092AB9118}"/>
              </a:ext>
            </a:extLst>
          </p:cNvPr>
          <p:cNvSpPr txBox="1">
            <a:spLocks/>
          </p:cNvSpPr>
          <p:nvPr/>
        </p:nvSpPr>
        <p:spPr>
          <a:xfrm>
            <a:off x="2135034" y="4538996"/>
            <a:ext cx="1370166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=1A</a:t>
            </a:r>
          </a:p>
        </p:txBody>
      </p:sp>
      <p:sp>
        <p:nvSpPr>
          <p:cNvPr id="90152" name="Content Placeholder 2">
            <a:extLst>
              <a:ext uri="{FF2B5EF4-FFF2-40B4-BE49-F238E27FC236}">
                <a16:creationId xmlns:a16="http://schemas.microsoft.com/office/drawing/2014/main" id="{E99539DD-3F8E-326E-D11C-E25B22163F8A}"/>
              </a:ext>
            </a:extLst>
          </p:cNvPr>
          <p:cNvSpPr txBox="1">
            <a:spLocks/>
          </p:cNvSpPr>
          <p:nvPr/>
        </p:nvSpPr>
        <p:spPr>
          <a:xfrm>
            <a:off x="3505200" y="4521653"/>
            <a:ext cx="1365366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=2A</a:t>
            </a:r>
          </a:p>
        </p:txBody>
      </p:sp>
      <p:sp>
        <p:nvSpPr>
          <p:cNvPr id="90153" name="Content Placeholder 2">
            <a:extLst>
              <a:ext uri="{FF2B5EF4-FFF2-40B4-BE49-F238E27FC236}">
                <a16:creationId xmlns:a16="http://schemas.microsoft.com/office/drawing/2014/main" id="{08C06BAC-05D1-E140-9160-04F5DEB0C8C1}"/>
              </a:ext>
            </a:extLst>
          </p:cNvPr>
          <p:cNvSpPr txBox="1">
            <a:spLocks/>
          </p:cNvSpPr>
          <p:nvPr/>
        </p:nvSpPr>
        <p:spPr>
          <a:xfrm>
            <a:off x="2550041" y="5647593"/>
            <a:ext cx="1793360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Font typeface="Wingdings 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-5/6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144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5" grpId="0"/>
      <p:bldP spid="90147" grpId="0"/>
      <p:bldP spid="90149" grpId="0"/>
      <p:bldP spid="90150" grpId="0"/>
      <p:bldP spid="90151" grpId="0"/>
      <p:bldP spid="90152" grpId="0"/>
      <p:bldP spid="901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762000"/>
            <a:ext cx="8176281" cy="2462213"/>
          </a:xfrm>
        </p:spPr>
        <p:txBody>
          <a:bodyPr>
            <a:spAutoFit/>
          </a:bodyPr>
          <a:lstStyle/>
          <a:p>
            <a:pPr marL="347663" indent="-347663" algn="just" eaLnBrk="1" hangingPunct="1">
              <a:buClrTx/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Định lý nguồn tương đương (Thevenin &amp; Norton) dùng để thay tương đương phần mạch phức tạp -&gt; 01 nguồn (áp hoặc dòng) đơn giản.</a:t>
            </a:r>
          </a:p>
          <a:p>
            <a:pPr marL="347663" indent="-347663" algn="just"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Định lý thường áp dụng cho mạch điện, mà chỉ yêu cầu xác định dòng điện hay điện áp trên 01 nhánh nào đó của mạch điện.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3.4 ĐỊNH LÝ VỀ NGUỒN TƯƠNG ĐƯƠNG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90600" y="2971800"/>
            <a:ext cx="3886027" cy="1656278"/>
            <a:chOff x="990600" y="3124200"/>
            <a:chExt cx="3974926" cy="1752600"/>
          </a:xfrm>
        </p:grpSpPr>
        <p:sp>
          <p:nvSpPr>
            <p:cNvPr id="3" name="Rectangle 2"/>
            <p:cNvSpPr/>
            <p:nvPr/>
          </p:nvSpPr>
          <p:spPr>
            <a:xfrm>
              <a:off x="990600" y="3505200"/>
              <a:ext cx="2209800" cy="137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3181611" y="3607496"/>
              <a:ext cx="1695189" cy="1177446"/>
            </a:xfrm>
            <a:custGeom>
              <a:avLst/>
              <a:gdLst>
                <a:gd name="connsiteX0" fmla="*/ 37578 w 1252603"/>
                <a:gd name="connsiteY0" fmla="*/ 0 h 1177446"/>
                <a:gd name="connsiteX1" fmla="*/ 1252603 w 1252603"/>
                <a:gd name="connsiteY1" fmla="*/ 0 h 1177446"/>
                <a:gd name="connsiteX2" fmla="*/ 1252603 w 1252603"/>
                <a:gd name="connsiteY2" fmla="*/ 1177446 h 1177446"/>
                <a:gd name="connsiteX3" fmla="*/ 0 w 1252603"/>
                <a:gd name="connsiteY3" fmla="*/ 1177446 h 1177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2603" h="1177446">
                  <a:moveTo>
                    <a:pt x="37578" y="0"/>
                  </a:moveTo>
                  <a:lnTo>
                    <a:pt x="1252603" y="0"/>
                  </a:lnTo>
                  <a:lnTo>
                    <a:pt x="1252603" y="1177446"/>
                  </a:lnTo>
                  <a:lnTo>
                    <a:pt x="0" y="117744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787726" y="3937348"/>
              <a:ext cx="177800" cy="533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7338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733800" y="4761978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8707" y="3209898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26285" y="4373872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20818" y="3984722"/>
              <a:ext cx="457200" cy="423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224968" y="3505200"/>
              <a:ext cx="499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366843" y="3124200"/>
              <a:ext cx="457200" cy="488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334000" y="3650159"/>
            <a:ext cx="3276600" cy="769441"/>
            <a:chOff x="5334000" y="3771924"/>
            <a:chExt cx="3276600" cy="769441"/>
          </a:xfrm>
        </p:grpSpPr>
        <p:sp>
          <p:nvSpPr>
            <p:cNvPr id="23" name="Right Arrow 22"/>
            <p:cNvSpPr/>
            <p:nvPr/>
          </p:nvSpPr>
          <p:spPr>
            <a:xfrm>
              <a:off x="5334000" y="3962400"/>
              <a:ext cx="360819" cy="38915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920720" y="3771924"/>
              <a:ext cx="2689880" cy="769441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25425" indent="-225425">
                <a:buFontTx/>
                <a:buChar char="-"/>
              </a:pPr>
              <a:r>
                <a:rPr lang="en-US" sz="2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 điện qua Zt ?</a:t>
              </a:r>
            </a:p>
            <a:p>
              <a:pPr marL="225425" indent="-225425">
                <a:buFontTx/>
                <a:buChar char="-"/>
              </a:pPr>
              <a:r>
                <a:rPr lang="en-US" sz="2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 suất tiêu thụ ?</a:t>
              </a:r>
              <a:endPara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792964" y="4799631"/>
            <a:ext cx="3083664" cy="1753569"/>
            <a:chOff x="1792964" y="4799631"/>
            <a:chExt cx="3083664" cy="1753569"/>
          </a:xfrm>
        </p:grpSpPr>
        <p:grpSp>
          <p:nvGrpSpPr>
            <p:cNvPr id="43" name="Group 42"/>
            <p:cNvGrpSpPr/>
            <p:nvPr/>
          </p:nvGrpSpPr>
          <p:grpSpPr>
            <a:xfrm>
              <a:off x="1792964" y="4852993"/>
              <a:ext cx="3083664" cy="1617102"/>
              <a:chOff x="1792963" y="4756116"/>
              <a:chExt cx="3172563" cy="1713978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2223370" y="5616638"/>
                <a:ext cx="389150" cy="38915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733800" y="5213316"/>
                <a:ext cx="76200" cy="76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733800" y="6393894"/>
                <a:ext cx="76200" cy="76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588707" y="4841814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626285" y="6005788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420818" y="5616638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>
                <a:off x="4224968" y="5137116"/>
                <a:ext cx="4994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4366843" y="4756116"/>
                <a:ext cx="457200" cy="489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2438401" y="5265155"/>
                <a:ext cx="2438226" cy="119907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751350" y="5174694"/>
                <a:ext cx="449050" cy="1663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4787726" y="5569264"/>
                <a:ext cx="1778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1792963" y="5580380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779387" y="5265155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p:grpSp>
        <p:sp>
          <p:nvSpPr>
            <p:cNvPr id="48" name="Rectangle 47"/>
            <p:cNvSpPr/>
            <p:nvPr/>
          </p:nvSpPr>
          <p:spPr>
            <a:xfrm>
              <a:off x="1792964" y="5212457"/>
              <a:ext cx="1636036" cy="134074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Down Arrow 48"/>
            <p:cNvSpPr/>
            <p:nvPr/>
          </p:nvSpPr>
          <p:spPr>
            <a:xfrm>
              <a:off x="2133600" y="4799631"/>
              <a:ext cx="286716" cy="305769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39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457200" y="2595588"/>
            <a:ext cx="3225452" cy="1466779"/>
            <a:chOff x="279748" y="2595588"/>
            <a:chExt cx="3225452" cy="1466779"/>
          </a:xfrm>
        </p:grpSpPr>
        <p:sp>
          <p:nvSpPr>
            <p:cNvPr id="3" name="Rectangle 2"/>
            <p:cNvSpPr/>
            <p:nvPr/>
          </p:nvSpPr>
          <p:spPr>
            <a:xfrm>
              <a:off x="279748" y="2874660"/>
              <a:ext cx="1207780" cy="11877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</a:p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Tuyến tính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004123" y="2975988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004123" y="3898726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8958" y="2595588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86323" y="3530252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514599" y="2874659"/>
              <a:ext cx="990601" cy="11877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B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485432" y="3011994"/>
              <a:ext cx="10166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485432" y="3948176"/>
              <a:ext cx="10166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540799" y="2017333"/>
            <a:ext cx="1693182" cy="497267"/>
            <a:chOff x="3636688" y="2597577"/>
            <a:chExt cx="1693182" cy="497267"/>
          </a:xfrm>
        </p:grpSpPr>
        <p:sp>
          <p:nvSpPr>
            <p:cNvPr id="18" name="Right Arrow 17"/>
            <p:cNvSpPr/>
            <p:nvPr/>
          </p:nvSpPr>
          <p:spPr>
            <a:xfrm rot="20046872">
              <a:off x="3755321" y="2904513"/>
              <a:ext cx="1574549" cy="190331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 rot="20030802">
              <a:off x="3636688" y="2597577"/>
              <a:ext cx="16296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ĐL Thevenin</a:t>
              </a:r>
              <a:endParaRPr lang="en-US" sz="24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743247" y="4191000"/>
            <a:ext cx="1670694" cy="473015"/>
            <a:chOff x="3774424" y="3603329"/>
            <a:chExt cx="1670694" cy="473015"/>
          </a:xfrm>
        </p:grpSpPr>
        <p:sp>
          <p:nvSpPr>
            <p:cNvPr id="46" name="Right Arrow 45"/>
            <p:cNvSpPr/>
            <p:nvPr/>
          </p:nvSpPr>
          <p:spPr>
            <a:xfrm rot="1209878">
              <a:off x="3774424" y="3901727"/>
              <a:ext cx="1580453" cy="17461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 rot="1198860">
              <a:off x="3908308" y="3603329"/>
              <a:ext cx="15368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ĐL Norton</a:t>
              </a:r>
              <a:endParaRPr lang="en-US" sz="24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80907" y="4133968"/>
            <a:ext cx="4365433" cy="2206736"/>
            <a:chOff x="4080907" y="4133968"/>
            <a:chExt cx="4365433" cy="2206736"/>
          </a:xfrm>
        </p:grpSpPr>
        <p:sp>
          <p:nvSpPr>
            <p:cNvPr id="66" name="Oval 65"/>
            <p:cNvSpPr/>
            <p:nvPr/>
          </p:nvSpPr>
          <p:spPr>
            <a:xfrm>
              <a:off x="6945263" y="4514368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6945263" y="5437106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820098" y="4133968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27463" y="5068632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455739" y="4413039"/>
              <a:ext cx="990601" cy="11877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B</a:t>
              </a:r>
            </a:p>
          </p:txBody>
        </p:sp>
        <p:sp>
          <p:nvSpPr>
            <p:cNvPr id="33" name="Freeform 32"/>
            <p:cNvSpPr/>
            <p:nvPr/>
          </p:nvSpPr>
          <p:spPr>
            <a:xfrm>
              <a:off x="5572661" y="4550195"/>
              <a:ext cx="1891430" cy="949300"/>
            </a:xfrm>
            <a:custGeom>
              <a:avLst/>
              <a:gdLst>
                <a:gd name="connsiteX0" fmla="*/ 1891430 w 1891430"/>
                <a:gd name="connsiteY0" fmla="*/ 0 h 989557"/>
                <a:gd name="connsiteX1" fmla="*/ 0 w 1891430"/>
                <a:gd name="connsiteY1" fmla="*/ 0 h 989557"/>
                <a:gd name="connsiteX2" fmla="*/ 0 w 1891430"/>
                <a:gd name="connsiteY2" fmla="*/ 989557 h 989557"/>
                <a:gd name="connsiteX3" fmla="*/ 1878904 w 1891430"/>
                <a:gd name="connsiteY3" fmla="*/ 989557 h 9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430" h="989557">
                  <a:moveTo>
                    <a:pt x="1891430" y="0"/>
                  </a:moveTo>
                  <a:lnTo>
                    <a:pt x="0" y="0"/>
                  </a:lnTo>
                  <a:lnTo>
                    <a:pt x="0" y="989557"/>
                  </a:lnTo>
                  <a:lnTo>
                    <a:pt x="1878904" y="989557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6331290" y="4550195"/>
              <a:ext cx="0" cy="9589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 rot="5400000">
              <a:off x="6130190" y="4953464"/>
              <a:ext cx="436467" cy="1569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391511" y="4883023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37" idx="2"/>
              <a:endCxn id="37" idx="6"/>
            </p:cNvCxnSpPr>
            <p:nvPr/>
          </p:nvCxnSpPr>
          <p:spPr>
            <a:xfrm>
              <a:off x="5391511" y="5066601"/>
              <a:ext cx="3782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404989" y="4827528"/>
              <a:ext cx="563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</a:p>
          </p:txBody>
        </p:sp>
        <p:graphicFrame>
          <p:nvGraphicFramePr>
            <p:cNvPr id="42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767899"/>
                </p:ext>
              </p:extLst>
            </p:nvPr>
          </p:nvGraphicFramePr>
          <p:xfrm>
            <a:off x="4949491" y="4838747"/>
            <a:ext cx="38735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28600" imgH="241200" progId="Equation.DSMT4">
                    <p:embed/>
                  </p:oleObj>
                </mc:Choice>
                <mc:Fallback>
                  <p:oleObj name="Equation" r:id="rId3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9491" y="4838747"/>
                          <a:ext cx="387350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42"/>
            <p:cNvSpPr/>
            <p:nvPr/>
          </p:nvSpPr>
          <p:spPr>
            <a:xfrm>
              <a:off x="4797091" y="4400514"/>
              <a:ext cx="2030372" cy="1263908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80907" y="5200636"/>
              <a:ext cx="10985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  <a:endParaRPr lang="en-US" sz="24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08324" y="5632818"/>
              <a:ext cx="23435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Sơ đồ tương đương Norton</a:t>
              </a:r>
              <a:endParaRPr lang="en-US" sz="20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41422" y="457200"/>
            <a:ext cx="4362297" cy="1941534"/>
            <a:chOff x="4041422" y="211044"/>
            <a:chExt cx="4362297" cy="1941534"/>
          </a:xfrm>
        </p:grpSpPr>
        <p:sp>
          <p:nvSpPr>
            <p:cNvPr id="47" name="Oval 46"/>
            <p:cNvSpPr/>
            <p:nvPr/>
          </p:nvSpPr>
          <p:spPr>
            <a:xfrm>
              <a:off x="6902642" y="1066200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6902642" y="1988938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77477" y="685800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84842" y="1620464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413118" y="964871"/>
              <a:ext cx="990601" cy="11877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B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5329623" y="1439287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899779" y="1107671"/>
              <a:ext cx="559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746119" y="888672"/>
              <a:ext cx="1830913" cy="1263906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5520645" y="1089089"/>
              <a:ext cx="1891430" cy="949300"/>
            </a:xfrm>
            <a:custGeom>
              <a:avLst/>
              <a:gdLst>
                <a:gd name="connsiteX0" fmla="*/ 1891430 w 1891430"/>
                <a:gd name="connsiteY0" fmla="*/ 0 h 989557"/>
                <a:gd name="connsiteX1" fmla="*/ 0 w 1891430"/>
                <a:gd name="connsiteY1" fmla="*/ 0 h 989557"/>
                <a:gd name="connsiteX2" fmla="*/ 0 w 1891430"/>
                <a:gd name="connsiteY2" fmla="*/ 989557 h 989557"/>
                <a:gd name="connsiteX3" fmla="*/ 1878904 w 1891430"/>
                <a:gd name="connsiteY3" fmla="*/ 989557 h 9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430" h="989557">
                  <a:moveTo>
                    <a:pt x="1891430" y="0"/>
                  </a:moveTo>
                  <a:lnTo>
                    <a:pt x="0" y="0"/>
                  </a:lnTo>
                  <a:lnTo>
                    <a:pt x="0" y="989557"/>
                  </a:lnTo>
                  <a:lnTo>
                    <a:pt x="1878904" y="989557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872528" y="1022322"/>
              <a:ext cx="436467" cy="1569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0934575"/>
                </p:ext>
              </p:extLst>
            </p:nvPr>
          </p:nvGraphicFramePr>
          <p:xfrm>
            <a:off x="4822319" y="1396672"/>
            <a:ext cx="4540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66400" imgH="241200" progId="Equation.DSMT4">
                    <p:embed/>
                  </p:oleObj>
                </mc:Choice>
                <mc:Fallback>
                  <p:oleObj name="Equation" r:id="rId5" imgW="266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22319" y="1396672"/>
                          <a:ext cx="454025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Box 47"/>
            <p:cNvSpPr txBox="1"/>
            <p:nvPr/>
          </p:nvSpPr>
          <p:spPr>
            <a:xfrm>
              <a:off x="4041422" y="987738"/>
              <a:ext cx="1107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  <a:endParaRPr lang="en-US" sz="24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51519" y="211044"/>
              <a:ext cx="23435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Sơ đồ tương đương Thevenin</a:t>
              </a:r>
              <a:endParaRPr lang="en-US" sz="20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459081"/>
              </p:ext>
            </p:extLst>
          </p:nvPr>
        </p:nvGraphicFramePr>
        <p:xfrm>
          <a:off x="4876800" y="2913918"/>
          <a:ext cx="3075614" cy="896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25400" imgH="457200" progId="Equation.DSMT4">
                  <p:embed/>
                </p:oleObj>
              </mc:Choice>
              <mc:Fallback>
                <p:oleObj name="Equation" r:id="rId7" imgW="162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13918"/>
                        <a:ext cx="3075614" cy="89608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  <a:prstDash val="sysDot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381000" y="557045"/>
            <a:ext cx="3466134" cy="12717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 tương đương phần mạch tuyến tính (A) bởi </a:t>
            </a:r>
            <a:r>
              <a:rPr lang="en-US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Nguồn áp = điện áp hở mạch, mắc nối tiếp với Trở kháng Thevenin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2403" y="4838747"/>
            <a:ext cx="3466134" cy="13715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 tương đương phần mạch tuyến tính (A) bởi </a:t>
            </a:r>
            <a:r>
              <a:rPr lang="en-US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Nguồn dòng = dòng điện ngắn mạch, mắc song song với Trở kháng Thevenin</a:t>
            </a:r>
          </a:p>
        </p:txBody>
      </p:sp>
    </p:spTree>
    <p:extLst>
      <p:ext uri="{BB962C8B-B14F-4D97-AF65-F5344CB8AC3E}">
        <p14:creationId xmlns:p14="http://schemas.microsoft.com/office/powerpoint/2010/main" val="86147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343400" y="1274731"/>
            <a:ext cx="4362297" cy="2154269"/>
            <a:chOff x="4041422" y="685800"/>
            <a:chExt cx="4362297" cy="2154269"/>
          </a:xfrm>
        </p:grpSpPr>
        <p:sp>
          <p:nvSpPr>
            <p:cNvPr id="47" name="Oval 46"/>
            <p:cNvSpPr/>
            <p:nvPr/>
          </p:nvSpPr>
          <p:spPr>
            <a:xfrm>
              <a:off x="6902642" y="1066200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6902642" y="1988938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77477" y="685800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84842" y="1620464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413118" y="964871"/>
              <a:ext cx="990601" cy="11877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B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5329623" y="1439287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899779" y="1107671"/>
              <a:ext cx="559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746119" y="888672"/>
              <a:ext cx="1830913" cy="1263906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5520645" y="1089089"/>
              <a:ext cx="1891430" cy="949300"/>
            </a:xfrm>
            <a:custGeom>
              <a:avLst/>
              <a:gdLst>
                <a:gd name="connsiteX0" fmla="*/ 1891430 w 1891430"/>
                <a:gd name="connsiteY0" fmla="*/ 0 h 989557"/>
                <a:gd name="connsiteX1" fmla="*/ 0 w 1891430"/>
                <a:gd name="connsiteY1" fmla="*/ 0 h 989557"/>
                <a:gd name="connsiteX2" fmla="*/ 0 w 1891430"/>
                <a:gd name="connsiteY2" fmla="*/ 989557 h 989557"/>
                <a:gd name="connsiteX3" fmla="*/ 1878904 w 1891430"/>
                <a:gd name="connsiteY3" fmla="*/ 989557 h 9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430" h="989557">
                  <a:moveTo>
                    <a:pt x="1891430" y="0"/>
                  </a:moveTo>
                  <a:lnTo>
                    <a:pt x="0" y="0"/>
                  </a:lnTo>
                  <a:lnTo>
                    <a:pt x="0" y="989557"/>
                  </a:lnTo>
                  <a:lnTo>
                    <a:pt x="1878904" y="989557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872528" y="1022322"/>
              <a:ext cx="436467" cy="1569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4822319" y="1396672"/>
            <a:ext cx="4540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66400" imgH="241200" progId="Equation.DSMT4">
                    <p:embed/>
                  </p:oleObj>
                </mc:Choice>
                <mc:Fallback>
                  <p:oleObj name="Equation" r:id="rId3" imgW="266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22319" y="1396672"/>
                          <a:ext cx="454025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Box 47"/>
            <p:cNvSpPr txBox="1"/>
            <p:nvPr/>
          </p:nvSpPr>
          <p:spPr>
            <a:xfrm>
              <a:off x="4041422" y="987738"/>
              <a:ext cx="1107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  <a:endParaRPr lang="en-US" sz="24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48905" y="2132183"/>
              <a:ext cx="23435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Sơ đồ tương đương Thevenin</a:t>
              </a:r>
              <a:endParaRPr lang="en-US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Right Arrow 34"/>
          <p:cNvSpPr/>
          <p:nvPr/>
        </p:nvSpPr>
        <p:spPr>
          <a:xfrm rot="10800000">
            <a:off x="3646239" y="2159290"/>
            <a:ext cx="685800" cy="20965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/>
          <p:cNvGrpSpPr/>
          <p:nvPr/>
        </p:nvGrpSpPr>
        <p:grpSpPr>
          <a:xfrm>
            <a:off x="4343400" y="3607559"/>
            <a:ext cx="4377235" cy="2206736"/>
            <a:chOff x="4069105" y="4133968"/>
            <a:chExt cx="4377235" cy="2206736"/>
          </a:xfrm>
        </p:grpSpPr>
        <p:sp>
          <p:nvSpPr>
            <p:cNvPr id="64" name="Oval 63"/>
            <p:cNvSpPr/>
            <p:nvPr/>
          </p:nvSpPr>
          <p:spPr>
            <a:xfrm>
              <a:off x="6945263" y="4514368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6945263" y="5437106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820098" y="4133968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827463" y="5068632"/>
              <a:ext cx="394407" cy="43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455739" y="4413039"/>
              <a:ext cx="990601" cy="11877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B</a:t>
              </a:r>
            </a:p>
          </p:txBody>
        </p:sp>
        <p:sp>
          <p:nvSpPr>
            <p:cNvPr id="74" name="Freeform 73"/>
            <p:cNvSpPr/>
            <p:nvPr/>
          </p:nvSpPr>
          <p:spPr>
            <a:xfrm>
              <a:off x="5572661" y="4550195"/>
              <a:ext cx="1891430" cy="949300"/>
            </a:xfrm>
            <a:custGeom>
              <a:avLst/>
              <a:gdLst>
                <a:gd name="connsiteX0" fmla="*/ 1891430 w 1891430"/>
                <a:gd name="connsiteY0" fmla="*/ 0 h 989557"/>
                <a:gd name="connsiteX1" fmla="*/ 0 w 1891430"/>
                <a:gd name="connsiteY1" fmla="*/ 0 h 989557"/>
                <a:gd name="connsiteX2" fmla="*/ 0 w 1891430"/>
                <a:gd name="connsiteY2" fmla="*/ 989557 h 989557"/>
                <a:gd name="connsiteX3" fmla="*/ 1878904 w 1891430"/>
                <a:gd name="connsiteY3" fmla="*/ 989557 h 9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430" h="989557">
                  <a:moveTo>
                    <a:pt x="1891430" y="0"/>
                  </a:moveTo>
                  <a:lnTo>
                    <a:pt x="0" y="0"/>
                  </a:lnTo>
                  <a:lnTo>
                    <a:pt x="0" y="989557"/>
                  </a:lnTo>
                  <a:lnTo>
                    <a:pt x="1878904" y="989557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6331290" y="4550195"/>
              <a:ext cx="0" cy="9589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/>
            <p:cNvSpPr/>
            <p:nvPr/>
          </p:nvSpPr>
          <p:spPr>
            <a:xfrm rot="5400000">
              <a:off x="6130190" y="4953464"/>
              <a:ext cx="436467" cy="1569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5391511" y="4883023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/>
            <p:cNvCxnSpPr>
              <a:stCxn id="79" idx="2"/>
              <a:endCxn id="79" idx="6"/>
            </p:cNvCxnSpPr>
            <p:nvPr/>
          </p:nvCxnSpPr>
          <p:spPr>
            <a:xfrm>
              <a:off x="5391511" y="5066601"/>
              <a:ext cx="3782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404989" y="4827528"/>
              <a:ext cx="563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</a:p>
          </p:txBody>
        </p:sp>
        <p:graphicFrame>
          <p:nvGraphicFramePr>
            <p:cNvPr id="82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095997"/>
                </p:ext>
              </p:extLst>
            </p:nvPr>
          </p:nvGraphicFramePr>
          <p:xfrm>
            <a:off x="4949491" y="4838747"/>
            <a:ext cx="38735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8600" imgH="241200" progId="Equation.DSMT4">
                    <p:embed/>
                  </p:oleObj>
                </mc:Choice>
                <mc:Fallback>
                  <p:oleObj name="Equation" r:id="rId5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9491" y="4838747"/>
                          <a:ext cx="387350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Rectangle 82"/>
            <p:cNvSpPr/>
            <p:nvPr/>
          </p:nvSpPr>
          <p:spPr>
            <a:xfrm>
              <a:off x="4797091" y="4400514"/>
              <a:ext cx="2030372" cy="1263908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069105" y="4495800"/>
              <a:ext cx="10985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  <a:endParaRPr lang="en-US" sz="24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608324" y="5632818"/>
              <a:ext cx="23435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Sơ đồ tương đương Norton</a:t>
              </a:r>
              <a:endParaRPr lang="en-US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7" name="Right Arrow 96"/>
          <p:cNvSpPr/>
          <p:nvPr/>
        </p:nvSpPr>
        <p:spPr>
          <a:xfrm rot="10800000">
            <a:off x="3672643" y="4578138"/>
            <a:ext cx="685800" cy="2240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635741" y="1190269"/>
            <a:ext cx="2183659" cy="2010131"/>
            <a:chOff x="635741" y="771294"/>
            <a:chExt cx="2183659" cy="2010131"/>
          </a:xfrm>
        </p:grpSpPr>
        <p:grpSp>
          <p:nvGrpSpPr>
            <p:cNvPr id="32" name="Group 31"/>
            <p:cNvGrpSpPr/>
            <p:nvPr/>
          </p:nvGrpSpPr>
          <p:grpSpPr>
            <a:xfrm>
              <a:off x="715042" y="771294"/>
              <a:ext cx="2104358" cy="1800019"/>
              <a:chOff x="472367" y="618894"/>
              <a:chExt cx="2104358" cy="180001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472367" y="933065"/>
                <a:ext cx="1207780" cy="11877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Mạch A</a:t>
                </a:r>
              </a:p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Tuyến tính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196742" y="1034393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196742" y="1957131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096222" y="618894"/>
                <a:ext cx="3944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a+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121826" y="1587916"/>
                <a:ext cx="3944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</a:t>
                </a:r>
              </a:p>
            </p:txBody>
          </p:sp>
          <p:graphicFrame>
            <p:nvGraphicFramePr>
              <p:cNvPr id="58" name="Object 5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6830246"/>
                  </p:ext>
                </p:extLst>
              </p:nvPr>
            </p:nvGraphicFramePr>
            <p:xfrm>
              <a:off x="2146126" y="1371201"/>
              <a:ext cx="430599" cy="4035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66400" imgH="241200" progId="Equation.DSMT4">
                      <p:embed/>
                    </p:oleObj>
                  </mc:Choice>
                  <mc:Fallback>
                    <p:oleObj name="Equation" r:id="rId7" imgW="2664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6126" y="1371201"/>
                            <a:ext cx="430599" cy="4035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7" name="Straight Connector 26"/>
              <p:cNvCxnSpPr/>
              <p:nvPr/>
            </p:nvCxnSpPr>
            <p:spPr>
              <a:xfrm>
                <a:off x="1680147" y="1071230"/>
                <a:ext cx="588634" cy="65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680147" y="1994709"/>
                <a:ext cx="58233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635741" y="2381315"/>
              <a:ext cx="18300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Hở mạch a, b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33400" y="3581400"/>
            <a:ext cx="2501900" cy="2057400"/>
            <a:chOff x="533400" y="3581400"/>
            <a:chExt cx="2501900" cy="2057400"/>
          </a:xfrm>
        </p:grpSpPr>
        <p:grpSp>
          <p:nvGrpSpPr>
            <p:cNvPr id="44" name="Group 43"/>
            <p:cNvGrpSpPr/>
            <p:nvPr/>
          </p:nvGrpSpPr>
          <p:grpSpPr>
            <a:xfrm>
              <a:off x="741446" y="3581400"/>
              <a:ext cx="2293854" cy="1851895"/>
              <a:chOff x="741446" y="2536271"/>
              <a:chExt cx="2293854" cy="1851895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741446" y="2844710"/>
                <a:ext cx="1207780" cy="11877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Mạch A</a:t>
                </a:r>
              </a:p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Tuyến tính</a:t>
                </a:r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465821" y="2946038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2465821" y="3868776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2365301" y="2536271"/>
                <a:ext cx="394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2360116" y="3926501"/>
                <a:ext cx="394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graphicFrame>
            <p:nvGraphicFramePr>
              <p:cNvPr id="94" name="Object 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7280756"/>
                  </p:ext>
                </p:extLst>
              </p:nvPr>
            </p:nvGraphicFramePr>
            <p:xfrm>
              <a:off x="2667000" y="3172443"/>
              <a:ext cx="368300" cy="403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600" imgH="241200" progId="Equation.DSMT4">
                      <p:embed/>
                    </p:oleObj>
                  </mc:Choice>
                  <mc:Fallback>
                    <p:oleObj name="Equation" r:id="rId9" imgW="2286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67000" y="3172443"/>
                            <a:ext cx="368300" cy="403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Freeform 35"/>
              <p:cNvSpPr/>
              <p:nvPr/>
            </p:nvSpPr>
            <p:spPr>
              <a:xfrm>
                <a:off x="1941534" y="2987989"/>
                <a:ext cx="576198" cy="914400"/>
              </a:xfrm>
              <a:custGeom>
                <a:avLst/>
                <a:gdLst>
                  <a:gd name="connsiteX0" fmla="*/ 0 w 576198"/>
                  <a:gd name="connsiteY0" fmla="*/ 0 h 914400"/>
                  <a:gd name="connsiteX1" fmla="*/ 576198 w 576198"/>
                  <a:gd name="connsiteY1" fmla="*/ 0 h 914400"/>
                  <a:gd name="connsiteX2" fmla="*/ 576198 w 576198"/>
                  <a:gd name="connsiteY2" fmla="*/ 914400 h 914400"/>
                  <a:gd name="connsiteX3" fmla="*/ 37578 w 576198"/>
                  <a:gd name="connsiteY3" fmla="*/ 9144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198" h="914400">
                    <a:moveTo>
                      <a:pt x="0" y="0"/>
                    </a:moveTo>
                    <a:lnTo>
                      <a:pt x="576198" y="0"/>
                    </a:lnTo>
                    <a:lnTo>
                      <a:pt x="576198" y="914400"/>
                    </a:lnTo>
                    <a:lnTo>
                      <a:pt x="37578" y="9144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Arrow Connector 38"/>
              <p:cNvCxnSpPr/>
              <p:nvPr/>
            </p:nvCxnSpPr>
            <p:spPr>
              <a:xfrm>
                <a:off x="2517678" y="3276542"/>
                <a:ext cx="0" cy="208638"/>
              </a:xfrm>
              <a:prstGeom prst="straightConnector1">
                <a:avLst/>
              </a:prstGeom>
              <a:ln w="127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TextBox 113"/>
            <p:cNvSpPr txBox="1"/>
            <p:nvPr/>
          </p:nvSpPr>
          <p:spPr>
            <a:xfrm>
              <a:off x="533400" y="5238690"/>
              <a:ext cx="209756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Ngắn mạch a, b</a:t>
              </a:r>
            </a:p>
          </p:txBody>
        </p:sp>
      </p:grpSp>
      <p:sp>
        <p:nvSpPr>
          <p:cNvPr id="115" name="Title 1"/>
          <p:cNvSpPr>
            <a:spLocks noGrp="1"/>
          </p:cNvSpPr>
          <p:nvPr>
            <p:ph type="title"/>
          </p:nvPr>
        </p:nvSpPr>
        <p:spPr>
          <a:xfrm>
            <a:off x="674183" y="457200"/>
            <a:ext cx="8153400" cy="473807"/>
          </a:xfrm>
        </p:spPr>
        <p:txBody>
          <a:bodyPr anchor="t" anchorCtr="0"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XÁC ĐỊNH ĐIỆN ÁP HỞ MẠCH &amp; DÒNG ĐIỆN NGẮN MẠCH</a:t>
            </a:r>
          </a:p>
        </p:txBody>
      </p:sp>
    </p:spTree>
    <p:extLst>
      <p:ext uri="{BB962C8B-B14F-4D97-AF65-F5344CB8AC3E}">
        <p14:creationId xmlns:p14="http://schemas.microsoft.com/office/powerpoint/2010/main" val="423136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61" name="Title 1"/>
          <p:cNvSpPr txBox="1">
            <a:spLocks/>
          </p:cNvSpPr>
          <p:nvPr/>
        </p:nvSpPr>
        <p:spPr>
          <a:xfrm>
            <a:off x="457200" y="406569"/>
            <a:ext cx="7936417" cy="507831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XÁC ĐỊNH TRỞ KHÁNG THEVENIN</a:t>
            </a:r>
            <a:endParaRPr lang="en-US" sz="24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6360" y="990600"/>
            <a:ext cx="5838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Mạch A chỉ chứa các nguồn độc lập</a:t>
            </a:r>
            <a:r>
              <a: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/>
          </a:p>
        </p:txBody>
      </p:sp>
      <p:grpSp>
        <p:nvGrpSpPr>
          <p:cNvPr id="15" name="Group 14"/>
          <p:cNvGrpSpPr/>
          <p:nvPr/>
        </p:nvGrpSpPr>
        <p:grpSpPr>
          <a:xfrm>
            <a:off x="603504" y="1596270"/>
            <a:ext cx="3130296" cy="1756530"/>
            <a:chOff x="310417" y="1977270"/>
            <a:chExt cx="3130296" cy="1756530"/>
          </a:xfrm>
        </p:grpSpPr>
        <p:sp>
          <p:nvSpPr>
            <p:cNvPr id="68" name="Rectangle 67"/>
            <p:cNvSpPr/>
            <p:nvPr/>
          </p:nvSpPr>
          <p:spPr>
            <a:xfrm>
              <a:off x="310417" y="2291442"/>
              <a:ext cx="1555116" cy="1237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</a:p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Chỉ chứa nguồn độc lập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2382128" y="2392769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2382128" y="3315507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281608" y="1977270"/>
              <a:ext cx="39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348793" y="3272135"/>
              <a:ext cx="39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aphicFrame>
          <p:nvGraphicFramePr>
            <p:cNvPr id="96" name="Object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0127186"/>
                </p:ext>
              </p:extLst>
            </p:nvPr>
          </p:nvGraphicFramePr>
          <p:xfrm>
            <a:off x="3048000" y="2667000"/>
            <a:ext cx="392713" cy="4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640" imgH="228600" progId="Equation.DSMT4">
                    <p:embed/>
                  </p:oleObj>
                </mc:Choice>
                <mc:Fallback>
                  <p:oleObj name="Equation" r:id="rId3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2667000"/>
                          <a:ext cx="392713" cy="4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8" name="Straight Connector 97"/>
            <p:cNvCxnSpPr/>
            <p:nvPr/>
          </p:nvCxnSpPr>
          <p:spPr>
            <a:xfrm>
              <a:off x="1865533" y="2429606"/>
              <a:ext cx="588634" cy="65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1865533" y="3353085"/>
              <a:ext cx="5823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2281609" y="2897114"/>
              <a:ext cx="690191" cy="0"/>
            </a:xfrm>
            <a:prstGeom prst="straightConnector1">
              <a:avLst/>
            </a:prstGeom>
            <a:ln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ectangle 100"/>
          <p:cNvSpPr/>
          <p:nvPr/>
        </p:nvSpPr>
        <p:spPr>
          <a:xfrm>
            <a:off x="516360" y="3729335"/>
            <a:ext cx="5562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Mạch A có chứa nguồn phụ thuộc</a:t>
            </a:r>
            <a:endParaRPr lang="en-US" sz="2400"/>
          </a:p>
        </p:txBody>
      </p:sp>
      <p:grpSp>
        <p:nvGrpSpPr>
          <p:cNvPr id="19" name="Group 18"/>
          <p:cNvGrpSpPr/>
          <p:nvPr/>
        </p:nvGrpSpPr>
        <p:grpSpPr>
          <a:xfrm>
            <a:off x="603504" y="4187070"/>
            <a:ext cx="2432783" cy="1756530"/>
            <a:chOff x="603504" y="3348870"/>
            <a:chExt cx="2432783" cy="1756530"/>
          </a:xfrm>
        </p:grpSpPr>
        <p:sp>
          <p:nvSpPr>
            <p:cNvPr id="103" name="Rectangle 102"/>
            <p:cNvSpPr/>
            <p:nvPr/>
          </p:nvSpPr>
          <p:spPr>
            <a:xfrm>
              <a:off x="603504" y="3663042"/>
              <a:ext cx="1555116" cy="1237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</a:p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có chứa nguồn phụ thuộc</a:t>
              </a:r>
            </a:p>
          </p:txBody>
        </p:sp>
        <p:sp>
          <p:nvSpPr>
            <p:cNvPr id="104" name="Oval 103"/>
            <p:cNvSpPr/>
            <p:nvPr/>
          </p:nvSpPr>
          <p:spPr>
            <a:xfrm>
              <a:off x="2675215" y="3764369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2675215" y="4687107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574695" y="3348870"/>
              <a:ext cx="39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641880" y="4643735"/>
              <a:ext cx="39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2158620" y="3801206"/>
              <a:ext cx="588634" cy="65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2158620" y="4724685"/>
              <a:ext cx="5823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397818" y="4456380"/>
            <a:ext cx="5136582" cy="1246495"/>
            <a:chOff x="3397818" y="3618180"/>
            <a:chExt cx="5136582" cy="1246495"/>
          </a:xfrm>
        </p:grpSpPr>
        <p:sp>
          <p:nvSpPr>
            <p:cNvPr id="100" name="Title 1"/>
            <p:cNvSpPr txBox="1">
              <a:spLocks/>
            </p:cNvSpPr>
            <p:nvPr/>
          </p:nvSpPr>
          <p:spPr>
            <a:xfrm>
              <a:off x="3397818" y="3618180"/>
              <a:ext cx="4419600" cy="1246495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225425"/>
              <a:r>
                <a:rPr lang="en-US" sz="2400" u="sng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Cách 1</a:t>
              </a:r>
              <a:r>
                <a:rPr lang="en-US" sz="24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:</a:t>
              </a: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  <a:p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- Hở mạch a,b -&gt;       </a:t>
              </a:r>
            </a:p>
            <a:p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- Ngắn mạch a,b  -&gt;       </a:t>
              </a:r>
              <a:endPara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112" name="Object 1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0037433"/>
                </p:ext>
              </p:extLst>
            </p:nvPr>
          </p:nvGraphicFramePr>
          <p:xfrm>
            <a:off x="5895975" y="3997005"/>
            <a:ext cx="5048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66400" imgH="241200" progId="Equation.DSMT4">
                    <p:embed/>
                  </p:oleObj>
                </mc:Choice>
                <mc:Fallback>
                  <p:oleObj name="Equation" r:id="rId5" imgW="2664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5975" y="3997005"/>
                          <a:ext cx="504825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1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1191719"/>
                </p:ext>
              </p:extLst>
            </p:nvPr>
          </p:nvGraphicFramePr>
          <p:xfrm>
            <a:off x="6330531" y="4391600"/>
            <a:ext cx="4318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0531" y="4391600"/>
                          <a:ext cx="431800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" name="Object 1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2661179"/>
                </p:ext>
              </p:extLst>
            </p:nvPr>
          </p:nvGraphicFramePr>
          <p:xfrm>
            <a:off x="7331075" y="3909121"/>
            <a:ext cx="1203325" cy="896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34680" imgH="457200" progId="Equation.DSMT4">
                    <p:embed/>
                  </p:oleObj>
                </mc:Choice>
                <mc:Fallback>
                  <p:oleObj name="Equation" r:id="rId9" imgW="63468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1075" y="3909121"/>
                          <a:ext cx="1203325" cy="896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ight Brace 16"/>
            <p:cNvSpPr/>
            <p:nvPr/>
          </p:nvSpPr>
          <p:spPr>
            <a:xfrm>
              <a:off x="6953215" y="3886200"/>
              <a:ext cx="301659" cy="9144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075369" y="1604665"/>
            <a:ext cx="4382831" cy="182433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Triệt tiêu các nguồn độc lập để xác định Trở kháng Thevenin.</a:t>
            </a:r>
            <a:b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Nguyên tắc triệt tiêu:</a:t>
            </a:r>
            <a:b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 Nguồn áp -&gt; ngắn mạch</a:t>
            </a:r>
            <a:b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 Nguồn dòng -&gt; hở mạch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7822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005065"/>
            <a:ext cx="457200" cy="457200"/>
          </a:xfrm>
        </p:spPr>
        <p:txBody>
          <a:bodyPr/>
          <a:lstStyle/>
          <a:p>
            <a:pPr>
              <a:defRPr/>
            </a:pPr>
            <a:fld id="{B78AA4C7-3426-435B-8729-9D76D6F84484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1" name="Title 1"/>
          <p:cNvSpPr txBox="1">
            <a:spLocks/>
          </p:cNvSpPr>
          <p:nvPr/>
        </p:nvSpPr>
        <p:spPr>
          <a:xfrm>
            <a:off x="457200" y="406569"/>
            <a:ext cx="7936417" cy="507831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XÁC ĐỊNH TRỞ KHÁNG THEVENIN</a:t>
            </a:r>
            <a:endParaRPr lang="en-US" sz="24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16360" y="909935"/>
            <a:ext cx="5562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Mạch A có chứa nguồn phụ thuộc</a:t>
            </a:r>
            <a:endParaRPr lang="en-US" sz="2400"/>
          </a:p>
        </p:txBody>
      </p:sp>
      <p:grpSp>
        <p:nvGrpSpPr>
          <p:cNvPr id="22" name="Group 21"/>
          <p:cNvGrpSpPr/>
          <p:nvPr/>
        </p:nvGrpSpPr>
        <p:grpSpPr>
          <a:xfrm>
            <a:off x="457200" y="1553062"/>
            <a:ext cx="2756770" cy="1723538"/>
            <a:chOff x="457200" y="1400662"/>
            <a:chExt cx="2756770" cy="1723538"/>
          </a:xfrm>
        </p:grpSpPr>
        <p:sp>
          <p:nvSpPr>
            <p:cNvPr id="59" name="Oval 58"/>
            <p:cNvSpPr/>
            <p:nvPr/>
          </p:nvSpPr>
          <p:spPr>
            <a:xfrm>
              <a:off x="2537376" y="2116733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57200" y="1400662"/>
              <a:ext cx="2756770" cy="1723538"/>
              <a:chOff x="762000" y="1324462"/>
              <a:chExt cx="2756770" cy="1723538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762000" y="1605642"/>
                <a:ext cx="1396620" cy="12371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Mạch A</a:t>
                </a:r>
              </a:p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 chứa nguồn phụ thuộc</a:t>
                </a: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2982265" y="1706969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2982265" y="2629707"/>
                <a:ext cx="65735" cy="720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034593" y="1324462"/>
                <a:ext cx="3944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3022067" y="2340114"/>
                <a:ext cx="3944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</a:p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" name="Freeform 3"/>
              <p:cNvSpPr/>
              <p:nvPr/>
            </p:nvSpPr>
            <p:spPr>
              <a:xfrm>
                <a:off x="2141951" y="1747600"/>
                <a:ext cx="889348" cy="907918"/>
              </a:xfrm>
              <a:custGeom>
                <a:avLst/>
                <a:gdLst>
                  <a:gd name="connsiteX0" fmla="*/ 25052 w 889348"/>
                  <a:gd name="connsiteY0" fmla="*/ 0 h 864296"/>
                  <a:gd name="connsiteX1" fmla="*/ 889348 w 889348"/>
                  <a:gd name="connsiteY1" fmla="*/ 0 h 864296"/>
                  <a:gd name="connsiteX2" fmla="*/ 889348 w 889348"/>
                  <a:gd name="connsiteY2" fmla="*/ 864296 h 864296"/>
                  <a:gd name="connsiteX3" fmla="*/ 0 w 889348"/>
                  <a:gd name="connsiteY3" fmla="*/ 864296 h 864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9348" h="864296">
                    <a:moveTo>
                      <a:pt x="25052" y="0"/>
                    </a:moveTo>
                    <a:lnTo>
                      <a:pt x="889348" y="0"/>
                    </a:lnTo>
                    <a:lnTo>
                      <a:pt x="889348" y="864296"/>
                    </a:lnTo>
                    <a:lnTo>
                      <a:pt x="0" y="86429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 flipH="1">
                <a:off x="2438400" y="1747600"/>
                <a:ext cx="381000" cy="0"/>
              </a:xfrm>
              <a:prstGeom prst="straightConnector1">
                <a:avLst/>
              </a:prstGeom>
              <a:ln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5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0421407"/>
                  </p:ext>
                </p:extLst>
              </p:nvPr>
            </p:nvGraphicFramePr>
            <p:xfrm>
              <a:off x="3229845" y="2043830"/>
              <a:ext cx="288925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80" imgH="190440" progId="Equation.DSMT4">
                      <p:embed/>
                    </p:oleObj>
                  </mc:Choice>
                  <mc:Fallback>
                    <p:oleObj name="Equation" r:id="rId3" imgW="15228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9845" y="2043830"/>
                            <a:ext cx="288925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9055936"/>
                  </p:ext>
                </p:extLst>
              </p:nvPr>
            </p:nvGraphicFramePr>
            <p:xfrm>
              <a:off x="2438400" y="1779588"/>
              <a:ext cx="239713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26720" imgH="190440" progId="Equation.DSMT4">
                      <p:embed/>
                    </p:oleObj>
                  </mc:Choice>
                  <mc:Fallback>
                    <p:oleObj name="Equation" r:id="rId5" imgW="12672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38400" y="1779588"/>
                            <a:ext cx="239713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22"/>
          <p:cNvGrpSpPr/>
          <p:nvPr/>
        </p:nvGrpSpPr>
        <p:grpSpPr>
          <a:xfrm>
            <a:off x="3352800" y="1447800"/>
            <a:ext cx="5356225" cy="1985159"/>
            <a:chOff x="3352800" y="1752600"/>
            <a:chExt cx="5356225" cy="1985159"/>
          </a:xfrm>
        </p:grpSpPr>
        <p:graphicFrame>
          <p:nvGraphicFramePr>
            <p:cNvPr id="116" name="Object 1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879716"/>
                </p:ext>
              </p:extLst>
            </p:nvPr>
          </p:nvGraphicFramePr>
          <p:xfrm>
            <a:off x="7745413" y="2492375"/>
            <a:ext cx="963612" cy="822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07960" imgH="419040" progId="Equation.DSMT4">
                    <p:embed/>
                  </p:oleObj>
                </mc:Choice>
                <mc:Fallback>
                  <p:oleObj name="Equation" r:id="rId7" imgW="507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5413" y="2492375"/>
                          <a:ext cx="963612" cy="822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9"/>
            <p:cNvGrpSpPr/>
            <p:nvPr/>
          </p:nvGrpSpPr>
          <p:grpSpPr>
            <a:xfrm>
              <a:off x="3352800" y="1752600"/>
              <a:ext cx="4040629" cy="1985159"/>
              <a:chOff x="3429000" y="1600200"/>
              <a:chExt cx="4040629" cy="1985159"/>
            </a:xfrm>
          </p:grpSpPr>
          <p:sp>
            <p:nvSpPr>
              <p:cNvPr id="100" name="Title 1"/>
              <p:cNvSpPr txBox="1">
                <a:spLocks/>
              </p:cNvSpPr>
              <p:nvPr/>
            </p:nvSpPr>
            <p:spPr>
              <a:xfrm>
                <a:off x="3429000" y="1600200"/>
                <a:ext cx="4040629" cy="1985159"/>
              </a:xfrm>
              <a:prstGeom prst="rect">
                <a:avLst/>
              </a:prstGeom>
            </p:spPr>
            <p:txBody>
              <a:bodyPr wrap="square" bIns="91440" anchor="t" anchorCtr="0">
                <a:spAutoFit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u="sng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Cách 2</a:t>
                </a:r>
                <a:r>
                  <a:rPr lang="en-US" sz="240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:</a:t>
                </a:r>
                <a:r>
                  <a:rPr lang="en-US"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r>
                  <a:rPr lang="en-US" sz="2400" i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Triệt tiêu các nguồn độc lập bên trong mạch A, cấp a,b nguồn      với giá trị tùy chọn, tính dòng điện          </a:t>
                </a:r>
                <a:endParaRPr lang="en-US" sz="2400" i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aphicFrame>
            <p:nvGraphicFramePr>
              <p:cNvPr id="38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422133"/>
                  </p:ext>
                </p:extLst>
              </p:nvPr>
            </p:nvGraphicFramePr>
            <p:xfrm>
              <a:off x="4426452" y="2717104"/>
              <a:ext cx="288925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190440" progId="Equation.DSMT4">
                      <p:embed/>
                    </p:oleObj>
                  </mc:Choice>
                  <mc:Fallback>
                    <p:oleObj name="Equation" r:id="rId9" imgW="15228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6452" y="2717104"/>
                            <a:ext cx="288925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3694453"/>
                  </p:ext>
                </p:extLst>
              </p:nvPr>
            </p:nvGraphicFramePr>
            <p:xfrm>
              <a:off x="6399561" y="3097576"/>
              <a:ext cx="241300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26720" imgH="190440" progId="Equation.DSMT4">
                      <p:embed/>
                    </p:oleObj>
                  </mc:Choice>
                  <mc:Fallback>
                    <p:oleObj name="Equation" r:id="rId10" imgW="12672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99561" y="3097576"/>
                            <a:ext cx="241300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  <a:prstDash val="sysDot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Right Brace 10"/>
            <p:cNvSpPr/>
            <p:nvPr/>
          </p:nvSpPr>
          <p:spPr>
            <a:xfrm>
              <a:off x="7236971" y="2209800"/>
              <a:ext cx="306829" cy="141482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52800" y="3886200"/>
            <a:ext cx="5368925" cy="1615827"/>
            <a:chOff x="3352800" y="3505200"/>
            <a:chExt cx="5368925" cy="1615827"/>
          </a:xfrm>
        </p:grpSpPr>
        <p:graphicFrame>
          <p:nvGraphicFramePr>
            <p:cNvPr id="43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4709693"/>
                </p:ext>
              </p:extLst>
            </p:nvPr>
          </p:nvGraphicFramePr>
          <p:xfrm>
            <a:off x="7734300" y="3948113"/>
            <a:ext cx="987425" cy="822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20560" imgH="419040" progId="Equation.DSMT4">
                    <p:embed/>
                  </p:oleObj>
                </mc:Choice>
                <mc:Fallback>
                  <p:oleObj name="Equation" r:id="rId12" imgW="5205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4300" y="3948113"/>
                          <a:ext cx="987425" cy="822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itle 1"/>
            <p:cNvSpPr txBox="1">
              <a:spLocks/>
            </p:cNvSpPr>
            <p:nvPr/>
          </p:nvSpPr>
          <p:spPr>
            <a:xfrm>
              <a:off x="3352800" y="3505200"/>
              <a:ext cx="4040629" cy="1615827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i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Triệt tiêu các nguồn độc lập bên trong mạch A, cấp a,b nguồn      với giá trị tùy chọn, tính điện áp          </a:t>
              </a:r>
              <a:endParaRPr lang="en-US" sz="2400" i="1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56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332090"/>
                </p:ext>
              </p:extLst>
            </p:nvPr>
          </p:nvGraphicFramePr>
          <p:xfrm>
            <a:off x="5936491" y="4639244"/>
            <a:ext cx="312737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203040" progId="Equation.DSMT4">
                    <p:embed/>
                  </p:oleObj>
                </mc:Choice>
                <mc:Fallback>
                  <p:oleObj name="Equation" r:id="rId14" imgW="164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6491" y="4639244"/>
                          <a:ext cx="312737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4420354"/>
                </p:ext>
              </p:extLst>
            </p:nvPr>
          </p:nvGraphicFramePr>
          <p:xfrm>
            <a:off x="4361364" y="4261742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203040" progId="Equation.DSMT4">
                    <p:embed/>
                  </p:oleObj>
                </mc:Choice>
                <mc:Fallback>
                  <p:oleObj name="Equation" r:id="rId16" imgW="139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1364" y="4261742"/>
                          <a:ext cx="2667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ight Brace 57"/>
            <p:cNvSpPr/>
            <p:nvPr/>
          </p:nvSpPr>
          <p:spPr>
            <a:xfrm>
              <a:off x="7266140" y="3655970"/>
              <a:ext cx="306829" cy="138332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7200" y="3886200"/>
            <a:ext cx="2819400" cy="1471165"/>
            <a:chOff x="457200" y="3352800"/>
            <a:chExt cx="2819400" cy="1471165"/>
          </a:xfrm>
        </p:grpSpPr>
        <p:sp>
          <p:nvSpPr>
            <p:cNvPr id="45" name="Rectangle 44"/>
            <p:cNvSpPr/>
            <p:nvPr/>
          </p:nvSpPr>
          <p:spPr>
            <a:xfrm>
              <a:off x="457200" y="3586842"/>
              <a:ext cx="1396620" cy="1237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A</a:t>
              </a:r>
            </a:p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có chứa nguồn phụ thuộc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677465" y="3688169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2677465" y="4610907"/>
              <a:ext cx="65735" cy="720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29793" y="3493552"/>
              <a:ext cx="3944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17267" y="4408996"/>
              <a:ext cx="3944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1837151" y="3728800"/>
              <a:ext cx="889348" cy="907918"/>
            </a:xfrm>
            <a:custGeom>
              <a:avLst/>
              <a:gdLst>
                <a:gd name="connsiteX0" fmla="*/ 25052 w 889348"/>
                <a:gd name="connsiteY0" fmla="*/ 0 h 864296"/>
                <a:gd name="connsiteX1" fmla="*/ 889348 w 889348"/>
                <a:gd name="connsiteY1" fmla="*/ 0 h 864296"/>
                <a:gd name="connsiteX2" fmla="*/ 889348 w 889348"/>
                <a:gd name="connsiteY2" fmla="*/ 864296 h 864296"/>
                <a:gd name="connsiteX3" fmla="*/ 0 w 889348"/>
                <a:gd name="connsiteY3" fmla="*/ 864296 h 86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348" h="864296">
                  <a:moveTo>
                    <a:pt x="25052" y="0"/>
                  </a:moveTo>
                  <a:lnTo>
                    <a:pt x="889348" y="0"/>
                  </a:lnTo>
                  <a:lnTo>
                    <a:pt x="889348" y="864296"/>
                  </a:lnTo>
                  <a:lnTo>
                    <a:pt x="0" y="86429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H="1">
              <a:off x="2133600" y="3728800"/>
              <a:ext cx="381000" cy="0"/>
            </a:xfrm>
            <a:prstGeom prst="straightConnector1">
              <a:avLst/>
            </a:prstGeom>
            <a:ln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2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2322008"/>
                </p:ext>
              </p:extLst>
            </p:nvPr>
          </p:nvGraphicFramePr>
          <p:xfrm>
            <a:off x="3011488" y="4020616"/>
            <a:ext cx="265112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203040" progId="Equation.DSMT4">
                    <p:embed/>
                  </p:oleObj>
                </mc:Choice>
                <mc:Fallback>
                  <p:oleObj name="Equation" r:id="rId18" imgW="139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1488" y="4020616"/>
                          <a:ext cx="265112" cy="398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6674308"/>
                </p:ext>
              </p:extLst>
            </p:nvPr>
          </p:nvGraphicFramePr>
          <p:xfrm>
            <a:off x="2046984" y="3987278"/>
            <a:ext cx="312737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203040" progId="Equation.DSMT4">
                    <p:embed/>
                  </p:oleObj>
                </mc:Choice>
                <mc:Fallback>
                  <p:oleObj name="Equation" r:id="rId20" imgW="164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6984" y="3987278"/>
                          <a:ext cx="312737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ot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Oval 59"/>
            <p:cNvSpPr/>
            <p:nvPr/>
          </p:nvSpPr>
          <p:spPr>
            <a:xfrm>
              <a:off x="2546799" y="4020161"/>
              <a:ext cx="378246" cy="367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>
              <a:stCxn id="60" idx="2"/>
              <a:endCxn id="60" idx="6"/>
            </p:cNvCxnSpPr>
            <p:nvPr/>
          </p:nvCxnSpPr>
          <p:spPr>
            <a:xfrm>
              <a:off x="2546799" y="4203739"/>
              <a:ext cx="3782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3011488" y="4020161"/>
              <a:ext cx="0" cy="362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043830" y="3352800"/>
              <a:ext cx="3944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68882" y="4343400"/>
              <a:ext cx="3944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12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 smtClean="0"/>
              <a:pPr>
                <a:defRPr/>
              </a:pPr>
              <a:t>24</a:t>
            </a:fld>
            <a:r>
              <a:rPr lang="en-US"/>
              <a:t>`</a:t>
            </a: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457201" y="304800"/>
            <a:ext cx="5029199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1</a:t>
            </a:r>
            <a:r>
              <a:rPr lang="en-US" sz="2200" b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Tìm sơ đồ tương đương Thevenin bên trái a,b.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b)  Với giá trị nào Z</a:t>
            </a:r>
            <a:r>
              <a:rPr lang="en-US" sz="22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</a:t>
            </a: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thì công suất tác dụng lên Z</a:t>
            </a:r>
            <a:r>
              <a:rPr lang="en-US" sz="22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</a:t>
            </a: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lớn nhất, tính công suất đó</a:t>
            </a:r>
            <a:endParaRPr kumimoji="0" lang="en-US" sz="2200" u="none" strike="noStrike" cap="none" normalizeH="0">
              <a:ln>
                <a:noFill/>
              </a:ln>
              <a:effectLst/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52399"/>
            <a:ext cx="3151208" cy="20734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514600"/>
            <a:ext cx="2534628" cy="143319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43532" y="2438400"/>
            <a:ext cx="3558898" cy="1997804"/>
            <a:chOff x="600352" y="4223504"/>
            <a:chExt cx="3558898" cy="199780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352" y="4223504"/>
              <a:ext cx="2629878" cy="1997804"/>
            </a:xfrm>
            <a:prstGeom prst="rect">
              <a:avLst/>
            </a:prstGeom>
          </p:spPr>
        </p:pic>
        <p:cxnSp>
          <p:nvCxnSpPr>
            <p:cNvPr id="30" name="Straight Arrow Connector 29"/>
            <p:cNvCxnSpPr/>
            <p:nvPr/>
          </p:nvCxnSpPr>
          <p:spPr>
            <a:xfrm flipH="1">
              <a:off x="2514600" y="5334000"/>
              <a:ext cx="3282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449231"/>
                </p:ext>
              </p:extLst>
            </p:nvPr>
          </p:nvGraphicFramePr>
          <p:xfrm>
            <a:off x="3017838" y="5129213"/>
            <a:ext cx="1141412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36560" imgH="228600" progId="Equation.DSMT4">
                    <p:embed/>
                  </p:oleObj>
                </mc:Choice>
                <mc:Fallback>
                  <p:oleObj name="Equation" r:id="rId6" imgW="7365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7838" y="5129213"/>
                          <a:ext cx="1141412" cy="3730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2611837" y="211157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468516"/>
              </p:ext>
            </p:extLst>
          </p:nvPr>
        </p:nvGraphicFramePr>
        <p:xfrm>
          <a:off x="515458" y="2057400"/>
          <a:ext cx="5885342" cy="386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79800" imgH="228600" progId="Equation.DSMT4">
                  <p:embed/>
                </p:oleObj>
              </mc:Choice>
              <mc:Fallback>
                <p:oleObj name="Equation" r:id="rId8" imgW="34798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58" y="2057400"/>
                        <a:ext cx="5885342" cy="386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Down Arrow 36"/>
          <p:cNvSpPr/>
          <p:nvPr/>
        </p:nvSpPr>
        <p:spPr>
          <a:xfrm>
            <a:off x="7391400" y="2111570"/>
            <a:ext cx="457200" cy="32683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63045" y="4267200"/>
            <a:ext cx="4264518" cy="2021571"/>
            <a:chOff x="374904" y="2438400"/>
            <a:chExt cx="4264518" cy="202157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04" y="2438400"/>
              <a:ext cx="2855326" cy="2021571"/>
            </a:xfrm>
            <a:prstGeom prst="rect">
              <a:avLst/>
            </a:prstGeom>
          </p:spPr>
        </p:pic>
        <p:graphicFrame>
          <p:nvGraphicFramePr>
            <p:cNvPr id="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220443"/>
                </p:ext>
              </p:extLst>
            </p:nvPr>
          </p:nvGraphicFramePr>
          <p:xfrm>
            <a:off x="2983659" y="3276600"/>
            <a:ext cx="1655763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66680" imgH="253800" progId="Equation.DSMT4">
                    <p:embed/>
                  </p:oleObj>
                </mc:Choice>
                <mc:Fallback>
                  <p:oleObj name="Equation" r:id="rId11" imgW="1066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3659" y="3276600"/>
                          <a:ext cx="1655763" cy="4159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Straight Arrow Connector 6"/>
            <p:cNvCxnSpPr/>
            <p:nvPr/>
          </p:nvCxnSpPr>
          <p:spPr>
            <a:xfrm>
              <a:off x="2971800" y="3276600"/>
              <a:ext cx="0" cy="506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903809" y="4439742"/>
            <a:ext cx="41078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r"/>
                <a:tab pos="2743200" algn="ctr"/>
                <a:tab pos="5486400" algn="r"/>
              </a:tabLst>
            </a:pPr>
            <a:r>
              <a:rPr lang="en-US" sz="2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- Khi Z</a:t>
            </a:r>
            <a:r>
              <a:rPr lang="en-US" sz="20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</a:t>
            </a:r>
            <a:r>
              <a:rPr lang="en-US" sz="2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= Z*</a:t>
            </a:r>
            <a:r>
              <a:rPr lang="en-US" sz="20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th</a:t>
            </a:r>
            <a:r>
              <a:rPr lang="en-US" sz="2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= 3+j4  P</a:t>
            </a:r>
            <a:r>
              <a:rPr lang="en-US" sz="20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zt</a:t>
            </a:r>
            <a:r>
              <a:rPr lang="en-US" sz="2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-&gt; max</a:t>
            </a:r>
            <a:endParaRPr kumimoji="0" lang="en-US" sz="2000" u="none" strike="noStrike" cap="none" normalizeH="0">
              <a:ln>
                <a:noFill/>
              </a:ln>
              <a:effectLst/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696607"/>
              </p:ext>
            </p:extLst>
          </p:nvPr>
        </p:nvGraphicFramePr>
        <p:xfrm>
          <a:off x="4926828" y="4945460"/>
          <a:ext cx="2904166" cy="980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63560" imgH="533160" progId="Equation.DSMT4">
                  <p:embed/>
                </p:oleObj>
              </mc:Choice>
              <mc:Fallback>
                <p:oleObj name="Equation" r:id="rId13" imgW="166356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828" y="4945460"/>
                        <a:ext cx="2904166" cy="980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H="1">
            <a:off x="3733800" y="3530640"/>
            <a:ext cx="2743200" cy="1309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343400" y="2971800"/>
            <a:ext cx="2840437" cy="558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3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93F3E-2FEF-42E0-8EF4-F1D63FF4782B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457201" y="365612"/>
            <a:ext cx="5029199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 2</a:t>
            </a:r>
            <a:r>
              <a:rPr lang="en-US" sz="2200" b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Dùng định lý Thevenin để tìm dòng điện qua R</a:t>
            </a:r>
            <a:r>
              <a:rPr lang="en-US" sz="2200" baseline="-250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</a:t>
            </a: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=10</a:t>
            </a:r>
            <a:r>
              <a:rPr lang="en-US" sz="2400">
                <a:latin typeface="VNI-Times" pitchFamily="2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endParaRPr kumimoji="0" lang="en-US" sz="2200" u="none" strike="noStrike" cap="none" normalizeH="0" baseline="-25000">
              <a:ln>
                <a:noFill/>
              </a:ln>
              <a:effectLst/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752426" y="258537"/>
            <a:ext cx="4259202" cy="1766395"/>
            <a:chOff x="1362235" y="3262805"/>
            <a:chExt cx="4259202" cy="1766395"/>
          </a:xfrm>
        </p:grpSpPr>
        <p:sp>
          <p:nvSpPr>
            <p:cNvPr id="56" name="Text Box 6"/>
            <p:cNvSpPr txBox="1">
              <a:spLocks noChangeArrowheads="1"/>
            </p:cNvSpPr>
            <p:nvPr/>
          </p:nvSpPr>
          <p:spPr bwMode="auto">
            <a:xfrm>
              <a:off x="2955329" y="3324562"/>
              <a:ext cx="689992" cy="2568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-     +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lowchart: Decision 1"/>
            <p:cNvSpPr/>
            <p:nvPr/>
          </p:nvSpPr>
          <p:spPr>
            <a:xfrm>
              <a:off x="2971800" y="3543822"/>
              <a:ext cx="457200" cy="226289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 Box 2"/>
            <p:cNvSpPr txBox="1">
              <a:spLocks noChangeArrowheads="1"/>
            </p:cNvSpPr>
            <p:nvPr/>
          </p:nvSpPr>
          <p:spPr bwMode="auto">
            <a:xfrm>
              <a:off x="3950035" y="3301218"/>
              <a:ext cx="361007" cy="299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 rot="5400000">
              <a:off x="2385822" y="4249454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6" name="Text Box 6"/>
            <p:cNvSpPr txBox="1">
              <a:spLocks noChangeArrowheads="1"/>
            </p:cNvSpPr>
            <p:nvPr/>
          </p:nvSpPr>
          <p:spPr bwMode="auto">
            <a:xfrm>
              <a:off x="4487587" y="3262805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7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 rot="5400000">
              <a:off x="4799417" y="4290177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 rot="10800000">
              <a:off x="4311042" y="3581400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2004164" y="3657600"/>
              <a:ext cx="3068877" cy="1277655"/>
            </a:xfrm>
            <a:custGeom>
              <a:avLst/>
              <a:gdLst>
                <a:gd name="connsiteX0" fmla="*/ 2304789 w 3068877"/>
                <a:gd name="connsiteY0" fmla="*/ 0 h 1277655"/>
                <a:gd name="connsiteX1" fmla="*/ 0 w 3068877"/>
                <a:gd name="connsiteY1" fmla="*/ 0 h 1277655"/>
                <a:gd name="connsiteX2" fmla="*/ 0 w 3068877"/>
                <a:gd name="connsiteY2" fmla="*/ 1277655 h 1277655"/>
                <a:gd name="connsiteX3" fmla="*/ 3068877 w 3068877"/>
                <a:gd name="connsiteY3" fmla="*/ 1277655 h 1277655"/>
                <a:gd name="connsiteX4" fmla="*/ 3068877 w 3068877"/>
                <a:gd name="connsiteY4" fmla="*/ 926926 h 1277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8877" h="1277655">
                  <a:moveTo>
                    <a:pt x="2304789" y="0"/>
                  </a:moveTo>
                  <a:lnTo>
                    <a:pt x="0" y="0"/>
                  </a:lnTo>
                  <a:lnTo>
                    <a:pt x="0" y="1277655"/>
                  </a:lnTo>
                  <a:lnTo>
                    <a:pt x="3068877" y="1277655"/>
                  </a:lnTo>
                  <a:lnTo>
                    <a:pt x="3068877" y="92692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2667000" y="3657600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654474" y="4492655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/>
            <p:cNvSpPr>
              <a:spLocks/>
            </p:cNvSpPr>
            <p:nvPr/>
          </p:nvSpPr>
          <p:spPr bwMode="auto">
            <a:xfrm rot="5400000">
              <a:off x="3376669" y="4249454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3657847" y="3657600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645321" y="4492655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/>
            <p:cNvGrpSpPr/>
            <p:nvPr/>
          </p:nvGrpSpPr>
          <p:grpSpPr>
            <a:xfrm>
              <a:off x="1828800" y="4245741"/>
              <a:ext cx="317643" cy="314575"/>
              <a:chOff x="1828800" y="4245741"/>
              <a:chExt cx="317643" cy="314575"/>
            </a:xfrm>
          </p:grpSpPr>
          <p:sp>
            <p:nvSpPr>
              <p:cNvPr id="29" name="Oval 28"/>
              <p:cNvSpPr>
                <a:spLocks noChangeArrowheads="1"/>
              </p:cNvSpPr>
              <p:nvPr/>
            </p:nvSpPr>
            <p:spPr bwMode="auto">
              <a:xfrm>
                <a:off x="1828800" y="4245741"/>
                <a:ext cx="317643" cy="31457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2" name="Straight Connector 21"/>
              <p:cNvCxnSpPr>
                <a:cxnSpLocks noChangeShapeType="1"/>
              </p:cNvCxnSpPr>
              <p:nvPr/>
            </p:nvCxnSpPr>
            <p:spPr bwMode="auto">
              <a:xfrm flipV="1">
                <a:off x="1991699" y="4286211"/>
                <a:ext cx="0" cy="216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7" name="Freeform 46"/>
            <p:cNvSpPr/>
            <p:nvPr/>
          </p:nvSpPr>
          <p:spPr>
            <a:xfrm>
              <a:off x="4835047" y="3670126"/>
              <a:ext cx="263046" cy="488515"/>
            </a:xfrm>
            <a:custGeom>
              <a:avLst/>
              <a:gdLst>
                <a:gd name="connsiteX0" fmla="*/ 0 w 263046"/>
                <a:gd name="connsiteY0" fmla="*/ 25052 h 488515"/>
                <a:gd name="connsiteX1" fmla="*/ 263046 w 263046"/>
                <a:gd name="connsiteY1" fmla="*/ 0 h 488515"/>
                <a:gd name="connsiteX2" fmla="*/ 250520 w 263046"/>
                <a:gd name="connsiteY2" fmla="*/ 488515 h 488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046" h="488515">
                  <a:moveTo>
                    <a:pt x="0" y="25052"/>
                  </a:moveTo>
                  <a:lnTo>
                    <a:pt x="263046" y="0"/>
                  </a:lnTo>
                  <a:lnTo>
                    <a:pt x="250520" y="48851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 Box 2"/>
            <p:cNvSpPr txBox="1">
              <a:spLocks noChangeArrowheads="1"/>
            </p:cNvSpPr>
            <p:nvPr/>
          </p:nvSpPr>
          <p:spPr bwMode="auto">
            <a:xfrm>
              <a:off x="4010056" y="4593836"/>
              <a:ext cx="361007" cy="299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4060160" y="3619388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4112352" y="4916055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 Box 6"/>
            <p:cNvSpPr txBox="1">
              <a:spLocks noChangeArrowheads="1"/>
            </p:cNvSpPr>
            <p:nvPr/>
          </p:nvSpPr>
          <p:spPr bwMode="auto">
            <a:xfrm>
              <a:off x="5222168" y="4214442"/>
              <a:ext cx="399269" cy="432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6"/>
            <p:cNvSpPr txBox="1">
              <a:spLocks noChangeArrowheads="1"/>
            </p:cNvSpPr>
            <p:nvPr/>
          </p:nvSpPr>
          <p:spPr bwMode="auto">
            <a:xfrm>
              <a:off x="2789128" y="4214442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6"/>
            <p:cNvSpPr txBox="1">
              <a:spLocks noChangeArrowheads="1"/>
            </p:cNvSpPr>
            <p:nvPr/>
          </p:nvSpPr>
          <p:spPr bwMode="auto">
            <a:xfrm>
              <a:off x="3807250" y="4214441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6"/>
            <p:cNvSpPr txBox="1">
              <a:spLocks noChangeArrowheads="1"/>
            </p:cNvSpPr>
            <p:nvPr/>
          </p:nvSpPr>
          <p:spPr bwMode="auto">
            <a:xfrm>
              <a:off x="1362235" y="4242525"/>
              <a:ext cx="466565" cy="2602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10A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6"/>
            <p:cNvSpPr txBox="1">
              <a:spLocks noChangeArrowheads="1"/>
            </p:cNvSpPr>
            <p:nvPr/>
          </p:nvSpPr>
          <p:spPr bwMode="auto">
            <a:xfrm>
              <a:off x="2948799" y="3793185"/>
              <a:ext cx="709048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2I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(V)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746326" y="3768133"/>
              <a:ext cx="0" cy="312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6"/>
            <p:cNvSpPr txBox="1">
              <a:spLocks noChangeArrowheads="1"/>
            </p:cNvSpPr>
            <p:nvPr/>
          </p:nvSpPr>
          <p:spPr bwMode="auto">
            <a:xfrm>
              <a:off x="3810000" y="3810000"/>
              <a:ext cx="642100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>
              <a:off x="5161763" y="3771392"/>
              <a:ext cx="0" cy="312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 Box 6"/>
            <p:cNvSpPr txBox="1">
              <a:spLocks noChangeArrowheads="1"/>
            </p:cNvSpPr>
            <p:nvPr/>
          </p:nvSpPr>
          <p:spPr bwMode="auto">
            <a:xfrm>
              <a:off x="5225436" y="3813259"/>
              <a:ext cx="396001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8600" y="1524000"/>
            <a:ext cx="4147295" cy="1667060"/>
            <a:chOff x="4752426" y="2216935"/>
            <a:chExt cx="3840840" cy="1667060"/>
          </a:xfrm>
        </p:grpSpPr>
        <p:sp>
          <p:nvSpPr>
            <p:cNvPr id="36" name="Text Box 6"/>
            <p:cNvSpPr txBox="1">
              <a:spLocks noChangeArrowheads="1"/>
            </p:cNvSpPr>
            <p:nvPr/>
          </p:nvSpPr>
          <p:spPr bwMode="auto">
            <a:xfrm>
              <a:off x="6345520" y="2216935"/>
              <a:ext cx="689992" cy="2568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-     +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Flowchart: Decision 36"/>
            <p:cNvSpPr/>
            <p:nvPr/>
          </p:nvSpPr>
          <p:spPr>
            <a:xfrm>
              <a:off x="6361991" y="2436195"/>
              <a:ext cx="457200" cy="226289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 Box 2"/>
            <p:cNvSpPr txBox="1">
              <a:spLocks noChangeArrowheads="1"/>
            </p:cNvSpPr>
            <p:nvPr/>
          </p:nvSpPr>
          <p:spPr bwMode="auto">
            <a:xfrm>
              <a:off x="7567446" y="2222326"/>
              <a:ext cx="421028" cy="2942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 a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 rot="5400000">
              <a:off x="5776013" y="3141827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6057191" y="2549973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044665" y="3385028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 69"/>
            <p:cNvSpPr>
              <a:spLocks/>
            </p:cNvSpPr>
            <p:nvPr/>
          </p:nvSpPr>
          <p:spPr bwMode="auto">
            <a:xfrm rot="5400000">
              <a:off x="6766860" y="3141827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7048038" y="2549973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7035512" y="3385028"/>
              <a:ext cx="0" cy="447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 Box 2"/>
            <p:cNvSpPr txBox="1">
              <a:spLocks noChangeArrowheads="1"/>
            </p:cNvSpPr>
            <p:nvPr/>
          </p:nvSpPr>
          <p:spPr bwMode="auto">
            <a:xfrm>
              <a:off x="7563793" y="3486209"/>
              <a:ext cx="551044" cy="291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 b</a:t>
              </a:r>
            </a:p>
          </p:txBody>
        </p:sp>
        <p:sp>
          <p:nvSpPr>
            <p:cNvPr id="76" name="Oval 75"/>
            <p:cNvSpPr/>
            <p:nvPr/>
          </p:nvSpPr>
          <p:spPr>
            <a:xfrm>
              <a:off x="7613897" y="2511761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7666089" y="3770850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 Box 6"/>
            <p:cNvSpPr txBox="1">
              <a:spLocks noChangeArrowheads="1"/>
            </p:cNvSpPr>
            <p:nvPr/>
          </p:nvSpPr>
          <p:spPr bwMode="auto">
            <a:xfrm>
              <a:off x="7642655" y="2916343"/>
              <a:ext cx="950611" cy="432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hm</a:t>
              </a: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=30 V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6"/>
            <p:cNvSpPr txBox="1">
              <a:spLocks noChangeArrowheads="1"/>
            </p:cNvSpPr>
            <p:nvPr/>
          </p:nvSpPr>
          <p:spPr bwMode="auto">
            <a:xfrm>
              <a:off x="6179319" y="3106815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 Box 6"/>
            <p:cNvSpPr txBox="1">
              <a:spLocks noChangeArrowheads="1"/>
            </p:cNvSpPr>
            <p:nvPr/>
          </p:nvSpPr>
          <p:spPr bwMode="auto">
            <a:xfrm>
              <a:off x="7197441" y="3106814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Box 6"/>
            <p:cNvSpPr txBox="1">
              <a:spLocks noChangeArrowheads="1"/>
            </p:cNvSpPr>
            <p:nvPr/>
          </p:nvSpPr>
          <p:spPr bwMode="auto">
            <a:xfrm>
              <a:off x="4752426" y="3134898"/>
              <a:ext cx="466565" cy="2602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10A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6338990" y="2685558"/>
              <a:ext cx="709048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2I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(V)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7136517" y="2660506"/>
              <a:ext cx="0" cy="312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 Box 6"/>
            <p:cNvSpPr txBox="1">
              <a:spLocks noChangeArrowheads="1"/>
            </p:cNvSpPr>
            <p:nvPr/>
          </p:nvSpPr>
          <p:spPr bwMode="auto">
            <a:xfrm>
              <a:off x="7200191" y="2702373"/>
              <a:ext cx="200056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reeform 2"/>
            <p:cNvSpPr/>
            <p:nvPr/>
          </p:nvSpPr>
          <p:spPr>
            <a:xfrm>
              <a:off x="5373666" y="2556150"/>
              <a:ext cx="2367419" cy="1265011"/>
            </a:xfrm>
            <a:custGeom>
              <a:avLst/>
              <a:gdLst>
                <a:gd name="connsiteX0" fmla="*/ 2317315 w 2367419"/>
                <a:gd name="connsiteY0" fmla="*/ 0 h 1240076"/>
                <a:gd name="connsiteX1" fmla="*/ 0 w 2367419"/>
                <a:gd name="connsiteY1" fmla="*/ 0 h 1240076"/>
                <a:gd name="connsiteX2" fmla="*/ 0 w 2367419"/>
                <a:gd name="connsiteY2" fmla="*/ 1240076 h 1240076"/>
                <a:gd name="connsiteX3" fmla="*/ 2367419 w 2367419"/>
                <a:gd name="connsiteY3" fmla="*/ 1240076 h 1240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7419" h="1240076">
                  <a:moveTo>
                    <a:pt x="2317315" y="0"/>
                  </a:moveTo>
                  <a:lnTo>
                    <a:pt x="0" y="0"/>
                  </a:lnTo>
                  <a:lnTo>
                    <a:pt x="0" y="1240076"/>
                  </a:lnTo>
                  <a:lnTo>
                    <a:pt x="2367419" y="124007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5218991" y="3138114"/>
              <a:ext cx="317643" cy="314575"/>
              <a:chOff x="1828800" y="4245741"/>
              <a:chExt cx="317643" cy="314575"/>
            </a:xfrm>
          </p:grpSpPr>
          <p:sp>
            <p:nvSpPr>
              <p:cNvPr id="87" name="Oval 86"/>
              <p:cNvSpPr>
                <a:spLocks noChangeArrowheads="1"/>
              </p:cNvSpPr>
              <p:nvPr/>
            </p:nvSpPr>
            <p:spPr bwMode="auto">
              <a:xfrm>
                <a:off x="1828800" y="4245741"/>
                <a:ext cx="317643" cy="31457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88" name="Straight Connector 87"/>
              <p:cNvCxnSpPr>
                <a:cxnSpLocks noChangeShapeType="1"/>
              </p:cNvCxnSpPr>
              <p:nvPr/>
            </p:nvCxnSpPr>
            <p:spPr bwMode="auto">
              <a:xfrm flipV="1">
                <a:off x="1991699" y="4286211"/>
                <a:ext cx="0" cy="216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1" name="Group 20"/>
          <p:cNvGrpSpPr/>
          <p:nvPr/>
        </p:nvGrpSpPr>
        <p:grpSpPr>
          <a:xfrm>
            <a:off x="173715" y="4047940"/>
            <a:ext cx="4295224" cy="1667060"/>
            <a:chOff x="4752425" y="3812797"/>
            <a:chExt cx="4295224" cy="1667060"/>
          </a:xfrm>
        </p:grpSpPr>
        <p:grpSp>
          <p:nvGrpSpPr>
            <p:cNvPr id="90" name="Group 89"/>
            <p:cNvGrpSpPr/>
            <p:nvPr/>
          </p:nvGrpSpPr>
          <p:grpSpPr>
            <a:xfrm>
              <a:off x="4752425" y="3812797"/>
              <a:ext cx="4295224" cy="1667060"/>
              <a:chOff x="4752426" y="2216935"/>
              <a:chExt cx="3977839" cy="1667060"/>
            </a:xfrm>
          </p:grpSpPr>
          <p:sp>
            <p:nvSpPr>
              <p:cNvPr id="91" name="Text Box 6"/>
              <p:cNvSpPr txBox="1">
                <a:spLocks noChangeArrowheads="1"/>
              </p:cNvSpPr>
              <p:nvPr/>
            </p:nvSpPr>
            <p:spPr bwMode="auto">
              <a:xfrm>
                <a:off x="6345520" y="2216935"/>
                <a:ext cx="689992" cy="2568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-     +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Flowchart: Decision 91"/>
              <p:cNvSpPr/>
              <p:nvPr/>
            </p:nvSpPr>
            <p:spPr>
              <a:xfrm>
                <a:off x="6361991" y="2436195"/>
                <a:ext cx="457200" cy="226289"/>
              </a:xfrm>
              <a:prstGeom prst="flowChartDecisio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 Box 2"/>
              <p:cNvSpPr txBox="1">
                <a:spLocks noChangeArrowheads="1"/>
              </p:cNvSpPr>
              <p:nvPr/>
            </p:nvSpPr>
            <p:spPr bwMode="auto">
              <a:xfrm>
                <a:off x="7567446" y="2222326"/>
                <a:ext cx="421028" cy="2942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 a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Freeform 93"/>
              <p:cNvSpPr>
                <a:spLocks/>
              </p:cNvSpPr>
              <p:nvPr/>
            </p:nvSpPr>
            <p:spPr bwMode="auto">
              <a:xfrm rot="5400000">
                <a:off x="5776013" y="3141827"/>
                <a:ext cx="541888" cy="1723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95" name="Straight Connector 94"/>
              <p:cNvCxnSpPr/>
              <p:nvPr/>
            </p:nvCxnSpPr>
            <p:spPr>
              <a:xfrm>
                <a:off x="6057191" y="2549973"/>
                <a:ext cx="0" cy="4478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6044665" y="3385028"/>
                <a:ext cx="0" cy="4478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Freeform 96"/>
              <p:cNvSpPr>
                <a:spLocks/>
              </p:cNvSpPr>
              <p:nvPr/>
            </p:nvSpPr>
            <p:spPr bwMode="auto">
              <a:xfrm rot="5400000">
                <a:off x="6766860" y="3141827"/>
                <a:ext cx="541888" cy="1723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98" name="Straight Connector 97"/>
              <p:cNvCxnSpPr/>
              <p:nvPr/>
            </p:nvCxnSpPr>
            <p:spPr>
              <a:xfrm>
                <a:off x="7048038" y="2549973"/>
                <a:ext cx="0" cy="4478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7035512" y="3385028"/>
                <a:ext cx="0" cy="4478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 Box 2"/>
              <p:cNvSpPr txBox="1">
                <a:spLocks noChangeArrowheads="1"/>
              </p:cNvSpPr>
              <p:nvPr/>
            </p:nvSpPr>
            <p:spPr bwMode="auto">
              <a:xfrm>
                <a:off x="7528992" y="3486209"/>
                <a:ext cx="551044" cy="29151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 b</a:t>
                </a: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7613897" y="2511761"/>
                <a:ext cx="120482" cy="1131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7631288" y="3770850"/>
                <a:ext cx="120482" cy="1131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ext Box 6"/>
              <p:cNvSpPr txBox="1">
                <a:spLocks noChangeArrowheads="1"/>
              </p:cNvSpPr>
              <p:nvPr/>
            </p:nvSpPr>
            <p:spPr bwMode="auto">
              <a:xfrm>
                <a:off x="7814603" y="2916343"/>
                <a:ext cx="915662" cy="4328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nm</a:t>
                </a: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=10 A</a:t>
                </a:r>
                <a:endParaRPr lang="en-US" baseline="-25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Text Box 6"/>
              <p:cNvSpPr txBox="1">
                <a:spLocks noChangeArrowheads="1"/>
              </p:cNvSpPr>
              <p:nvPr/>
            </p:nvSpPr>
            <p:spPr bwMode="auto">
              <a:xfrm>
                <a:off x="6179319" y="3106815"/>
                <a:ext cx="365343" cy="24239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4</a:t>
                </a:r>
                <a:r>
                  <a:rPr lang="en-US">
                    <a:effectLst/>
                    <a:latin typeface="VNI-Times" pitchFamily="2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Text Box 6"/>
              <p:cNvSpPr txBox="1">
                <a:spLocks noChangeArrowheads="1"/>
              </p:cNvSpPr>
              <p:nvPr/>
            </p:nvSpPr>
            <p:spPr bwMode="auto">
              <a:xfrm>
                <a:off x="7197441" y="3106814"/>
                <a:ext cx="365343" cy="24239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6</a:t>
                </a:r>
                <a:r>
                  <a:rPr lang="en-US">
                    <a:effectLst/>
                    <a:latin typeface="VNI-Times" pitchFamily="2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Text Box 6"/>
              <p:cNvSpPr txBox="1">
                <a:spLocks noChangeArrowheads="1"/>
              </p:cNvSpPr>
              <p:nvPr/>
            </p:nvSpPr>
            <p:spPr bwMode="auto">
              <a:xfrm>
                <a:off x="4752426" y="3134898"/>
                <a:ext cx="466565" cy="2602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10A</a:t>
                </a:r>
                <a:endPara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Text Box 6"/>
              <p:cNvSpPr txBox="1">
                <a:spLocks noChangeArrowheads="1"/>
              </p:cNvSpPr>
              <p:nvPr/>
            </p:nvSpPr>
            <p:spPr bwMode="auto">
              <a:xfrm>
                <a:off x="6338990" y="2685558"/>
                <a:ext cx="709048" cy="3122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2I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(V)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en-US" baseline="-25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8" name="Straight Arrow Connector 107"/>
              <p:cNvCxnSpPr/>
              <p:nvPr/>
            </p:nvCxnSpPr>
            <p:spPr>
              <a:xfrm>
                <a:off x="7136517" y="2660506"/>
                <a:ext cx="0" cy="3122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 Box 6"/>
              <p:cNvSpPr txBox="1">
                <a:spLocks noChangeArrowheads="1"/>
              </p:cNvSpPr>
              <p:nvPr/>
            </p:nvSpPr>
            <p:spPr bwMode="auto">
              <a:xfrm>
                <a:off x="7200191" y="2702373"/>
                <a:ext cx="200056" cy="3122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baseline="-25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Freeform 109"/>
              <p:cNvSpPr/>
              <p:nvPr/>
            </p:nvSpPr>
            <p:spPr>
              <a:xfrm>
                <a:off x="5373666" y="2567835"/>
                <a:ext cx="2367419" cy="1265011"/>
              </a:xfrm>
              <a:custGeom>
                <a:avLst/>
                <a:gdLst>
                  <a:gd name="connsiteX0" fmla="*/ 2317315 w 2367419"/>
                  <a:gd name="connsiteY0" fmla="*/ 0 h 1240076"/>
                  <a:gd name="connsiteX1" fmla="*/ 0 w 2367419"/>
                  <a:gd name="connsiteY1" fmla="*/ 0 h 1240076"/>
                  <a:gd name="connsiteX2" fmla="*/ 0 w 2367419"/>
                  <a:gd name="connsiteY2" fmla="*/ 1240076 h 1240076"/>
                  <a:gd name="connsiteX3" fmla="*/ 2367419 w 2367419"/>
                  <a:gd name="connsiteY3" fmla="*/ 1240076 h 1240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7419" h="1240076">
                    <a:moveTo>
                      <a:pt x="2317315" y="0"/>
                    </a:moveTo>
                    <a:lnTo>
                      <a:pt x="0" y="0"/>
                    </a:lnTo>
                    <a:lnTo>
                      <a:pt x="0" y="1240076"/>
                    </a:lnTo>
                    <a:lnTo>
                      <a:pt x="2367419" y="124007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5218991" y="3138114"/>
                <a:ext cx="317643" cy="314575"/>
                <a:chOff x="1828800" y="4245741"/>
                <a:chExt cx="317643" cy="314575"/>
              </a:xfrm>
            </p:grpSpPr>
            <p:sp>
              <p:nvSpPr>
                <p:cNvPr id="112" name="Oval 111"/>
                <p:cNvSpPr>
                  <a:spLocks noChangeArrowheads="1"/>
                </p:cNvSpPr>
                <p:nvPr/>
              </p:nvSpPr>
              <p:spPr bwMode="auto">
                <a:xfrm>
                  <a:off x="1828800" y="4245741"/>
                  <a:ext cx="317643" cy="3145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13" name="Straight Connector 112"/>
                <p:cNvCxnSpPr>
                  <a:cxnSpLocks noChangeShapeType="1"/>
                </p:cNvCxnSpPr>
                <p:nvPr/>
              </p:nvCxnSpPr>
              <p:spPr bwMode="auto">
                <a:xfrm flipV="1">
                  <a:off x="1991699" y="4286211"/>
                  <a:ext cx="0" cy="2165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cxnSp>
          <p:nvCxnSpPr>
            <p:cNvPr id="18" name="Straight Connector 17"/>
            <p:cNvCxnSpPr>
              <a:stCxn id="101" idx="4"/>
              <a:endCxn id="102" idx="4"/>
            </p:cNvCxnSpPr>
            <p:nvPr/>
          </p:nvCxnSpPr>
          <p:spPr>
            <a:xfrm>
              <a:off x="7907256" y="4220768"/>
              <a:ext cx="18778" cy="12590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7907255" y="4552931"/>
              <a:ext cx="9390" cy="39214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Down Arrow 22"/>
          <p:cNvSpPr/>
          <p:nvPr/>
        </p:nvSpPr>
        <p:spPr>
          <a:xfrm>
            <a:off x="6544662" y="2301034"/>
            <a:ext cx="503376" cy="518366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5730242" y="2838019"/>
            <a:ext cx="3286218" cy="1703765"/>
            <a:chOff x="5755294" y="2286000"/>
            <a:chExt cx="3286218" cy="1703765"/>
          </a:xfrm>
        </p:grpSpPr>
        <p:sp>
          <p:nvSpPr>
            <p:cNvPr id="145" name="Text Box 2"/>
            <p:cNvSpPr txBox="1">
              <a:spLocks noChangeArrowheads="1"/>
            </p:cNvSpPr>
            <p:nvPr/>
          </p:nvSpPr>
          <p:spPr bwMode="auto">
            <a:xfrm>
              <a:off x="5755294" y="2904631"/>
              <a:ext cx="361007" cy="803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</a:pPr>
              <a:r>
                <a: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spcBef>
                  <a:spcPts val="0"/>
                </a:spcBef>
              </a:pPr>
              <a:endParaRPr lang="en-US" sz="2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</a:pPr>
              <a:r>
                <a: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117" name="Text Box 2"/>
            <p:cNvSpPr txBox="1">
              <a:spLocks noChangeArrowheads="1"/>
            </p:cNvSpPr>
            <p:nvPr/>
          </p:nvSpPr>
          <p:spPr bwMode="auto">
            <a:xfrm>
              <a:off x="7370110" y="2324413"/>
              <a:ext cx="361007" cy="299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Box 6"/>
            <p:cNvSpPr txBox="1">
              <a:spLocks noChangeArrowheads="1"/>
            </p:cNvSpPr>
            <p:nvPr/>
          </p:nvSpPr>
          <p:spPr bwMode="auto">
            <a:xfrm>
              <a:off x="7907662" y="2286000"/>
              <a:ext cx="365343" cy="2423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7</a:t>
              </a:r>
              <a:r>
                <a:rPr lang="en-US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Freeform 119"/>
            <p:cNvSpPr>
              <a:spLocks/>
            </p:cNvSpPr>
            <p:nvPr/>
          </p:nvSpPr>
          <p:spPr bwMode="auto">
            <a:xfrm rot="5400000">
              <a:off x="8232018" y="3313372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1" name="Freeform 120"/>
            <p:cNvSpPr>
              <a:spLocks/>
            </p:cNvSpPr>
            <p:nvPr/>
          </p:nvSpPr>
          <p:spPr bwMode="auto">
            <a:xfrm rot="10800000">
              <a:off x="7731117" y="2604595"/>
              <a:ext cx="541888" cy="172373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8255122" y="2693321"/>
              <a:ext cx="263046" cy="488515"/>
            </a:xfrm>
            <a:custGeom>
              <a:avLst/>
              <a:gdLst>
                <a:gd name="connsiteX0" fmla="*/ 0 w 263046"/>
                <a:gd name="connsiteY0" fmla="*/ 25052 h 488515"/>
                <a:gd name="connsiteX1" fmla="*/ 263046 w 263046"/>
                <a:gd name="connsiteY1" fmla="*/ 0 h 488515"/>
                <a:gd name="connsiteX2" fmla="*/ 250520 w 263046"/>
                <a:gd name="connsiteY2" fmla="*/ 488515 h 488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046" h="488515">
                  <a:moveTo>
                    <a:pt x="0" y="25052"/>
                  </a:moveTo>
                  <a:lnTo>
                    <a:pt x="263046" y="0"/>
                  </a:lnTo>
                  <a:lnTo>
                    <a:pt x="250520" y="48851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 Box 2"/>
            <p:cNvSpPr txBox="1">
              <a:spLocks noChangeArrowheads="1"/>
            </p:cNvSpPr>
            <p:nvPr/>
          </p:nvSpPr>
          <p:spPr bwMode="auto">
            <a:xfrm>
              <a:off x="7430131" y="3554401"/>
              <a:ext cx="361007" cy="299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1" name="Oval 130"/>
            <p:cNvSpPr/>
            <p:nvPr/>
          </p:nvSpPr>
          <p:spPr>
            <a:xfrm>
              <a:off x="7480235" y="2642583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/>
            <p:cNvSpPr/>
            <p:nvPr/>
          </p:nvSpPr>
          <p:spPr>
            <a:xfrm>
              <a:off x="7532427" y="3876620"/>
              <a:ext cx="120482" cy="1131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 Box 6"/>
            <p:cNvSpPr txBox="1">
              <a:spLocks noChangeArrowheads="1"/>
            </p:cNvSpPr>
            <p:nvPr/>
          </p:nvSpPr>
          <p:spPr bwMode="auto">
            <a:xfrm>
              <a:off x="8642243" y="3237637"/>
              <a:ext cx="399269" cy="432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 Box 6"/>
            <p:cNvSpPr txBox="1">
              <a:spLocks noChangeArrowheads="1"/>
            </p:cNvSpPr>
            <p:nvPr/>
          </p:nvSpPr>
          <p:spPr bwMode="auto">
            <a:xfrm>
              <a:off x="6301493" y="3263763"/>
              <a:ext cx="517697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hm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0" name="Straight Arrow Connector 139"/>
            <p:cNvCxnSpPr/>
            <p:nvPr/>
          </p:nvCxnSpPr>
          <p:spPr>
            <a:xfrm>
              <a:off x="8581838" y="2794587"/>
              <a:ext cx="0" cy="312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 Box 6"/>
            <p:cNvSpPr txBox="1">
              <a:spLocks noChangeArrowheads="1"/>
            </p:cNvSpPr>
            <p:nvPr/>
          </p:nvSpPr>
          <p:spPr bwMode="auto">
            <a:xfrm>
              <a:off x="8645511" y="2836454"/>
              <a:ext cx="396001" cy="312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062597" y="2680571"/>
              <a:ext cx="2455569" cy="1235954"/>
            </a:xfrm>
            <a:custGeom>
              <a:avLst/>
              <a:gdLst>
                <a:gd name="connsiteX0" fmla="*/ 1691014 w 2467628"/>
                <a:gd name="connsiteY0" fmla="*/ 0 h 1327759"/>
                <a:gd name="connsiteX1" fmla="*/ 0 w 2467628"/>
                <a:gd name="connsiteY1" fmla="*/ 0 h 1327759"/>
                <a:gd name="connsiteX2" fmla="*/ 0 w 2467628"/>
                <a:gd name="connsiteY2" fmla="*/ 1327759 h 1327759"/>
                <a:gd name="connsiteX3" fmla="*/ 2467628 w 2467628"/>
                <a:gd name="connsiteY3" fmla="*/ 1327759 h 1327759"/>
                <a:gd name="connsiteX4" fmla="*/ 2467628 w 2467628"/>
                <a:gd name="connsiteY4" fmla="*/ 964504 h 1327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7628" h="1327759">
                  <a:moveTo>
                    <a:pt x="1691014" y="0"/>
                  </a:moveTo>
                  <a:lnTo>
                    <a:pt x="0" y="0"/>
                  </a:lnTo>
                  <a:lnTo>
                    <a:pt x="0" y="1327759"/>
                  </a:lnTo>
                  <a:lnTo>
                    <a:pt x="2467628" y="1327759"/>
                  </a:lnTo>
                  <a:lnTo>
                    <a:pt x="2467628" y="96450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44662" y="2598234"/>
              <a:ext cx="490850" cy="1766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863650" y="3187876"/>
              <a:ext cx="384750" cy="384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 Box 6"/>
            <p:cNvSpPr txBox="1">
              <a:spLocks noChangeArrowheads="1"/>
            </p:cNvSpPr>
            <p:nvPr/>
          </p:nvSpPr>
          <p:spPr bwMode="auto">
            <a:xfrm>
              <a:off x="6690516" y="2800389"/>
              <a:ext cx="399269" cy="2934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</a:t>
              </a:r>
              <a:endParaRPr lang="en-US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46" name="Object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972773"/>
              </p:ext>
            </p:extLst>
          </p:nvPr>
        </p:nvGraphicFramePr>
        <p:xfrm>
          <a:off x="5965824" y="4886325"/>
          <a:ext cx="2527175" cy="795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393480" progId="Equation.DSMT4">
                  <p:embed/>
                </p:oleObj>
              </mc:Choice>
              <mc:Fallback>
                <p:oleObj name="Equation" r:id="rId3" imgW="1320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4" y="4886325"/>
                        <a:ext cx="2527175" cy="795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>
            <a:endCxn id="78" idx="2"/>
          </p:cNvCxnSpPr>
          <p:nvPr/>
        </p:nvCxnSpPr>
        <p:spPr>
          <a:xfrm flipH="1" flipV="1">
            <a:off x="3862666" y="2656274"/>
            <a:ext cx="1851966" cy="1086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Object 1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216641"/>
              </p:ext>
            </p:extLst>
          </p:nvPr>
        </p:nvGraphicFramePr>
        <p:xfrm>
          <a:off x="3722688" y="3529013"/>
          <a:ext cx="159067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529013"/>
                        <a:ext cx="1590675" cy="671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178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8942</TotalTime>
  <Words>1900</Words>
  <Application>Microsoft Office PowerPoint</Application>
  <PresentationFormat>On-screen Show (4:3)</PresentationFormat>
  <Paragraphs>393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</vt:lpstr>
      <vt:lpstr>Calibri</vt:lpstr>
      <vt:lpstr>Franklin Gothic Book</vt:lpstr>
      <vt:lpstr>Perpetua</vt:lpstr>
      <vt:lpstr>Times New Roman</vt:lpstr>
      <vt:lpstr>VNI-Times</vt:lpstr>
      <vt:lpstr>Wingdings</vt:lpstr>
      <vt:lpstr>Wingdings 2</vt:lpstr>
      <vt:lpstr>Equity</vt:lpstr>
      <vt:lpstr>Equation</vt:lpstr>
      <vt:lpstr>MathType 6.0 Equation</vt:lpstr>
      <vt:lpstr>Chương 3: CÁC PHƯƠNG PHÁP PHÂN TÍCH MẠCH</vt:lpstr>
      <vt:lpstr>Phương pháp Điện thế nút thường áp dụng cho mạch có nhiều nhánh mắc song song giữa các nút, không ghép hỗ cảm.</vt:lpstr>
      <vt:lpstr>PowerPoint Presentation</vt:lpstr>
      <vt:lpstr>PowerPoint Presentation</vt:lpstr>
      <vt:lpstr>PowerPoint Presentation</vt:lpstr>
      <vt:lpstr>Các bước tiến hành theo p/p Điện thế nút: </vt:lpstr>
      <vt:lpstr>PowerPoint Presentation</vt:lpstr>
      <vt:lpstr>PowerPoint Presentation</vt:lpstr>
      <vt:lpstr>Phương pháp Dòng điện vòng thường áp dụng cho mạch có ít số vòng.</vt:lpstr>
      <vt:lpstr>PowerPoint Presentation</vt:lpstr>
      <vt:lpstr>Các bước tiến hành theo p/p Dòng điện vòng: </vt:lpstr>
      <vt:lpstr>PowerPoint Presentation</vt:lpstr>
      <vt:lpstr>PowerPoint Presentation</vt:lpstr>
      <vt:lpstr>PowerPoint Presentation</vt:lpstr>
      <vt:lpstr>3.3 NGUYÊN LÝ XẾP CHỒNG VÀ TỶ LỆ</vt:lpstr>
      <vt:lpstr>PowerPoint Presentation</vt:lpstr>
      <vt:lpstr>PowerPoint Presentation</vt:lpstr>
      <vt:lpstr>PowerPoint Presentation</vt:lpstr>
      <vt:lpstr>3.4 ĐỊNH LÝ VỀ NGUỒN TƯƠNG ĐƯƠNG</vt:lpstr>
      <vt:lpstr>PowerPoint Presentation</vt:lpstr>
      <vt:lpstr>XÁC ĐỊNH ĐIỆN ÁP HỞ MẠCH &amp; DÒNG ĐIỆN NGẮN MẠCH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350</cp:revision>
  <dcterms:created xsi:type="dcterms:W3CDTF">2012-02-20T01:11:37Z</dcterms:created>
  <dcterms:modified xsi:type="dcterms:W3CDTF">2024-03-26T09:13:47Z</dcterms:modified>
</cp:coreProperties>
</file>