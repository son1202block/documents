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2"/>
  </p:notesMasterIdLst>
  <p:sldIdLst>
    <p:sldId id="295" r:id="rId2"/>
    <p:sldId id="28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11" r:id="rId13"/>
    <p:sldId id="305" r:id="rId14"/>
    <p:sldId id="306" r:id="rId15"/>
    <p:sldId id="307" r:id="rId16"/>
    <p:sldId id="308" r:id="rId17"/>
    <p:sldId id="310" r:id="rId18"/>
    <p:sldId id="309" r:id="rId19"/>
    <p:sldId id="312" r:id="rId20"/>
    <p:sldId id="317" r:id="rId21"/>
    <p:sldId id="318" r:id="rId22"/>
    <p:sldId id="313" r:id="rId23"/>
    <p:sldId id="314" r:id="rId24"/>
    <p:sldId id="319" r:id="rId25"/>
    <p:sldId id="315" r:id="rId26"/>
    <p:sldId id="316" r:id="rId27"/>
    <p:sldId id="320" r:id="rId28"/>
    <p:sldId id="321" r:id="rId29"/>
    <p:sldId id="322" r:id="rId30"/>
    <p:sldId id="323" r:id="rId31"/>
    <p:sldId id="362" r:id="rId32"/>
    <p:sldId id="363" r:id="rId33"/>
    <p:sldId id="324" r:id="rId34"/>
    <p:sldId id="358" r:id="rId35"/>
    <p:sldId id="365" r:id="rId36"/>
    <p:sldId id="359" r:id="rId37"/>
    <p:sldId id="364" r:id="rId38"/>
    <p:sldId id="366" r:id="rId39"/>
    <p:sldId id="368" r:id="rId40"/>
    <p:sldId id="367" r:id="rId41"/>
    <p:sldId id="361" r:id="rId42"/>
    <p:sldId id="373" r:id="rId43"/>
    <p:sldId id="374" r:id="rId44"/>
    <p:sldId id="375" r:id="rId45"/>
    <p:sldId id="376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70" r:id="rId57"/>
    <p:sldId id="335" r:id="rId58"/>
    <p:sldId id="369" r:id="rId59"/>
    <p:sldId id="336" r:id="rId60"/>
    <p:sldId id="337" r:id="rId61"/>
    <p:sldId id="338" r:id="rId62"/>
    <p:sldId id="339" r:id="rId63"/>
    <p:sldId id="340" r:id="rId64"/>
    <p:sldId id="341" r:id="rId65"/>
    <p:sldId id="342" r:id="rId66"/>
    <p:sldId id="343" r:id="rId67"/>
    <p:sldId id="344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  <p:sldId id="354" r:id="rId78"/>
    <p:sldId id="355" r:id="rId79"/>
    <p:sldId id="356" r:id="rId80"/>
    <p:sldId id="357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0000FF"/>
    <a:srgbClr val="CC00CC"/>
    <a:srgbClr val="CC00FF"/>
    <a:srgbClr val="FF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63" autoAdjust="0"/>
    <p:restoredTop sz="94799" autoAdjust="0"/>
  </p:normalViewPr>
  <p:slideViewPr>
    <p:cSldViewPr>
      <p:cViewPr varScale="1">
        <p:scale>
          <a:sx n="82" d="100"/>
          <a:sy n="82" d="100"/>
        </p:scale>
        <p:origin x="14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4AFFA-AB63-47FD-BF3D-6CDA75445A21}" type="datetimeFigureOut">
              <a:rPr lang="en-US" smtClean="0"/>
              <a:pPr/>
              <a:t>1/1/2023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B820-7C1D-42E1-9512-9CE160CEC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18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11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8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26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93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16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22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75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38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61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90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25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2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84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13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85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28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11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01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421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05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60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46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83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44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527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970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5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54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59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891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176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630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630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938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938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38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867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516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026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615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724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AFA94-F0C1-4122-B3F1-44021C17C79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254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PTIT-Electronics Group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613CB5-A61C-409F-A95F-034B6A5C56B2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FA80-52C6-4AC9-ADBB-03E203705681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4433B-CF42-4D03-9A8C-76DBEDE0C20A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162B6-CBF5-47FC-868E-C9E7E229601B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04E2D-BB35-4BA9-A45F-AEEA58B29E15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935E-B893-4D38-8044-9A8C0C6AAEA2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4E692-EE82-4607-826B-E8494E57BE16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0F23-2573-4F05-944D-D3A5B1707F50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164F-242B-4D1D-9305-0C9C4AD5B5AC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9A31-5578-4DC2-8045-7668649757D6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4684-D1CF-410D-96AD-33ECD0003847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B7631-D7B9-4CC3-AA97-502F50945F12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D8B14-6D47-436B-8C0C-EDDA7371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7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520A8-B470-4BF1-B9D5-F05452D900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AA668A9-1A9B-4A0C-BD82-EA2F63276669}" type="datetime1">
              <a:rPr lang="en-US" smtClean="0"/>
              <a:pPr/>
              <a:t>1/1/2023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7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1.wmf"/><Relationship Id="rId26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24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26.w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19.wmf"/><Relationship Id="rId22" Type="http://schemas.openxmlformats.org/officeDocument/2006/relationships/image" Target="../media/image23.wmf"/><Relationship Id="rId27" Type="http://schemas.openxmlformats.org/officeDocument/2006/relationships/oleObject" Target="../embeddings/oleObject3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40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28.wmf"/><Relationship Id="rId22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19.wmf"/><Relationship Id="rId26" Type="http://schemas.openxmlformats.org/officeDocument/2006/relationships/image" Target="../media/image40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.wmf"/><Relationship Id="rId20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39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41.wmf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7.wmf"/><Relationship Id="rId22" Type="http://schemas.openxmlformats.org/officeDocument/2006/relationships/image" Target="../media/image38.wmf"/><Relationship Id="rId27" Type="http://schemas.openxmlformats.org/officeDocument/2006/relationships/oleObject" Target="../embeddings/oleObject5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63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55.wmf"/><Relationship Id="rId26" Type="http://schemas.openxmlformats.org/officeDocument/2006/relationships/image" Target="../media/image56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4.wmf"/><Relationship Id="rId20" Type="http://schemas.openxmlformats.org/officeDocument/2006/relationships/image" Target="../media/image6.wmf"/><Relationship Id="rId29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2.w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28" Type="http://schemas.openxmlformats.org/officeDocument/2006/relationships/oleObject" Target="../embeddings/oleObject79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74.bin"/><Relationship Id="rId31" Type="http://schemas.openxmlformats.org/officeDocument/2006/relationships/image" Target="../media/image57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53.wmf"/><Relationship Id="rId22" Type="http://schemas.openxmlformats.org/officeDocument/2006/relationships/image" Target="../media/image7.wmf"/><Relationship Id="rId27" Type="http://schemas.openxmlformats.org/officeDocument/2006/relationships/oleObject" Target="../embeddings/oleObject78.bin"/><Relationship Id="rId30" Type="http://schemas.openxmlformats.org/officeDocument/2006/relationships/oleObject" Target="../embeddings/oleObject8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61.wmf"/><Relationship Id="rId26" Type="http://schemas.openxmlformats.org/officeDocument/2006/relationships/image" Target="../media/image57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3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0.wmf"/><Relationship Id="rId20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2.w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59.wmf"/><Relationship Id="rId22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69.wmf"/><Relationship Id="rId26" Type="http://schemas.openxmlformats.org/officeDocument/2006/relationships/image" Target="../media/image71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8.wmf"/><Relationship Id="rId20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70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102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67.wmf"/><Relationship Id="rId22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79.wmf"/><Relationship Id="rId26" Type="http://schemas.openxmlformats.org/officeDocument/2006/relationships/image" Target="../media/image7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8.wmf"/><Relationship Id="rId20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6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80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.wmf"/><Relationship Id="rId20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86.wmf"/><Relationship Id="rId22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9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9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4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46.bin"/><Relationship Id="rId18" Type="http://schemas.openxmlformats.org/officeDocument/2006/relationships/oleObject" Target="../embeddings/oleObject150.bin"/><Relationship Id="rId26" Type="http://schemas.openxmlformats.org/officeDocument/2006/relationships/image" Target="../media/image106.wmf"/><Relationship Id="rId3" Type="http://schemas.openxmlformats.org/officeDocument/2006/relationships/oleObject" Target="../embeddings/oleObject141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49.bin"/><Relationship Id="rId25" Type="http://schemas.openxmlformats.org/officeDocument/2006/relationships/oleObject" Target="../embeddings/oleObject154.bin"/><Relationship Id="rId2" Type="http://schemas.openxmlformats.org/officeDocument/2006/relationships/notesSlide" Target="../notesSlides/notesSlide18.xml"/><Relationship Id="rId16" Type="http://schemas.openxmlformats.org/officeDocument/2006/relationships/oleObject" Target="../embeddings/oleObject148.bin"/><Relationship Id="rId20" Type="http://schemas.openxmlformats.org/officeDocument/2006/relationships/image" Target="../media/image10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05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3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02.wmf"/><Relationship Id="rId22" Type="http://schemas.openxmlformats.org/officeDocument/2006/relationships/image" Target="../media/image10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0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13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1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19.wmf"/><Relationship Id="rId26" Type="http://schemas.openxmlformats.org/officeDocument/2006/relationships/oleObject" Target="../embeddings/oleObject175.bin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70.bin"/><Relationship Id="rId25" Type="http://schemas.openxmlformats.org/officeDocument/2006/relationships/oleObject" Target="../embeddings/oleObject174.bin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7.wmf"/><Relationship Id="rId20" Type="http://schemas.openxmlformats.org/officeDocument/2006/relationships/image" Target="../media/image120.wmf"/><Relationship Id="rId29" Type="http://schemas.openxmlformats.org/officeDocument/2006/relationships/oleObject" Target="../embeddings/oleObject17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22.wmf"/><Relationship Id="rId32" Type="http://schemas.openxmlformats.org/officeDocument/2006/relationships/oleObject" Target="../embeddings/oleObject179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28" Type="http://schemas.openxmlformats.org/officeDocument/2006/relationships/oleObject" Target="../embeddings/oleObject176.bin"/><Relationship Id="rId10" Type="http://schemas.openxmlformats.org/officeDocument/2006/relationships/image" Target="../media/image2.wmf"/><Relationship Id="rId19" Type="http://schemas.openxmlformats.org/officeDocument/2006/relationships/oleObject" Target="../embeddings/oleObject171.bin"/><Relationship Id="rId31" Type="http://schemas.openxmlformats.org/officeDocument/2006/relationships/oleObject" Target="../embeddings/oleObject178.bin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6.wmf"/><Relationship Id="rId22" Type="http://schemas.openxmlformats.org/officeDocument/2006/relationships/image" Target="../media/image121.wmf"/><Relationship Id="rId27" Type="http://schemas.openxmlformats.org/officeDocument/2006/relationships/image" Target="../media/image123.wmf"/><Relationship Id="rId30" Type="http://schemas.openxmlformats.org/officeDocument/2006/relationships/image" Target="../media/image12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29.wmf"/><Relationship Id="rId26" Type="http://schemas.openxmlformats.org/officeDocument/2006/relationships/oleObject" Target="../embeddings/oleObject192.bin"/><Relationship Id="rId3" Type="http://schemas.openxmlformats.org/officeDocument/2006/relationships/oleObject" Target="../embeddings/oleObject180.bin"/><Relationship Id="rId21" Type="http://schemas.openxmlformats.org/officeDocument/2006/relationships/oleObject" Target="../embeddings/oleObject189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87.bin"/><Relationship Id="rId25" Type="http://schemas.openxmlformats.org/officeDocument/2006/relationships/image" Target="../media/image132.wmf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7.wmf"/><Relationship Id="rId20" Type="http://schemas.openxmlformats.org/officeDocument/2006/relationships/image" Target="../media/image130.wmf"/><Relationship Id="rId29" Type="http://schemas.openxmlformats.org/officeDocument/2006/relationships/image" Target="../media/image13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84.bin"/><Relationship Id="rId24" Type="http://schemas.openxmlformats.org/officeDocument/2006/relationships/oleObject" Target="../embeddings/oleObject191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23" Type="http://schemas.openxmlformats.org/officeDocument/2006/relationships/image" Target="../media/image131.wmf"/><Relationship Id="rId28" Type="http://schemas.openxmlformats.org/officeDocument/2006/relationships/oleObject" Target="../embeddings/oleObject193.bin"/><Relationship Id="rId10" Type="http://schemas.openxmlformats.org/officeDocument/2006/relationships/image" Target="../media/image2.wmf"/><Relationship Id="rId19" Type="http://schemas.openxmlformats.org/officeDocument/2006/relationships/oleObject" Target="../embeddings/oleObject188.bin"/><Relationship Id="rId31" Type="http://schemas.openxmlformats.org/officeDocument/2006/relationships/image" Target="../media/image135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190.bin"/><Relationship Id="rId27" Type="http://schemas.openxmlformats.org/officeDocument/2006/relationships/image" Target="../media/image133.wmf"/><Relationship Id="rId30" Type="http://schemas.openxmlformats.org/officeDocument/2006/relationships/oleObject" Target="../embeddings/oleObject19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39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9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204.bin"/><Relationship Id="rId18" Type="http://schemas.openxmlformats.org/officeDocument/2006/relationships/oleObject" Target="../embeddings/oleObject207.bin"/><Relationship Id="rId26" Type="http://schemas.openxmlformats.org/officeDocument/2006/relationships/oleObject" Target="../embeddings/oleObject212.bin"/><Relationship Id="rId3" Type="http://schemas.openxmlformats.org/officeDocument/2006/relationships/oleObject" Target="../embeddings/oleObject199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206.bin"/><Relationship Id="rId25" Type="http://schemas.openxmlformats.org/officeDocument/2006/relationships/image" Target="../media/image120.wmf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7.wmf"/><Relationship Id="rId20" Type="http://schemas.openxmlformats.org/officeDocument/2006/relationships/oleObject" Target="../embeddings/oleObject208.bin"/><Relationship Id="rId29" Type="http://schemas.openxmlformats.org/officeDocument/2006/relationships/oleObject" Target="../embeddings/oleObject21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203.bin"/><Relationship Id="rId24" Type="http://schemas.openxmlformats.org/officeDocument/2006/relationships/oleObject" Target="../embeddings/oleObject211.bin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23" Type="http://schemas.openxmlformats.org/officeDocument/2006/relationships/image" Target="../media/image119.wmf"/><Relationship Id="rId28" Type="http://schemas.openxmlformats.org/officeDocument/2006/relationships/image" Target="../media/image143.wmf"/><Relationship Id="rId10" Type="http://schemas.openxmlformats.org/officeDocument/2006/relationships/image" Target="../media/image2.wmf"/><Relationship Id="rId19" Type="http://schemas.openxmlformats.org/officeDocument/2006/relationships/image" Target="../media/image118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210.bin"/><Relationship Id="rId27" Type="http://schemas.openxmlformats.org/officeDocument/2006/relationships/oleObject" Target="../embeddings/oleObject213.bin"/><Relationship Id="rId30" Type="http://schemas.openxmlformats.org/officeDocument/2006/relationships/image" Target="../media/image14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129.wmf"/><Relationship Id="rId26" Type="http://schemas.openxmlformats.org/officeDocument/2006/relationships/oleObject" Target="../embeddings/oleObject227.bin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24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222.bin"/><Relationship Id="rId25" Type="http://schemas.openxmlformats.org/officeDocument/2006/relationships/image" Target="../media/image133.wmf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7.wmf"/><Relationship Id="rId20" Type="http://schemas.openxmlformats.org/officeDocument/2006/relationships/image" Target="../media/image130.wmf"/><Relationship Id="rId29" Type="http://schemas.openxmlformats.org/officeDocument/2006/relationships/oleObject" Target="../embeddings/oleObject22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219.bin"/><Relationship Id="rId24" Type="http://schemas.openxmlformats.org/officeDocument/2006/relationships/oleObject" Target="../embeddings/oleObject226.bin"/><Relationship Id="rId32" Type="http://schemas.openxmlformats.org/officeDocument/2006/relationships/image" Target="../media/image149.wmf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23" Type="http://schemas.openxmlformats.org/officeDocument/2006/relationships/image" Target="../media/image131.wmf"/><Relationship Id="rId28" Type="http://schemas.openxmlformats.org/officeDocument/2006/relationships/oleObject" Target="../embeddings/oleObject228.bin"/><Relationship Id="rId10" Type="http://schemas.openxmlformats.org/officeDocument/2006/relationships/image" Target="../media/image2.wmf"/><Relationship Id="rId19" Type="http://schemas.openxmlformats.org/officeDocument/2006/relationships/oleObject" Target="../embeddings/oleObject223.bin"/><Relationship Id="rId31" Type="http://schemas.openxmlformats.org/officeDocument/2006/relationships/oleObject" Target="../embeddings/oleObject230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225.bin"/><Relationship Id="rId27" Type="http://schemas.openxmlformats.org/officeDocument/2006/relationships/image" Target="../media/image135.wmf"/><Relationship Id="rId30" Type="http://schemas.openxmlformats.org/officeDocument/2006/relationships/image" Target="../media/image14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156.w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153.wmf"/><Relationship Id="rId17" Type="http://schemas.openxmlformats.org/officeDocument/2006/relationships/oleObject" Target="../embeddings/oleObject238.bin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55.wmf"/><Relationship Id="rId20" Type="http://schemas.openxmlformats.org/officeDocument/2006/relationships/image" Target="../media/image15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152.w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154.wmf"/><Relationship Id="rId22" Type="http://schemas.openxmlformats.org/officeDocument/2006/relationships/image" Target="../media/image15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246.bin"/><Relationship Id="rId18" Type="http://schemas.openxmlformats.org/officeDocument/2006/relationships/image" Target="../media/image151.wmf"/><Relationship Id="rId3" Type="http://schemas.openxmlformats.org/officeDocument/2006/relationships/oleObject" Target="../embeddings/oleObject241.bin"/><Relationship Id="rId21" Type="http://schemas.openxmlformats.org/officeDocument/2006/relationships/oleObject" Target="../embeddings/oleObject250.bin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248.bin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0.wmf"/><Relationship Id="rId20" Type="http://schemas.openxmlformats.org/officeDocument/2006/relationships/image" Target="../media/image16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245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47.bin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249.bin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124.wmf"/><Relationship Id="rId22" Type="http://schemas.openxmlformats.org/officeDocument/2006/relationships/image" Target="../media/image15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256.bin"/><Relationship Id="rId18" Type="http://schemas.openxmlformats.org/officeDocument/2006/relationships/image" Target="../media/image167.wmf"/><Relationship Id="rId3" Type="http://schemas.openxmlformats.org/officeDocument/2006/relationships/oleObject" Target="../embeddings/oleObject251.bin"/><Relationship Id="rId21" Type="http://schemas.openxmlformats.org/officeDocument/2006/relationships/oleObject" Target="../embeddings/oleObject260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153.wmf"/><Relationship Id="rId17" Type="http://schemas.openxmlformats.org/officeDocument/2006/relationships/oleObject" Target="../embeddings/oleObject258.bin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66.wmf"/><Relationship Id="rId20" Type="http://schemas.openxmlformats.org/officeDocument/2006/relationships/image" Target="../media/image16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255.bin"/><Relationship Id="rId24" Type="http://schemas.openxmlformats.org/officeDocument/2006/relationships/image" Target="../media/image170.wmf"/><Relationship Id="rId5" Type="http://schemas.openxmlformats.org/officeDocument/2006/relationships/oleObject" Target="../embeddings/oleObject252.bin"/><Relationship Id="rId15" Type="http://schemas.openxmlformats.org/officeDocument/2006/relationships/oleObject" Target="../embeddings/oleObject257.bin"/><Relationship Id="rId23" Type="http://schemas.openxmlformats.org/officeDocument/2006/relationships/oleObject" Target="../embeddings/oleObject261.bin"/><Relationship Id="rId10" Type="http://schemas.openxmlformats.org/officeDocument/2006/relationships/image" Target="../media/image152.wmf"/><Relationship Id="rId19" Type="http://schemas.openxmlformats.org/officeDocument/2006/relationships/oleObject" Target="../embeddings/oleObject259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254.bin"/><Relationship Id="rId14" Type="http://schemas.openxmlformats.org/officeDocument/2006/relationships/image" Target="../media/image165.wmf"/><Relationship Id="rId22" Type="http://schemas.openxmlformats.org/officeDocument/2006/relationships/image" Target="../media/image16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267.bin"/><Relationship Id="rId18" Type="http://schemas.openxmlformats.org/officeDocument/2006/relationships/image" Target="../media/image173.wmf"/><Relationship Id="rId26" Type="http://schemas.openxmlformats.org/officeDocument/2006/relationships/image" Target="../media/image177.wmf"/><Relationship Id="rId3" Type="http://schemas.openxmlformats.org/officeDocument/2006/relationships/oleObject" Target="../embeddings/oleObject262.bin"/><Relationship Id="rId21" Type="http://schemas.openxmlformats.org/officeDocument/2006/relationships/oleObject" Target="../embeddings/oleObject271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153.wmf"/><Relationship Id="rId17" Type="http://schemas.openxmlformats.org/officeDocument/2006/relationships/oleObject" Target="../embeddings/oleObject269.bin"/><Relationship Id="rId25" Type="http://schemas.openxmlformats.org/officeDocument/2006/relationships/oleObject" Target="../embeddings/oleObject273.bin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266.bin"/><Relationship Id="rId24" Type="http://schemas.openxmlformats.org/officeDocument/2006/relationships/image" Target="../media/image176.wmf"/><Relationship Id="rId5" Type="http://schemas.openxmlformats.org/officeDocument/2006/relationships/oleObject" Target="../embeddings/oleObject263.bin"/><Relationship Id="rId15" Type="http://schemas.openxmlformats.org/officeDocument/2006/relationships/oleObject" Target="../embeddings/oleObject268.bin"/><Relationship Id="rId23" Type="http://schemas.openxmlformats.org/officeDocument/2006/relationships/oleObject" Target="../embeddings/oleObject272.bin"/><Relationship Id="rId10" Type="http://schemas.openxmlformats.org/officeDocument/2006/relationships/image" Target="../media/image152.wmf"/><Relationship Id="rId19" Type="http://schemas.openxmlformats.org/officeDocument/2006/relationships/oleObject" Target="../embeddings/oleObject270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171.wmf"/><Relationship Id="rId22" Type="http://schemas.openxmlformats.org/officeDocument/2006/relationships/image" Target="../media/image17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279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274.bin"/><Relationship Id="rId21" Type="http://schemas.openxmlformats.org/officeDocument/2006/relationships/oleObject" Target="../embeddings/oleObject283.bin"/><Relationship Id="rId7" Type="http://schemas.openxmlformats.org/officeDocument/2006/relationships/oleObject" Target="../embeddings/oleObject276.bin"/><Relationship Id="rId12" Type="http://schemas.openxmlformats.org/officeDocument/2006/relationships/image" Target="../media/image153.wmf"/><Relationship Id="rId17" Type="http://schemas.openxmlformats.org/officeDocument/2006/relationships/oleObject" Target="../embeddings/oleObject281.bin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82.wmf"/><Relationship Id="rId20" Type="http://schemas.openxmlformats.org/officeDocument/2006/relationships/image" Target="../media/image18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278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275.bin"/><Relationship Id="rId15" Type="http://schemas.openxmlformats.org/officeDocument/2006/relationships/oleObject" Target="../embeddings/oleObject280.bin"/><Relationship Id="rId23" Type="http://schemas.openxmlformats.org/officeDocument/2006/relationships/oleObject" Target="../embeddings/oleObject284.bin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282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77.bin"/><Relationship Id="rId14" Type="http://schemas.openxmlformats.org/officeDocument/2006/relationships/image" Target="../media/image181.wmf"/><Relationship Id="rId22" Type="http://schemas.openxmlformats.org/officeDocument/2006/relationships/image" Target="../media/image5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image" Target="../media/image190.png"/><Relationship Id="rId3" Type="http://schemas.openxmlformats.org/officeDocument/2006/relationships/oleObject" Target="../embeddings/oleObject285.bin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189.wmf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9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289.bin"/><Relationship Id="rId5" Type="http://schemas.openxmlformats.org/officeDocument/2006/relationships/oleObject" Target="../embeddings/oleObject286.bin"/><Relationship Id="rId15" Type="http://schemas.openxmlformats.org/officeDocument/2006/relationships/oleObject" Target="../embeddings/oleObject290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19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296.bin"/><Relationship Id="rId3" Type="http://schemas.openxmlformats.org/officeDocument/2006/relationships/oleObject" Target="../embeddings/oleObject291.bin"/><Relationship Id="rId7" Type="http://schemas.openxmlformats.org/officeDocument/2006/relationships/oleObject" Target="../embeddings/oleObject293.bin"/><Relationship Id="rId12" Type="http://schemas.openxmlformats.org/officeDocument/2006/relationships/image" Target="../media/image197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95.bin"/><Relationship Id="rId5" Type="http://schemas.openxmlformats.org/officeDocument/2006/relationships/oleObject" Target="../embeddings/oleObject292.bin"/><Relationship Id="rId10" Type="http://schemas.openxmlformats.org/officeDocument/2006/relationships/image" Target="../media/image196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9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305.bin"/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302.bin"/><Relationship Id="rId17" Type="http://schemas.openxmlformats.org/officeDocument/2006/relationships/image" Target="../media/image205.wmf"/><Relationship Id="rId2" Type="http://schemas.openxmlformats.org/officeDocument/2006/relationships/oleObject" Target="../embeddings/oleObject297.bin"/><Relationship Id="rId16" Type="http://schemas.openxmlformats.org/officeDocument/2006/relationships/oleObject" Target="../embeddings/oleObject30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9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10" Type="http://schemas.openxmlformats.org/officeDocument/2006/relationships/oleObject" Target="../embeddings/oleObject301.bin"/><Relationship Id="rId19" Type="http://schemas.openxmlformats.org/officeDocument/2006/relationships/image" Target="../media/image206.wmf"/><Relationship Id="rId4" Type="http://schemas.openxmlformats.org/officeDocument/2006/relationships/oleObject" Target="../embeddings/oleObject298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30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9.bin"/><Relationship Id="rId13" Type="http://schemas.openxmlformats.org/officeDocument/2006/relationships/image" Target="../media/image198.wmf"/><Relationship Id="rId18" Type="http://schemas.openxmlformats.org/officeDocument/2006/relationships/oleObject" Target="../embeddings/oleObject314.bin"/><Relationship Id="rId3" Type="http://schemas.openxmlformats.org/officeDocument/2006/relationships/image" Target="../media/image207.wmf"/><Relationship Id="rId21" Type="http://schemas.openxmlformats.org/officeDocument/2006/relationships/image" Target="../media/image202.wmf"/><Relationship Id="rId7" Type="http://schemas.openxmlformats.org/officeDocument/2006/relationships/image" Target="../media/image209.wmf"/><Relationship Id="rId12" Type="http://schemas.openxmlformats.org/officeDocument/2006/relationships/oleObject" Target="../embeddings/oleObject311.bin"/><Relationship Id="rId17" Type="http://schemas.openxmlformats.org/officeDocument/2006/relationships/image" Target="../media/image200.wmf"/><Relationship Id="rId2" Type="http://schemas.openxmlformats.org/officeDocument/2006/relationships/oleObject" Target="../embeddings/oleObject306.bin"/><Relationship Id="rId16" Type="http://schemas.openxmlformats.org/officeDocument/2006/relationships/oleObject" Target="../embeddings/oleObject313.bin"/><Relationship Id="rId20" Type="http://schemas.openxmlformats.org/officeDocument/2006/relationships/oleObject" Target="../embeddings/oleObject31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8.bin"/><Relationship Id="rId11" Type="http://schemas.openxmlformats.org/officeDocument/2006/relationships/image" Target="../media/image211.wmf"/><Relationship Id="rId5" Type="http://schemas.openxmlformats.org/officeDocument/2006/relationships/image" Target="../media/image208.wmf"/><Relationship Id="rId15" Type="http://schemas.openxmlformats.org/officeDocument/2006/relationships/image" Target="../media/image199.wmf"/><Relationship Id="rId10" Type="http://schemas.openxmlformats.org/officeDocument/2006/relationships/oleObject" Target="../embeddings/oleObject310.bin"/><Relationship Id="rId19" Type="http://schemas.openxmlformats.org/officeDocument/2006/relationships/image" Target="../media/image201.wmf"/><Relationship Id="rId4" Type="http://schemas.openxmlformats.org/officeDocument/2006/relationships/oleObject" Target="../embeddings/oleObject307.bin"/><Relationship Id="rId9" Type="http://schemas.openxmlformats.org/officeDocument/2006/relationships/image" Target="../media/image210.wmf"/><Relationship Id="rId14" Type="http://schemas.openxmlformats.org/officeDocument/2006/relationships/oleObject" Target="../embeddings/oleObject31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18.bin"/><Relationship Id="rId12" Type="http://schemas.openxmlformats.org/officeDocument/2006/relationships/image" Target="../media/image216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320.bin"/><Relationship Id="rId5" Type="http://schemas.openxmlformats.org/officeDocument/2006/relationships/oleObject" Target="../embeddings/oleObject317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31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202.wmf"/><Relationship Id="rId3" Type="http://schemas.openxmlformats.org/officeDocument/2006/relationships/oleObject" Target="../embeddings/oleObject321.bin"/><Relationship Id="rId21" Type="http://schemas.openxmlformats.org/officeDocument/2006/relationships/oleObject" Target="../embeddings/oleObject330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199.wmf"/><Relationship Id="rId17" Type="http://schemas.openxmlformats.org/officeDocument/2006/relationships/oleObject" Target="../embeddings/oleObject328.bin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220.wmf"/><Relationship Id="rId20" Type="http://schemas.openxmlformats.org/officeDocument/2006/relationships/image" Target="../media/image221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325.bin"/><Relationship Id="rId24" Type="http://schemas.openxmlformats.org/officeDocument/2006/relationships/image" Target="../media/image223.wmf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23" Type="http://schemas.openxmlformats.org/officeDocument/2006/relationships/oleObject" Target="../embeddings/oleObject331.bin"/><Relationship Id="rId10" Type="http://schemas.openxmlformats.org/officeDocument/2006/relationships/image" Target="../media/image198.wmf"/><Relationship Id="rId19" Type="http://schemas.openxmlformats.org/officeDocument/2006/relationships/oleObject" Target="../embeddings/oleObject329.bin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200.wmf"/><Relationship Id="rId22" Type="http://schemas.openxmlformats.org/officeDocument/2006/relationships/image" Target="../media/image22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337.bin"/><Relationship Id="rId18" Type="http://schemas.openxmlformats.org/officeDocument/2006/relationships/image" Target="../media/image229.wmf"/><Relationship Id="rId3" Type="http://schemas.openxmlformats.org/officeDocument/2006/relationships/oleObject" Target="../embeddings/oleObject332.bin"/><Relationship Id="rId21" Type="http://schemas.openxmlformats.org/officeDocument/2006/relationships/oleObject" Target="../embeddings/oleObject341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199.wmf"/><Relationship Id="rId17" Type="http://schemas.openxmlformats.org/officeDocument/2006/relationships/oleObject" Target="../embeddings/oleObject339.bin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28.wmf"/><Relationship Id="rId20" Type="http://schemas.openxmlformats.org/officeDocument/2006/relationships/image" Target="../media/image23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5" Type="http://schemas.openxmlformats.org/officeDocument/2006/relationships/oleObject" Target="../embeddings/oleObject338.bin"/><Relationship Id="rId10" Type="http://schemas.openxmlformats.org/officeDocument/2006/relationships/image" Target="../media/image198.wmf"/><Relationship Id="rId19" Type="http://schemas.openxmlformats.org/officeDocument/2006/relationships/oleObject" Target="../embeddings/oleObject340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335.bin"/><Relationship Id="rId14" Type="http://schemas.openxmlformats.org/officeDocument/2006/relationships/image" Target="../media/image227.wmf"/><Relationship Id="rId22" Type="http://schemas.openxmlformats.org/officeDocument/2006/relationships/image" Target="../media/image23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oleObject" Target="../embeddings/oleObject347.bin"/><Relationship Id="rId18" Type="http://schemas.openxmlformats.org/officeDocument/2006/relationships/image" Target="../media/image239.wmf"/><Relationship Id="rId3" Type="http://schemas.openxmlformats.org/officeDocument/2006/relationships/oleObject" Target="../embeddings/oleObject342.bin"/><Relationship Id="rId7" Type="http://schemas.openxmlformats.org/officeDocument/2006/relationships/oleObject" Target="../embeddings/oleObject344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349.bin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238.wmf"/><Relationship Id="rId20" Type="http://schemas.openxmlformats.org/officeDocument/2006/relationships/image" Target="../media/image24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346.bin"/><Relationship Id="rId5" Type="http://schemas.openxmlformats.org/officeDocument/2006/relationships/oleObject" Target="../embeddings/oleObject343.bin"/><Relationship Id="rId15" Type="http://schemas.openxmlformats.org/officeDocument/2006/relationships/oleObject" Target="../embeddings/oleObject348.bin"/><Relationship Id="rId10" Type="http://schemas.openxmlformats.org/officeDocument/2006/relationships/image" Target="../media/image235.wmf"/><Relationship Id="rId19" Type="http://schemas.openxmlformats.org/officeDocument/2006/relationships/oleObject" Target="../embeddings/oleObject350.bin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345.bin"/><Relationship Id="rId14" Type="http://schemas.openxmlformats.org/officeDocument/2006/relationships/image" Target="../media/image23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356.bin"/><Relationship Id="rId3" Type="http://schemas.openxmlformats.org/officeDocument/2006/relationships/oleObject" Target="../embeddings/oleObject351.bin"/><Relationship Id="rId7" Type="http://schemas.openxmlformats.org/officeDocument/2006/relationships/oleObject" Target="../embeddings/oleObject353.bin"/><Relationship Id="rId12" Type="http://schemas.openxmlformats.org/officeDocument/2006/relationships/image" Target="../media/image245.wmf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24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355.bin"/><Relationship Id="rId5" Type="http://schemas.openxmlformats.org/officeDocument/2006/relationships/oleObject" Target="../embeddings/oleObject352.bin"/><Relationship Id="rId15" Type="http://schemas.openxmlformats.org/officeDocument/2006/relationships/oleObject" Target="../embeddings/oleObject357.bin"/><Relationship Id="rId10" Type="http://schemas.openxmlformats.org/officeDocument/2006/relationships/image" Target="../media/image244.wmf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354.bin"/><Relationship Id="rId14" Type="http://schemas.openxmlformats.org/officeDocument/2006/relationships/image" Target="../media/image24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1.bin"/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2" Type="http://schemas.openxmlformats.org/officeDocument/2006/relationships/oleObject" Target="../embeddings/oleObject35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0.bin"/><Relationship Id="rId11" Type="http://schemas.openxmlformats.org/officeDocument/2006/relationships/image" Target="../media/image252.wmf"/><Relationship Id="rId5" Type="http://schemas.openxmlformats.org/officeDocument/2006/relationships/image" Target="../media/image249.wmf"/><Relationship Id="rId10" Type="http://schemas.openxmlformats.org/officeDocument/2006/relationships/oleObject" Target="../embeddings/oleObject362.bin"/><Relationship Id="rId4" Type="http://schemas.openxmlformats.org/officeDocument/2006/relationships/oleObject" Target="../embeddings/oleObject359.bin"/><Relationship Id="rId9" Type="http://schemas.openxmlformats.org/officeDocument/2006/relationships/image" Target="../media/image25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wmf"/><Relationship Id="rId5" Type="http://schemas.openxmlformats.org/officeDocument/2006/relationships/oleObject" Target="../embeddings/oleObject364.bin"/><Relationship Id="rId4" Type="http://schemas.openxmlformats.org/officeDocument/2006/relationships/image" Target="../media/image20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371.bin"/><Relationship Id="rId3" Type="http://schemas.openxmlformats.org/officeDocument/2006/relationships/oleObject" Target="../embeddings/oleObject366.bin"/><Relationship Id="rId7" Type="http://schemas.openxmlformats.org/officeDocument/2006/relationships/oleObject" Target="../embeddings/oleObject368.bin"/><Relationship Id="rId12" Type="http://schemas.openxmlformats.org/officeDocument/2006/relationships/image" Target="../media/image258.wmf"/><Relationship Id="rId17" Type="http://schemas.openxmlformats.org/officeDocument/2006/relationships/image" Target="../media/image61.wmf"/><Relationship Id="rId2" Type="http://schemas.openxmlformats.org/officeDocument/2006/relationships/notesSlide" Target="../notesSlides/notesSlide39.xml"/><Relationship Id="rId16" Type="http://schemas.openxmlformats.org/officeDocument/2006/relationships/oleObject" Target="../embeddings/oleObject37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370.bin"/><Relationship Id="rId5" Type="http://schemas.openxmlformats.org/officeDocument/2006/relationships/oleObject" Target="../embeddings/oleObject367.bin"/><Relationship Id="rId15" Type="http://schemas.openxmlformats.org/officeDocument/2006/relationships/oleObject" Target="../embeddings/oleObject372.bin"/><Relationship Id="rId10" Type="http://schemas.openxmlformats.org/officeDocument/2006/relationships/image" Target="../media/image257.w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369.bin"/><Relationship Id="rId14" Type="http://schemas.openxmlformats.org/officeDocument/2006/relationships/image" Target="../media/image25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379.bin"/><Relationship Id="rId3" Type="http://schemas.openxmlformats.org/officeDocument/2006/relationships/oleObject" Target="../embeddings/oleObject374.bin"/><Relationship Id="rId7" Type="http://schemas.openxmlformats.org/officeDocument/2006/relationships/oleObject" Target="../embeddings/oleObject376.bin"/><Relationship Id="rId12" Type="http://schemas.openxmlformats.org/officeDocument/2006/relationships/image" Target="../media/image264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378.bin"/><Relationship Id="rId5" Type="http://schemas.openxmlformats.org/officeDocument/2006/relationships/oleObject" Target="../embeddings/oleObject375.bin"/><Relationship Id="rId10" Type="http://schemas.openxmlformats.org/officeDocument/2006/relationships/image" Target="../media/image263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377.bin"/><Relationship Id="rId14" Type="http://schemas.openxmlformats.org/officeDocument/2006/relationships/image" Target="../media/image26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oleObject" Target="../embeddings/oleObject380.bin"/><Relationship Id="rId7" Type="http://schemas.openxmlformats.org/officeDocument/2006/relationships/oleObject" Target="../embeddings/oleObject382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wmf"/><Relationship Id="rId5" Type="http://schemas.openxmlformats.org/officeDocument/2006/relationships/oleObject" Target="../embeddings/oleObject381.bin"/><Relationship Id="rId10" Type="http://schemas.openxmlformats.org/officeDocument/2006/relationships/image" Target="../media/image269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383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7.bin"/><Relationship Id="rId13" Type="http://schemas.openxmlformats.org/officeDocument/2006/relationships/image" Target="../media/image275.wmf"/><Relationship Id="rId3" Type="http://schemas.openxmlformats.org/officeDocument/2006/relationships/image" Target="../media/image270.wmf"/><Relationship Id="rId7" Type="http://schemas.openxmlformats.org/officeDocument/2006/relationships/image" Target="../media/image272.wmf"/><Relationship Id="rId12" Type="http://schemas.openxmlformats.org/officeDocument/2006/relationships/oleObject" Target="../embeddings/oleObject389.bin"/><Relationship Id="rId2" Type="http://schemas.openxmlformats.org/officeDocument/2006/relationships/oleObject" Target="../embeddings/oleObject38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6.bin"/><Relationship Id="rId11" Type="http://schemas.openxmlformats.org/officeDocument/2006/relationships/image" Target="../media/image274.wmf"/><Relationship Id="rId5" Type="http://schemas.openxmlformats.org/officeDocument/2006/relationships/image" Target="../media/image271.wmf"/><Relationship Id="rId10" Type="http://schemas.openxmlformats.org/officeDocument/2006/relationships/oleObject" Target="../embeddings/oleObject388.bin"/><Relationship Id="rId4" Type="http://schemas.openxmlformats.org/officeDocument/2006/relationships/oleObject" Target="../embeddings/oleObject385.bin"/><Relationship Id="rId9" Type="http://schemas.openxmlformats.org/officeDocument/2006/relationships/image" Target="../media/image273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13" Type="http://schemas.openxmlformats.org/officeDocument/2006/relationships/oleObject" Target="../embeddings/oleObject395.bin"/><Relationship Id="rId18" Type="http://schemas.openxmlformats.org/officeDocument/2006/relationships/image" Target="../media/image283.wmf"/><Relationship Id="rId3" Type="http://schemas.openxmlformats.org/officeDocument/2006/relationships/oleObject" Target="../embeddings/oleObject390.bin"/><Relationship Id="rId7" Type="http://schemas.openxmlformats.org/officeDocument/2006/relationships/oleObject" Target="../embeddings/oleObject392.bin"/><Relationship Id="rId12" Type="http://schemas.openxmlformats.org/officeDocument/2006/relationships/image" Target="../media/image281.wmf"/><Relationship Id="rId17" Type="http://schemas.openxmlformats.org/officeDocument/2006/relationships/oleObject" Target="../embeddings/oleObject397.bin"/><Relationship Id="rId2" Type="http://schemas.openxmlformats.org/officeDocument/2006/relationships/image" Target="../media/image276.png"/><Relationship Id="rId16" Type="http://schemas.openxmlformats.org/officeDocument/2006/relationships/image" Target="../media/image282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394.bin"/><Relationship Id="rId5" Type="http://schemas.openxmlformats.org/officeDocument/2006/relationships/oleObject" Target="../embeddings/oleObject391.bin"/><Relationship Id="rId15" Type="http://schemas.openxmlformats.org/officeDocument/2006/relationships/oleObject" Target="../embeddings/oleObject396.bin"/><Relationship Id="rId10" Type="http://schemas.openxmlformats.org/officeDocument/2006/relationships/image" Target="../media/image280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393.bin"/><Relationship Id="rId14" Type="http://schemas.openxmlformats.org/officeDocument/2006/relationships/image" Target="../media/image27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1.bin"/><Relationship Id="rId13" Type="http://schemas.openxmlformats.org/officeDocument/2006/relationships/oleObject" Target="../embeddings/oleObject403.bin"/><Relationship Id="rId18" Type="http://schemas.openxmlformats.org/officeDocument/2006/relationships/image" Target="../media/image291.wmf"/><Relationship Id="rId3" Type="http://schemas.openxmlformats.org/officeDocument/2006/relationships/image" Target="../media/image284.wmf"/><Relationship Id="rId7" Type="http://schemas.openxmlformats.org/officeDocument/2006/relationships/image" Target="../media/image286.wmf"/><Relationship Id="rId12" Type="http://schemas.openxmlformats.org/officeDocument/2006/relationships/image" Target="../media/image289.png"/><Relationship Id="rId17" Type="http://schemas.openxmlformats.org/officeDocument/2006/relationships/oleObject" Target="../embeddings/oleObject405.bin"/><Relationship Id="rId2" Type="http://schemas.openxmlformats.org/officeDocument/2006/relationships/oleObject" Target="../embeddings/oleObject398.bin"/><Relationship Id="rId16" Type="http://schemas.openxmlformats.org/officeDocument/2006/relationships/image" Target="../media/image290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00.bin"/><Relationship Id="rId11" Type="http://schemas.openxmlformats.org/officeDocument/2006/relationships/image" Target="../media/image288.wmf"/><Relationship Id="rId5" Type="http://schemas.openxmlformats.org/officeDocument/2006/relationships/image" Target="../media/image285.wmf"/><Relationship Id="rId15" Type="http://schemas.openxmlformats.org/officeDocument/2006/relationships/oleObject" Target="../embeddings/oleObject404.bin"/><Relationship Id="rId10" Type="http://schemas.openxmlformats.org/officeDocument/2006/relationships/oleObject" Target="../embeddings/oleObject402.bin"/><Relationship Id="rId4" Type="http://schemas.openxmlformats.org/officeDocument/2006/relationships/oleObject" Target="../embeddings/oleObject399.bin"/><Relationship Id="rId9" Type="http://schemas.openxmlformats.org/officeDocument/2006/relationships/image" Target="../media/image287.wmf"/><Relationship Id="rId14" Type="http://schemas.openxmlformats.org/officeDocument/2006/relationships/image" Target="../media/image273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3" Type="http://schemas.openxmlformats.org/officeDocument/2006/relationships/oleObject" Target="../embeddings/oleObject406.bin"/><Relationship Id="rId7" Type="http://schemas.openxmlformats.org/officeDocument/2006/relationships/oleObject" Target="../embeddings/oleObject408.bin"/><Relationship Id="rId12" Type="http://schemas.openxmlformats.org/officeDocument/2006/relationships/slide" Target="slide73.xml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wmf"/><Relationship Id="rId11" Type="http://schemas.openxmlformats.org/officeDocument/2006/relationships/image" Target="../media/image289.png"/><Relationship Id="rId5" Type="http://schemas.openxmlformats.org/officeDocument/2006/relationships/oleObject" Target="../embeddings/oleObject407.bin"/><Relationship Id="rId10" Type="http://schemas.openxmlformats.org/officeDocument/2006/relationships/image" Target="../media/image295.wmf"/><Relationship Id="rId4" Type="http://schemas.openxmlformats.org/officeDocument/2006/relationships/image" Target="../media/image292.wmf"/><Relationship Id="rId9" Type="http://schemas.openxmlformats.org/officeDocument/2006/relationships/oleObject" Target="../embeddings/oleObject409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3.bin"/><Relationship Id="rId13" Type="http://schemas.openxmlformats.org/officeDocument/2006/relationships/image" Target="../media/image301.wmf"/><Relationship Id="rId3" Type="http://schemas.openxmlformats.org/officeDocument/2006/relationships/image" Target="../media/image296.wmf"/><Relationship Id="rId7" Type="http://schemas.openxmlformats.org/officeDocument/2006/relationships/image" Target="../media/image298.wmf"/><Relationship Id="rId12" Type="http://schemas.openxmlformats.org/officeDocument/2006/relationships/oleObject" Target="../embeddings/oleObject415.bin"/><Relationship Id="rId17" Type="http://schemas.openxmlformats.org/officeDocument/2006/relationships/image" Target="../media/image303.wmf"/><Relationship Id="rId2" Type="http://schemas.openxmlformats.org/officeDocument/2006/relationships/oleObject" Target="../embeddings/oleObject410.bin"/><Relationship Id="rId16" Type="http://schemas.openxmlformats.org/officeDocument/2006/relationships/oleObject" Target="../embeddings/oleObject4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2.bin"/><Relationship Id="rId11" Type="http://schemas.openxmlformats.org/officeDocument/2006/relationships/image" Target="../media/image300.wmf"/><Relationship Id="rId5" Type="http://schemas.openxmlformats.org/officeDocument/2006/relationships/image" Target="../media/image297.wmf"/><Relationship Id="rId15" Type="http://schemas.openxmlformats.org/officeDocument/2006/relationships/image" Target="../media/image302.wmf"/><Relationship Id="rId10" Type="http://schemas.openxmlformats.org/officeDocument/2006/relationships/oleObject" Target="../embeddings/oleObject414.bin"/><Relationship Id="rId4" Type="http://schemas.openxmlformats.org/officeDocument/2006/relationships/oleObject" Target="../embeddings/oleObject411.bin"/><Relationship Id="rId9" Type="http://schemas.openxmlformats.org/officeDocument/2006/relationships/image" Target="../media/image299.wmf"/><Relationship Id="rId14" Type="http://schemas.openxmlformats.org/officeDocument/2006/relationships/oleObject" Target="../embeddings/oleObject416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oleObject" Target="../embeddings/oleObject423.bin"/><Relationship Id="rId18" Type="http://schemas.openxmlformats.org/officeDocument/2006/relationships/image" Target="../media/image312.wmf"/><Relationship Id="rId3" Type="http://schemas.openxmlformats.org/officeDocument/2006/relationships/oleObject" Target="../embeddings/oleObject418.bin"/><Relationship Id="rId21" Type="http://schemas.openxmlformats.org/officeDocument/2006/relationships/oleObject" Target="../embeddings/oleObject427.bin"/><Relationship Id="rId7" Type="http://schemas.openxmlformats.org/officeDocument/2006/relationships/oleObject" Target="../embeddings/oleObject420.bin"/><Relationship Id="rId12" Type="http://schemas.openxmlformats.org/officeDocument/2006/relationships/image" Target="../media/image309.wmf"/><Relationship Id="rId17" Type="http://schemas.openxmlformats.org/officeDocument/2006/relationships/oleObject" Target="../embeddings/oleObject425.bin"/><Relationship Id="rId2" Type="http://schemas.openxmlformats.org/officeDocument/2006/relationships/image" Target="../media/image304.png"/><Relationship Id="rId16" Type="http://schemas.openxmlformats.org/officeDocument/2006/relationships/image" Target="../media/image311.wmf"/><Relationship Id="rId20" Type="http://schemas.openxmlformats.org/officeDocument/2006/relationships/image" Target="../media/image31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6.wmf"/><Relationship Id="rId11" Type="http://schemas.openxmlformats.org/officeDocument/2006/relationships/oleObject" Target="../embeddings/oleObject422.bin"/><Relationship Id="rId24" Type="http://schemas.openxmlformats.org/officeDocument/2006/relationships/image" Target="../media/image315.wmf"/><Relationship Id="rId5" Type="http://schemas.openxmlformats.org/officeDocument/2006/relationships/oleObject" Target="../embeddings/oleObject419.bin"/><Relationship Id="rId15" Type="http://schemas.openxmlformats.org/officeDocument/2006/relationships/oleObject" Target="../embeddings/oleObject424.bin"/><Relationship Id="rId23" Type="http://schemas.openxmlformats.org/officeDocument/2006/relationships/oleObject" Target="../embeddings/oleObject428.bin"/><Relationship Id="rId10" Type="http://schemas.openxmlformats.org/officeDocument/2006/relationships/image" Target="../media/image308.wmf"/><Relationship Id="rId19" Type="http://schemas.openxmlformats.org/officeDocument/2006/relationships/oleObject" Target="../embeddings/oleObject426.bin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421.bin"/><Relationship Id="rId14" Type="http://schemas.openxmlformats.org/officeDocument/2006/relationships/image" Target="../media/image310.wmf"/><Relationship Id="rId22" Type="http://schemas.openxmlformats.org/officeDocument/2006/relationships/image" Target="../media/image31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2.bin"/><Relationship Id="rId13" Type="http://schemas.openxmlformats.org/officeDocument/2006/relationships/image" Target="../media/image321.wmf"/><Relationship Id="rId18" Type="http://schemas.openxmlformats.org/officeDocument/2006/relationships/oleObject" Target="../embeddings/oleObject437.bin"/><Relationship Id="rId3" Type="http://schemas.openxmlformats.org/officeDocument/2006/relationships/image" Target="../media/image316.wmf"/><Relationship Id="rId21" Type="http://schemas.openxmlformats.org/officeDocument/2006/relationships/image" Target="../media/image325.wmf"/><Relationship Id="rId7" Type="http://schemas.openxmlformats.org/officeDocument/2006/relationships/image" Target="../media/image318.wmf"/><Relationship Id="rId12" Type="http://schemas.openxmlformats.org/officeDocument/2006/relationships/oleObject" Target="../embeddings/oleObject434.bin"/><Relationship Id="rId17" Type="http://schemas.openxmlformats.org/officeDocument/2006/relationships/image" Target="../media/image323.wmf"/><Relationship Id="rId2" Type="http://schemas.openxmlformats.org/officeDocument/2006/relationships/oleObject" Target="../embeddings/oleObject429.bin"/><Relationship Id="rId16" Type="http://schemas.openxmlformats.org/officeDocument/2006/relationships/oleObject" Target="../embeddings/oleObject436.bin"/><Relationship Id="rId20" Type="http://schemas.openxmlformats.org/officeDocument/2006/relationships/oleObject" Target="../embeddings/oleObject43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31.bin"/><Relationship Id="rId11" Type="http://schemas.openxmlformats.org/officeDocument/2006/relationships/image" Target="../media/image320.wmf"/><Relationship Id="rId24" Type="http://schemas.openxmlformats.org/officeDocument/2006/relationships/image" Target="../media/image327.png"/><Relationship Id="rId5" Type="http://schemas.openxmlformats.org/officeDocument/2006/relationships/image" Target="../media/image317.wmf"/><Relationship Id="rId15" Type="http://schemas.openxmlformats.org/officeDocument/2006/relationships/image" Target="../media/image322.wmf"/><Relationship Id="rId23" Type="http://schemas.openxmlformats.org/officeDocument/2006/relationships/image" Target="../media/image326.wmf"/><Relationship Id="rId10" Type="http://schemas.openxmlformats.org/officeDocument/2006/relationships/oleObject" Target="../embeddings/oleObject433.bin"/><Relationship Id="rId19" Type="http://schemas.openxmlformats.org/officeDocument/2006/relationships/image" Target="../media/image324.wmf"/><Relationship Id="rId4" Type="http://schemas.openxmlformats.org/officeDocument/2006/relationships/oleObject" Target="../embeddings/oleObject430.bin"/><Relationship Id="rId9" Type="http://schemas.openxmlformats.org/officeDocument/2006/relationships/image" Target="../media/image319.wmf"/><Relationship Id="rId14" Type="http://schemas.openxmlformats.org/officeDocument/2006/relationships/oleObject" Target="../embeddings/oleObject435.bin"/><Relationship Id="rId22" Type="http://schemas.openxmlformats.org/officeDocument/2006/relationships/oleObject" Target="../embeddings/oleObject43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oleObject" Target="../embeddings/oleObject444.bin"/><Relationship Id="rId3" Type="http://schemas.openxmlformats.org/officeDocument/2006/relationships/image" Target="../media/image328.wmf"/><Relationship Id="rId7" Type="http://schemas.openxmlformats.org/officeDocument/2006/relationships/oleObject" Target="../embeddings/oleObject441.bin"/><Relationship Id="rId12" Type="http://schemas.openxmlformats.org/officeDocument/2006/relationships/image" Target="../media/image331.wmf"/><Relationship Id="rId2" Type="http://schemas.openxmlformats.org/officeDocument/2006/relationships/oleObject" Target="../embeddings/oleObject440.bin"/><Relationship Id="rId16" Type="http://schemas.openxmlformats.org/officeDocument/2006/relationships/image" Target="../media/image33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.png"/><Relationship Id="rId11" Type="http://schemas.openxmlformats.org/officeDocument/2006/relationships/oleObject" Target="../embeddings/oleObject443.bin"/><Relationship Id="rId5" Type="http://schemas.openxmlformats.org/officeDocument/2006/relationships/image" Target="../media/image304.png"/><Relationship Id="rId15" Type="http://schemas.openxmlformats.org/officeDocument/2006/relationships/oleObject" Target="../embeddings/oleObject445.bin"/><Relationship Id="rId10" Type="http://schemas.openxmlformats.org/officeDocument/2006/relationships/image" Target="../media/image330.wmf"/><Relationship Id="rId4" Type="http://schemas.openxmlformats.org/officeDocument/2006/relationships/slide" Target="slide73.xml"/><Relationship Id="rId9" Type="http://schemas.openxmlformats.org/officeDocument/2006/relationships/oleObject" Target="../embeddings/oleObject442.bin"/><Relationship Id="rId14" Type="http://schemas.openxmlformats.org/officeDocument/2006/relationships/image" Target="../media/image332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wmf"/><Relationship Id="rId2" Type="http://schemas.openxmlformats.org/officeDocument/2006/relationships/oleObject" Target="../embeddings/oleObject446.bin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wmf"/><Relationship Id="rId7" Type="http://schemas.openxmlformats.org/officeDocument/2006/relationships/image" Target="../media/image337.wmf"/><Relationship Id="rId2" Type="http://schemas.openxmlformats.org/officeDocument/2006/relationships/oleObject" Target="../embeddings/oleObject44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49.bin"/><Relationship Id="rId5" Type="http://schemas.openxmlformats.org/officeDocument/2006/relationships/image" Target="../media/image336.wmf"/><Relationship Id="rId4" Type="http://schemas.openxmlformats.org/officeDocument/2006/relationships/oleObject" Target="../embeddings/oleObject448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456.bin"/><Relationship Id="rId18" Type="http://schemas.openxmlformats.org/officeDocument/2006/relationships/oleObject" Target="../embeddings/oleObject459.bin"/><Relationship Id="rId3" Type="http://schemas.openxmlformats.org/officeDocument/2006/relationships/oleObject" Target="../embeddings/oleObject450.bin"/><Relationship Id="rId21" Type="http://schemas.openxmlformats.org/officeDocument/2006/relationships/image" Target="../media/image340.wmf"/><Relationship Id="rId7" Type="http://schemas.openxmlformats.org/officeDocument/2006/relationships/oleObject" Target="../embeddings/oleObject452.bin"/><Relationship Id="rId12" Type="http://schemas.openxmlformats.org/officeDocument/2006/relationships/oleObject" Target="../embeddings/oleObject455.bin"/><Relationship Id="rId17" Type="http://schemas.openxmlformats.org/officeDocument/2006/relationships/image" Target="../media/image338.wmf"/><Relationship Id="rId25" Type="http://schemas.openxmlformats.org/officeDocument/2006/relationships/image" Target="../media/image342.wmf"/><Relationship Id="rId2" Type="http://schemas.openxmlformats.org/officeDocument/2006/relationships/notesSlide" Target="../notesSlides/notesSlide42.xml"/><Relationship Id="rId16" Type="http://schemas.openxmlformats.org/officeDocument/2006/relationships/oleObject" Target="../embeddings/oleObject458.bin"/><Relationship Id="rId20" Type="http://schemas.openxmlformats.org/officeDocument/2006/relationships/oleObject" Target="../embeddings/oleObject46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454.bin"/><Relationship Id="rId24" Type="http://schemas.openxmlformats.org/officeDocument/2006/relationships/oleObject" Target="../embeddings/oleObject462.bin"/><Relationship Id="rId5" Type="http://schemas.openxmlformats.org/officeDocument/2006/relationships/oleObject" Target="../embeddings/oleObject451.bin"/><Relationship Id="rId15" Type="http://schemas.openxmlformats.org/officeDocument/2006/relationships/image" Target="../media/image57.wmf"/><Relationship Id="rId23" Type="http://schemas.openxmlformats.org/officeDocument/2006/relationships/image" Target="../media/image341.wmf"/><Relationship Id="rId10" Type="http://schemas.openxmlformats.org/officeDocument/2006/relationships/image" Target="../media/image56.wmf"/><Relationship Id="rId19" Type="http://schemas.openxmlformats.org/officeDocument/2006/relationships/image" Target="../media/image33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53.bin"/><Relationship Id="rId14" Type="http://schemas.openxmlformats.org/officeDocument/2006/relationships/oleObject" Target="../embeddings/oleObject457.bin"/><Relationship Id="rId22" Type="http://schemas.openxmlformats.org/officeDocument/2006/relationships/oleObject" Target="../embeddings/oleObject461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13" Type="http://schemas.openxmlformats.org/officeDocument/2006/relationships/oleObject" Target="../embeddings/oleObject467.bin"/><Relationship Id="rId3" Type="http://schemas.openxmlformats.org/officeDocument/2006/relationships/image" Target="../media/image344.png"/><Relationship Id="rId7" Type="http://schemas.openxmlformats.org/officeDocument/2006/relationships/image" Target="../media/image346.wmf"/><Relationship Id="rId12" Type="http://schemas.openxmlformats.org/officeDocument/2006/relationships/image" Target="../media/image349.wmf"/><Relationship Id="rId2" Type="http://schemas.openxmlformats.org/officeDocument/2006/relationships/image" Target="../media/image343.png"/><Relationship Id="rId16" Type="http://schemas.openxmlformats.org/officeDocument/2006/relationships/image" Target="../media/image351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64.bin"/><Relationship Id="rId11" Type="http://schemas.openxmlformats.org/officeDocument/2006/relationships/oleObject" Target="../embeddings/oleObject466.bin"/><Relationship Id="rId5" Type="http://schemas.openxmlformats.org/officeDocument/2006/relationships/image" Target="../media/image345.wmf"/><Relationship Id="rId15" Type="http://schemas.openxmlformats.org/officeDocument/2006/relationships/oleObject" Target="../embeddings/oleObject468.bin"/><Relationship Id="rId10" Type="http://schemas.openxmlformats.org/officeDocument/2006/relationships/image" Target="../media/image348.wmf"/><Relationship Id="rId4" Type="http://schemas.openxmlformats.org/officeDocument/2006/relationships/oleObject" Target="../embeddings/oleObject463.bin"/><Relationship Id="rId9" Type="http://schemas.openxmlformats.org/officeDocument/2006/relationships/oleObject" Target="../embeddings/oleObject465.bin"/><Relationship Id="rId14" Type="http://schemas.openxmlformats.org/officeDocument/2006/relationships/image" Target="../media/image350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png"/><Relationship Id="rId13" Type="http://schemas.openxmlformats.org/officeDocument/2006/relationships/image" Target="../media/image358.wmf"/><Relationship Id="rId18" Type="http://schemas.openxmlformats.org/officeDocument/2006/relationships/oleObject" Target="../embeddings/oleObject476.bin"/><Relationship Id="rId26" Type="http://schemas.openxmlformats.org/officeDocument/2006/relationships/oleObject" Target="../embeddings/oleObject480.bin"/><Relationship Id="rId3" Type="http://schemas.openxmlformats.org/officeDocument/2006/relationships/image" Target="../media/image352.wmf"/><Relationship Id="rId21" Type="http://schemas.openxmlformats.org/officeDocument/2006/relationships/image" Target="../media/image362.wmf"/><Relationship Id="rId7" Type="http://schemas.openxmlformats.org/officeDocument/2006/relationships/image" Target="../media/image354.wmf"/><Relationship Id="rId12" Type="http://schemas.openxmlformats.org/officeDocument/2006/relationships/oleObject" Target="../embeddings/oleObject473.bin"/><Relationship Id="rId17" Type="http://schemas.openxmlformats.org/officeDocument/2006/relationships/image" Target="../media/image360.wmf"/><Relationship Id="rId25" Type="http://schemas.openxmlformats.org/officeDocument/2006/relationships/image" Target="../media/image364.wmf"/><Relationship Id="rId2" Type="http://schemas.openxmlformats.org/officeDocument/2006/relationships/oleObject" Target="../embeddings/oleObject469.bin"/><Relationship Id="rId16" Type="http://schemas.openxmlformats.org/officeDocument/2006/relationships/oleObject" Target="../embeddings/oleObject475.bin"/><Relationship Id="rId20" Type="http://schemas.openxmlformats.org/officeDocument/2006/relationships/oleObject" Target="../embeddings/oleObject47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71.bin"/><Relationship Id="rId11" Type="http://schemas.openxmlformats.org/officeDocument/2006/relationships/image" Target="../media/image357.wmf"/><Relationship Id="rId24" Type="http://schemas.openxmlformats.org/officeDocument/2006/relationships/oleObject" Target="../embeddings/oleObject479.bin"/><Relationship Id="rId5" Type="http://schemas.openxmlformats.org/officeDocument/2006/relationships/image" Target="../media/image353.wmf"/><Relationship Id="rId15" Type="http://schemas.openxmlformats.org/officeDocument/2006/relationships/image" Target="../media/image359.wmf"/><Relationship Id="rId23" Type="http://schemas.openxmlformats.org/officeDocument/2006/relationships/image" Target="../media/image363.wmf"/><Relationship Id="rId10" Type="http://schemas.openxmlformats.org/officeDocument/2006/relationships/oleObject" Target="../embeddings/oleObject472.bin"/><Relationship Id="rId19" Type="http://schemas.openxmlformats.org/officeDocument/2006/relationships/image" Target="../media/image361.wmf"/><Relationship Id="rId4" Type="http://schemas.openxmlformats.org/officeDocument/2006/relationships/oleObject" Target="../embeddings/oleObject470.bin"/><Relationship Id="rId9" Type="http://schemas.openxmlformats.org/officeDocument/2006/relationships/image" Target="../media/image356.png"/><Relationship Id="rId14" Type="http://schemas.openxmlformats.org/officeDocument/2006/relationships/oleObject" Target="../embeddings/oleObject474.bin"/><Relationship Id="rId22" Type="http://schemas.openxmlformats.org/officeDocument/2006/relationships/oleObject" Target="../embeddings/oleObject478.bin"/><Relationship Id="rId27" Type="http://schemas.openxmlformats.org/officeDocument/2006/relationships/image" Target="../media/image365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wmf"/><Relationship Id="rId2" Type="http://schemas.openxmlformats.org/officeDocument/2006/relationships/oleObject" Target="../embeddings/oleObject481.bin"/><Relationship Id="rId1" Type="http://schemas.openxmlformats.org/officeDocument/2006/relationships/slideLayout" Target="../slideLayouts/slideLayout6.xml"/><Relationship Id="rId4" Type="http://schemas.openxmlformats.org/officeDocument/2006/relationships/slide" Target="slide73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5.bin"/><Relationship Id="rId3" Type="http://schemas.openxmlformats.org/officeDocument/2006/relationships/image" Target="../media/image367.wmf"/><Relationship Id="rId7" Type="http://schemas.openxmlformats.org/officeDocument/2006/relationships/image" Target="../media/image369.wmf"/><Relationship Id="rId2" Type="http://schemas.openxmlformats.org/officeDocument/2006/relationships/oleObject" Target="../embeddings/oleObject48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84.bin"/><Relationship Id="rId11" Type="http://schemas.openxmlformats.org/officeDocument/2006/relationships/image" Target="../media/image371.wmf"/><Relationship Id="rId5" Type="http://schemas.openxmlformats.org/officeDocument/2006/relationships/image" Target="../media/image368.wmf"/><Relationship Id="rId10" Type="http://schemas.openxmlformats.org/officeDocument/2006/relationships/oleObject" Target="../embeddings/oleObject486.bin"/><Relationship Id="rId4" Type="http://schemas.openxmlformats.org/officeDocument/2006/relationships/oleObject" Target="../embeddings/oleObject483.bin"/><Relationship Id="rId9" Type="http://schemas.openxmlformats.org/officeDocument/2006/relationships/image" Target="../media/image370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oleObject" Target="../embeddings/oleObject491.bin"/><Relationship Id="rId18" Type="http://schemas.openxmlformats.org/officeDocument/2006/relationships/image" Target="../media/image381.wmf"/><Relationship Id="rId3" Type="http://schemas.openxmlformats.org/officeDocument/2006/relationships/image" Target="../media/image373.png"/><Relationship Id="rId21" Type="http://schemas.openxmlformats.org/officeDocument/2006/relationships/oleObject" Target="../embeddings/oleObject495.bin"/><Relationship Id="rId7" Type="http://schemas.openxmlformats.org/officeDocument/2006/relationships/oleObject" Target="../embeddings/oleObject488.bin"/><Relationship Id="rId12" Type="http://schemas.openxmlformats.org/officeDocument/2006/relationships/image" Target="../media/image378.wmf"/><Relationship Id="rId17" Type="http://schemas.openxmlformats.org/officeDocument/2006/relationships/oleObject" Target="../embeddings/oleObject493.bin"/><Relationship Id="rId2" Type="http://schemas.openxmlformats.org/officeDocument/2006/relationships/image" Target="../media/image372.png"/><Relationship Id="rId16" Type="http://schemas.openxmlformats.org/officeDocument/2006/relationships/image" Target="../media/image380.wmf"/><Relationship Id="rId20" Type="http://schemas.openxmlformats.org/officeDocument/2006/relationships/image" Target="../media/image382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5.wmf"/><Relationship Id="rId11" Type="http://schemas.openxmlformats.org/officeDocument/2006/relationships/oleObject" Target="../embeddings/oleObject490.bin"/><Relationship Id="rId5" Type="http://schemas.openxmlformats.org/officeDocument/2006/relationships/oleObject" Target="../embeddings/oleObject487.bin"/><Relationship Id="rId15" Type="http://schemas.openxmlformats.org/officeDocument/2006/relationships/oleObject" Target="../embeddings/oleObject492.bin"/><Relationship Id="rId10" Type="http://schemas.openxmlformats.org/officeDocument/2006/relationships/image" Target="../media/image377.wmf"/><Relationship Id="rId19" Type="http://schemas.openxmlformats.org/officeDocument/2006/relationships/oleObject" Target="../embeddings/oleObject494.bin"/><Relationship Id="rId4" Type="http://schemas.openxmlformats.org/officeDocument/2006/relationships/image" Target="../media/image374.png"/><Relationship Id="rId9" Type="http://schemas.openxmlformats.org/officeDocument/2006/relationships/oleObject" Target="../embeddings/oleObject489.bin"/><Relationship Id="rId14" Type="http://schemas.openxmlformats.org/officeDocument/2006/relationships/image" Target="../media/image379.wmf"/><Relationship Id="rId22" Type="http://schemas.openxmlformats.org/officeDocument/2006/relationships/image" Target="../media/image383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9.bin"/><Relationship Id="rId13" Type="http://schemas.openxmlformats.org/officeDocument/2006/relationships/image" Target="../media/image390.png"/><Relationship Id="rId18" Type="http://schemas.openxmlformats.org/officeDocument/2006/relationships/image" Target="../media/image393.wmf"/><Relationship Id="rId3" Type="http://schemas.openxmlformats.org/officeDocument/2006/relationships/image" Target="../media/image384.wmf"/><Relationship Id="rId21" Type="http://schemas.openxmlformats.org/officeDocument/2006/relationships/oleObject" Target="../embeddings/oleObject504.bin"/><Relationship Id="rId7" Type="http://schemas.openxmlformats.org/officeDocument/2006/relationships/image" Target="../media/image386.wmf"/><Relationship Id="rId12" Type="http://schemas.openxmlformats.org/officeDocument/2006/relationships/image" Target="../media/image389.png"/><Relationship Id="rId17" Type="http://schemas.openxmlformats.org/officeDocument/2006/relationships/oleObject" Target="../embeddings/oleObject502.bin"/><Relationship Id="rId2" Type="http://schemas.openxmlformats.org/officeDocument/2006/relationships/oleObject" Target="../embeddings/oleObject496.bin"/><Relationship Id="rId16" Type="http://schemas.openxmlformats.org/officeDocument/2006/relationships/image" Target="../media/image392.wmf"/><Relationship Id="rId20" Type="http://schemas.openxmlformats.org/officeDocument/2006/relationships/image" Target="../media/image38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98.bin"/><Relationship Id="rId11" Type="http://schemas.openxmlformats.org/officeDocument/2006/relationships/image" Target="../media/image388.wmf"/><Relationship Id="rId5" Type="http://schemas.openxmlformats.org/officeDocument/2006/relationships/image" Target="../media/image385.wmf"/><Relationship Id="rId15" Type="http://schemas.openxmlformats.org/officeDocument/2006/relationships/oleObject" Target="../embeddings/oleObject501.bin"/><Relationship Id="rId10" Type="http://schemas.openxmlformats.org/officeDocument/2006/relationships/oleObject" Target="../embeddings/oleObject500.bin"/><Relationship Id="rId19" Type="http://schemas.openxmlformats.org/officeDocument/2006/relationships/oleObject" Target="../embeddings/oleObject503.bin"/><Relationship Id="rId4" Type="http://schemas.openxmlformats.org/officeDocument/2006/relationships/oleObject" Target="../embeddings/oleObject497.bin"/><Relationship Id="rId9" Type="http://schemas.openxmlformats.org/officeDocument/2006/relationships/image" Target="../media/image387.wmf"/><Relationship Id="rId14" Type="http://schemas.openxmlformats.org/officeDocument/2006/relationships/image" Target="../media/image391.png"/><Relationship Id="rId22" Type="http://schemas.openxmlformats.org/officeDocument/2006/relationships/image" Target="../media/image394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8.bin"/><Relationship Id="rId13" Type="http://schemas.openxmlformats.org/officeDocument/2006/relationships/image" Target="../media/image401.png"/><Relationship Id="rId18" Type="http://schemas.openxmlformats.org/officeDocument/2006/relationships/image" Target="../media/image404.wmf"/><Relationship Id="rId26" Type="http://schemas.openxmlformats.org/officeDocument/2006/relationships/image" Target="../media/image408.wmf"/><Relationship Id="rId3" Type="http://schemas.openxmlformats.org/officeDocument/2006/relationships/image" Target="../media/image395.wmf"/><Relationship Id="rId21" Type="http://schemas.openxmlformats.org/officeDocument/2006/relationships/oleObject" Target="../embeddings/oleObject513.bin"/><Relationship Id="rId7" Type="http://schemas.openxmlformats.org/officeDocument/2006/relationships/image" Target="../media/image397.wmf"/><Relationship Id="rId12" Type="http://schemas.openxmlformats.org/officeDocument/2006/relationships/image" Target="../media/image400.png"/><Relationship Id="rId17" Type="http://schemas.openxmlformats.org/officeDocument/2006/relationships/oleObject" Target="../embeddings/oleObject511.bin"/><Relationship Id="rId25" Type="http://schemas.openxmlformats.org/officeDocument/2006/relationships/oleObject" Target="../embeddings/oleObject515.bin"/><Relationship Id="rId2" Type="http://schemas.openxmlformats.org/officeDocument/2006/relationships/oleObject" Target="../embeddings/oleObject505.bin"/><Relationship Id="rId16" Type="http://schemas.openxmlformats.org/officeDocument/2006/relationships/image" Target="../media/image403.wmf"/><Relationship Id="rId20" Type="http://schemas.openxmlformats.org/officeDocument/2006/relationships/image" Target="../media/image40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07.bin"/><Relationship Id="rId11" Type="http://schemas.openxmlformats.org/officeDocument/2006/relationships/image" Target="../media/image399.wmf"/><Relationship Id="rId24" Type="http://schemas.openxmlformats.org/officeDocument/2006/relationships/image" Target="../media/image407.wmf"/><Relationship Id="rId5" Type="http://schemas.openxmlformats.org/officeDocument/2006/relationships/image" Target="../media/image396.wmf"/><Relationship Id="rId15" Type="http://schemas.openxmlformats.org/officeDocument/2006/relationships/oleObject" Target="../embeddings/oleObject510.bin"/><Relationship Id="rId23" Type="http://schemas.openxmlformats.org/officeDocument/2006/relationships/oleObject" Target="../embeddings/oleObject514.bin"/><Relationship Id="rId10" Type="http://schemas.openxmlformats.org/officeDocument/2006/relationships/oleObject" Target="../embeddings/oleObject509.bin"/><Relationship Id="rId19" Type="http://schemas.openxmlformats.org/officeDocument/2006/relationships/oleObject" Target="../embeddings/oleObject512.bin"/><Relationship Id="rId4" Type="http://schemas.openxmlformats.org/officeDocument/2006/relationships/oleObject" Target="../embeddings/oleObject506.bin"/><Relationship Id="rId9" Type="http://schemas.openxmlformats.org/officeDocument/2006/relationships/image" Target="../media/image398.wmf"/><Relationship Id="rId14" Type="http://schemas.openxmlformats.org/officeDocument/2006/relationships/image" Target="../media/image402.png"/><Relationship Id="rId22" Type="http://schemas.openxmlformats.org/officeDocument/2006/relationships/image" Target="../media/image406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9.bin"/><Relationship Id="rId13" Type="http://schemas.openxmlformats.org/officeDocument/2006/relationships/image" Target="../media/image413.wmf"/><Relationship Id="rId18" Type="http://schemas.openxmlformats.org/officeDocument/2006/relationships/oleObject" Target="../embeddings/oleObject524.bin"/><Relationship Id="rId26" Type="http://schemas.openxmlformats.org/officeDocument/2006/relationships/image" Target="../media/image418.png"/><Relationship Id="rId3" Type="http://schemas.openxmlformats.org/officeDocument/2006/relationships/image" Target="../media/image409.wmf"/><Relationship Id="rId21" Type="http://schemas.openxmlformats.org/officeDocument/2006/relationships/image" Target="../media/image407.wmf"/><Relationship Id="rId7" Type="http://schemas.openxmlformats.org/officeDocument/2006/relationships/image" Target="../media/image411.wmf"/><Relationship Id="rId12" Type="http://schemas.openxmlformats.org/officeDocument/2006/relationships/oleObject" Target="../embeddings/oleObject521.bin"/><Relationship Id="rId17" Type="http://schemas.openxmlformats.org/officeDocument/2006/relationships/image" Target="../media/image405.wmf"/><Relationship Id="rId25" Type="http://schemas.openxmlformats.org/officeDocument/2006/relationships/image" Target="../media/image417.png"/><Relationship Id="rId2" Type="http://schemas.openxmlformats.org/officeDocument/2006/relationships/oleObject" Target="../embeddings/oleObject516.bin"/><Relationship Id="rId16" Type="http://schemas.openxmlformats.org/officeDocument/2006/relationships/oleObject" Target="../embeddings/oleObject523.bin"/><Relationship Id="rId20" Type="http://schemas.openxmlformats.org/officeDocument/2006/relationships/oleObject" Target="../embeddings/oleObject52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8.bin"/><Relationship Id="rId11" Type="http://schemas.openxmlformats.org/officeDocument/2006/relationships/image" Target="../media/image399.wmf"/><Relationship Id="rId24" Type="http://schemas.openxmlformats.org/officeDocument/2006/relationships/image" Target="../media/image416.png"/><Relationship Id="rId5" Type="http://schemas.openxmlformats.org/officeDocument/2006/relationships/image" Target="../media/image410.wmf"/><Relationship Id="rId15" Type="http://schemas.openxmlformats.org/officeDocument/2006/relationships/image" Target="../media/image404.wmf"/><Relationship Id="rId23" Type="http://schemas.openxmlformats.org/officeDocument/2006/relationships/image" Target="../media/image415.wmf"/><Relationship Id="rId28" Type="http://schemas.openxmlformats.org/officeDocument/2006/relationships/image" Target="../media/image419.wmf"/><Relationship Id="rId10" Type="http://schemas.openxmlformats.org/officeDocument/2006/relationships/oleObject" Target="../embeddings/oleObject520.bin"/><Relationship Id="rId19" Type="http://schemas.openxmlformats.org/officeDocument/2006/relationships/image" Target="../media/image414.wmf"/><Relationship Id="rId4" Type="http://schemas.openxmlformats.org/officeDocument/2006/relationships/oleObject" Target="../embeddings/oleObject517.bin"/><Relationship Id="rId9" Type="http://schemas.openxmlformats.org/officeDocument/2006/relationships/image" Target="../media/image412.wmf"/><Relationship Id="rId14" Type="http://schemas.openxmlformats.org/officeDocument/2006/relationships/oleObject" Target="../embeddings/oleObject522.bin"/><Relationship Id="rId22" Type="http://schemas.openxmlformats.org/officeDocument/2006/relationships/oleObject" Target="../embeddings/oleObject526.bin"/><Relationship Id="rId27" Type="http://schemas.openxmlformats.org/officeDocument/2006/relationships/oleObject" Target="../embeddings/oleObject527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wmf"/><Relationship Id="rId13" Type="http://schemas.openxmlformats.org/officeDocument/2006/relationships/oleObject" Target="../embeddings/oleObject533.bin"/><Relationship Id="rId18" Type="http://schemas.openxmlformats.org/officeDocument/2006/relationships/oleObject" Target="../embeddings/oleObject536.bin"/><Relationship Id="rId26" Type="http://schemas.openxmlformats.org/officeDocument/2006/relationships/oleObject" Target="../embeddings/oleObject540.bin"/><Relationship Id="rId3" Type="http://schemas.openxmlformats.org/officeDocument/2006/relationships/image" Target="../media/image420.wmf"/><Relationship Id="rId21" Type="http://schemas.openxmlformats.org/officeDocument/2006/relationships/image" Target="../media/image429.wmf"/><Relationship Id="rId7" Type="http://schemas.openxmlformats.org/officeDocument/2006/relationships/oleObject" Target="../embeddings/oleObject530.bin"/><Relationship Id="rId12" Type="http://schemas.openxmlformats.org/officeDocument/2006/relationships/image" Target="../media/image425.wmf"/><Relationship Id="rId17" Type="http://schemas.openxmlformats.org/officeDocument/2006/relationships/image" Target="../media/image427.wmf"/><Relationship Id="rId25" Type="http://schemas.openxmlformats.org/officeDocument/2006/relationships/image" Target="../media/image431.wmf"/><Relationship Id="rId2" Type="http://schemas.openxmlformats.org/officeDocument/2006/relationships/oleObject" Target="../embeddings/oleObject528.bin"/><Relationship Id="rId16" Type="http://schemas.openxmlformats.org/officeDocument/2006/relationships/oleObject" Target="../embeddings/oleObject535.bin"/><Relationship Id="rId20" Type="http://schemas.openxmlformats.org/officeDocument/2006/relationships/oleObject" Target="../embeddings/oleObject537.bin"/><Relationship Id="rId29" Type="http://schemas.openxmlformats.org/officeDocument/2006/relationships/image" Target="../media/image43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2.png"/><Relationship Id="rId11" Type="http://schemas.openxmlformats.org/officeDocument/2006/relationships/oleObject" Target="../embeddings/oleObject532.bin"/><Relationship Id="rId24" Type="http://schemas.openxmlformats.org/officeDocument/2006/relationships/oleObject" Target="../embeddings/oleObject539.bin"/><Relationship Id="rId32" Type="http://schemas.openxmlformats.org/officeDocument/2006/relationships/image" Target="../media/image435.png"/><Relationship Id="rId5" Type="http://schemas.openxmlformats.org/officeDocument/2006/relationships/image" Target="../media/image421.wmf"/><Relationship Id="rId15" Type="http://schemas.openxmlformats.org/officeDocument/2006/relationships/image" Target="../media/image426.wmf"/><Relationship Id="rId23" Type="http://schemas.openxmlformats.org/officeDocument/2006/relationships/image" Target="../media/image430.wmf"/><Relationship Id="rId28" Type="http://schemas.openxmlformats.org/officeDocument/2006/relationships/oleObject" Target="../embeddings/oleObject541.bin"/><Relationship Id="rId10" Type="http://schemas.openxmlformats.org/officeDocument/2006/relationships/image" Target="../media/image424.wmf"/><Relationship Id="rId19" Type="http://schemas.openxmlformats.org/officeDocument/2006/relationships/image" Target="../media/image428.wmf"/><Relationship Id="rId31" Type="http://schemas.openxmlformats.org/officeDocument/2006/relationships/image" Target="../media/image434.wmf"/><Relationship Id="rId4" Type="http://schemas.openxmlformats.org/officeDocument/2006/relationships/oleObject" Target="../embeddings/oleObject529.bin"/><Relationship Id="rId9" Type="http://schemas.openxmlformats.org/officeDocument/2006/relationships/oleObject" Target="../embeddings/oleObject531.bin"/><Relationship Id="rId14" Type="http://schemas.openxmlformats.org/officeDocument/2006/relationships/oleObject" Target="../embeddings/oleObject534.bin"/><Relationship Id="rId22" Type="http://schemas.openxmlformats.org/officeDocument/2006/relationships/oleObject" Target="../embeddings/oleObject538.bin"/><Relationship Id="rId27" Type="http://schemas.openxmlformats.org/officeDocument/2006/relationships/image" Target="../media/image432.wmf"/><Relationship Id="rId30" Type="http://schemas.openxmlformats.org/officeDocument/2006/relationships/oleObject" Target="../embeddings/oleObject542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6.bin"/><Relationship Id="rId13" Type="http://schemas.openxmlformats.org/officeDocument/2006/relationships/image" Target="../media/image428.wmf"/><Relationship Id="rId18" Type="http://schemas.openxmlformats.org/officeDocument/2006/relationships/oleObject" Target="../embeddings/oleObject551.bin"/><Relationship Id="rId26" Type="http://schemas.openxmlformats.org/officeDocument/2006/relationships/image" Target="../media/image443.png"/><Relationship Id="rId3" Type="http://schemas.openxmlformats.org/officeDocument/2006/relationships/image" Target="../media/image436.wmf"/><Relationship Id="rId21" Type="http://schemas.openxmlformats.org/officeDocument/2006/relationships/image" Target="../media/image432.wmf"/><Relationship Id="rId7" Type="http://schemas.openxmlformats.org/officeDocument/2006/relationships/image" Target="../media/image438.wmf"/><Relationship Id="rId12" Type="http://schemas.openxmlformats.org/officeDocument/2006/relationships/oleObject" Target="../embeddings/oleObject548.bin"/><Relationship Id="rId17" Type="http://schemas.openxmlformats.org/officeDocument/2006/relationships/image" Target="../media/image440.wmf"/><Relationship Id="rId25" Type="http://schemas.openxmlformats.org/officeDocument/2006/relationships/image" Target="../media/image442.wmf"/><Relationship Id="rId33" Type="http://schemas.openxmlformats.org/officeDocument/2006/relationships/image" Target="../media/image447.png"/><Relationship Id="rId2" Type="http://schemas.openxmlformats.org/officeDocument/2006/relationships/oleObject" Target="../embeddings/oleObject543.bin"/><Relationship Id="rId16" Type="http://schemas.openxmlformats.org/officeDocument/2006/relationships/oleObject" Target="../embeddings/oleObject550.bin"/><Relationship Id="rId20" Type="http://schemas.openxmlformats.org/officeDocument/2006/relationships/oleObject" Target="../embeddings/oleObject552.bin"/><Relationship Id="rId29" Type="http://schemas.openxmlformats.org/officeDocument/2006/relationships/oleObject" Target="../embeddings/oleObject55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45.bin"/><Relationship Id="rId11" Type="http://schemas.openxmlformats.org/officeDocument/2006/relationships/image" Target="../media/image427.wmf"/><Relationship Id="rId24" Type="http://schemas.openxmlformats.org/officeDocument/2006/relationships/oleObject" Target="../embeddings/oleObject554.bin"/><Relationship Id="rId32" Type="http://schemas.openxmlformats.org/officeDocument/2006/relationships/image" Target="../media/image446.wmf"/><Relationship Id="rId5" Type="http://schemas.openxmlformats.org/officeDocument/2006/relationships/image" Target="../media/image437.wmf"/><Relationship Id="rId15" Type="http://schemas.openxmlformats.org/officeDocument/2006/relationships/image" Target="../media/image429.wmf"/><Relationship Id="rId23" Type="http://schemas.openxmlformats.org/officeDocument/2006/relationships/image" Target="../media/image433.wmf"/><Relationship Id="rId28" Type="http://schemas.openxmlformats.org/officeDocument/2006/relationships/image" Target="../media/image444.wmf"/><Relationship Id="rId10" Type="http://schemas.openxmlformats.org/officeDocument/2006/relationships/oleObject" Target="../embeddings/oleObject547.bin"/><Relationship Id="rId19" Type="http://schemas.openxmlformats.org/officeDocument/2006/relationships/image" Target="../media/image441.wmf"/><Relationship Id="rId31" Type="http://schemas.openxmlformats.org/officeDocument/2006/relationships/oleObject" Target="../embeddings/oleObject557.bin"/><Relationship Id="rId4" Type="http://schemas.openxmlformats.org/officeDocument/2006/relationships/oleObject" Target="../embeddings/oleObject544.bin"/><Relationship Id="rId9" Type="http://schemas.openxmlformats.org/officeDocument/2006/relationships/image" Target="../media/image439.wmf"/><Relationship Id="rId14" Type="http://schemas.openxmlformats.org/officeDocument/2006/relationships/oleObject" Target="../embeddings/oleObject549.bin"/><Relationship Id="rId22" Type="http://schemas.openxmlformats.org/officeDocument/2006/relationships/oleObject" Target="../embeddings/oleObject553.bin"/><Relationship Id="rId27" Type="http://schemas.openxmlformats.org/officeDocument/2006/relationships/oleObject" Target="../embeddings/oleObject555.bin"/><Relationship Id="rId30" Type="http://schemas.openxmlformats.org/officeDocument/2006/relationships/image" Target="../media/image445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png"/><Relationship Id="rId13" Type="http://schemas.openxmlformats.org/officeDocument/2006/relationships/oleObject" Target="../embeddings/oleObject561.bin"/><Relationship Id="rId3" Type="http://schemas.openxmlformats.org/officeDocument/2006/relationships/oleObject" Target="../embeddings/oleObject558.bin"/><Relationship Id="rId7" Type="http://schemas.openxmlformats.org/officeDocument/2006/relationships/image" Target="../media/image401.png"/><Relationship Id="rId12" Type="http://schemas.openxmlformats.org/officeDocument/2006/relationships/image" Target="../media/image453.wmf"/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0.wmf"/><Relationship Id="rId11" Type="http://schemas.openxmlformats.org/officeDocument/2006/relationships/oleObject" Target="../embeddings/oleObject560.bin"/><Relationship Id="rId5" Type="http://schemas.openxmlformats.org/officeDocument/2006/relationships/oleObject" Target="../embeddings/oleObject559.bin"/><Relationship Id="rId10" Type="http://schemas.openxmlformats.org/officeDocument/2006/relationships/image" Target="../media/image452.png"/><Relationship Id="rId4" Type="http://schemas.openxmlformats.org/officeDocument/2006/relationships/image" Target="../media/image449.wmf"/><Relationship Id="rId9" Type="http://schemas.openxmlformats.org/officeDocument/2006/relationships/image" Target="../media/image451.png"/><Relationship Id="rId14" Type="http://schemas.openxmlformats.org/officeDocument/2006/relationships/image" Target="../media/image454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wmf"/><Relationship Id="rId13" Type="http://schemas.openxmlformats.org/officeDocument/2006/relationships/image" Target="../media/image458.png"/><Relationship Id="rId3" Type="http://schemas.openxmlformats.org/officeDocument/2006/relationships/oleObject" Target="../embeddings/oleObject562.bin"/><Relationship Id="rId7" Type="http://schemas.openxmlformats.org/officeDocument/2006/relationships/oleObject" Target="../embeddings/oleObject564.bin"/><Relationship Id="rId12" Type="http://schemas.openxmlformats.org/officeDocument/2006/relationships/image" Target="../media/image418.png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4.wmf"/><Relationship Id="rId11" Type="http://schemas.openxmlformats.org/officeDocument/2006/relationships/image" Target="../media/image417.png"/><Relationship Id="rId5" Type="http://schemas.openxmlformats.org/officeDocument/2006/relationships/oleObject" Target="../embeddings/oleObject563.bin"/><Relationship Id="rId10" Type="http://schemas.openxmlformats.org/officeDocument/2006/relationships/image" Target="../media/image457.wmf"/><Relationship Id="rId4" Type="http://schemas.openxmlformats.org/officeDocument/2006/relationships/image" Target="../media/image453.wmf"/><Relationship Id="rId9" Type="http://schemas.openxmlformats.org/officeDocument/2006/relationships/oleObject" Target="../embeddings/oleObject565.bin"/><Relationship Id="rId14" Type="http://schemas.openxmlformats.org/officeDocument/2006/relationships/image" Target="../media/image45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7.bin"/><Relationship Id="rId13" Type="http://schemas.openxmlformats.org/officeDocument/2006/relationships/image" Target="../media/image466.wmf"/><Relationship Id="rId18" Type="http://schemas.openxmlformats.org/officeDocument/2006/relationships/image" Target="../media/image469.png"/><Relationship Id="rId3" Type="http://schemas.openxmlformats.org/officeDocument/2006/relationships/image" Target="../media/image460.png"/><Relationship Id="rId7" Type="http://schemas.openxmlformats.org/officeDocument/2006/relationships/image" Target="../media/image463.wmf"/><Relationship Id="rId12" Type="http://schemas.openxmlformats.org/officeDocument/2006/relationships/oleObject" Target="../embeddings/oleObject569.bin"/><Relationship Id="rId17" Type="http://schemas.openxmlformats.org/officeDocument/2006/relationships/image" Target="../media/image468.wmf"/><Relationship Id="rId2" Type="http://schemas.openxmlformats.org/officeDocument/2006/relationships/notesSlide" Target="../notesSlides/notesSlide43.xml"/><Relationship Id="rId16" Type="http://schemas.openxmlformats.org/officeDocument/2006/relationships/oleObject" Target="../embeddings/oleObject57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66.bin"/><Relationship Id="rId11" Type="http://schemas.openxmlformats.org/officeDocument/2006/relationships/image" Target="../media/image465.wmf"/><Relationship Id="rId5" Type="http://schemas.openxmlformats.org/officeDocument/2006/relationships/image" Target="../media/image462.png"/><Relationship Id="rId15" Type="http://schemas.openxmlformats.org/officeDocument/2006/relationships/image" Target="../media/image467.wmf"/><Relationship Id="rId10" Type="http://schemas.openxmlformats.org/officeDocument/2006/relationships/oleObject" Target="../embeddings/oleObject568.bin"/><Relationship Id="rId4" Type="http://schemas.openxmlformats.org/officeDocument/2006/relationships/image" Target="../media/image461.png"/><Relationship Id="rId9" Type="http://schemas.openxmlformats.org/officeDocument/2006/relationships/image" Target="../media/image464.wmf"/><Relationship Id="rId14" Type="http://schemas.openxmlformats.org/officeDocument/2006/relationships/oleObject" Target="../embeddings/oleObject570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wmf"/><Relationship Id="rId13" Type="http://schemas.openxmlformats.org/officeDocument/2006/relationships/oleObject" Target="../embeddings/oleObject575.bin"/><Relationship Id="rId18" Type="http://schemas.openxmlformats.org/officeDocument/2006/relationships/image" Target="../media/image479.wmf"/><Relationship Id="rId3" Type="http://schemas.openxmlformats.org/officeDocument/2006/relationships/oleObject" Target="../embeddings/oleObject572.bin"/><Relationship Id="rId7" Type="http://schemas.openxmlformats.org/officeDocument/2006/relationships/oleObject" Target="../embeddings/oleObject573.bin"/><Relationship Id="rId12" Type="http://schemas.openxmlformats.org/officeDocument/2006/relationships/image" Target="../media/image476.png"/><Relationship Id="rId17" Type="http://schemas.openxmlformats.org/officeDocument/2006/relationships/oleObject" Target="../embeddings/oleObject577.bin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478.wmf"/><Relationship Id="rId20" Type="http://schemas.openxmlformats.org/officeDocument/2006/relationships/image" Target="../media/image48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2.png"/><Relationship Id="rId11" Type="http://schemas.openxmlformats.org/officeDocument/2006/relationships/image" Target="../media/image475.png"/><Relationship Id="rId5" Type="http://schemas.openxmlformats.org/officeDocument/2006/relationships/image" Target="../media/image471.png"/><Relationship Id="rId15" Type="http://schemas.openxmlformats.org/officeDocument/2006/relationships/oleObject" Target="../embeddings/oleObject576.bin"/><Relationship Id="rId10" Type="http://schemas.openxmlformats.org/officeDocument/2006/relationships/image" Target="../media/image474.wmf"/><Relationship Id="rId19" Type="http://schemas.openxmlformats.org/officeDocument/2006/relationships/oleObject" Target="../embeddings/oleObject578.bin"/><Relationship Id="rId4" Type="http://schemas.openxmlformats.org/officeDocument/2006/relationships/image" Target="../media/image470.wmf"/><Relationship Id="rId9" Type="http://schemas.openxmlformats.org/officeDocument/2006/relationships/oleObject" Target="../embeddings/oleObject574.bin"/><Relationship Id="rId14" Type="http://schemas.openxmlformats.org/officeDocument/2006/relationships/image" Target="../media/image477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1.bin"/><Relationship Id="rId13" Type="http://schemas.openxmlformats.org/officeDocument/2006/relationships/image" Target="../media/image486.wmf"/><Relationship Id="rId18" Type="http://schemas.openxmlformats.org/officeDocument/2006/relationships/oleObject" Target="../embeddings/oleObject586.bin"/><Relationship Id="rId3" Type="http://schemas.openxmlformats.org/officeDocument/2006/relationships/oleObject" Target="../embeddings/oleObject579.bin"/><Relationship Id="rId7" Type="http://schemas.openxmlformats.org/officeDocument/2006/relationships/image" Target="../media/image484.png"/><Relationship Id="rId12" Type="http://schemas.openxmlformats.org/officeDocument/2006/relationships/oleObject" Target="../embeddings/oleObject583.bin"/><Relationship Id="rId17" Type="http://schemas.openxmlformats.org/officeDocument/2006/relationships/image" Target="../media/image488.wmf"/><Relationship Id="rId2" Type="http://schemas.openxmlformats.org/officeDocument/2006/relationships/image" Target="../media/image481.png"/><Relationship Id="rId16" Type="http://schemas.openxmlformats.org/officeDocument/2006/relationships/oleObject" Target="../embeddings/oleObject58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3.wmf"/><Relationship Id="rId11" Type="http://schemas.openxmlformats.org/officeDocument/2006/relationships/image" Target="../media/image485.wmf"/><Relationship Id="rId5" Type="http://schemas.openxmlformats.org/officeDocument/2006/relationships/oleObject" Target="../embeddings/oleObject580.bin"/><Relationship Id="rId15" Type="http://schemas.openxmlformats.org/officeDocument/2006/relationships/image" Target="../media/image487.wmf"/><Relationship Id="rId10" Type="http://schemas.openxmlformats.org/officeDocument/2006/relationships/oleObject" Target="../embeddings/oleObject582.bin"/><Relationship Id="rId19" Type="http://schemas.openxmlformats.org/officeDocument/2006/relationships/image" Target="../media/image489.wmf"/><Relationship Id="rId4" Type="http://schemas.openxmlformats.org/officeDocument/2006/relationships/image" Target="../media/image482.wmf"/><Relationship Id="rId9" Type="http://schemas.openxmlformats.org/officeDocument/2006/relationships/image" Target="../media/image480.wmf"/><Relationship Id="rId14" Type="http://schemas.openxmlformats.org/officeDocument/2006/relationships/oleObject" Target="../embeddings/oleObject584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wmf"/><Relationship Id="rId13" Type="http://schemas.openxmlformats.org/officeDocument/2006/relationships/oleObject" Target="../embeddings/oleObject592.bin"/><Relationship Id="rId18" Type="http://schemas.openxmlformats.org/officeDocument/2006/relationships/image" Target="../media/image495.wmf"/><Relationship Id="rId3" Type="http://schemas.openxmlformats.org/officeDocument/2006/relationships/oleObject" Target="../embeddings/oleObject587.bin"/><Relationship Id="rId7" Type="http://schemas.openxmlformats.org/officeDocument/2006/relationships/oleObject" Target="../embeddings/oleObject589.bin"/><Relationship Id="rId12" Type="http://schemas.openxmlformats.org/officeDocument/2006/relationships/image" Target="NULL"/><Relationship Id="rId17" Type="http://schemas.openxmlformats.org/officeDocument/2006/relationships/oleObject" Target="../embeddings/oleObject594.bin"/><Relationship Id="rId2" Type="http://schemas.openxmlformats.org/officeDocument/2006/relationships/image" Target="../media/image490.png"/><Relationship Id="rId16" Type="http://schemas.openxmlformats.org/officeDocument/2006/relationships/image" Target="../media/image494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1.wmf"/><Relationship Id="rId11" Type="http://schemas.openxmlformats.org/officeDocument/2006/relationships/oleObject" Target="../embeddings/oleObject591.bin"/><Relationship Id="rId5" Type="http://schemas.openxmlformats.org/officeDocument/2006/relationships/oleObject" Target="../embeddings/oleObject588.bin"/><Relationship Id="rId15" Type="http://schemas.openxmlformats.org/officeDocument/2006/relationships/oleObject" Target="../embeddings/oleObject593.bin"/><Relationship Id="rId10" Type="http://schemas.openxmlformats.org/officeDocument/2006/relationships/image" Target="../media/image492.wmf"/><Relationship Id="rId19" Type="http://schemas.openxmlformats.org/officeDocument/2006/relationships/image" Target="../media/image496.png"/><Relationship Id="rId4" Type="http://schemas.openxmlformats.org/officeDocument/2006/relationships/image" Target="../media/image482.wmf"/><Relationship Id="rId9" Type="http://schemas.openxmlformats.org/officeDocument/2006/relationships/oleObject" Target="../embeddings/oleObject590.bin"/><Relationship Id="rId14" Type="http://schemas.openxmlformats.org/officeDocument/2006/relationships/image" Target="../media/image493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wmf"/><Relationship Id="rId13" Type="http://schemas.openxmlformats.org/officeDocument/2006/relationships/image" Target="../media/image501.wmf"/><Relationship Id="rId3" Type="http://schemas.openxmlformats.org/officeDocument/2006/relationships/oleObject" Target="../embeddings/oleObject595.bin"/><Relationship Id="rId7" Type="http://schemas.openxmlformats.org/officeDocument/2006/relationships/oleObject" Target="../embeddings/oleObject597.bin"/><Relationship Id="rId12" Type="http://schemas.openxmlformats.org/officeDocument/2006/relationships/oleObject" Target="../embeddings/oleObject599.bin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7.wmf"/><Relationship Id="rId11" Type="http://schemas.openxmlformats.org/officeDocument/2006/relationships/image" Target="../media/image500.png"/><Relationship Id="rId5" Type="http://schemas.openxmlformats.org/officeDocument/2006/relationships/oleObject" Target="../embeddings/oleObject596.bin"/><Relationship Id="rId10" Type="http://schemas.openxmlformats.org/officeDocument/2006/relationships/image" Target="../media/image499.wmf"/><Relationship Id="rId4" Type="http://schemas.openxmlformats.org/officeDocument/2006/relationships/image" Target="../media/image468.wmf"/><Relationship Id="rId9" Type="http://schemas.openxmlformats.org/officeDocument/2006/relationships/oleObject" Target="../embeddings/oleObject598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2.bin"/><Relationship Id="rId3" Type="http://schemas.openxmlformats.org/officeDocument/2006/relationships/image" Target="../media/image475.png"/><Relationship Id="rId7" Type="http://schemas.openxmlformats.org/officeDocument/2006/relationships/image" Target="../media/image503.wmf"/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01.bin"/><Relationship Id="rId11" Type="http://schemas.openxmlformats.org/officeDocument/2006/relationships/slide" Target="slide73.xml"/><Relationship Id="rId5" Type="http://schemas.openxmlformats.org/officeDocument/2006/relationships/image" Target="../media/image502.wmf"/><Relationship Id="rId10" Type="http://schemas.openxmlformats.org/officeDocument/2006/relationships/image" Target="../media/image505.png"/><Relationship Id="rId4" Type="http://schemas.openxmlformats.org/officeDocument/2006/relationships/oleObject" Target="../embeddings/oleObject600.bin"/><Relationship Id="rId9" Type="http://schemas.openxmlformats.org/officeDocument/2006/relationships/image" Target="../media/image504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483514"/>
            <a:ext cx="8686800" cy="430887"/>
          </a:xfrm>
        </p:spPr>
        <p:txBody>
          <a:bodyPr lIns="0" tIns="0" rIns="0" bIns="0">
            <a:spAutoFit/>
          </a:bodyPr>
          <a:lstStyle/>
          <a:p>
            <a:pPr marL="3370263" indent="-3370263"/>
            <a:r>
              <a:rPr lang="en-US" sz="2800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6</a:t>
            </a:r>
            <a:r>
              <a:rPr lang="en-US" sz="28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MẠNG 4 CỰC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95400"/>
            <a:ext cx="8077200" cy="4838700"/>
          </a:xfrm>
          <a:noFill/>
        </p:spPr>
        <p:txBody>
          <a:bodyPr lIns="0" tIns="0" rIns="0" bIns="0">
            <a:noAutofit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6.1  Khái niệm &amp; phân loại mạng 4 cực (M4C)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6.2  Các hệ phương trình đặc tính của M4C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6.3  Các sơ đồ tương đương của M4C t/tính tương hỗ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6.4  Ghép nối các M4C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6.5  Các thông số làm việc của M4C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6.6  Các thông số sóng của M4C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6.7  Ứng dụng của M4C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24DB8A-C316-4528-8FD3-B6B01D41C440}" type="slidenum">
              <a:rPr 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146304" y="9906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5752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6.1 KHÁI NIỆM &amp; PHÂN LOẠI MẠNG 4 CỰC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870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itle 1"/>
          <p:cNvSpPr txBox="1">
            <a:spLocks/>
          </p:cNvSpPr>
          <p:nvPr/>
        </p:nvSpPr>
        <p:spPr>
          <a:xfrm>
            <a:off x="457200" y="1051173"/>
            <a:ext cx="8153400" cy="1615827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Mạng 4 cực (mạng 2 cửa) là phần mạch trao đổi năng lượng, tín hiệu điện từ thông qua 2 cửa. Theo quy ước, dòng điện đi vào cực này = dòng điện đi ra khỏi cực kia của cửa đó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447800" y="2890838"/>
            <a:ext cx="6096000" cy="2900362"/>
            <a:chOff x="1447800" y="2785513"/>
            <a:chExt cx="6096000" cy="2900362"/>
          </a:xfrm>
        </p:grpSpPr>
        <p:grpSp>
          <p:nvGrpSpPr>
            <p:cNvPr id="57" name="Group 56"/>
            <p:cNvGrpSpPr/>
            <p:nvPr/>
          </p:nvGrpSpPr>
          <p:grpSpPr>
            <a:xfrm>
              <a:off x="2133600" y="2785513"/>
              <a:ext cx="4683691" cy="1634087"/>
              <a:chOff x="1295400" y="2785513"/>
              <a:chExt cx="4683691" cy="1634087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2819400" y="2971800"/>
                <a:ext cx="1600200" cy="12954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Mạng        4 cực</a:t>
                </a: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1676400" y="3200400"/>
                <a:ext cx="1143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1676400" y="4038600"/>
                <a:ext cx="1143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419600" y="3200400"/>
                <a:ext cx="1143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4419600" y="4038600"/>
                <a:ext cx="1143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1534438" y="2819400"/>
                <a:ext cx="304800" cy="3048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1509386" y="4113756"/>
                <a:ext cx="304800" cy="3048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aseline="30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435252" y="2832970"/>
                <a:ext cx="304800" cy="3048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436296" y="4114800"/>
                <a:ext cx="304800" cy="3048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aseline="30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>
                <a:off x="1905000" y="3200400"/>
                <a:ext cx="381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2133600" y="4038600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2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8676493"/>
                  </p:ext>
                </p:extLst>
              </p:nvPr>
            </p:nvGraphicFramePr>
            <p:xfrm>
              <a:off x="2122488" y="278551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80" imgH="253800" progId="Equation.DSMT4">
                      <p:embed/>
                    </p:oleObj>
                  </mc:Choice>
                  <mc:Fallback>
                    <p:oleObj name="Equation" r:id="rId3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122488" y="278551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6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5349259"/>
                  </p:ext>
                </p:extLst>
              </p:nvPr>
            </p:nvGraphicFramePr>
            <p:xfrm>
              <a:off x="2133600" y="3609425"/>
              <a:ext cx="241300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80" imgH="253800" progId="Equation.DSMT4">
                      <p:embed/>
                    </p:oleObj>
                  </mc:Choice>
                  <mc:Fallback>
                    <p:oleObj name="Equation" r:id="rId5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133600" y="3609425"/>
                            <a:ext cx="241300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" name="Object 6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0804218"/>
                  </p:ext>
                </p:extLst>
              </p:nvPr>
            </p:nvGraphicFramePr>
            <p:xfrm>
              <a:off x="5029200" y="2796625"/>
              <a:ext cx="261938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64880" imgH="253800" progId="Equation.DSMT4">
                      <p:embed/>
                    </p:oleObj>
                  </mc:Choice>
                  <mc:Fallback>
                    <p:oleObj name="Equation" r:id="rId7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029200" y="2796625"/>
                            <a:ext cx="261938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3374893"/>
                  </p:ext>
                </p:extLst>
              </p:nvPr>
            </p:nvGraphicFramePr>
            <p:xfrm>
              <a:off x="5029200" y="3571325"/>
              <a:ext cx="261938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64880" imgH="253800" progId="Equation.DSMT4">
                      <p:embed/>
                    </p:oleObj>
                  </mc:Choice>
                  <mc:Fallback>
                    <p:oleObj name="Equation" r:id="rId9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029200" y="3571325"/>
                            <a:ext cx="261938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4" name="Straight Arrow Connector 33"/>
              <p:cNvCxnSpPr/>
              <p:nvPr/>
            </p:nvCxnSpPr>
            <p:spPr>
              <a:xfrm flipH="1">
                <a:off x="4991100" y="3200400"/>
                <a:ext cx="30003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H="1">
                <a:off x="4876800" y="4038600"/>
                <a:ext cx="30003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1295400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295400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5723873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5723873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73" name="Object 7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7021046"/>
                  </p:ext>
                </p:extLst>
              </p:nvPr>
            </p:nvGraphicFramePr>
            <p:xfrm>
              <a:off x="1443038" y="3439563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03040" imgH="253800" progId="Equation.DSMT4">
                      <p:embed/>
                    </p:oleObj>
                  </mc:Choice>
                  <mc:Fallback>
                    <p:oleObj name="Equation" r:id="rId11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443038" y="3439563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Object 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8347503"/>
                  </p:ext>
                </p:extLst>
              </p:nvPr>
            </p:nvGraphicFramePr>
            <p:xfrm>
              <a:off x="5486400" y="3404638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15640" imgH="253800" progId="Equation.DSMT4">
                      <p:embed/>
                    </p:oleObj>
                  </mc:Choice>
                  <mc:Fallback>
                    <p:oleObj name="Equation" r:id="rId13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486400" y="3404638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8" name="TextBox 57"/>
            <p:cNvSpPr txBox="1"/>
            <p:nvPr/>
          </p:nvSpPr>
          <p:spPr>
            <a:xfrm>
              <a:off x="1447800" y="4854878"/>
              <a:ext cx="2057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>
                  <a:latin typeface="Arial" panose="020B0604020202020204" pitchFamily="34" charset="0"/>
                  <a:cs typeface="Arial" panose="020B0604020202020204" pitchFamily="34" charset="0"/>
                </a:rPr>
                <a:t>Cửa vào </a:t>
              </a:r>
            </a:p>
            <a:p>
              <a:pPr algn="ctr"/>
              <a:r>
                <a:rPr lang="en-US" sz="2400" i="1">
                  <a:latin typeface="Arial" panose="020B0604020202020204" pitchFamily="34" charset="0"/>
                  <a:cs typeface="Arial" panose="020B0604020202020204" pitchFamily="34" charset="0"/>
                </a:rPr>
                <a:t>(cửa sơ cấp)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486400" y="4831622"/>
              <a:ext cx="2057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>
                  <a:latin typeface="Arial" panose="020B0604020202020204" pitchFamily="34" charset="0"/>
                  <a:cs typeface="Arial" panose="020B0604020202020204" pitchFamily="34" charset="0"/>
                </a:rPr>
                <a:t>Cửa ra </a:t>
              </a:r>
            </a:p>
            <a:p>
              <a:pPr algn="ctr"/>
              <a:r>
                <a:rPr lang="en-US" sz="2400" i="1">
                  <a:latin typeface="Arial" panose="020B0604020202020204" pitchFamily="34" charset="0"/>
                  <a:cs typeface="Arial" panose="020B0604020202020204" pitchFamily="34" charset="0"/>
                </a:rPr>
                <a:t>(cửa thứ cấp)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192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6.1 KHÁI NIỆM &amp; PHÂN LOẠI MẠNG 4 CỰC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itle 1"/>
          <p:cNvSpPr txBox="1">
            <a:spLocks/>
          </p:cNvSpPr>
          <p:nvPr/>
        </p:nvSpPr>
        <p:spPr>
          <a:xfrm>
            <a:off x="457200" y="787569"/>
            <a:ext cx="5105400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Mạng 4 cực thụ động, tích cực:</a:t>
            </a: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57200" y="2606721"/>
            <a:ext cx="8153400" cy="1400383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Mạng 4 cực tương hỗ, không tương hỗ: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Tương hỗ: chứa các phần tử tương hỗ như R,L,M,C…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Không tương hỗ: chứa các phần tử diode, transistor…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457200" y="4191000"/>
            <a:ext cx="8153400" cy="1769715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Mạng 4 cực đối xứng, không đối xứng: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Đối xứng: đổi lẫn 2 cửa mà không làm thay đổi điện áp, dòng điện trên 2 cửa;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Không đối xứng: không thỏa tính đối xứng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33400" y="1171487"/>
            <a:ext cx="6324600" cy="883523"/>
            <a:chOff x="533400" y="1171487"/>
            <a:chExt cx="6324600" cy="883523"/>
          </a:xfrm>
        </p:grpSpPr>
        <p:graphicFrame>
          <p:nvGraphicFramePr>
            <p:cNvPr id="37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4932742"/>
                </p:ext>
              </p:extLst>
            </p:nvPr>
          </p:nvGraphicFramePr>
          <p:xfrm>
            <a:off x="2182320" y="1171487"/>
            <a:ext cx="4675680" cy="883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616120" imgH="495000" progId="Equation.DSMT4">
                    <p:embed/>
                  </p:oleObj>
                </mc:Choice>
                <mc:Fallback>
                  <p:oleObj name="Equation" r:id="rId3" imgW="261612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82320" y="1171487"/>
                          <a:ext cx="4675680" cy="8835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itle 1"/>
            <p:cNvSpPr txBox="1">
              <a:spLocks/>
            </p:cNvSpPr>
            <p:nvPr/>
          </p:nvSpPr>
          <p:spPr>
            <a:xfrm>
              <a:off x="533400" y="1372116"/>
              <a:ext cx="1828800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Thụ động: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33400" y="1946528"/>
            <a:ext cx="2718148" cy="507831"/>
            <a:chOff x="533400" y="1946528"/>
            <a:chExt cx="2718148" cy="507831"/>
          </a:xfrm>
        </p:grpSpPr>
        <p:graphicFrame>
          <p:nvGraphicFramePr>
            <p:cNvPr id="3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7184247"/>
                </p:ext>
              </p:extLst>
            </p:nvPr>
          </p:nvGraphicFramePr>
          <p:xfrm>
            <a:off x="2214911" y="2031822"/>
            <a:ext cx="1036637" cy="3578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22080" imgH="215640" progId="Equation.DSMT4">
                    <p:embed/>
                  </p:oleObj>
                </mc:Choice>
                <mc:Fallback>
                  <p:oleObj name="Equation" r:id="rId5" imgW="6220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14911" y="2031822"/>
                          <a:ext cx="1036637" cy="3578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itle 1"/>
            <p:cNvSpPr txBox="1">
              <a:spLocks/>
            </p:cNvSpPr>
            <p:nvPr/>
          </p:nvSpPr>
          <p:spPr>
            <a:xfrm>
              <a:off x="533400" y="1946528"/>
              <a:ext cx="1828800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Tích cực: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68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6.1 KHÁI NIỆM &amp; PHÂN LOẠI MẠNG 4 CỰC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/>
          <p:cNvSpPr txBox="1">
            <a:spLocks/>
          </p:cNvSpPr>
          <p:nvPr/>
        </p:nvSpPr>
        <p:spPr>
          <a:xfrm>
            <a:off x="374904" y="933351"/>
            <a:ext cx="8153400" cy="507831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 sơ đồ điển hình mạng 4 cực đối xứng: T, 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, X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762000" y="1479299"/>
            <a:ext cx="2819400" cy="2505187"/>
            <a:chOff x="762000" y="1479299"/>
            <a:chExt cx="2819400" cy="2505187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762000" y="19812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62000" y="32004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10668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908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34122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 rot="5400000">
              <a:off x="1828278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19200" y="1492365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17104" y="1479299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230415" y="2378908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495816" y="3276600"/>
              <a:ext cx="132358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Hình T đối xứng</a:t>
              </a:r>
              <a:endParaRPr lang="en-US" sz="20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10200" y="1479299"/>
            <a:ext cx="2819400" cy="2474756"/>
            <a:chOff x="5105400" y="1479299"/>
            <a:chExt cx="2819400" cy="2474756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5105400" y="19812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105400" y="32004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62484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715000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 rot="5400000">
              <a:off x="5410200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7391400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 rot="5400000">
              <a:off x="7086600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81600" y="2400579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82011" y="1479299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459771" y="242900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744749" y="3246169"/>
              <a:ext cx="132358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Hình </a:t>
              </a:r>
              <a:r>
                <a:rPr lang="en-US" sz="2000">
                  <a:latin typeface="Arial" pitchFamily="34" charset="0"/>
                  <a:cs typeface="Arial" pitchFamily="34" charset="0"/>
                  <a:sym typeface="Symbol" panose="05050102010706020507" pitchFamily="18" charset="2"/>
                </a:rPr>
                <a:t></a:t>
              </a:r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 đối xứng</a:t>
              </a:r>
              <a:endParaRPr lang="en-US" sz="20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096016" y="3810000"/>
            <a:ext cx="2847584" cy="2541992"/>
            <a:chOff x="2638816" y="3914462"/>
            <a:chExt cx="2847584" cy="2541992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2638816" y="4416363"/>
              <a:ext cx="2847584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638816" y="5635563"/>
              <a:ext cx="2847584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3781816" y="4352689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15427" y="3914462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810000" y="555558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943611" y="5188586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048000" y="4416363"/>
              <a:ext cx="205740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 rot="1897803">
              <a:off x="3241181" y="463864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3113929" y="4426157"/>
              <a:ext cx="2007296" cy="12154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 rot="19746735">
              <a:off x="4276660" y="4679043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200400" y="4727775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590855" y="47061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400816" y="5748568"/>
              <a:ext cx="132358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Hình X đối xứng</a:t>
              </a:r>
              <a:endParaRPr lang="en-US" sz="20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244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6.2 CÁC HỆ PT ĐẶC TÍNH CỦA MẠNG 4 CỰC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/>
          <p:cNvSpPr txBox="1">
            <a:spLocks/>
          </p:cNvSpPr>
          <p:nvPr/>
        </p:nvSpPr>
        <p:spPr>
          <a:xfrm>
            <a:off x="530352" y="1157615"/>
            <a:ext cx="8153400" cy="4539704"/>
          </a:xfrm>
          <a:prstGeom prst="rect">
            <a:avLst/>
          </a:prstGeom>
        </p:spPr>
        <p:txBody>
          <a:bodyPr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20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Mạng 4 cực có 4 thông số đặc trưng trên 2 cửa:</a:t>
            </a:r>
          </a:p>
          <a:p>
            <a:pPr algn="just">
              <a:spcBef>
                <a:spcPts val="60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Biểu diễn 2 thông số bất kỳ theo 2 thông số còn lại -&gt; 6 cách biểu diễn, tương ứng với 6 hệ phương trình đặc tính: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đặc tính trở kháng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đặc tính dẫn nạp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đặc tính truyền đạt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đặc tính truyền đạt ngược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đặc tính hỗn hợp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đặc tính hỗn hợp ngược</a:t>
            </a:r>
          </a:p>
        </p:txBody>
      </p:sp>
      <p:graphicFrame>
        <p:nvGraphicFramePr>
          <p:cNvPr id="4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271305"/>
              </p:ext>
            </p:extLst>
          </p:nvPr>
        </p:nvGraphicFramePr>
        <p:xfrm>
          <a:off x="7183331" y="1189717"/>
          <a:ext cx="1442927" cy="447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253800" progId="Equation.DSMT4">
                  <p:embed/>
                </p:oleObj>
              </mc:Choice>
              <mc:Fallback>
                <p:oleObj name="Equation" r:id="rId3" imgW="812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83331" y="1189717"/>
                        <a:ext cx="1442927" cy="447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820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8974" y="2600325"/>
            <a:ext cx="2717626" cy="12096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HỆ PHƯƠNG TRÌNH ĐẶC TÍNH TRỞ KHÁNG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1752600" y="838200"/>
            <a:ext cx="4683691" cy="1481687"/>
            <a:chOff x="1295400" y="2785513"/>
            <a:chExt cx="4683691" cy="1481687"/>
          </a:xfrm>
        </p:grpSpPr>
        <p:sp>
          <p:nvSpPr>
            <p:cNvPr id="11" name="Rectangle 10"/>
            <p:cNvSpPr/>
            <p:nvPr/>
          </p:nvSpPr>
          <p:spPr>
            <a:xfrm>
              <a:off x="2819400" y="2971800"/>
              <a:ext cx="1600200" cy="1295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 trận </a:t>
              </a:r>
              <a:r>
                <a:rPr lang="en-US" sz="2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676400" y="32004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76400" y="40386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419600" y="32004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419600" y="40386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905000" y="3200400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7961498"/>
                </p:ext>
              </p:extLst>
            </p:nvPr>
          </p:nvGraphicFramePr>
          <p:xfrm>
            <a:off x="2122488" y="278551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53800" progId="Equation.DSMT4">
                    <p:embed/>
                  </p:oleObj>
                </mc:Choice>
                <mc:Fallback>
                  <p:oleObj name="Equation" r:id="rId3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22488" y="278551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3319692"/>
                </p:ext>
              </p:extLst>
            </p:nvPr>
          </p:nvGraphicFramePr>
          <p:xfrm>
            <a:off x="5029200" y="2796625"/>
            <a:ext cx="26193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253800" progId="Equation.DSMT4">
                    <p:embed/>
                  </p:oleObj>
                </mc:Choice>
                <mc:Fallback>
                  <p:oleObj name="Equation" r:id="rId5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29200" y="2796625"/>
                          <a:ext cx="26193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" name="Straight Arrow Connector 25"/>
            <p:cNvCxnSpPr/>
            <p:nvPr/>
          </p:nvCxnSpPr>
          <p:spPr>
            <a:xfrm flipH="1">
              <a:off x="4991100" y="3200400"/>
              <a:ext cx="3000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295400" y="2959274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95400" y="38055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23873" y="2959274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3873" y="38055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836382"/>
                </p:ext>
              </p:extLst>
            </p:nvPr>
          </p:nvGraphicFramePr>
          <p:xfrm>
            <a:off x="1443038" y="3439563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43038" y="3439563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0593441"/>
                </p:ext>
              </p:extLst>
            </p:nvPr>
          </p:nvGraphicFramePr>
          <p:xfrm>
            <a:off x="5486400" y="3404638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53800" progId="Equation.DSMT4">
                    <p:embed/>
                  </p:oleObj>
                </mc:Choice>
                <mc:Fallback>
                  <p:oleObj name="Equation" r:id="rId9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86400" y="3404638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367492"/>
              </p:ext>
            </p:extLst>
          </p:nvPr>
        </p:nvGraphicFramePr>
        <p:xfrm>
          <a:off x="528637" y="2600325"/>
          <a:ext cx="8158163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82800" imgH="545760" progId="Equation.DSMT4">
                  <p:embed/>
                </p:oleObj>
              </mc:Choice>
              <mc:Fallback>
                <p:oleObj name="Equation" r:id="rId11" imgW="36828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" y="2600325"/>
                        <a:ext cx="8158163" cy="1209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789405"/>
              </p:ext>
            </p:extLst>
          </p:nvPr>
        </p:nvGraphicFramePr>
        <p:xfrm>
          <a:off x="558974" y="3903662"/>
          <a:ext cx="2081213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600" imgH="507960" progId="Equation.DSMT4">
                  <p:embed/>
                </p:oleObj>
              </mc:Choice>
              <mc:Fallback>
                <p:oleObj name="Equation" r:id="rId13" imgW="9396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74" y="3903662"/>
                        <a:ext cx="2081213" cy="1125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>
          <a:xfrm>
            <a:off x="2616374" y="4200143"/>
            <a:ext cx="43178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Ma trận trở kháng của M4C</a:t>
            </a: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702578"/>
              </p:ext>
            </p:extLst>
          </p:nvPr>
        </p:nvGraphicFramePr>
        <p:xfrm>
          <a:off x="696369" y="5190364"/>
          <a:ext cx="1755775" cy="117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545760" progId="Equation.DSMT4">
                  <p:embed/>
                </p:oleObj>
              </mc:Choice>
              <mc:Fallback>
                <p:oleObj name="Equation" r:id="rId15" imgW="8125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69" y="5190364"/>
                        <a:ext cx="1755775" cy="11787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614787"/>
              </p:ext>
            </p:extLst>
          </p:nvPr>
        </p:nvGraphicFramePr>
        <p:xfrm>
          <a:off x="2738438" y="5154613"/>
          <a:ext cx="1811337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545760" progId="Equation.DSMT4">
                  <p:embed/>
                </p:oleObj>
              </mc:Choice>
              <mc:Fallback>
                <p:oleObj name="Equation" r:id="rId17" imgW="83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5154613"/>
                        <a:ext cx="1811337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901873"/>
              </p:ext>
            </p:extLst>
          </p:nvPr>
        </p:nvGraphicFramePr>
        <p:xfrm>
          <a:off x="4848225" y="5119688"/>
          <a:ext cx="1728788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99920" imgH="545760" progId="Equation.DSMT4">
                  <p:embed/>
                </p:oleObj>
              </mc:Choice>
              <mc:Fallback>
                <p:oleObj name="Equation" r:id="rId19" imgW="7999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5119688"/>
                        <a:ext cx="1728788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18536"/>
              </p:ext>
            </p:extLst>
          </p:nvPr>
        </p:nvGraphicFramePr>
        <p:xfrm>
          <a:off x="6877050" y="5084763"/>
          <a:ext cx="180975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38080" imgH="545760" progId="Equation.DSMT4">
                  <p:embed/>
                </p:oleObj>
              </mc:Choice>
              <mc:Fallback>
                <p:oleObj name="Equation" r:id="rId21" imgW="83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5084763"/>
                        <a:ext cx="1809750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375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74904" y="381000"/>
            <a:ext cx="6635496" cy="1047447"/>
            <a:chOff x="374904" y="593204"/>
            <a:chExt cx="6635496" cy="1047447"/>
          </a:xfrm>
        </p:grpSpPr>
        <p:sp>
          <p:nvSpPr>
            <p:cNvPr id="41" name="Title 1"/>
            <p:cNvSpPr txBox="1">
              <a:spLocks/>
            </p:cNvSpPr>
            <p:nvPr/>
          </p:nvSpPr>
          <p:spPr>
            <a:xfrm>
              <a:off x="374904" y="609600"/>
              <a:ext cx="3739896" cy="103105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tương hỗ:</a:t>
              </a:r>
            </a:p>
            <a:p>
              <a:pPr marL="342900" indent="-342900">
                <a:spcBef>
                  <a:spcPts val="1200"/>
                </a:spcBef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đối xứng:</a:t>
              </a:r>
            </a:p>
          </p:txBody>
        </p:sp>
        <p:graphicFrame>
          <p:nvGraphicFramePr>
            <p:cNvPr id="3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4717803"/>
                </p:ext>
              </p:extLst>
            </p:nvPr>
          </p:nvGraphicFramePr>
          <p:xfrm>
            <a:off x="4114800" y="593204"/>
            <a:ext cx="1295400" cy="516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71320" imgH="228600" progId="Equation.DSMT4">
                    <p:embed/>
                  </p:oleObj>
                </mc:Choice>
                <mc:Fallback>
                  <p:oleObj name="Equation" r:id="rId3" imgW="571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4800" y="593204"/>
                          <a:ext cx="1295400" cy="5161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0568408"/>
                </p:ext>
              </p:extLst>
            </p:nvPr>
          </p:nvGraphicFramePr>
          <p:xfrm>
            <a:off x="4073525" y="1109663"/>
            <a:ext cx="2936875" cy="515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95280" imgH="228600" progId="Equation.DSMT4">
                    <p:embed/>
                  </p:oleObj>
                </mc:Choice>
                <mc:Fallback>
                  <p:oleObj name="Equation" r:id="rId5" imgW="1295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525" y="1109663"/>
                          <a:ext cx="2936875" cy="5159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/>
          <p:cNvGrpSpPr/>
          <p:nvPr/>
        </p:nvGrpSpPr>
        <p:grpSpPr>
          <a:xfrm>
            <a:off x="5599277" y="1438229"/>
            <a:ext cx="3126992" cy="1762171"/>
            <a:chOff x="5480312" y="1428447"/>
            <a:chExt cx="3126992" cy="1762171"/>
          </a:xfrm>
        </p:grpSpPr>
        <p:grpSp>
          <p:nvGrpSpPr>
            <p:cNvPr id="5" name="Group 4"/>
            <p:cNvGrpSpPr/>
            <p:nvPr/>
          </p:nvGrpSpPr>
          <p:grpSpPr>
            <a:xfrm>
              <a:off x="5600700" y="1428447"/>
              <a:ext cx="2819400" cy="1721101"/>
              <a:chOff x="762000" y="1479299"/>
              <a:chExt cx="2819400" cy="1721101"/>
            </a:xfrm>
          </p:grpSpPr>
          <p:cxnSp>
            <p:nvCxnSpPr>
              <p:cNvPr id="45" name="Straight Connector 44"/>
              <p:cNvCxnSpPr/>
              <p:nvPr/>
            </p:nvCxnSpPr>
            <p:spPr>
              <a:xfrm>
                <a:off x="762000" y="1981200"/>
                <a:ext cx="2819400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762000" y="3200400"/>
                <a:ext cx="2819400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/>
              <p:cNvSpPr/>
              <p:nvPr/>
            </p:nvSpPr>
            <p:spPr>
              <a:xfrm>
                <a:off x="1104900" y="1917526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2590800" y="1917526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/>
              <p:cNvCxnSpPr/>
              <p:nvPr/>
            </p:nvCxnSpPr>
            <p:spPr>
              <a:xfrm>
                <a:off x="2134122" y="1981200"/>
                <a:ext cx="0" cy="1219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/>
              <p:cNvSpPr/>
              <p:nvPr/>
            </p:nvSpPr>
            <p:spPr>
              <a:xfrm rot="5400000">
                <a:off x="1828278" y="2524434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257300" y="1492365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717104" y="1479299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230415" y="2378908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cxnSp>
          <p:nvCxnSpPr>
            <p:cNvPr id="7" name="Straight Arrow Connector 6"/>
            <p:cNvCxnSpPr/>
            <p:nvPr/>
          </p:nvCxnSpPr>
          <p:spPr>
            <a:xfrm>
              <a:off x="5943600" y="2133600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7428978" y="2133600"/>
              <a:ext cx="5882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5480312" y="188190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480312" y="2728166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352086" y="1882692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52086" y="2728953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6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1721463"/>
                </p:ext>
              </p:extLst>
            </p:nvPr>
          </p:nvGraphicFramePr>
          <p:xfrm>
            <a:off x="5627950" y="2419350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627950" y="2419350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841766"/>
                </p:ext>
              </p:extLst>
            </p:nvPr>
          </p:nvGraphicFramePr>
          <p:xfrm>
            <a:off x="8114613" y="2385212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53800" progId="Equation.DSMT4">
                    <p:embed/>
                  </p:oleObj>
                </mc:Choice>
                <mc:Fallback>
                  <p:oleObj name="Equation" r:id="rId9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114613" y="2385212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6907437"/>
                </p:ext>
              </p:extLst>
            </p:nvPr>
          </p:nvGraphicFramePr>
          <p:xfrm>
            <a:off x="6155152" y="2138311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253800" progId="Equation.DSMT4">
                    <p:embed/>
                  </p:oleObj>
                </mc:Choice>
                <mc:Fallback>
                  <p:oleObj name="Equation" r:id="rId11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55152" y="2138311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471269"/>
                </p:ext>
              </p:extLst>
            </p:nvPr>
          </p:nvGraphicFramePr>
          <p:xfrm>
            <a:off x="7742238" y="2127250"/>
            <a:ext cx="260350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53800" progId="Equation.DSMT4">
                    <p:embed/>
                  </p:oleObj>
                </mc:Choice>
                <mc:Fallback>
                  <p:oleObj name="Equation" r:id="rId13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742238" y="2127250"/>
                          <a:ext cx="260350" cy="4016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596646"/>
              </p:ext>
            </p:extLst>
          </p:nvPr>
        </p:nvGraphicFramePr>
        <p:xfrm>
          <a:off x="544513" y="3261844"/>
          <a:ext cx="28702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98320" imgH="545760" progId="Equation.DSMT4">
                  <p:embed/>
                </p:oleObj>
              </mc:Choice>
              <mc:Fallback>
                <p:oleObj name="Equation" r:id="rId15" imgW="14983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3261844"/>
                        <a:ext cx="2870200" cy="1044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277778"/>
              </p:ext>
            </p:extLst>
          </p:nvPr>
        </p:nvGraphicFramePr>
        <p:xfrm>
          <a:off x="3776663" y="3200400"/>
          <a:ext cx="231933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68200" imgH="545760" progId="Equation.DSMT4">
                  <p:embed/>
                </p:oleObj>
              </mc:Choice>
              <mc:Fallback>
                <p:oleObj name="Equation" r:id="rId17" imgW="1168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3200400"/>
                        <a:ext cx="2319337" cy="1082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286281"/>
              </p:ext>
            </p:extLst>
          </p:nvPr>
        </p:nvGraphicFramePr>
        <p:xfrm>
          <a:off x="3886200" y="5095875"/>
          <a:ext cx="226853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43000" imgH="545760" progId="Equation.DSMT4">
                  <p:embed/>
                </p:oleObj>
              </mc:Choice>
              <mc:Fallback>
                <p:oleObj name="Equation" r:id="rId19" imgW="11430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095875"/>
                        <a:ext cx="2268537" cy="1082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972034"/>
              </p:ext>
            </p:extLst>
          </p:nvPr>
        </p:nvGraphicFramePr>
        <p:xfrm>
          <a:off x="533400" y="5153025"/>
          <a:ext cx="30448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36480" imgH="545760" progId="Equation.DSMT4">
                  <p:embed/>
                </p:oleObj>
              </mc:Choice>
              <mc:Fallback>
                <p:oleObj name="Equation" r:id="rId21" imgW="15364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53025"/>
                        <a:ext cx="3044825" cy="1082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itle 1"/>
          <p:cNvSpPr txBox="1">
            <a:spLocks/>
          </p:cNvSpPr>
          <p:nvPr/>
        </p:nvSpPr>
        <p:spPr>
          <a:xfrm>
            <a:off x="538566" y="1785681"/>
            <a:ext cx="4823641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Hãy tìm ma trận Z của M4C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603504" y="4419600"/>
            <a:ext cx="3680641" cy="507831"/>
            <a:chOff x="738959" y="4927584"/>
            <a:chExt cx="3680641" cy="507831"/>
          </a:xfrm>
        </p:grpSpPr>
        <p:sp>
          <p:nvSpPr>
            <p:cNvPr id="70" name="Title 1"/>
            <p:cNvSpPr txBox="1">
              <a:spLocks/>
            </p:cNvSpPr>
            <p:nvPr/>
          </p:nvSpPr>
          <p:spPr>
            <a:xfrm>
              <a:off x="738959" y="4927584"/>
              <a:ext cx="3680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Hở mạch cửa 1,         :</a:t>
              </a:r>
            </a:p>
          </p:txBody>
        </p:sp>
        <p:graphicFrame>
          <p:nvGraphicFramePr>
            <p:cNvPr id="72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3823632"/>
                </p:ext>
              </p:extLst>
            </p:nvPr>
          </p:nvGraphicFramePr>
          <p:xfrm>
            <a:off x="3106738" y="4955110"/>
            <a:ext cx="703262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06080" imgH="253800" progId="Equation.DSMT4">
                    <p:embed/>
                  </p:oleObj>
                </mc:Choice>
                <mc:Fallback>
                  <p:oleObj name="Equation" r:id="rId23" imgW="4060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106738" y="4955110"/>
                          <a:ext cx="703262" cy="442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4"/>
          <p:cNvGrpSpPr/>
          <p:nvPr/>
        </p:nvGrpSpPr>
        <p:grpSpPr>
          <a:xfrm>
            <a:off x="534575" y="2463969"/>
            <a:ext cx="4728413" cy="507831"/>
            <a:chOff x="607249" y="3396153"/>
            <a:chExt cx="4823641" cy="507831"/>
          </a:xfrm>
        </p:grpSpPr>
        <p:sp>
          <p:nvSpPr>
            <p:cNvPr id="64" name="Title 1"/>
            <p:cNvSpPr txBox="1">
              <a:spLocks/>
            </p:cNvSpPr>
            <p:nvPr/>
          </p:nvSpPr>
          <p:spPr>
            <a:xfrm>
              <a:off x="607249" y="3396153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Hở mạch cửa 2,         :</a:t>
              </a:r>
            </a:p>
          </p:txBody>
        </p:sp>
        <p:graphicFrame>
          <p:nvGraphicFramePr>
            <p:cNvPr id="73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1076614"/>
                </p:ext>
              </p:extLst>
            </p:nvPr>
          </p:nvGraphicFramePr>
          <p:xfrm>
            <a:off x="3031327" y="3448353"/>
            <a:ext cx="746125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431640" imgH="253800" progId="Equation.DSMT4">
                    <p:embed/>
                  </p:oleObj>
                </mc:Choice>
                <mc:Fallback>
                  <p:oleObj name="Equation" r:id="rId25" imgW="431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031327" y="3448353"/>
                          <a:ext cx="746125" cy="442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340115"/>
              </p:ext>
            </p:extLst>
          </p:nvPr>
        </p:nvGraphicFramePr>
        <p:xfrm>
          <a:off x="6324600" y="4243388"/>
          <a:ext cx="2551112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422360" imgH="507960" progId="Equation.DSMT4">
                  <p:embed/>
                </p:oleObj>
              </mc:Choice>
              <mc:Fallback>
                <p:oleObj name="Equation" r:id="rId27" imgW="14223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243388"/>
                        <a:ext cx="2551112" cy="9096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3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5925" y="2514600"/>
            <a:ext cx="2936875" cy="12096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HỆ PHƯƠNG TRÌNH ĐẶC TÍNH DẪN NẠP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1752600" y="838200"/>
            <a:ext cx="4683691" cy="1481687"/>
            <a:chOff x="1295400" y="2785513"/>
            <a:chExt cx="4683691" cy="1481687"/>
          </a:xfrm>
        </p:grpSpPr>
        <p:sp>
          <p:nvSpPr>
            <p:cNvPr id="11" name="Rectangle 10"/>
            <p:cNvSpPr/>
            <p:nvPr/>
          </p:nvSpPr>
          <p:spPr>
            <a:xfrm>
              <a:off x="2819400" y="2971800"/>
              <a:ext cx="1600200" cy="1295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 trận </a:t>
              </a:r>
              <a:r>
                <a:rPr lang="en-US" sz="2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676400" y="32004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76400" y="40386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419600" y="32004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419600" y="40386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905000" y="3200400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2122488" y="278551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53800" progId="Equation.DSMT4">
                    <p:embed/>
                  </p:oleObj>
                </mc:Choice>
                <mc:Fallback>
                  <p:oleObj name="Equation" r:id="rId3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22488" y="278551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/>
            <p:cNvGraphicFramePr>
              <a:graphicFrameLocks noChangeAspect="1"/>
            </p:cNvGraphicFramePr>
            <p:nvPr/>
          </p:nvGraphicFramePr>
          <p:xfrm>
            <a:off x="5029200" y="2796625"/>
            <a:ext cx="26193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253800" progId="Equation.DSMT4">
                    <p:embed/>
                  </p:oleObj>
                </mc:Choice>
                <mc:Fallback>
                  <p:oleObj name="Equation" r:id="rId5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29200" y="2796625"/>
                          <a:ext cx="261938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" name="Straight Arrow Connector 25"/>
            <p:cNvCxnSpPr/>
            <p:nvPr/>
          </p:nvCxnSpPr>
          <p:spPr>
            <a:xfrm flipH="1">
              <a:off x="4991100" y="3200400"/>
              <a:ext cx="3000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295400" y="2959274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95400" y="38055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23873" y="2959274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3873" y="38055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34" name="Object 33"/>
            <p:cNvGraphicFramePr>
              <a:graphicFrameLocks noChangeAspect="1"/>
            </p:cNvGraphicFramePr>
            <p:nvPr/>
          </p:nvGraphicFramePr>
          <p:xfrm>
            <a:off x="1443038" y="3439563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43038" y="3439563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5486400" y="3404638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53800" progId="Equation.DSMT4">
                    <p:embed/>
                  </p:oleObj>
                </mc:Choice>
                <mc:Fallback>
                  <p:oleObj name="Equation" r:id="rId9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86400" y="3404638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963287"/>
              </p:ext>
            </p:extLst>
          </p:nvPr>
        </p:nvGraphicFramePr>
        <p:xfrm>
          <a:off x="415925" y="2514600"/>
          <a:ext cx="838358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84320" imgH="545760" progId="Equation.DSMT4">
                  <p:embed/>
                </p:oleObj>
              </mc:Choice>
              <mc:Fallback>
                <p:oleObj name="Equation" r:id="rId11" imgW="37843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" y="2514600"/>
                        <a:ext cx="8383588" cy="1209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06022"/>
              </p:ext>
            </p:extLst>
          </p:nvPr>
        </p:nvGraphicFramePr>
        <p:xfrm>
          <a:off x="546100" y="3903663"/>
          <a:ext cx="210820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52200" imgH="507960" progId="Equation.DSMT4">
                  <p:embed/>
                </p:oleObj>
              </mc:Choice>
              <mc:Fallback>
                <p:oleObj name="Equation" r:id="rId13" imgW="9522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3903663"/>
                        <a:ext cx="2108200" cy="1125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>
          <a:xfrm>
            <a:off x="2616374" y="4200143"/>
            <a:ext cx="43178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Ma trận dẫn nạp của M4C</a:t>
            </a: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994442"/>
              </p:ext>
            </p:extLst>
          </p:nvPr>
        </p:nvGraphicFramePr>
        <p:xfrm>
          <a:off x="657225" y="5191125"/>
          <a:ext cx="183673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50680" imgH="545760" progId="Equation.DSMT4">
                  <p:embed/>
                </p:oleObj>
              </mc:Choice>
              <mc:Fallback>
                <p:oleObj name="Equation" r:id="rId15" imgW="8506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5191125"/>
                        <a:ext cx="1836738" cy="1177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010195"/>
              </p:ext>
            </p:extLst>
          </p:nvPr>
        </p:nvGraphicFramePr>
        <p:xfrm>
          <a:off x="2711450" y="5154613"/>
          <a:ext cx="186690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63280" imgH="545760" progId="Equation.DSMT4">
                  <p:embed/>
                </p:oleObj>
              </mc:Choice>
              <mc:Fallback>
                <p:oleObj name="Equation" r:id="rId17" imgW="8632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154613"/>
                        <a:ext cx="1866900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413066"/>
              </p:ext>
            </p:extLst>
          </p:nvPr>
        </p:nvGraphicFramePr>
        <p:xfrm>
          <a:off x="4757738" y="5141913"/>
          <a:ext cx="186372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63280" imgH="545760" progId="Equation.DSMT4">
                  <p:embed/>
                </p:oleObj>
              </mc:Choice>
              <mc:Fallback>
                <p:oleObj name="Equation" r:id="rId19" imgW="8632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5141913"/>
                        <a:ext cx="1863725" cy="1177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702068"/>
              </p:ext>
            </p:extLst>
          </p:nvPr>
        </p:nvGraphicFramePr>
        <p:xfrm>
          <a:off x="6810375" y="5105400"/>
          <a:ext cx="189547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76240" imgH="545760" progId="Equation.DSMT4">
                  <p:embed/>
                </p:oleObj>
              </mc:Choice>
              <mc:Fallback>
                <p:oleObj name="Equation" r:id="rId21" imgW="8762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75" y="5105400"/>
                        <a:ext cx="1895475" cy="1179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660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74904" y="381000"/>
            <a:ext cx="6706934" cy="1047447"/>
            <a:chOff x="374904" y="593204"/>
            <a:chExt cx="6706934" cy="1047447"/>
          </a:xfrm>
        </p:grpSpPr>
        <p:sp>
          <p:nvSpPr>
            <p:cNvPr id="41" name="Title 1"/>
            <p:cNvSpPr txBox="1">
              <a:spLocks/>
            </p:cNvSpPr>
            <p:nvPr/>
          </p:nvSpPr>
          <p:spPr>
            <a:xfrm>
              <a:off x="374904" y="609600"/>
              <a:ext cx="3739896" cy="103105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tương hỗ:</a:t>
              </a:r>
            </a:p>
            <a:p>
              <a:pPr marL="342900" indent="-342900">
                <a:spcBef>
                  <a:spcPts val="1200"/>
                </a:spcBef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đối xứng:</a:t>
              </a:r>
            </a:p>
          </p:txBody>
        </p:sp>
        <p:graphicFrame>
          <p:nvGraphicFramePr>
            <p:cNvPr id="3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7563731"/>
                </p:ext>
              </p:extLst>
            </p:nvPr>
          </p:nvGraphicFramePr>
          <p:xfrm>
            <a:off x="4086225" y="593204"/>
            <a:ext cx="1352550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96880" imgH="228600" progId="Equation.DSMT4">
                    <p:embed/>
                  </p:oleObj>
                </mc:Choice>
                <mc:Fallback>
                  <p:oleObj name="Equation" r:id="rId3" imgW="596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6225" y="593204"/>
                          <a:ext cx="1352550" cy="5159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3369811"/>
                </p:ext>
              </p:extLst>
            </p:nvPr>
          </p:nvGraphicFramePr>
          <p:xfrm>
            <a:off x="4002088" y="1109142"/>
            <a:ext cx="3079750" cy="515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58640" imgH="228600" progId="Equation.DSMT4">
                    <p:embed/>
                  </p:oleObj>
                </mc:Choice>
                <mc:Fallback>
                  <p:oleObj name="Equation" r:id="rId5" imgW="1358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2088" y="1109142"/>
                          <a:ext cx="3079750" cy="5159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Title 1"/>
          <p:cNvSpPr txBox="1">
            <a:spLocks/>
          </p:cNvSpPr>
          <p:nvPr/>
        </p:nvSpPr>
        <p:spPr>
          <a:xfrm>
            <a:off x="538566" y="1776110"/>
            <a:ext cx="4823641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Hãy tìm ma trận Y của M4C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34575" y="2616369"/>
            <a:ext cx="4728413" cy="507831"/>
            <a:chOff x="607249" y="3396153"/>
            <a:chExt cx="4823641" cy="507831"/>
          </a:xfrm>
        </p:grpSpPr>
        <p:sp>
          <p:nvSpPr>
            <p:cNvPr id="64" name="Title 1"/>
            <p:cNvSpPr txBox="1">
              <a:spLocks/>
            </p:cNvSpPr>
            <p:nvPr/>
          </p:nvSpPr>
          <p:spPr>
            <a:xfrm>
              <a:off x="607249" y="3396153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Ngắn mạch cửa 2,           :</a:t>
              </a:r>
            </a:p>
          </p:txBody>
        </p:sp>
        <p:graphicFrame>
          <p:nvGraphicFramePr>
            <p:cNvPr id="73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6973793"/>
                </p:ext>
              </p:extLst>
            </p:nvPr>
          </p:nvGraphicFramePr>
          <p:xfrm>
            <a:off x="3347815" y="3447574"/>
            <a:ext cx="834028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82400" imgH="253800" progId="Equation.DSMT4">
                    <p:embed/>
                  </p:oleObj>
                </mc:Choice>
                <mc:Fallback>
                  <p:oleObj name="Equation" r:id="rId7" imgW="482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47815" y="3447574"/>
                          <a:ext cx="834028" cy="442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986749"/>
              </p:ext>
            </p:extLst>
          </p:nvPr>
        </p:nvGraphicFramePr>
        <p:xfrm>
          <a:off x="6335713" y="4243388"/>
          <a:ext cx="2528887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09400" imgH="507960" progId="Equation.DSMT4">
                  <p:embed/>
                </p:oleObj>
              </mc:Choice>
              <mc:Fallback>
                <p:oleObj name="Equation" r:id="rId9" imgW="14094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4243388"/>
                        <a:ext cx="2528887" cy="9096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459782" y="1447800"/>
            <a:ext cx="3303218" cy="1752600"/>
            <a:chOff x="5257800" y="1524000"/>
            <a:chExt cx="3303218" cy="1752600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486400" y="2057400"/>
              <a:ext cx="4906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7709966" y="2057400"/>
              <a:ext cx="4434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5257800" y="1891687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257800" y="2737948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305800" y="190500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05800" y="28149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6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7466378"/>
                </p:ext>
              </p:extLst>
            </p:nvPr>
          </p:nvGraphicFramePr>
          <p:xfrm>
            <a:off x="5334000" y="2429132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53800" progId="Equation.DSMT4">
                    <p:embed/>
                  </p:oleObj>
                </mc:Choice>
                <mc:Fallback>
                  <p:oleObj name="Equation" r:id="rId11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334000" y="2429132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3429127"/>
                </p:ext>
              </p:extLst>
            </p:nvPr>
          </p:nvGraphicFramePr>
          <p:xfrm>
            <a:off x="8116887" y="2394994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53800" progId="Equation.DSMT4">
                    <p:embed/>
                  </p:oleObj>
                </mc:Choice>
                <mc:Fallback>
                  <p:oleObj name="Equation" r:id="rId13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116887" y="2394994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9463075"/>
                </p:ext>
              </p:extLst>
            </p:nvPr>
          </p:nvGraphicFramePr>
          <p:xfrm>
            <a:off x="5596035" y="2062111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253800" progId="Equation.DSMT4">
                    <p:embed/>
                  </p:oleObj>
                </mc:Choice>
                <mc:Fallback>
                  <p:oleObj name="Equation" r:id="rId15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596035" y="2062111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069762"/>
                </p:ext>
              </p:extLst>
            </p:nvPr>
          </p:nvGraphicFramePr>
          <p:xfrm>
            <a:off x="7861203" y="2057400"/>
            <a:ext cx="260350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4880" imgH="253800" progId="Equation.DSMT4">
                    <p:embed/>
                  </p:oleObj>
                </mc:Choice>
                <mc:Fallback>
                  <p:oleObj name="Equation" r:id="rId17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861203" y="2057400"/>
                          <a:ext cx="260350" cy="4016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2" name="Straight Connector 41"/>
            <p:cNvCxnSpPr/>
            <p:nvPr/>
          </p:nvCxnSpPr>
          <p:spPr>
            <a:xfrm>
              <a:off x="5410200" y="19812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5410200" y="32004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65532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6167723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 rot="5400000">
              <a:off x="5862923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7556759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 rot="5400000">
              <a:off x="7251959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248400" y="2389599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686811" y="15240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086600" y="235675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33245" y="4572000"/>
            <a:ext cx="4728413" cy="507831"/>
            <a:chOff x="607249" y="3396153"/>
            <a:chExt cx="4823641" cy="507831"/>
          </a:xfrm>
        </p:grpSpPr>
        <p:sp>
          <p:nvSpPr>
            <p:cNvPr id="82" name="Title 1"/>
            <p:cNvSpPr txBox="1">
              <a:spLocks/>
            </p:cNvSpPr>
            <p:nvPr/>
          </p:nvSpPr>
          <p:spPr>
            <a:xfrm>
              <a:off x="607249" y="3396153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Ngắn mạch cửa 1,           :</a:t>
              </a:r>
            </a:p>
          </p:txBody>
        </p:sp>
        <p:graphicFrame>
          <p:nvGraphicFramePr>
            <p:cNvPr id="83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55082"/>
                </p:ext>
              </p:extLst>
            </p:nvPr>
          </p:nvGraphicFramePr>
          <p:xfrm>
            <a:off x="3368607" y="3446869"/>
            <a:ext cx="790302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457200" imgH="253800" progId="Equation.DSMT4">
                    <p:embed/>
                  </p:oleObj>
                </mc:Choice>
                <mc:Fallback>
                  <p:oleObj name="Equation" r:id="rId19" imgW="4572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68607" y="3446869"/>
                          <a:ext cx="790302" cy="442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559319"/>
              </p:ext>
            </p:extLst>
          </p:nvPr>
        </p:nvGraphicFramePr>
        <p:xfrm>
          <a:off x="560387" y="3278188"/>
          <a:ext cx="2944813" cy="1119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34960" imgH="545760" progId="Equation.DSMT4">
                  <p:embed/>
                </p:oleObj>
              </mc:Choice>
              <mc:Fallback>
                <p:oleObj name="Equation" r:id="rId21" imgW="14349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" y="3278188"/>
                        <a:ext cx="2944813" cy="1119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551534"/>
              </p:ext>
            </p:extLst>
          </p:nvPr>
        </p:nvGraphicFramePr>
        <p:xfrm>
          <a:off x="3997325" y="3222625"/>
          <a:ext cx="255587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44520" imgH="545760" progId="Equation.DSMT4">
                  <p:embed/>
                </p:oleObj>
              </mc:Choice>
              <mc:Fallback>
                <p:oleObj name="Equation" r:id="rId23" imgW="12445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3222625"/>
                        <a:ext cx="2555875" cy="1120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15710"/>
              </p:ext>
            </p:extLst>
          </p:nvPr>
        </p:nvGraphicFramePr>
        <p:xfrm>
          <a:off x="577850" y="5081588"/>
          <a:ext cx="3017838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60160" imgH="545760" progId="Equation.DSMT4">
                  <p:embed/>
                </p:oleObj>
              </mc:Choice>
              <mc:Fallback>
                <p:oleObj name="Equation" r:id="rId25" imgW="14601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5081588"/>
                        <a:ext cx="3017838" cy="1128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061471"/>
              </p:ext>
            </p:extLst>
          </p:nvPr>
        </p:nvGraphicFramePr>
        <p:xfrm>
          <a:off x="3985733" y="5116344"/>
          <a:ext cx="2643667" cy="114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57120" imgH="545760" progId="Equation.DSMT4">
                  <p:embed/>
                </p:oleObj>
              </mc:Choice>
              <mc:Fallback>
                <p:oleObj name="Equation" r:id="rId27" imgW="12571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5733" y="5116344"/>
                        <a:ext cx="2643667" cy="11466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607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9762" y="2514600"/>
            <a:ext cx="2789238" cy="12096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 HỆ PHƯƠNG TRÌNH ĐẶC TÍNH TRUYỀN ĐẠT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1752600" y="838200"/>
            <a:ext cx="4683691" cy="1481687"/>
            <a:chOff x="1295400" y="2785513"/>
            <a:chExt cx="4683691" cy="1481687"/>
          </a:xfrm>
        </p:grpSpPr>
        <p:sp>
          <p:nvSpPr>
            <p:cNvPr id="11" name="Rectangle 10"/>
            <p:cNvSpPr/>
            <p:nvPr/>
          </p:nvSpPr>
          <p:spPr>
            <a:xfrm>
              <a:off x="2819400" y="2971800"/>
              <a:ext cx="1600200" cy="1295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 trận </a:t>
              </a:r>
              <a:r>
                <a:rPr lang="en-US" sz="2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676400" y="32004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76400" y="40386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419600" y="32004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419600" y="4038600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905000" y="3200400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2122488" y="278551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53800" progId="Equation.DSMT4">
                    <p:embed/>
                  </p:oleObj>
                </mc:Choice>
                <mc:Fallback>
                  <p:oleObj name="Equation" r:id="rId3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22488" y="278551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7496728"/>
                </p:ext>
              </p:extLst>
            </p:nvPr>
          </p:nvGraphicFramePr>
          <p:xfrm>
            <a:off x="4706938" y="2796626"/>
            <a:ext cx="9064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71320" imgH="253800" progId="Equation.DSMT4">
                    <p:embed/>
                  </p:oleObj>
                </mc:Choice>
                <mc:Fallback>
                  <p:oleObj name="Equation" r:id="rId5" imgW="5713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06938" y="2796626"/>
                          <a:ext cx="9064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Box 28"/>
            <p:cNvSpPr txBox="1"/>
            <p:nvPr/>
          </p:nvSpPr>
          <p:spPr>
            <a:xfrm>
              <a:off x="1295400" y="2959274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95400" y="38055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23873" y="2959274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3873" y="38055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34" name="Object 33"/>
            <p:cNvGraphicFramePr>
              <a:graphicFrameLocks noChangeAspect="1"/>
            </p:cNvGraphicFramePr>
            <p:nvPr/>
          </p:nvGraphicFramePr>
          <p:xfrm>
            <a:off x="1443038" y="3439563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43038" y="3439563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5486400" y="3404638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53800" progId="Equation.DSMT4">
                    <p:embed/>
                  </p:oleObj>
                </mc:Choice>
                <mc:Fallback>
                  <p:oleObj name="Equation" r:id="rId9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86400" y="3404638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81270"/>
              </p:ext>
            </p:extLst>
          </p:nvPr>
        </p:nvGraphicFramePr>
        <p:xfrm>
          <a:off x="639762" y="2514600"/>
          <a:ext cx="675163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7760" imgH="545760" progId="Equation.DSMT4">
                  <p:embed/>
                </p:oleObj>
              </mc:Choice>
              <mc:Fallback>
                <p:oleObj name="Equation" r:id="rId11" imgW="30477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2" y="2514600"/>
                        <a:ext cx="6751638" cy="1209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2493"/>
              </p:ext>
            </p:extLst>
          </p:nvPr>
        </p:nvGraphicFramePr>
        <p:xfrm>
          <a:off x="546100" y="3903663"/>
          <a:ext cx="210820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52200" imgH="507960" progId="Equation.DSMT4">
                  <p:embed/>
                </p:oleObj>
              </mc:Choice>
              <mc:Fallback>
                <p:oleObj name="Equation" r:id="rId13" imgW="9522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3903663"/>
                        <a:ext cx="2108200" cy="1125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>
          <a:xfrm>
            <a:off x="2616374" y="4200143"/>
            <a:ext cx="43178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Ma trận truyền đạt của M4C</a:t>
            </a: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847019"/>
              </p:ext>
            </p:extLst>
          </p:nvPr>
        </p:nvGraphicFramePr>
        <p:xfrm>
          <a:off x="669925" y="5191125"/>
          <a:ext cx="180975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38080" imgH="545760" progId="Equation.DSMT4">
                  <p:embed/>
                </p:oleObj>
              </mc:Choice>
              <mc:Fallback>
                <p:oleObj name="Equation" r:id="rId15" imgW="83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5191125"/>
                        <a:ext cx="1809750" cy="1177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62741"/>
              </p:ext>
            </p:extLst>
          </p:nvPr>
        </p:nvGraphicFramePr>
        <p:xfrm>
          <a:off x="2725738" y="5154613"/>
          <a:ext cx="1838325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50680" imgH="545760" progId="Equation.DSMT4">
                  <p:embed/>
                </p:oleObj>
              </mc:Choice>
              <mc:Fallback>
                <p:oleObj name="Equation" r:id="rId17" imgW="8506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5154613"/>
                        <a:ext cx="1838325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928245"/>
              </p:ext>
            </p:extLst>
          </p:nvPr>
        </p:nvGraphicFramePr>
        <p:xfrm>
          <a:off x="4711700" y="5119688"/>
          <a:ext cx="2003425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27000" imgH="545760" progId="Equation.DSMT4">
                  <p:embed/>
                </p:oleObj>
              </mc:Choice>
              <mc:Fallback>
                <p:oleObj name="Equation" r:id="rId19" imgW="9270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5119688"/>
                        <a:ext cx="2003425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003536"/>
              </p:ext>
            </p:extLst>
          </p:nvPr>
        </p:nvGraphicFramePr>
        <p:xfrm>
          <a:off x="6767513" y="5084763"/>
          <a:ext cx="2028825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39600" imgH="545760" progId="Equation.DSMT4">
                  <p:embed/>
                </p:oleObj>
              </mc:Choice>
              <mc:Fallback>
                <p:oleObj name="Equation" r:id="rId21" imgW="9396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513" y="5084763"/>
                        <a:ext cx="2028825" cy="117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5257800" y="1257822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33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74904" y="304800"/>
            <a:ext cx="6940297" cy="1031051"/>
            <a:chOff x="374904" y="609600"/>
            <a:chExt cx="6940297" cy="1031051"/>
          </a:xfrm>
        </p:grpSpPr>
        <p:sp>
          <p:nvSpPr>
            <p:cNvPr id="41" name="Title 1"/>
            <p:cNvSpPr txBox="1">
              <a:spLocks/>
            </p:cNvSpPr>
            <p:nvPr/>
          </p:nvSpPr>
          <p:spPr>
            <a:xfrm>
              <a:off x="374904" y="609600"/>
              <a:ext cx="3739896" cy="103105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tương hỗ:</a:t>
              </a:r>
            </a:p>
            <a:p>
              <a:pPr marL="342900" indent="-342900">
                <a:spcBef>
                  <a:spcPts val="1200"/>
                </a:spcBef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đối xứng:</a:t>
              </a:r>
            </a:p>
          </p:txBody>
        </p:sp>
        <p:graphicFrame>
          <p:nvGraphicFramePr>
            <p:cNvPr id="3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0557078"/>
                </p:ext>
              </p:extLst>
            </p:nvPr>
          </p:nvGraphicFramePr>
          <p:xfrm>
            <a:off x="3997335" y="655910"/>
            <a:ext cx="3317866" cy="454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63560" imgH="228600" progId="Equation.DSMT4">
                    <p:embed/>
                  </p:oleObj>
                </mc:Choice>
                <mc:Fallback>
                  <p:oleObj name="Equation" r:id="rId3" imgW="16635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335" y="655910"/>
                          <a:ext cx="3317866" cy="45402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5863817"/>
                </p:ext>
              </p:extLst>
            </p:nvPr>
          </p:nvGraphicFramePr>
          <p:xfrm>
            <a:off x="3963619" y="1140214"/>
            <a:ext cx="27971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46040" imgH="228600" progId="Equation.DSMT4">
                    <p:embed/>
                  </p:oleObj>
                </mc:Choice>
                <mc:Fallback>
                  <p:oleObj name="Equation" r:id="rId5" imgW="1346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3619" y="1140214"/>
                          <a:ext cx="2797175" cy="4730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Title 1"/>
          <p:cNvSpPr txBox="1">
            <a:spLocks/>
          </p:cNvSpPr>
          <p:nvPr/>
        </p:nvSpPr>
        <p:spPr>
          <a:xfrm>
            <a:off x="457200" y="1371600"/>
            <a:ext cx="51329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Hãy tìm ma trận A của M4C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9600" y="3606969"/>
            <a:ext cx="6553200" cy="507831"/>
            <a:chOff x="609600" y="3606969"/>
            <a:chExt cx="6553200" cy="507831"/>
          </a:xfrm>
        </p:grpSpPr>
        <p:sp>
          <p:nvSpPr>
            <p:cNvPr id="64" name="Title 1"/>
            <p:cNvSpPr txBox="1">
              <a:spLocks/>
            </p:cNvSpPr>
            <p:nvPr/>
          </p:nvSpPr>
          <p:spPr>
            <a:xfrm>
              <a:off x="609600" y="3606969"/>
              <a:ext cx="6553200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Hở mạch cửa 2 của M4C </a:t>
              </a:r>
              <a:r>
                <a:rPr lang="en-US" sz="24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a</a:t>
              </a: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,          :</a:t>
              </a:r>
            </a:p>
          </p:txBody>
        </p:sp>
        <p:graphicFrame>
          <p:nvGraphicFramePr>
            <p:cNvPr id="73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0148548"/>
                </p:ext>
              </p:extLst>
            </p:nvPr>
          </p:nvGraphicFramePr>
          <p:xfrm>
            <a:off x="5288405" y="3628348"/>
            <a:ext cx="731395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31640" imgH="253800" progId="Equation.DSMT4">
                    <p:embed/>
                  </p:oleObj>
                </mc:Choice>
                <mc:Fallback>
                  <p:oleObj name="Equation" r:id="rId7" imgW="431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88405" y="3628348"/>
                          <a:ext cx="731395" cy="442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191984"/>
              </p:ext>
            </p:extLst>
          </p:nvPr>
        </p:nvGraphicFramePr>
        <p:xfrm>
          <a:off x="827970" y="4076686"/>
          <a:ext cx="2825496" cy="10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8320" imgH="545760" progId="Equation.DSMT4">
                  <p:embed/>
                </p:oleObj>
              </mc:Choice>
              <mc:Fallback>
                <p:oleObj name="Equation" r:id="rId9" imgW="14983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970" y="4076686"/>
                        <a:ext cx="2825496" cy="10287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31438"/>
              </p:ext>
            </p:extLst>
          </p:nvPr>
        </p:nvGraphicFramePr>
        <p:xfrm>
          <a:off x="3933825" y="4003384"/>
          <a:ext cx="26193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07880" imgH="545760" progId="Equation.DSMT4">
                  <p:embed/>
                </p:oleObj>
              </mc:Choice>
              <mc:Fallback>
                <p:oleObj name="Equation" r:id="rId11" imgW="13078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4003384"/>
                        <a:ext cx="2619375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oup 43"/>
          <p:cNvGrpSpPr/>
          <p:nvPr/>
        </p:nvGrpSpPr>
        <p:grpSpPr>
          <a:xfrm>
            <a:off x="683799" y="5080348"/>
            <a:ext cx="4728413" cy="507831"/>
            <a:chOff x="607249" y="3421732"/>
            <a:chExt cx="4823641" cy="507831"/>
          </a:xfrm>
        </p:grpSpPr>
        <p:sp>
          <p:nvSpPr>
            <p:cNvPr id="45" name="Title 1"/>
            <p:cNvSpPr txBox="1">
              <a:spLocks/>
            </p:cNvSpPr>
            <p:nvPr/>
          </p:nvSpPr>
          <p:spPr>
            <a:xfrm>
              <a:off x="607249" y="3421732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Ngắn mạch cửa 2,          :</a:t>
              </a:r>
            </a:p>
          </p:txBody>
        </p:sp>
        <p:graphicFrame>
          <p:nvGraphicFramePr>
            <p:cNvPr id="4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0786952"/>
                </p:ext>
              </p:extLst>
            </p:nvPr>
          </p:nvGraphicFramePr>
          <p:xfrm>
            <a:off x="3321224" y="3448264"/>
            <a:ext cx="834028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82400" imgH="253800" progId="Equation.DSMT4">
                    <p:embed/>
                  </p:oleObj>
                </mc:Choice>
                <mc:Fallback>
                  <p:oleObj name="Equation" r:id="rId13" imgW="482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21224" y="3448264"/>
                          <a:ext cx="834028" cy="442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498020"/>
              </p:ext>
            </p:extLst>
          </p:nvPr>
        </p:nvGraphicFramePr>
        <p:xfrm>
          <a:off x="3731799" y="5526680"/>
          <a:ext cx="2592801" cy="110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82680" imgH="545760" progId="Equation.DSMT4">
                  <p:embed/>
                </p:oleObj>
              </mc:Choice>
              <mc:Fallback>
                <p:oleObj name="Equation" r:id="rId15" imgW="12826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1799" y="5526680"/>
                        <a:ext cx="2592801" cy="110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210555"/>
              </p:ext>
            </p:extLst>
          </p:nvPr>
        </p:nvGraphicFramePr>
        <p:xfrm>
          <a:off x="730477" y="5488726"/>
          <a:ext cx="2397818" cy="112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68200" imgH="545760" progId="Equation.DSMT4">
                  <p:embed/>
                </p:oleObj>
              </mc:Choice>
              <mc:Fallback>
                <p:oleObj name="Equation" r:id="rId17" imgW="1168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77" y="5488726"/>
                        <a:ext cx="2397818" cy="1121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371600" y="1718517"/>
            <a:ext cx="2702327" cy="1901505"/>
            <a:chOff x="1295400" y="1832295"/>
            <a:chExt cx="2702327" cy="1901505"/>
          </a:xfrm>
        </p:grpSpPr>
        <p:grpSp>
          <p:nvGrpSpPr>
            <p:cNvPr id="5" name="Group 4"/>
            <p:cNvGrpSpPr/>
            <p:nvPr/>
          </p:nvGrpSpPr>
          <p:grpSpPr>
            <a:xfrm>
              <a:off x="1295400" y="1832295"/>
              <a:ext cx="2702327" cy="1901505"/>
              <a:chOff x="5599277" y="1451295"/>
              <a:chExt cx="2702327" cy="1901505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5719665" y="1451295"/>
                <a:ext cx="2326721" cy="1708035"/>
                <a:chOff x="762000" y="1492365"/>
                <a:chExt cx="2326721" cy="1708035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762000" y="1981200"/>
                  <a:ext cx="2250521" cy="0"/>
                </a:xfrm>
                <a:prstGeom prst="line">
                  <a:avLst/>
                </a:prstGeom>
                <a:ln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>
                  <a:endCxn id="21" idx="1"/>
                </p:cNvCxnSpPr>
                <p:nvPr/>
              </p:nvCxnSpPr>
              <p:spPr>
                <a:xfrm flipV="1">
                  <a:off x="762000" y="3163038"/>
                  <a:ext cx="2326721" cy="37362"/>
                </a:xfrm>
                <a:prstGeom prst="line">
                  <a:avLst/>
                </a:prstGeom>
                <a:ln>
                  <a:headEnd type="oval"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Rectangle 29"/>
                <p:cNvSpPr/>
                <p:nvPr/>
              </p:nvSpPr>
              <p:spPr>
                <a:xfrm>
                  <a:off x="1104900" y="1917526"/>
                  <a:ext cx="609600" cy="1524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2134122" y="1981200"/>
                  <a:ext cx="0" cy="1219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/>
                <p:cNvSpPr/>
                <p:nvPr/>
              </p:nvSpPr>
              <p:spPr>
                <a:xfrm rot="5400000">
                  <a:off x="1828278" y="2524434"/>
                  <a:ext cx="609600" cy="1524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1257300" y="1492365"/>
                  <a:ext cx="66527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lang="en-US" sz="2000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/2</a:t>
                  </a: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1529128" y="2442435"/>
                  <a:ext cx="55682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2Z</a:t>
                  </a:r>
                  <a:r>
                    <a:rPr lang="en-US" sz="2000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cxnSp>
            <p:nvCxnSpPr>
              <p:cNvPr id="16" name="Straight Arrow Connector 15"/>
              <p:cNvCxnSpPr/>
              <p:nvPr/>
            </p:nvCxnSpPr>
            <p:spPr>
              <a:xfrm>
                <a:off x="5943600" y="2143382"/>
                <a:ext cx="609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5599277" y="1891687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599277" y="2737948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970186" y="17526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046386" y="28911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22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469177"/>
                  </p:ext>
                </p:extLst>
              </p:nvPr>
            </p:nvGraphicFramePr>
            <p:xfrm>
              <a:off x="5746915" y="2429132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03040" imgH="253800" progId="Equation.DSMT4">
                      <p:embed/>
                    </p:oleObj>
                  </mc:Choice>
                  <mc:Fallback>
                    <p:oleObj name="Equation" r:id="rId19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746915" y="2429132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4124296"/>
                  </p:ext>
                </p:extLst>
              </p:nvPr>
            </p:nvGraphicFramePr>
            <p:xfrm>
              <a:off x="7848600" y="2394994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15640" imgH="253800" progId="Equation.DSMT4">
                      <p:embed/>
                    </p:oleObj>
                  </mc:Choice>
                  <mc:Fallback>
                    <p:oleObj name="Equation" r:id="rId21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7848600" y="2394994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8124527"/>
                  </p:ext>
                </p:extLst>
              </p:nvPr>
            </p:nvGraphicFramePr>
            <p:xfrm>
              <a:off x="6155152" y="214809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52280" imgH="253800" progId="Equation.DSMT4">
                      <p:embed/>
                    </p:oleObj>
                  </mc:Choice>
                  <mc:Fallback>
                    <p:oleObj name="Equation" r:id="rId23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155152" y="214809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2104220"/>
                  </p:ext>
                </p:extLst>
              </p:nvPr>
            </p:nvGraphicFramePr>
            <p:xfrm>
              <a:off x="7234804" y="1485378"/>
              <a:ext cx="420688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266400" imgH="253800" progId="Equation.DSMT4">
                      <p:embed/>
                    </p:oleObj>
                  </mc:Choice>
                  <mc:Fallback>
                    <p:oleObj name="Equation" r:id="rId25" imgW="26640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7234804" y="1485378"/>
                            <a:ext cx="420688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" name="Straight Arrow Connector 2"/>
            <p:cNvCxnSpPr/>
            <p:nvPr/>
          </p:nvCxnSpPr>
          <p:spPr>
            <a:xfrm>
              <a:off x="2985822" y="232113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5755873" y="1676400"/>
            <a:ext cx="2626127" cy="1901505"/>
            <a:chOff x="6060673" y="228600"/>
            <a:chExt cx="2626127" cy="1901505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6181061" y="717435"/>
              <a:ext cx="20527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6181061" y="1936635"/>
              <a:ext cx="20527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7300403" y="653761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7052317" y="717435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 rot="5400000">
              <a:off x="6746473" y="1260669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356073" y="228600"/>
              <a:ext cx="6652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126638" y="1200090"/>
              <a:ext cx="556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6365473" y="787052"/>
              <a:ext cx="451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6060673" y="668992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060673" y="1515253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431582" y="52990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431582" y="166844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61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354509"/>
                </p:ext>
              </p:extLst>
            </p:nvPr>
          </p:nvGraphicFramePr>
          <p:xfrm>
            <a:off x="6060673" y="1206437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03040" imgH="253800" progId="Equation.DSMT4">
                    <p:embed/>
                  </p:oleObj>
                </mc:Choice>
                <mc:Fallback>
                  <p:oleObj name="Equation" r:id="rId2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060673" y="1206437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5832872"/>
                </p:ext>
              </p:extLst>
            </p:nvPr>
          </p:nvGraphicFramePr>
          <p:xfrm>
            <a:off x="8309996" y="1172299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15640" imgH="253800" progId="Equation.DSMT4">
                    <p:embed/>
                  </p:oleObj>
                </mc:Choice>
                <mc:Fallback>
                  <p:oleObj name="Equation" r:id="rId28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309996" y="1172299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7583052"/>
                </p:ext>
              </p:extLst>
            </p:nvPr>
          </p:nvGraphicFramePr>
          <p:xfrm>
            <a:off x="6517873" y="79176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52280" imgH="253800" progId="Equation.DSMT4">
                    <p:embed/>
                  </p:oleObj>
                </mc:Choice>
                <mc:Fallback>
                  <p:oleObj name="Equation" r:id="rId29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17873" y="79176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448358"/>
                </p:ext>
              </p:extLst>
            </p:nvPr>
          </p:nvGraphicFramePr>
          <p:xfrm>
            <a:off x="7540625" y="919163"/>
            <a:ext cx="420688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66400" imgH="253800" progId="Equation.DSMT4">
                    <p:embed/>
                  </p:oleObj>
                </mc:Choice>
                <mc:Fallback>
                  <p:oleObj name="Equation" r:id="rId30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7540625" y="919163"/>
                          <a:ext cx="420688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6" name="Straight Arrow Connector 65"/>
            <p:cNvCxnSpPr/>
            <p:nvPr/>
          </p:nvCxnSpPr>
          <p:spPr>
            <a:xfrm>
              <a:off x="7467600" y="91440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itle 1"/>
          <p:cNvSpPr txBox="1">
            <a:spLocks/>
          </p:cNvSpPr>
          <p:nvPr/>
        </p:nvSpPr>
        <p:spPr>
          <a:xfrm>
            <a:off x="713661" y="2521121"/>
            <a:ext cx="50553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a)</a:t>
            </a:r>
          </a:p>
        </p:txBody>
      </p:sp>
      <p:sp>
        <p:nvSpPr>
          <p:cNvPr id="70" name="Title 1"/>
          <p:cNvSpPr txBox="1">
            <a:spLocks/>
          </p:cNvSpPr>
          <p:nvPr/>
        </p:nvSpPr>
        <p:spPr>
          <a:xfrm>
            <a:off x="5057061" y="2523553"/>
            <a:ext cx="50553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997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68" grpId="0"/>
      <p:bldP spid="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9" name="Title 1"/>
          <p:cNvSpPr txBox="1">
            <a:spLocks/>
          </p:cNvSpPr>
          <p:nvPr/>
        </p:nvSpPr>
        <p:spPr>
          <a:xfrm>
            <a:off x="228600" y="2338757"/>
            <a:ext cx="5059941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Ma trận A của M4C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hình b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81787" y="2895600"/>
            <a:ext cx="4728413" cy="507831"/>
            <a:chOff x="689078" y="3396153"/>
            <a:chExt cx="4823641" cy="507831"/>
          </a:xfrm>
        </p:grpSpPr>
        <p:sp>
          <p:nvSpPr>
            <p:cNvPr id="64" name="Title 1"/>
            <p:cNvSpPr txBox="1">
              <a:spLocks/>
            </p:cNvSpPr>
            <p:nvPr/>
          </p:nvSpPr>
          <p:spPr>
            <a:xfrm>
              <a:off x="689078" y="3396153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Hở mạch cửa 2,          :</a:t>
              </a:r>
            </a:p>
          </p:txBody>
        </p:sp>
        <p:graphicFrame>
          <p:nvGraphicFramePr>
            <p:cNvPr id="73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5511207"/>
                </p:ext>
              </p:extLst>
            </p:nvPr>
          </p:nvGraphicFramePr>
          <p:xfrm>
            <a:off x="3052338" y="3448353"/>
            <a:ext cx="746125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31640" imgH="253800" progId="Equation.DSMT4">
                    <p:embed/>
                  </p:oleObj>
                </mc:Choice>
                <mc:Fallback>
                  <p:oleObj name="Equation" r:id="rId3" imgW="431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52338" y="3448353"/>
                          <a:ext cx="746125" cy="442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804412"/>
              </p:ext>
            </p:extLst>
          </p:nvPr>
        </p:nvGraphicFramePr>
        <p:xfrm>
          <a:off x="685800" y="3428831"/>
          <a:ext cx="20097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545760" progId="Equation.DSMT4">
                  <p:embed/>
                </p:oleObj>
              </mc:Choice>
              <mc:Fallback>
                <p:oleObj name="Equation" r:id="rId5" imgW="10666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428831"/>
                        <a:ext cx="2009775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161383"/>
              </p:ext>
            </p:extLst>
          </p:nvPr>
        </p:nvGraphicFramePr>
        <p:xfrm>
          <a:off x="3324225" y="3327231"/>
          <a:ext cx="26193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545760" progId="Equation.DSMT4">
                  <p:embed/>
                </p:oleObj>
              </mc:Choice>
              <mc:Fallback>
                <p:oleObj name="Equation" r:id="rId7" imgW="13078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3327231"/>
                        <a:ext cx="2619375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oup 43"/>
          <p:cNvGrpSpPr/>
          <p:nvPr/>
        </p:nvGrpSpPr>
        <p:grpSpPr>
          <a:xfrm>
            <a:off x="651894" y="4451434"/>
            <a:ext cx="4728413" cy="507831"/>
            <a:chOff x="607249" y="3396153"/>
            <a:chExt cx="4823641" cy="507831"/>
          </a:xfrm>
        </p:grpSpPr>
        <p:sp>
          <p:nvSpPr>
            <p:cNvPr id="45" name="Title 1"/>
            <p:cNvSpPr txBox="1">
              <a:spLocks/>
            </p:cNvSpPr>
            <p:nvPr/>
          </p:nvSpPr>
          <p:spPr>
            <a:xfrm>
              <a:off x="607249" y="3396153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Ngắn mạch cửa 2,          :</a:t>
              </a:r>
            </a:p>
          </p:txBody>
        </p:sp>
        <p:graphicFrame>
          <p:nvGraphicFramePr>
            <p:cNvPr id="46" name="Object 45"/>
            <p:cNvGraphicFramePr>
              <a:graphicFrameLocks noChangeAspect="1"/>
            </p:cNvGraphicFramePr>
            <p:nvPr/>
          </p:nvGraphicFramePr>
          <p:xfrm>
            <a:off x="3321224" y="3448264"/>
            <a:ext cx="834028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82400" imgH="253800" progId="Equation.DSMT4">
                    <p:embed/>
                  </p:oleObj>
                </mc:Choice>
                <mc:Fallback>
                  <p:oleObj name="Equation" r:id="rId9" imgW="482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21224" y="3448264"/>
                          <a:ext cx="834028" cy="442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208657"/>
              </p:ext>
            </p:extLst>
          </p:nvPr>
        </p:nvGraphicFramePr>
        <p:xfrm>
          <a:off x="4341399" y="4895850"/>
          <a:ext cx="2592801" cy="110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680" imgH="545760" progId="Equation.DSMT4">
                  <p:embed/>
                </p:oleObj>
              </mc:Choice>
              <mc:Fallback>
                <p:oleObj name="Equation" r:id="rId11" imgW="12826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399" y="4895850"/>
                        <a:ext cx="2592801" cy="110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112666"/>
              </p:ext>
            </p:extLst>
          </p:nvPr>
        </p:nvGraphicFramePr>
        <p:xfrm>
          <a:off x="683799" y="4897438"/>
          <a:ext cx="3320572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00200" imgH="545760" progId="Equation.DSMT4">
                  <p:embed/>
                </p:oleObj>
              </mc:Choice>
              <mc:Fallback>
                <p:oleObj name="Equation" r:id="rId13" imgW="1600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99" y="4897438"/>
                        <a:ext cx="3320572" cy="1122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009473"/>
              </p:ext>
            </p:extLst>
          </p:nvPr>
        </p:nvGraphicFramePr>
        <p:xfrm>
          <a:off x="4495800" y="354904"/>
          <a:ext cx="2871788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63560" imgH="927000" progId="Equation.DSMT4">
                  <p:embed/>
                </p:oleObj>
              </mc:Choice>
              <mc:Fallback>
                <p:oleObj name="Equation" r:id="rId15" imgW="166356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54904"/>
                        <a:ext cx="2871788" cy="15970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591979"/>
              </p:ext>
            </p:extLst>
          </p:nvPr>
        </p:nvGraphicFramePr>
        <p:xfrm>
          <a:off x="681787" y="322737"/>
          <a:ext cx="2557463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3880" imgH="977760" progId="Equation.DSMT4">
                  <p:embed/>
                </p:oleObj>
              </mc:Choice>
              <mc:Fallback>
                <p:oleObj name="Equation" r:id="rId17" imgW="152388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787" y="322737"/>
                        <a:ext cx="2557463" cy="16859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6292082" y="2054202"/>
            <a:ext cx="2626127" cy="1901505"/>
            <a:chOff x="6060673" y="228600"/>
            <a:chExt cx="2626127" cy="1901505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6181061" y="717435"/>
              <a:ext cx="20527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181061" y="1936635"/>
              <a:ext cx="20527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7300403" y="653761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7052317" y="717435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/>
            <p:cNvSpPr/>
            <p:nvPr/>
          </p:nvSpPr>
          <p:spPr>
            <a:xfrm rot="5400000">
              <a:off x="6746473" y="1260669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56073" y="228600"/>
              <a:ext cx="6652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126638" y="1200090"/>
              <a:ext cx="556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6365473" y="787052"/>
              <a:ext cx="451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6060673" y="668992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060673" y="1515253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431582" y="52990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431582" y="166844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58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7181319"/>
                </p:ext>
              </p:extLst>
            </p:nvPr>
          </p:nvGraphicFramePr>
          <p:xfrm>
            <a:off x="6060673" y="1206437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040" imgH="253800" progId="Equation.DSMT4">
                    <p:embed/>
                  </p:oleObj>
                </mc:Choice>
                <mc:Fallback>
                  <p:oleObj name="Equation" r:id="rId19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060673" y="1206437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7894662"/>
                </p:ext>
              </p:extLst>
            </p:nvPr>
          </p:nvGraphicFramePr>
          <p:xfrm>
            <a:off x="8309996" y="1172299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5640" imgH="253800" progId="Equation.DSMT4">
                    <p:embed/>
                  </p:oleObj>
                </mc:Choice>
                <mc:Fallback>
                  <p:oleObj name="Equation" r:id="rId21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309996" y="1172299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24327"/>
                </p:ext>
              </p:extLst>
            </p:nvPr>
          </p:nvGraphicFramePr>
          <p:xfrm>
            <a:off x="6517873" y="79176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52280" imgH="253800" progId="Equation.DSMT4">
                    <p:embed/>
                  </p:oleObj>
                </mc:Choice>
                <mc:Fallback>
                  <p:oleObj name="Equation" r:id="rId23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517873" y="79176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4252511"/>
                </p:ext>
              </p:extLst>
            </p:nvPr>
          </p:nvGraphicFramePr>
          <p:xfrm>
            <a:off x="7540625" y="919163"/>
            <a:ext cx="420688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66400" imgH="253800" progId="Equation.DSMT4">
                    <p:embed/>
                  </p:oleObj>
                </mc:Choice>
                <mc:Fallback>
                  <p:oleObj name="Equation" r:id="rId25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540625" y="919163"/>
                          <a:ext cx="420688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2" name="Straight Arrow Connector 61"/>
            <p:cNvCxnSpPr/>
            <p:nvPr/>
          </p:nvCxnSpPr>
          <p:spPr>
            <a:xfrm>
              <a:off x="7467600" y="91440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632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2313" y="2362200"/>
            <a:ext cx="2706687" cy="108125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534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 HỆ PHƯƠNG TRÌNH ĐẶC TÍNH TRUYỀN ĐẠT NGƯỢC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438790"/>
              </p:ext>
            </p:extLst>
          </p:nvPr>
        </p:nvGraphicFramePr>
        <p:xfrm>
          <a:off x="722313" y="2362200"/>
          <a:ext cx="6583362" cy="108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1800" imgH="545760" progId="Equation.DSMT4">
                  <p:embed/>
                </p:oleObj>
              </mc:Choice>
              <mc:Fallback>
                <p:oleObj name="Equation" r:id="rId3" imgW="29718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2362200"/>
                        <a:ext cx="6583362" cy="1081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106833"/>
              </p:ext>
            </p:extLst>
          </p:nvPr>
        </p:nvGraphicFramePr>
        <p:xfrm>
          <a:off x="574675" y="3429000"/>
          <a:ext cx="205105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507960" progId="Equation.DSMT4">
                  <p:embed/>
                </p:oleObj>
              </mc:Choice>
              <mc:Fallback>
                <p:oleObj name="Equation" r:id="rId5" imgW="927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3429000"/>
                        <a:ext cx="2051050" cy="1125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>
          <a:xfrm>
            <a:off x="2616374" y="3725480"/>
            <a:ext cx="54608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Ma trận truyền đạt ngược của M4C</a:t>
            </a: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439959"/>
              </p:ext>
            </p:extLst>
          </p:nvPr>
        </p:nvGraphicFramePr>
        <p:xfrm>
          <a:off x="778743" y="4525962"/>
          <a:ext cx="1560580" cy="108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520" imgH="545760" progId="Equation.DSMT4">
                  <p:embed/>
                </p:oleObj>
              </mc:Choice>
              <mc:Fallback>
                <p:oleObj name="Equation" r:id="rId7" imgW="8125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743" y="4525962"/>
                        <a:ext cx="1560580" cy="10891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028356"/>
              </p:ext>
            </p:extLst>
          </p:nvPr>
        </p:nvGraphicFramePr>
        <p:xfrm>
          <a:off x="2861542" y="4489450"/>
          <a:ext cx="1537983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99920" imgH="545760" progId="Equation.DSMT4">
                  <p:embed/>
                </p:oleObj>
              </mc:Choice>
              <mc:Fallback>
                <p:oleObj name="Equation" r:id="rId9" imgW="7999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542" y="4489450"/>
                        <a:ext cx="1537983" cy="1090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095102"/>
              </p:ext>
            </p:extLst>
          </p:nvPr>
        </p:nvGraphicFramePr>
        <p:xfrm>
          <a:off x="4845918" y="4454525"/>
          <a:ext cx="1686274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76240" imgH="545760" progId="Equation.DSMT4">
                  <p:embed/>
                </p:oleObj>
              </mc:Choice>
              <mc:Fallback>
                <p:oleObj name="Equation" r:id="rId11" imgW="8762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918" y="4454525"/>
                        <a:ext cx="1686274" cy="1090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018794"/>
              </p:ext>
            </p:extLst>
          </p:nvPr>
        </p:nvGraphicFramePr>
        <p:xfrm>
          <a:off x="6901729" y="4419600"/>
          <a:ext cx="1708871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88840" imgH="545760" progId="Equation.DSMT4">
                  <p:embed/>
                </p:oleObj>
              </mc:Choice>
              <mc:Fallback>
                <p:oleObj name="Equation" r:id="rId13" imgW="8888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1729" y="4419600"/>
                        <a:ext cx="1708871" cy="1090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752600" y="777326"/>
            <a:ext cx="4683691" cy="1508674"/>
            <a:chOff x="1752600" y="811213"/>
            <a:chExt cx="4683691" cy="1508674"/>
          </a:xfrm>
        </p:grpSpPr>
        <p:grpSp>
          <p:nvGrpSpPr>
            <p:cNvPr id="8" name="Group 7"/>
            <p:cNvGrpSpPr/>
            <p:nvPr/>
          </p:nvGrpSpPr>
          <p:grpSpPr>
            <a:xfrm>
              <a:off x="1752600" y="811213"/>
              <a:ext cx="4683691" cy="1508674"/>
              <a:chOff x="1295400" y="2758526"/>
              <a:chExt cx="4683691" cy="1508674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819400" y="2971800"/>
                <a:ext cx="1600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trận </a:t>
                </a:r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1676400" y="32004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1676400" y="40386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419600" y="32004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419600" y="40386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8919669"/>
                  </p:ext>
                </p:extLst>
              </p:nvPr>
            </p:nvGraphicFramePr>
            <p:xfrm>
              <a:off x="5113338" y="2787101"/>
              <a:ext cx="260350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64880" imgH="253800" progId="Equation.DSMT4">
                      <p:embed/>
                    </p:oleObj>
                  </mc:Choice>
                  <mc:Fallback>
                    <p:oleObj name="Equation" r:id="rId15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113338" y="2787101"/>
                            <a:ext cx="260350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3235212"/>
                  </p:ext>
                </p:extLst>
              </p:nvPr>
            </p:nvGraphicFramePr>
            <p:xfrm>
              <a:off x="1779588" y="2758526"/>
              <a:ext cx="846137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533160" imgH="253800" progId="Equation.DSMT4">
                      <p:embed/>
                    </p:oleObj>
                  </mc:Choice>
                  <mc:Fallback>
                    <p:oleObj name="Equation" r:id="rId17" imgW="53316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779588" y="2758526"/>
                            <a:ext cx="846137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TextBox 28"/>
              <p:cNvSpPr txBox="1"/>
              <p:nvPr/>
            </p:nvSpPr>
            <p:spPr>
              <a:xfrm>
                <a:off x="1295400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95400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723873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723873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34" name="Object 33"/>
              <p:cNvGraphicFramePr>
                <a:graphicFrameLocks noChangeAspect="1"/>
              </p:cNvGraphicFramePr>
              <p:nvPr/>
            </p:nvGraphicFramePr>
            <p:xfrm>
              <a:off x="1443038" y="3439563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03040" imgH="253800" progId="Equation.DSMT4">
                      <p:embed/>
                    </p:oleObj>
                  </mc:Choice>
                  <mc:Fallback>
                    <p:oleObj name="Equation" r:id="rId19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443038" y="3439563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34"/>
              <p:cNvGraphicFramePr>
                <a:graphicFrameLocks noChangeAspect="1"/>
              </p:cNvGraphicFramePr>
              <p:nvPr/>
            </p:nvGraphicFramePr>
            <p:xfrm>
              <a:off x="5486400" y="3404638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15640" imgH="253800" progId="Equation.DSMT4">
                      <p:embed/>
                    </p:oleObj>
                  </mc:Choice>
                  <mc:Fallback>
                    <p:oleObj name="Equation" r:id="rId21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5486400" y="3404638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" name="Straight Arrow Connector 4"/>
            <p:cNvCxnSpPr/>
            <p:nvPr/>
          </p:nvCxnSpPr>
          <p:spPr>
            <a:xfrm flipH="1">
              <a:off x="5448300" y="1253087"/>
              <a:ext cx="38258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2425080" y="1255659"/>
              <a:ext cx="38258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29376" y="5615107"/>
            <a:ext cx="6889062" cy="1031051"/>
            <a:chOff x="374904" y="609600"/>
            <a:chExt cx="6889062" cy="1031051"/>
          </a:xfrm>
        </p:grpSpPr>
        <p:sp>
          <p:nvSpPr>
            <p:cNvPr id="39" name="Title 1"/>
            <p:cNvSpPr txBox="1">
              <a:spLocks/>
            </p:cNvSpPr>
            <p:nvPr/>
          </p:nvSpPr>
          <p:spPr>
            <a:xfrm>
              <a:off x="374904" y="609600"/>
              <a:ext cx="3739896" cy="103105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tương hỗ:</a:t>
              </a:r>
            </a:p>
            <a:p>
              <a:pPr marL="342900" indent="-342900">
                <a:spcBef>
                  <a:spcPts val="1200"/>
                </a:spcBef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đối xứng:</a:t>
              </a:r>
            </a:p>
          </p:txBody>
        </p:sp>
        <p:graphicFrame>
          <p:nvGraphicFramePr>
            <p:cNvPr id="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863419"/>
                </p:ext>
              </p:extLst>
            </p:nvPr>
          </p:nvGraphicFramePr>
          <p:xfrm>
            <a:off x="4046103" y="655518"/>
            <a:ext cx="3217863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12800" imgH="228600" progId="Equation.DSMT4">
                    <p:embed/>
                  </p:oleObj>
                </mc:Choice>
                <mc:Fallback>
                  <p:oleObj name="Equation" r:id="rId23" imgW="16128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6103" y="655518"/>
                          <a:ext cx="3217863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5822110"/>
                </p:ext>
              </p:extLst>
            </p:nvPr>
          </p:nvGraphicFramePr>
          <p:xfrm>
            <a:off x="3963619" y="1140214"/>
            <a:ext cx="27971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346040" imgH="228600" progId="Equation.DSMT4">
                    <p:embed/>
                  </p:oleObj>
                </mc:Choice>
                <mc:Fallback>
                  <p:oleObj name="Equation" r:id="rId25" imgW="1346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3619" y="1140214"/>
                          <a:ext cx="2797175" cy="4730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2162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90600" y="2301389"/>
            <a:ext cx="2743200" cy="112761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5. HỆ PHƯƠNG TRÌNH ĐẶC TÍNH HỖN HỢP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82742"/>
              </p:ext>
            </p:extLst>
          </p:nvPr>
        </p:nvGraphicFramePr>
        <p:xfrm>
          <a:off x="990600" y="2301389"/>
          <a:ext cx="6526213" cy="106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46240" imgH="545760" progId="Equation.DSMT4">
                  <p:embed/>
                </p:oleObj>
              </mc:Choice>
              <mc:Fallback>
                <p:oleObj name="Equation" r:id="rId3" imgW="29462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01389"/>
                        <a:ext cx="6526213" cy="1067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937807"/>
              </p:ext>
            </p:extLst>
          </p:nvPr>
        </p:nvGraphicFramePr>
        <p:xfrm>
          <a:off x="685800" y="3429000"/>
          <a:ext cx="213518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507960" progId="Equation.DSMT4">
                  <p:embed/>
                </p:oleObj>
              </mc:Choice>
              <mc:Fallback>
                <p:oleObj name="Equation" r:id="rId5" imgW="965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429000"/>
                        <a:ext cx="2135188" cy="1125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>
          <a:xfrm>
            <a:off x="2768774" y="3725480"/>
            <a:ext cx="43178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Ma trận hỗn hợp của M4C</a:t>
            </a: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998789"/>
              </p:ext>
            </p:extLst>
          </p:nvPr>
        </p:nvGraphicFramePr>
        <p:xfrm>
          <a:off x="4876800" y="4551364"/>
          <a:ext cx="1676400" cy="109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545760" progId="Equation.DSMT4">
                  <p:embed/>
                </p:oleObj>
              </mc:Choice>
              <mc:Fallback>
                <p:oleObj name="Equation" r:id="rId7" imgW="83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51364"/>
                        <a:ext cx="1676400" cy="1091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636619"/>
              </p:ext>
            </p:extLst>
          </p:nvPr>
        </p:nvGraphicFramePr>
        <p:xfrm>
          <a:off x="2863850" y="4495801"/>
          <a:ext cx="1630362" cy="1077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545760" progId="Equation.DSMT4">
                  <p:embed/>
                </p:oleObj>
              </mc:Choice>
              <mc:Fallback>
                <p:oleObj name="Equation" r:id="rId9" imgW="8254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4495801"/>
                        <a:ext cx="1630362" cy="10777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785527"/>
              </p:ext>
            </p:extLst>
          </p:nvPr>
        </p:nvGraphicFramePr>
        <p:xfrm>
          <a:off x="706438" y="4581526"/>
          <a:ext cx="1655762" cy="1080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545760" progId="Equation.DSMT4">
                  <p:embed/>
                </p:oleObj>
              </mc:Choice>
              <mc:Fallback>
                <p:oleObj name="Equation" r:id="rId11" imgW="83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8" y="4581526"/>
                        <a:ext cx="1655762" cy="1080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052488"/>
              </p:ext>
            </p:extLst>
          </p:nvPr>
        </p:nvGraphicFramePr>
        <p:xfrm>
          <a:off x="6778625" y="4551364"/>
          <a:ext cx="1679575" cy="1109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25480" imgH="545760" progId="Equation.DSMT4">
                  <p:embed/>
                </p:oleObj>
              </mc:Choice>
              <mc:Fallback>
                <p:oleObj name="Equation" r:id="rId13" imgW="8254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4551364"/>
                        <a:ext cx="1679575" cy="11097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/>
          <p:cNvGrpSpPr/>
          <p:nvPr/>
        </p:nvGrpSpPr>
        <p:grpSpPr>
          <a:xfrm>
            <a:off x="990600" y="5638800"/>
            <a:ext cx="6477000" cy="1031051"/>
            <a:chOff x="374904" y="609600"/>
            <a:chExt cx="6477000" cy="1031051"/>
          </a:xfrm>
        </p:grpSpPr>
        <p:sp>
          <p:nvSpPr>
            <p:cNvPr id="39" name="Title 1"/>
            <p:cNvSpPr txBox="1">
              <a:spLocks/>
            </p:cNvSpPr>
            <p:nvPr/>
          </p:nvSpPr>
          <p:spPr>
            <a:xfrm>
              <a:off x="374904" y="609600"/>
              <a:ext cx="3739896" cy="103105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tương hỗ:</a:t>
              </a:r>
            </a:p>
            <a:p>
              <a:pPr marL="342900" indent="-342900">
                <a:spcBef>
                  <a:spcPts val="1200"/>
                </a:spcBef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đối xứng:</a:t>
              </a:r>
            </a:p>
          </p:txBody>
        </p:sp>
        <p:graphicFrame>
          <p:nvGraphicFramePr>
            <p:cNvPr id="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2441057"/>
                </p:ext>
              </p:extLst>
            </p:nvPr>
          </p:nvGraphicFramePr>
          <p:xfrm>
            <a:off x="4032504" y="653550"/>
            <a:ext cx="1316038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60240" imgH="228600" progId="Equation.DSMT4">
                    <p:embed/>
                  </p:oleObj>
                </mc:Choice>
                <mc:Fallback>
                  <p:oleObj name="Equation" r:id="rId15" imgW="660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504" y="653550"/>
                          <a:ext cx="1316038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0195793"/>
                </p:ext>
              </p:extLst>
            </p:nvPr>
          </p:nvGraphicFramePr>
          <p:xfrm>
            <a:off x="3992817" y="1157288"/>
            <a:ext cx="2859087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434960" imgH="228600" progId="Equation.DSMT4">
                    <p:embed/>
                  </p:oleObj>
                </mc:Choice>
                <mc:Fallback>
                  <p:oleObj name="Equation" r:id="rId17" imgW="14349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817" y="1157288"/>
                          <a:ext cx="2859087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5"/>
          <p:cNvGrpSpPr/>
          <p:nvPr/>
        </p:nvGrpSpPr>
        <p:grpSpPr>
          <a:xfrm>
            <a:off x="1752600" y="728113"/>
            <a:ext cx="4683691" cy="1481687"/>
            <a:chOff x="1752600" y="728113"/>
            <a:chExt cx="4683691" cy="1481687"/>
          </a:xfrm>
        </p:grpSpPr>
        <p:grpSp>
          <p:nvGrpSpPr>
            <p:cNvPr id="8" name="Group 7"/>
            <p:cNvGrpSpPr/>
            <p:nvPr/>
          </p:nvGrpSpPr>
          <p:grpSpPr>
            <a:xfrm>
              <a:off x="1752600" y="728113"/>
              <a:ext cx="4683691" cy="1481687"/>
              <a:chOff x="1295400" y="2785513"/>
              <a:chExt cx="4683691" cy="1481687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819400" y="2971800"/>
                <a:ext cx="1600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trận </a:t>
                </a:r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1676400" y="32004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1676400" y="40386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419600" y="32004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419600" y="40386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1905000" y="3200400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2" name="Object 21"/>
              <p:cNvGraphicFramePr>
                <a:graphicFrameLocks noChangeAspect="1"/>
              </p:cNvGraphicFramePr>
              <p:nvPr/>
            </p:nvGraphicFramePr>
            <p:xfrm>
              <a:off x="2122488" y="278551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52280" imgH="253800" progId="Equation.DSMT4">
                      <p:embed/>
                    </p:oleObj>
                  </mc:Choice>
                  <mc:Fallback>
                    <p:oleObj name="Equation" r:id="rId19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122488" y="278551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6218386"/>
                  </p:ext>
                </p:extLst>
              </p:nvPr>
            </p:nvGraphicFramePr>
            <p:xfrm>
              <a:off x="5029200" y="2797175"/>
              <a:ext cx="261938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64880" imgH="253800" progId="Equation.DSMT4">
                      <p:embed/>
                    </p:oleObj>
                  </mc:Choice>
                  <mc:Fallback>
                    <p:oleObj name="Equation" r:id="rId21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5029200" y="2797175"/>
                            <a:ext cx="261938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TextBox 28"/>
              <p:cNvSpPr txBox="1"/>
              <p:nvPr/>
            </p:nvSpPr>
            <p:spPr>
              <a:xfrm>
                <a:off x="1295400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95400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723873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723873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34" name="Object 33"/>
              <p:cNvGraphicFramePr>
                <a:graphicFrameLocks noChangeAspect="1"/>
              </p:cNvGraphicFramePr>
              <p:nvPr/>
            </p:nvGraphicFramePr>
            <p:xfrm>
              <a:off x="1443038" y="3439563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203040" imgH="253800" progId="Equation.DSMT4">
                      <p:embed/>
                    </p:oleObj>
                  </mc:Choice>
                  <mc:Fallback>
                    <p:oleObj name="Equation" r:id="rId23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443038" y="3439563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34"/>
              <p:cNvGraphicFramePr>
                <a:graphicFrameLocks noChangeAspect="1"/>
              </p:cNvGraphicFramePr>
              <p:nvPr/>
            </p:nvGraphicFramePr>
            <p:xfrm>
              <a:off x="5486400" y="3404638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215640" imgH="253800" progId="Equation.DSMT4">
                      <p:embed/>
                    </p:oleObj>
                  </mc:Choice>
                  <mc:Fallback>
                    <p:oleObj name="Equation" r:id="rId25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486400" y="3404638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" name="Straight Arrow Connector 4"/>
            <p:cNvCxnSpPr/>
            <p:nvPr/>
          </p:nvCxnSpPr>
          <p:spPr>
            <a:xfrm flipH="1">
              <a:off x="5334000" y="1139825"/>
              <a:ext cx="4143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725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6613" y="2301875"/>
            <a:ext cx="2973387" cy="1066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 HỆ PHƯƠNG TRÌNH ĐẶC TÍNH HỖN HỢP NGƯỢC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750790"/>
              </p:ext>
            </p:extLst>
          </p:nvPr>
        </p:nvGraphicFramePr>
        <p:xfrm>
          <a:off x="836613" y="2301875"/>
          <a:ext cx="68357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85920" imgH="545760" progId="Equation.DSMT4">
                  <p:embed/>
                </p:oleObj>
              </mc:Choice>
              <mc:Fallback>
                <p:oleObj name="Equation" r:id="rId3" imgW="30859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2301875"/>
                        <a:ext cx="6835775" cy="1066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506055"/>
              </p:ext>
            </p:extLst>
          </p:nvPr>
        </p:nvGraphicFramePr>
        <p:xfrm>
          <a:off x="657225" y="3429000"/>
          <a:ext cx="21923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507960" progId="Equation.DSMT4">
                  <p:embed/>
                </p:oleObj>
              </mc:Choice>
              <mc:Fallback>
                <p:oleObj name="Equation" r:id="rId5" imgW="9903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3429000"/>
                        <a:ext cx="2192338" cy="1125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"/>
          <p:cNvSpPr txBox="1">
            <a:spLocks/>
          </p:cNvSpPr>
          <p:nvPr/>
        </p:nvSpPr>
        <p:spPr>
          <a:xfrm>
            <a:off x="2768774" y="3725480"/>
            <a:ext cx="52322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Ma trận hỗn hợp ngược của M4C</a:t>
            </a:r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95111"/>
              </p:ext>
            </p:extLst>
          </p:nvPr>
        </p:nvGraphicFramePr>
        <p:xfrm>
          <a:off x="685800" y="4524375"/>
          <a:ext cx="1676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545760" progId="Equation.DSMT4">
                  <p:embed/>
                </p:oleObj>
              </mc:Choice>
              <mc:Fallback>
                <p:oleObj name="Equation" r:id="rId7" imgW="83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24375"/>
                        <a:ext cx="1676400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441458"/>
              </p:ext>
            </p:extLst>
          </p:nvPr>
        </p:nvGraphicFramePr>
        <p:xfrm>
          <a:off x="2738437" y="4524375"/>
          <a:ext cx="1757363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80" imgH="545760" progId="Equation.DSMT4">
                  <p:embed/>
                </p:oleObj>
              </mc:Choice>
              <mc:Fallback>
                <p:oleObj name="Equation" r:id="rId9" imgW="8632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7" y="4524375"/>
                        <a:ext cx="1757363" cy="1109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/>
          <p:cNvGrpSpPr/>
          <p:nvPr/>
        </p:nvGrpSpPr>
        <p:grpSpPr>
          <a:xfrm>
            <a:off x="990600" y="5638800"/>
            <a:ext cx="6502400" cy="1031051"/>
            <a:chOff x="374904" y="609600"/>
            <a:chExt cx="6502400" cy="1031051"/>
          </a:xfrm>
        </p:grpSpPr>
        <p:sp>
          <p:nvSpPr>
            <p:cNvPr id="39" name="Title 1"/>
            <p:cNvSpPr txBox="1">
              <a:spLocks/>
            </p:cNvSpPr>
            <p:nvPr/>
          </p:nvSpPr>
          <p:spPr>
            <a:xfrm>
              <a:off x="374904" y="609600"/>
              <a:ext cx="3739896" cy="103105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tương hỗ:</a:t>
              </a:r>
            </a:p>
            <a:p>
              <a:pPr marL="342900" indent="-342900">
                <a:spcBef>
                  <a:spcPts val="1200"/>
                </a:spcBef>
                <a:buFont typeface="Wingdings" panose="05000000000000000000" pitchFamily="2" charset="2"/>
                <a:buChar char="v"/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Mạng 4 cực đối xứng:</a:t>
              </a:r>
            </a:p>
          </p:txBody>
        </p:sp>
        <p:graphicFrame>
          <p:nvGraphicFramePr>
            <p:cNvPr id="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4463230"/>
                </p:ext>
              </p:extLst>
            </p:nvPr>
          </p:nvGraphicFramePr>
          <p:xfrm>
            <a:off x="3981704" y="654050"/>
            <a:ext cx="1417638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711000" imgH="228600" progId="Equation.DSMT4">
                    <p:embed/>
                  </p:oleObj>
                </mc:Choice>
                <mc:Fallback>
                  <p:oleObj name="Equation" r:id="rId11" imgW="711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704" y="654050"/>
                          <a:ext cx="1417638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1726499"/>
                </p:ext>
              </p:extLst>
            </p:nvPr>
          </p:nvGraphicFramePr>
          <p:xfrm>
            <a:off x="3967417" y="1157288"/>
            <a:ext cx="2909887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460160" imgH="228600" progId="Equation.DSMT4">
                    <p:embed/>
                  </p:oleObj>
                </mc:Choice>
                <mc:Fallback>
                  <p:oleObj name="Equation" r:id="rId13" imgW="1460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417" y="1157288"/>
                          <a:ext cx="2909887" cy="454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Group 42"/>
          <p:cNvGrpSpPr/>
          <p:nvPr/>
        </p:nvGrpSpPr>
        <p:grpSpPr>
          <a:xfrm>
            <a:off x="1752600" y="728113"/>
            <a:ext cx="4683691" cy="1481687"/>
            <a:chOff x="1752600" y="728113"/>
            <a:chExt cx="4683691" cy="1481687"/>
          </a:xfrm>
        </p:grpSpPr>
        <p:grpSp>
          <p:nvGrpSpPr>
            <p:cNvPr id="47" name="Group 46"/>
            <p:cNvGrpSpPr/>
            <p:nvPr/>
          </p:nvGrpSpPr>
          <p:grpSpPr>
            <a:xfrm>
              <a:off x="1752600" y="728113"/>
              <a:ext cx="4683691" cy="1481687"/>
              <a:chOff x="1295400" y="2785513"/>
              <a:chExt cx="4683691" cy="1481687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2819400" y="2971800"/>
                <a:ext cx="1600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 trận </a:t>
                </a:r>
                <a:r>
                  <a:rPr lang="en-US" sz="24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</a:p>
            </p:txBody>
          </p:sp>
          <p:cxnSp>
            <p:nvCxnSpPr>
              <p:cNvPr id="51" name="Straight Connector 50"/>
              <p:cNvCxnSpPr/>
              <p:nvPr/>
            </p:nvCxnSpPr>
            <p:spPr>
              <a:xfrm>
                <a:off x="1676400" y="32004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1676400" y="40386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4419600" y="32004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4419600" y="4038600"/>
                <a:ext cx="11430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>
                <a:off x="1905000" y="3200400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6" name="Object 55"/>
              <p:cNvGraphicFramePr>
                <a:graphicFrameLocks noChangeAspect="1"/>
              </p:cNvGraphicFramePr>
              <p:nvPr/>
            </p:nvGraphicFramePr>
            <p:xfrm>
              <a:off x="2122488" y="278551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52280" imgH="253800" progId="Equation.DSMT4">
                      <p:embed/>
                    </p:oleObj>
                  </mc:Choice>
                  <mc:Fallback>
                    <p:oleObj name="Equation" r:id="rId15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122488" y="278551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5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086262"/>
                  </p:ext>
                </p:extLst>
              </p:nvPr>
            </p:nvGraphicFramePr>
            <p:xfrm>
              <a:off x="5029200" y="2797175"/>
              <a:ext cx="261938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80" imgH="253800" progId="Equation.DSMT4">
                      <p:embed/>
                    </p:oleObj>
                  </mc:Choice>
                  <mc:Fallback>
                    <p:oleObj name="Equation" r:id="rId17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029200" y="2797175"/>
                            <a:ext cx="261938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TextBox 57"/>
              <p:cNvSpPr txBox="1"/>
              <p:nvPr/>
            </p:nvSpPr>
            <p:spPr>
              <a:xfrm>
                <a:off x="1295400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295400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723873" y="29592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5723873" y="380553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62" name="Object 61"/>
              <p:cNvGraphicFramePr>
                <a:graphicFrameLocks noChangeAspect="1"/>
              </p:cNvGraphicFramePr>
              <p:nvPr/>
            </p:nvGraphicFramePr>
            <p:xfrm>
              <a:off x="1443038" y="3439563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03040" imgH="253800" progId="Equation.DSMT4">
                      <p:embed/>
                    </p:oleObj>
                  </mc:Choice>
                  <mc:Fallback>
                    <p:oleObj name="Equation" r:id="rId19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443038" y="3439563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Object 62"/>
              <p:cNvGraphicFramePr>
                <a:graphicFrameLocks noChangeAspect="1"/>
              </p:cNvGraphicFramePr>
              <p:nvPr/>
            </p:nvGraphicFramePr>
            <p:xfrm>
              <a:off x="5486400" y="3404638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15640" imgH="253800" progId="Equation.DSMT4">
                      <p:embed/>
                    </p:oleObj>
                  </mc:Choice>
                  <mc:Fallback>
                    <p:oleObj name="Equation" r:id="rId21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5486400" y="3404638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9" name="Straight Arrow Connector 48"/>
            <p:cNvCxnSpPr/>
            <p:nvPr/>
          </p:nvCxnSpPr>
          <p:spPr>
            <a:xfrm flipH="1">
              <a:off x="5334000" y="1139825"/>
              <a:ext cx="4143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753380"/>
              </p:ext>
            </p:extLst>
          </p:nvPr>
        </p:nvGraphicFramePr>
        <p:xfrm>
          <a:off x="4775200" y="4513263"/>
          <a:ext cx="17780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88840" imgH="545760" progId="Equation.DSMT4">
                  <p:embed/>
                </p:oleObj>
              </mc:Choice>
              <mc:Fallback>
                <p:oleObj name="Equation" r:id="rId23" imgW="8888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4513263"/>
                        <a:ext cx="1778000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742777"/>
              </p:ext>
            </p:extLst>
          </p:nvPr>
        </p:nvGraphicFramePr>
        <p:xfrm>
          <a:off x="6883400" y="4510088"/>
          <a:ext cx="16510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25480" imgH="545760" progId="Equation.DSMT4">
                  <p:embed/>
                </p:oleObj>
              </mc:Choice>
              <mc:Fallback>
                <p:oleObj name="Equation" r:id="rId25" imgW="8254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4510088"/>
                        <a:ext cx="1651000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093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7. QUAN HỆ GIỮA CÁC THÔNG SỐ CỦA M4C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459004"/>
              </p:ext>
            </p:extLst>
          </p:nvPr>
        </p:nvGraphicFramePr>
        <p:xfrm>
          <a:off x="726703" y="1302543"/>
          <a:ext cx="33734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320" imgH="545760" progId="Equation.DSMT4">
                  <p:embed/>
                </p:oleObj>
              </mc:Choice>
              <mc:Fallback>
                <p:oleObj name="Equation" r:id="rId3" imgW="17143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03" y="1302543"/>
                        <a:ext cx="3373438" cy="1074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470680"/>
              </p:ext>
            </p:extLst>
          </p:nvPr>
        </p:nvGraphicFramePr>
        <p:xfrm>
          <a:off x="4953000" y="1219200"/>
          <a:ext cx="34718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545760" progId="Equation.DSMT4">
                  <p:embed/>
                </p:oleObj>
              </mc:Choice>
              <mc:Fallback>
                <p:oleObj name="Equation" r:id="rId5" imgW="1765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19200"/>
                        <a:ext cx="3471863" cy="1074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401407"/>
              </p:ext>
            </p:extLst>
          </p:nvPr>
        </p:nvGraphicFramePr>
        <p:xfrm>
          <a:off x="290141" y="2502692"/>
          <a:ext cx="2822980" cy="537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241200" progId="Equation.DSMT4">
                  <p:embed/>
                </p:oleObj>
              </mc:Choice>
              <mc:Fallback>
                <p:oleObj name="Equation" r:id="rId7" imgW="1269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41" y="2502692"/>
                        <a:ext cx="2822980" cy="5373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042516"/>
              </p:ext>
            </p:extLst>
          </p:nvPr>
        </p:nvGraphicFramePr>
        <p:xfrm>
          <a:off x="747341" y="3040062"/>
          <a:ext cx="5882059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81000" imgH="507960" progId="Equation.DSMT4">
                  <p:embed/>
                </p:oleObj>
              </mc:Choice>
              <mc:Fallback>
                <p:oleObj name="Equation" r:id="rId9" imgW="2781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41" y="3040062"/>
                        <a:ext cx="5882059" cy="1074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036603"/>
              </p:ext>
            </p:extLst>
          </p:nvPr>
        </p:nvGraphicFramePr>
        <p:xfrm>
          <a:off x="694365" y="4568825"/>
          <a:ext cx="24558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04840" imgH="241200" progId="Equation.DSMT4">
                  <p:embed/>
                </p:oleObj>
              </mc:Choice>
              <mc:Fallback>
                <p:oleObj name="Equation" r:id="rId11" imgW="1104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65" y="4568825"/>
                        <a:ext cx="2455862" cy="536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360448"/>
              </p:ext>
            </p:extLst>
          </p:nvPr>
        </p:nvGraphicFramePr>
        <p:xfrm>
          <a:off x="747341" y="5689431"/>
          <a:ext cx="14112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680" imgH="203040" progId="Equation.DSMT4">
                  <p:embed/>
                </p:oleObj>
              </mc:Choice>
              <mc:Fallback>
                <p:oleObj name="Equation" r:id="rId13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41" y="5689431"/>
                        <a:ext cx="1411287" cy="450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itle 1"/>
          <p:cNvSpPr txBox="1">
            <a:spLocks/>
          </p:cNvSpPr>
          <p:nvPr/>
        </p:nvSpPr>
        <p:spPr>
          <a:xfrm>
            <a:off x="290141" y="820028"/>
            <a:ext cx="52322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Quan hệ giữa Z &amp; Y:</a:t>
            </a:r>
          </a:p>
        </p:txBody>
      </p:sp>
      <p:sp>
        <p:nvSpPr>
          <p:cNvPr id="77" name="Title 1"/>
          <p:cNvSpPr txBox="1">
            <a:spLocks/>
          </p:cNvSpPr>
          <p:nvPr/>
        </p:nvSpPr>
        <p:spPr>
          <a:xfrm>
            <a:off x="326675" y="4137194"/>
            <a:ext cx="52322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Quan hệ giữa G &amp; H:</a:t>
            </a:r>
          </a:p>
        </p:txBody>
      </p:sp>
      <p:sp>
        <p:nvSpPr>
          <p:cNvPr id="78" name="Title 1"/>
          <p:cNvSpPr txBox="1">
            <a:spLocks/>
          </p:cNvSpPr>
          <p:nvPr/>
        </p:nvSpPr>
        <p:spPr>
          <a:xfrm>
            <a:off x="315715" y="5181600"/>
            <a:ext cx="5232226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Quan hệ giữa A &amp; B:</a:t>
            </a:r>
          </a:p>
        </p:txBody>
      </p:sp>
    </p:spTree>
    <p:extLst>
      <p:ext uri="{BB962C8B-B14F-4D97-AF65-F5344CB8AC3E}">
        <p14:creationId xmlns:p14="http://schemas.microsoft.com/office/powerpoint/2010/main" val="219973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609600"/>
          </a:xfrm>
        </p:spPr>
        <p:txBody>
          <a:bodyPr anchor="t" anchorCtr="0">
            <a:norm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BẢNG QUAN HỆ GIỮA CÁC THÔNG SỐ 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559496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774153"/>
              </p:ext>
            </p:extLst>
          </p:nvPr>
        </p:nvGraphicFramePr>
        <p:xfrm>
          <a:off x="755904" y="622126"/>
          <a:ext cx="7702296" cy="5993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6123240" imgH="5501520" progId="Photoshop.Image.13">
                  <p:embed/>
                </p:oleObj>
              </mc:Choice>
              <mc:Fallback>
                <p:oleObj name="Image" r:id="rId3" imgW="6123240" imgH="550152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904" y="622126"/>
                        <a:ext cx="7702296" cy="5993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633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6.3 CÁC SƠ ĐỒ TƯƠNG ĐƯƠNG CỦA M4C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108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/>
          <p:cNvSpPr txBox="1">
            <a:spLocks/>
          </p:cNvSpPr>
          <p:nvPr/>
        </p:nvSpPr>
        <p:spPr>
          <a:xfrm>
            <a:off x="146304" y="914400"/>
            <a:ext cx="4409222" cy="477054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ctr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Sơ đồ tương đương hình T: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2000" y="1219201"/>
            <a:ext cx="2616769" cy="1597405"/>
            <a:chOff x="762000" y="1479299"/>
            <a:chExt cx="2819400" cy="1721101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762000" y="19812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762000" y="32004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10668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908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2134122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 rot="5400000">
              <a:off x="1828278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19200" y="1492365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17104" y="1479299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30415" y="2378908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54810" y="1219201"/>
            <a:ext cx="2771603" cy="1581552"/>
            <a:chOff x="5045122" y="1479299"/>
            <a:chExt cx="3016156" cy="1721101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105400" y="19812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105400" y="3200400"/>
              <a:ext cx="28194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6248400" y="1917526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5715000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 rot="5400000">
              <a:off x="5410200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7391400" y="1981200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 rot="5400000">
              <a:off x="7086600" y="252443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45122" y="2400578"/>
              <a:ext cx="593679" cy="435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82011" y="1479299"/>
              <a:ext cx="547707" cy="435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59770" y="2429006"/>
              <a:ext cx="601508" cy="435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33" name="Title 1"/>
          <p:cNvSpPr txBox="1">
            <a:spLocks/>
          </p:cNvSpPr>
          <p:nvPr/>
        </p:nvSpPr>
        <p:spPr>
          <a:xfrm>
            <a:off x="4533900" y="914400"/>
            <a:ext cx="4457700" cy="477054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ctr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Sơ đồ tương đương hình 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</a:t>
            </a:r>
            <a:r>
              <a:rPr lang="en-US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559004"/>
              </p:ext>
            </p:extLst>
          </p:nvPr>
        </p:nvGraphicFramePr>
        <p:xfrm>
          <a:off x="277813" y="3025775"/>
          <a:ext cx="3913187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400" imgH="761760" progId="Equation.DSMT4">
                  <p:embed/>
                </p:oleObj>
              </mc:Choice>
              <mc:Fallback>
                <p:oleObj name="Equation" r:id="rId3" imgW="184140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3" y="3025775"/>
                        <a:ext cx="3913187" cy="1508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590079"/>
              </p:ext>
            </p:extLst>
          </p:nvPr>
        </p:nvGraphicFramePr>
        <p:xfrm>
          <a:off x="4648200" y="3025775"/>
          <a:ext cx="4116387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68480" imgH="761760" progId="Equation.DSMT4">
                  <p:embed/>
                </p:oleObj>
              </mc:Choice>
              <mc:Fallback>
                <p:oleObj name="Equation" r:id="rId5" imgW="19684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25775"/>
                        <a:ext cx="4116387" cy="1522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278360"/>
              </p:ext>
            </p:extLst>
          </p:nvPr>
        </p:nvGraphicFramePr>
        <p:xfrm>
          <a:off x="1396999" y="4740275"/>
          <a:ext cx="2811463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761760" progId="Equation.DSMT4">
                  <p:embed/>
                </p:oleObj>
              </mc:Choice>
              <mc:Fallback>
                <p:oleObj name="Equation" r:id="rId7" imgW="12826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999" y="4740275"/>
                        <a:ext cx="2811463" cy="1508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034795"/>
              </p:ext>
            </p:extLst>
          </p:nvPr>
        </p:nvGraphicFramePr>
        <p:xfrm>
          <a:off x="6061075" y="4773613"/>
          <a:ext cx="2867025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761760" progId="Equation.DSMT4">
                  <p:embed/>
                </p:oleObj>
              </mc:Choice>
              <mc:Fallback>
                <p:oleObj name="Equation" r:id="rId9" imgW="137160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075" y="4773613"/>
                        <a:ext cx="2867025" cy="1522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/>
          <p:cNvCxnSpPr>
            <a:stCxn id="2" idx="2"/>
          </p:cNvCxnSpPr>
          <p:nvPr/>
        </p:nvCxnSpPr>
        <p:spPr>
          <a:xfrm>
            <a:off x="4533900" y="838200"/>
            <a:ext cx="39927" cy="58293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77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6.4 GHÉP NỐI CÁC MẠNG 4 CỰC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870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457200" y="838200"/>
            <a:ext cx="3505200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1. Ghép dây chuyền: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457200" y="1515693"/>
            <a:ext cx="4689954" cy="1368200"/>
            <a:chOff x="659182" y="1455665"/>
            <a:chExt cx="4689954" cy="1368200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984504" y="1870552"/>
              <a:ext cx="4044696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984504" y="2590800"/>
              <a:ext cx="4044696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1066800" y="1870552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421498"/>
                </p:ext>
              </p:extLst>
            </p:nvPr>
          </p:nvGraphicFramePr>
          <p:xfrm>
            <a:off x="1284288" y="1455665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53800" progId="Equation.DSMT4">
                    <p:embed/>
                  </p:oleObj>
                </mc:Choice>
                <mc:Fallback>
                  <p:oleObj name="Equation" r:id="rId3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84288" y="1455665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0903223"/>
                </p:ext>
              </p:extLst>
            </p:nvPr>
          </p:nvGraphicFramePr>
          <p:xfrm>
            <a:off x="4572000" y="1467372"/>
            <a:ext cx="4222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66400" imgH="253800" progId="Equation.DSMT4">
                    <p:embed/>
                  </p:oleObj>
                </mc:Choice>
                <mc:Fallback>
                  <p:oleObj name="Equation" r:id="rId5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72000" y="1467372"/>
                          <a:ext cx="4222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TextBox 48"/>
            <p:cNvSpPr txBox="1"/>
            <p:nvPr/>
          </p:nvSpPr>
          <p:spPr>
            <a:xfrm>
              <a:off x="659182" y="1629426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59182" y="236220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093918" y="1629426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93918" y="236220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53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01189"/>
                </p:ext>
              </p:extLst>
            </p:nvPr>
          </p:nvGraphicFramePr>
          <p:xfrm>
            <a:off x="896938" y="2057400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96938" y="2057400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826150"/>
                </p:ext>
              </p:extLst>
            </p:nvPr>
          </p:nvGraphicFramePr>
          <p:xfrm>
            <a:off x="4840287" y="2024686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15640" imgH="253800" progId="Equation.DSMT4">
                    <p:embed/>
                  </p:oleObj>
                </mc:Choice>
                <mc:Fallback>
                  <p:oleObj name="Equation" r:id="rId9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40287" y="2024686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Rectangle 39"/>
            <p:cNvSpPr/>
            <p:nvPr/>
          </p:nvSpPr>
          <p:spPr>
            <a:xfrm>
              <a:off x="1676400" y="1676400"/>
              <a:ext cx="726509" cy="10800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616891" y="1666802"/>
              <a:ext cx="726509" cy="10800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048000" y="1838083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3069775" y="2551810"/>
              <a:ext cx="91440" cy="9144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4572000" y="1871928"/>
              <a:ext cx="2698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1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3470790"/>
                </p:ext>
              </p:extLst>
            </p:nvPr>
          </p:nvGraphicFramePr>
          <p:xfrm>
            <a:off x="2526475" y="1488569"/>
            <a:ext cx="4222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66400" imgH="253800" progId="Equation.DSMT4">
                    <p:embed/>
                  </p:oleObj>
                </mc:Choice>
                <mc:Fallback>
                  <p:oleObj name="Equation" r:id="rId11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26475" y="1488569"/>
                          <a:ext cx="4222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2" name="Straight Arrow Connector 61"/>
            <p:cNvCxnSpPr/>
            <p:nvPr/>
          </p:nvCxnSpPr>
          <p:spPr>
            <a:xfrm>
              <a:off x="2526475" y="1881250"/>
              <a:ext cx="2698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2" name="Object 9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9636019"/>
                </p:ext>
              </p:extLst>
            </p:nvPr>
          </p:nvGraphicFramePr>
          <p:xfrm>
            <a:off x="2945182" y="2068752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53800" progId="Equation.DSMT4">
                    <p:embed/>
                  </p:oleObj>
                </mc:Choice>
                <mc:Fallback>
                  <p:oleObj name="Equation" r:id="rId13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45182" y="2068752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Group 63"/>
          <p:cNvGrpSpPr/>
          <p:nvPr/>
        </p:nvGrpSpPr>
        <p:grpSpPr>
          <a:xfrm>
            <a:off x="5996750" y="1527400"/>
            <a:ext cx="2817313" cy="1368200"/>
            <a:chOff x="659182" y="1455665"/>
            <a:chExt cx="2817313" cy="1368200"/>
          </a:xfrm>
        </p:grpSpPr>
        <p:cxnSp>
          <p:nvCxnSpPr>
            <p:cNvPr id="65" name="Straight Connector 64"/>
            <p:cNvCxnSpPr/>
            <p:nvPr/>
          </p:nvCxnSpPr>
          <p:spPr>
            <a:xfrm flipV="1">
              <a:off x="984504" y="1857302"/>
              <a:ext cx="2210155" cy="1325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984504" y="2590800"/>
              <a:ext cx="2248255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066800" y="1870552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8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421498"/>
                </p:ext>
              </p:extLst>
            </p:nvPr>
          </p:nvGraphicFramePr>
          <p:xfrm>
            <a:off x="1284288" y="1455665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253800" progId="Equation.DSMT4">
                    <p:embed/>
                  </p:oleObj>
                </mc:Choice>
                <mc:Fallback>
                  <p:oleObj name="Equation" r:id="rId15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84288" y="1455665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0061046"/>
                </p:ext>
              </p:extLst>
            </p:nvPr>
          </p:nvGraphicFramePr>
          <p:xfrm>
            <a:off x="2699359" y="1467372"/>
            <a:ext cx="4222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66400" imgH="253800" progId="Equation.DSMT4">
                    <p:embed/>
                  </p:oleObj>
                </mc:Choice>
                <mc:Fallback>
                  <p:oleObj name="Equation" r:id="rId16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99359" y="1467372"/>
                          <a:ext cx="4222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TextBox 69"/>
            <p:cNvSpPr txBox="1"/>
            <p:nvPr/>
          </p:nvSpPr>
          <p:spPr>
            <a:xfrm>
              <a:off x="659182" y="1629426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59182" y="236220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221277" y="1629426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21277" y="236220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74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01189"/>
                </p:ext>
              </p:extLst>
            </p:nvPr>
          </p:nvGraphicFramePr>
          <p:xfrm>
            <a:off x="896938" y="2057400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40" imgH="253800" progId="Equation.DSMT4">
                    <p:embed/>
                  </p:oleObj>
                </mc:Choice>
                <mc:Fallback>
                  <p:oleObj name="Equation" r:id="rId1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96938" y="2057400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8967845"/>
                </p:ext>
              </p:extLst>
            </p:nvPr>
          </p:nvGraphicFramePr>
          <p:xfrm>
            <a:off x="2967646" y="2024686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15640" imgH="253800" progId="Equation.DSMT4">
                    <p:embed/>
                  </p:oleObj>
                </mc:Choice>
                <mc:Fallback>
                  <p:oleObj name="Equation" r:id="rId18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67646" y="2024686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Rectangle 75"/>
            <p:cNvSpPr/>
            <p:nvPr/>
          </p:nvSpPr>
          <p:spPr>
            <a:xfrm>
              <a:off x="1676400" y="1676400"/>
              <a:ext cx="908659" cy="108005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2687484" y="1848178"/>
              <a:ext cx="2698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Equal 85"/>
          <p:cNvSpPr/>
          <p:nvPr/>
        </p:nvSpPr>
        <p:spPr>
          <a:xfrm>
            <a:off x="5334000" y="2064978"/>
            <a:ext cx="586550" cy="411757"/>
          </a:xfrm>
          <a:prstGeom prst="mathEqua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15903"/>
              </p:ext>
            </p:extLst>
          </p:nvPr>
        </p:nvGraphicFramePr>
        <p:xfrm>
          <a:off x="960437" y="3109913"/>
          <a:ext cx="19907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04840" imgH="558720" progId="Equation.DSMT4">
                  <p:embed/>
                </p:oleObj>
              </mc:Choice>
              <mc:Fallback>
                <p:oleObj name="Equation" r:id="rId19" imgW="11048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7" y="3109913"/>
                        <a:ext cx="1990725" cy="1004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208046"/>
              </p:ext>
            </p:extLst>
          </p:nvPr>
        </p:nvGraphicFramePr>
        <p:xfrm>
          <a:off x="3100387" y="3105150"/>
          <a:ext cx="162401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01440" imgH="545760" progId="Equation.DSMT4">
                  <p:embed/>
                </p:oleObj>
              </mc:Choice>
              <mc:Fallback>
                <p:oleObj name="Equation" r:id="rId21" imgW="9014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7" y="3105150"/>
                        <a:ext cx="1624013" cy="982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ight Arrow 89"/>
          <p:cNvSpPr/>
          <p:nvPr/>
        </p:nvSpPr>
        <p:spPr>
          <a:xfrm>
            <a:off x="6324600" y="3365326"/>
            <a:ext cx="310781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161557"/>
              </p:ext>
            </p:extLst>
          </p:nvPr>
        </p:nvGraphicFramePr>
        <p:xfrm>
          <a:off x="6850063" y="3371850"/>
          <a:ext cx="1207222" cy="461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96880" imgH="228600" progId="Equation.DSMT4">
                  <p:embed/>
                </p:oleObj>
              </mc:Choice>
              <mc:Fallback>
                <p:oleObj name="Equation" r:id="rId23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3" y="3371850"/>
                        <a:ext cx="1207222" cy="461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itle 1"/>
          <p:cNvSpPr txBox="1">
            <a:spLocks/>
          </p:cNvSpPr>
          <p:nvPr/>
        </p:nvSpPr>
        <p:spPr>
          <a:xfrm>
            <a:off x="457200" y="4364123"/>
            <a:ext cx="5743371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Tổng quát có n M4C ghép dây chuyền:</a:t>
            </a:r>
          </a:p>
        </p:txBody>
      </p:sp>
      <p:graphicFrame>
        <p:nvGraphicFramePr>
          <p:cNvPr id="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651265"/>
              </p:ext>
            </p:extLst>
          </p:nvPr>
        </p:nvGraphicFramePr>
        <p:xfrm>
          <a:off x="6033741" y="4206875"/>
          <a:ext cx="265271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73120" imgH="457200" progId="Equation.DSMT4">
                  <p:embed/>
                </p:oleObj>
              </mc:Choice>
              <mc:Fallback>
                <p:oleObj name="Equation" r:id="rId25" imgW="1473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3741" y="4206875"/>
                        <a:ext cx="2652713" cy="8223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Title 1"/>
          <p:cNvSpPr txBox="1">
            <a:spLocks/>
          </p:cNvSpPr>
          <p:nvPr/>
        </p:nvSpPr>
        <p:spPr>
          <a:xfrm>
            <a:off x="228600" y="5218837"/>
            <a:ext cx="8148568" cy="877163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Lưu ý, phép nhân ma trận không có tính giao hoán nên các ma trận A</a:t>
            </a:r>
            <a:r>
              <a:rPr lang="en-US" sz="2400" i="1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400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không được đổi vị trí.</a:t>
            </a:r>
          </a:p>
        </p:txBody>
      </p:sp>
      <p:sp>
        <p:nvSpPr>
          <p:cNvPr id="3" name="Down Arrow 2"/>
          <p:cNvSpPr/>
          <p:nvPr/>
        </p:nvSpPr>
        <p:spPr>
          <a:xfrm>
            <a:off x="1676400" y="2895600"/>
            <a:ext cx="381000" cy="267761"/>
          </a:xfrm>
          <a:prstGeom prst="downArrow">
            <a:avLst>
              <a:gd name="adj1" fmla="val 50000"/>
              <a:gd name="adj2" fmla="val 6232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>
            <a:off x="3531393" y="2909525"/>
            <a:ext cx="381000" cy="267761"/>
          </a:xfrm>
          <a:prstGeom prst="downArrow">
            <a:avLst>
              <a:gd name="adj1" fmla="val 50000"/>
              <a:gd name="adj2" fmla="val 6232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8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4" grpId="0"/>
      <p:bldP spid="96" grpId="0"/>
      <p:bldP spid="3" grpId="0" animBg="1"/>
      <p:bldP spid="5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9" name="Title 1"/>
          <p:cNvSpPr txBox="1">
            <a:spLocks/>
          </p:cNvSpPr>
          <p:nvPr/>
        </p:nvSpPr>
        <p:spPr>
          <a:xfrm>
            <a:off x="426458" y="381000"/>
            <a:ext cx="7879341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ma trận A của các M4C hình T, 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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43000" y="850727"/>
            <a:ext cx="2410010" cy="1554020"/>
            <a:chOff x="618461" y="774526"/>
            <a:chExt cx="2662335" cy="1711071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618461" y="1266397"/>
              <a:ext cx="26623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18461" y="2485597"/>
              <a:ext cx="26623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2174660" y="1202723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926574" y="1266397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 rot="5400000">
              <a:off x="1620730" y="1809631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37796" y="777562"/>
              <a:ext cx="7456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000894" y="1675356"/>
              <a:ext cx="88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66800" y="1194148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94796" y="774526"/>
              <a:ext cx="7268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410201" y="842511"/>
            <a:ext cx="2548261" cy="1551263"/>
            <a:chOff x="5567265" y="781513"/>
            <a:chExt cx="2815060" cy="1708035"/>
          </a:xfrm>
        </p:grpSpPr>
        <p:cxnSp>
          <p:nvCxnSpPr>
            <p:cNvPr id="39" name="Straight Connector 38"/>
            <p:cNvCxnSpPr/>
            <p:nvPr/>
          </p:nvCxnSpPr>
          <p:spPr>
            <a:xfrm>
              <a:off x="5567265" y="1270348"/>
              <a:ext cx="26623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567265" y="2489548"/>
              <a:ext cx="266233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6553200" y="1206674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6158124" y="1270348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 rot="5400000">
              <a:off x="5852280" y="1813582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77000" y="781513"/>
              <a:ext cx="706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232444" y="1679307"/>
              <a:ext cx="716354" cy="440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7594948" y="1270348"/>
              <a:ext cx="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 rot="5400000">
              <a:off x="7300080" y="1813582"/>
              <a:ext cx="609600" cy="152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680245" y="1679307"/>
              <a:ext cx="702080" cy="440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320780"/>
              </p:ext>
            </p:extLst>
          </p:nvPr>
        </p:nvGraphicFramePr>
        <p:xfrm>
          <a:off x="1626292" y="5515239"/>
          <a:ext cx="1300358" cy="472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253800" progId="Equation.DSMT4">
                  <p:embed/>
                </p:oleObj>
              </mc:Choice>
              <mc:Fallback>
                <p:oleObj name="Equation" r:id="rId3" imgW="698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292" y="5515239"/>
                        <a:ext cx="1300358" cy="47285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422417"/>
              </p:ext>
            </p:extLst>
          </p:nvPr>
        </p:nvGraphicFramePr>
        <p:xfrm>
          <a:off x="6029502" y="5515239"/>
          <a:ext cx="1370079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253800" progId="Equation.DSMT4">
                  <p:embed/>
                </p:oleObj>
              </mc:Choice>
              <mc:Fallback>
                <p:oleObj name="Equation" r:id="rId5" imgW="711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502" y="5515239"/>
                        <a:ext cx="1370079" cy="4889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609599" y="3200400"/>
            <a:ext cx="3507811" cy="2099708"/>
            <a:chOff x="609599" y="3200400"/>
            <a:chExt cx="3507811" cy="2099708"/>
          </a:xfrm>
        </p:grpSpPr>
        <p:grpSp>
          <p:nvGrpSpPr>
            <p:cNvPr id="10" name="Group 9"/>
            <p:cNvGrpSpPr/>
            <p:nvPr/>
          </p:nvGrpSpPr>
          <p:grpSpPr>
            <a:xfrm>
              <a:off x="609599" y="3200400"/>
              <a:ext cx="3507811" cy="1826688"/>
              <a:chOff x="914400" y="2860929"/>
              <a:chExt cx="3505200" cy="2092071"/>
            </a:xfrm>
          </p:grpSpPr>
          <p:cxnSp>
            <p:nvCxnSpPr>
              <p:cNvPr id="68" name="Straight Connector 67"/>
              <p:cNvCxnSpPr/>
              <p:nvPr/>
            </p:nvCxnSpPr>
            <p:spPr>
              <a:xfrm>
                <a:off x="914400" y="3352800"/>
                <a:ext cx="3505200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914400" y="4572000"/>
                <a:ext cx="3505200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Rectangle 70"/>
              <p:cNvSpPr/>
              <p:nvPr/>
            </p:nvSpPr>
            <p:spPr>
              <a:xfrm>
                <a:off x="3405998" y="3289126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2222513" y="3352800"/>
                <a:ext cx="0" cy="1219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Rectangle 72"/>
              <p:cNvSpPr/>
              <p:nvPr/>
            </p:nvSpPr>
            <p:spPr>
              <a:xfrm rot="5400000">
                <a:off x="1916669" y="3896034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369134" y="2863965"/>
                <a:ext cx="7456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1524000" y="3761759"/>
                <a:ext cx="598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1215004" y="3280551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1143000" y="2860929"/>
                <a:ext cx="726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  <p:cxnSp>
            <p:nvCxnSpPr>
              <p:cNvPr id="78" name="Straight Connector 77"/>
              <p:cNvCxnSpPr/>
              <p:nvPr/>
            </p:nvCxnSpPr>
            <p:spPr>
              <a:xfrm>
                <a:off x="3048000" y="3352800"/>
                <a:ext cx="0" cy="1219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/>
              <p:cNvSpPr/>
              <p:nvPr/>
            </p:nvSpPr>
            <p:spPr>
              <a:xfrm rot="5400000">
                <a:off x="2754869" y="3896034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3135033" y="3761759"/>
                <a:ext cx="598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2641948" y="3048000"/>
                <a:ext cx="0" cy="1905000"/>
              </a:xfrm>
              <a:prstGeom prst="line">
                <a:avLst/>
              </a:prstGeom>
              <a:ln w="22225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itle 1"/>
            <p:cNvSpPr txBox="1">
              <a:spLocks/>
            </p:cNvSpPr>
            <p:nvPr/>
          </p:nvSpPr>
          <p:spPr>
            <a:xfrm>
              <a:off x="992593" y="4850704"/>
              <a:ext cx="984881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  <a:sym typeface="Symbol" panose="05050102010706020507" pitchFamily="18" charset="2"/>
                </a:rPr>
                <a:t></a:t>
              </a:r>
              <a:endParaRPr lang="en-US" sz="2000" b="1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Title 1"/>
            <p:cNvSpPr txBox="1">
              <a:spLocks/>
            </p:cNvSpPr>
            <p:nvPr/>
          </p:nvSpPr>
          <p:spPr>
            <a:xfrm>
              <a:off x="2680208" y="4853832"/>
              <a:ext cx="1039984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  <a:sym typeface="Symbol" panose="05050102010706020507" pitchFamily="18" charset="2"/>
                </a:rPr>
                <a:t></a:t>
              </a:r>
              <a:endParaRPr lang="en-US" sz="2000" b="1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029200" y="3213774"/>
            <a:ext cx="3581400" cy="2086334"/>
            <a:chOff x="5029200" y="3213774"/>
            <a:chExt cx="3581400" cy="2086334"/>
          </a:xfrm>
        </p:grpSpPr>
        <p:grpSp>
          <p:nvGrpSpPr>
            <p:cNvPr id="17" name="Group 16"/>
            <p:cNvGrpSpPr/>
            <p:nvPr/>
          </p:nvGrpSpPr>
          <p:grpSpPr>
            <a:xfrm>
              <a:off x="5029200" y="3213774"/>
              <a:ext cx="3581400" cy="1790178"/>
              <a:chOff x="4800600" y="2869893"/>
              <a:chExt cx="3657600" cy="2083107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4800600" y="3358728"/>
                <a:ext cx="3505199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4800600" y="4577928"/>
                <a:ext cx="3505199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5601222" y="3295054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/>
              <p:cNvCxnSpPr/>
              <p:nvPr/>
            </p:nvCxnSpPr>
            <p:spPr>
              <a:xfrm>
                <a:off x="5258844" y="3358728"/>
                <a:ext cx="0" cy="1219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Rectangle 85"/>
              <p:cNvSpPr/>
              <p:nvPr/>
            </p:nvSpPr>
            <p:spPr>
              <a:xfrm rot="5400000">
                <a:off x="4953000" y="3901962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5525022" y="2869893"/>
                <a:ext cx="7063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5333165" y="3767687"/>
                <a:ext cx="5916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89" name="Straight Connector 88"/>
              <p:cNvCxnSpPr/>
              <p:nvPr/>
            </p:nvCxnSpPr>
            <p:spPr>
              <a:xfrm>
                <a:off x="7792186" y="3358728"/>
                <a:ext cx="0" cy="1219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/>
              <p:cNvSpPr/>
              <p:nvPr/>
            </p:nvSpPr>
            <p:spPr>
              <a:xfrm rot="5400000">
                <a:off x="7497318" y="3901962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7877483" y="3767687"/>
                <a:ext cx="5807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6837470" y="3295709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6761270" y="2870548"/>
                <a:ext cx="7063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6477000" y="3048000"/>
                <a:ext cx="0" cy="1905000"/>
              </a:xfrm>
              <a:prstGeom prst="line">
                <a:avLst/>
              </a:prstGeom>
              <a:ln w="25400">
                <a:solidFill>
                  <a:srgbClr val="0000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itle 1"/>
            <p:cNvSpPr txBox="1">
              <a:spLocks/>
            </p:cNvSpPr>
            <p:nvPr/>
          </p:nvSpPr>
          <p:spPr>
            <a:xfrm>
              <a:off x="7086600" y="4836377"/>
              <a:ext cx="984881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  <a:sym typeface="Symbol" panose="05050102010706020507" pitchFamily="18" charset="2"/>
                </a:rPr>
                <a:t></a:t>
              </a:r>
              <a:endParaRPr lang="en-US" sz="2000" b="1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Title 1"/>
            <p:cNvSpPr txBox="1">
              <a:spLocks/>
            </p:cNvSpPr>
            <p:nvPr/>
          </p:nvSpPr>
          <p:spPr>
            <a:xfrm>
              <a:off x="5383888" y="4853832"/>
              <a:ext cx="1039984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 b="1">
                  <a:solidFill>
                    <a:srgbClr val="C00000"/>
                  </a:solidFill>
                  <a:latin typeface="Arial" pitchFamily="34" charset="0"/>
                  <a:cs typeface="Arial" pitchFamily="34" charset="0"/>
                  <a:sym typeface="Symbol" panose="05050102010706020507" pitchFamily="18" charset="2"/>
                </a:rPr>
                <a:t></a:t>
              </a:r>
              <a:endParaRPr lang="en-US" sz="2000" b="1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Down Arrow 1"/>
          <p:cNvSpPr/>
          <p:nvPr/>
        </p:nvSpPr>
        <p:spPr>
          <a:xfrm>
            <a:off x="2081089" y="2667000"/>
            <a:ext cx="494529" cy="4572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Down Arrow 63"/>
          <p:cNvSpPr/>
          <p:nvPr/>
        </p:nvSpPr>
        <p:spPr>
          <a:xfrm>
            <a:off x="6410042" y="2590800"/>
            <a:ext cx="494529" cy="4572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6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308526"/>
              </p:ext>
            </p:extLst>
          </p:nvPr>
        </p:nvGraphicFramePr>
        <p:xfrm>
          <a:off x="457200" y="4486275"/>
          <a:ext cx="5029200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4840" imgH="977760" progId="Equation.DSMT4">
                  <p:embed/>
                </p:oleObj>
              </mc:Choice>
              <mc:Fallback>
                <p:oleObj name="Equation" r:id="rId3" imgW="317484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86275"/>
                        <a:ext cx="5029200" cy="156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451334"/>
              </p:ext>
            </p:extLst>
          </p:nvPr>
        </p:nvGraphicFramePr>
        <p:xfrm>
          <a:off x="474409" y="2538412"/>
          <a:ext cx="4918075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62240" imgH="977760" progId="Equation.DSMT4">
                  <p:embed/>
                </p:oleObj>
              </mc:Choice>
              <mc:Fallback>
                <p:oleObj name="Equation" r:id="rId5" imgW="316224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09" y="2538412"/>
                        <a:ext cx="4918075" cy="156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347442"/>
              </p:ext>
            </p:extLst>
          </p:nvPr>
        </p:nvGraphicFramePr>
        <p:xfrm>
          <a:off x="3621087" y="582612"/>
          <a:ext cx="254317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927000" progId="Equation.DSMT4">
                  <p:embed/>
                </p:oleObj>
              </mc:Choice>
              <mc:Fallback>
                <p:oleObj name="Equation" r:id="rId7" imgW="157464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7" y="582612"/>
                        <a:ext cx="2543175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08695"/>
              </p:ext>
            </p:extLst>
          </p:nvPr>
        </p:nvGraphicFramePr>
        <p:xfrm>
          <a:off x="457200" y="523875"/>
          <a:ext cx="2360612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120" imgH="977760" progId="Equation.DSMT4">
                  <p:embed/>
                </p:oleObj>
              </mc:Choice>
              <mc:Fallback>
                <p:oleObj name="Equation" r:id="rId9" imgW="147312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3875"/>
                        <a:ext cx="2360612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397467"/>
              </p:ext>
            </p:extLst>
          </p:nvPr>
        </p:nvGraphicFramePr>
        <p:xfrm>
          <a:off x="5619750" y="2514600"/>
          <a:ext cx="299085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66600" imgH="977760" progId="Equation.DSMT4">
                  <p:embed/>
                </p:oleObj>
              </mc:Choice>
              <mc:Fallback>
                <p:oleObj name="Equation" r:id="rId11" imgW="186660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2514600"/>
                        <a:ext cx="2990850" cy="16097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262171"/>
              </p:ext>
            </p:extLst>
          </p:nvPr>
        </p:nvGraphicFramePr>
        <p:xfrm>
          <a:off x="5627688" y="4486275"/>
          <a:ext cx="3051175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760" imgH="977760" progId="Equation.DSMT4">
                  <p:embed/>
                </p:oleObj>
              </mc:Choice>
              <mc:Fallback>
                <p:oleObj name="Equation" r:id="rId13" imgW="190476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688" y="4486275"/>
                        <a:ext cx="3051175" cy="16097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639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333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407192" y="256198"/>
            <a:ext cx="5997175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2. Ghép nối tiếp – nối tiếp:</a:t>
            </a:r>
          </a:p>
        </p:txBody>
      </p:sp>
      <p:sp>
        <p:nvSpPr>
          <p:cNvPr id="86" name="Equal 85"/>
          <p:cNvSpPr/>
          <p:nvPr/>
        </p:nvSpPr>
        <p:spPr>
          <a:xfrm>
            <a:off x="4876800" y="1953843"/>
            <a:ext cx="586550" cy="411757"/>
          </a:xfrm>
          <a:prstGeom prst="mathEqua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231621"/>
              </p:ext>
            </p:extLst>
          </p:nvPr>
        </p:nvGraphicFramePr>
        <p:xfrm>
          <a:off x="457200" y="3490913"/>
          <a:ext cx="57673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00400" imgH="558720" progId="Equation.DSMT4">
                  <p:embed/>
                </p:oleObj>
              </mc:Choice>
              <mc:Fallback>
                <p:oleObj name="Equation" r:id="rId3" imgW="32004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490913"/>
                        <a:ext cx="5767388" cy="1004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ight Arrow 89"/>
          <p:cNvSpPr/>
          <p:nvPr/>
        </p:nvSpPr>
        <p:spPr>
          <a:xfrm>
            <a:off x="6477000" y="3746326"/>
            <a:ext cx="310781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417750"/>
              </p:ext>
            </p:extLst>
          </p:nvPr>
        </p:nvGraphicFramePr>
        <p:xfrm>
          <a:off x="6956425" y="3779837"/>
          <a:ext cx="11668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228600" progId="Equation.DSMT4">
                  <p:embed/>
                </p:oleObj>
              </mc:Choice>
              <mc:Fallback>
                <p:oleObj name="Equation" r:id="rId5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425" y="3779837"/>
                        <a:ext cx="1166813" cy="411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itle 1"/>
          <p:cNvSpPr txBox="1">
            <a:spLocks/>
          </p:cNvSpPr>
          <p:nvPr/>
        </p:nvSpPr>
        <p:spPr>
          <a:xfrm>
            <a:off x="457200" y="5126123"/>
            <a:ext cx="627135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Tổng quát có n M4C ghép nối tiếp – nối tiếp:</a:t>
            </a:r>
          </a:p>
        </p:txBody>
      </p:sp>
      <p:graphicFrame>
        <p:nvGraphicFramePr>
          <p:cNvPr id="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4498"/>
              </p:ext>
            </p:extLst>
          </p:nvPr>
        </p:nvGraphicFramePr>
        <p:xfrm>
          <a:off x="6719888" y="5021263"/>
          <a:ext cx="10525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3920" imgH="457200" progId="Equation.DSMT4">
                  <p:embed/>
                </p:oleObj>
              </mc:Choice>
              <mc:Fallback>
                <p:oleObj name="Equation" r:id="rId7" imgW="583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888" y="5021263"/>
                        <a:ext cx="1052512" cy="8223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812319" y="996123"/>
            <a:ext cx="3607281" cy="2128077"/>
            <a:chOff x="478858" y="838200"/>
            <a:chExt cx="3607281" cy="2128077"/>
          </a:xfrm>
        </p:grpSpPr>
        <p:cxnSp>
          <p:nvCxnSpPr>
            <p:cNvPr id="45" name="Straight Arrow Connector 44"/>
            <p:cNvCxnSpPr/>
            <p:nvPr/>
          </p:nvCxnSpPr>
          <p:spPr>
            <a:xfrm>
              <a:off x="864818" y="1253087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2060936"/>
                </p:ext>
              </p:extLst>
            </p:nvPr>
          </p:nvGraphicFramePr>
          <p:xfrm>
            <a:off x="1082306" y="838200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253800" progId="Equation.DSMT4">
                    <p:embed/>
                  </p:oleObj>
                </mc:Choice>
                <mc:Fallback>
                  <p:oleObj name="Equation" r:id="rId9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82306" y="838200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523693"/>
                </p:ext>
              </p:extLst>
            </p:nvPr>
          </p:nvGraphicFramePr>
          <p:xfrm>
            <a:off x="3585770" y="838200"/>
            <a:ext cx="261937" cy="397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0" imgH="253800" progId="Equation.DSMT4">
                    <p:embed/>
                  </p:oleObj>
                </mc:Choice>
                <mc:Fallback>
                  <p:oleObj name="Equation" r:id="rId11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85770" y="838200"/>
                          <a:ext cx="261937" cy="3975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TextBox 48"/>
            <p:cNvSpPr txBox="1"/>
            <p:nvPr/>
          </p:nvSpPr>
          <p:spPr>
            <a:xfrm>
              <a:off x="478858" y="1248159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75870" y="2433152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810000" y="1168148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830921" y="242211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53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0543880"/>
                </p:ext>
              </p:extLst>
            </p:nvPr>
          </p:nvGraphicFramePr>
          <p:xfrm>
            <a:off x="490384" y="1760452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03040" imgH="253800" progId="Equation.DSMT4">
                    <p:embed/>
                  </p:oleObj>
                </mc:Choice>
                <mc:Fallback>
                  <p:oleObj name="Equation" r:id="rId13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0384" y="1760452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4250020"/>
                </p:ext>
              </p:extLst>
            </p:nvPr>
          </p:nvGraphicFramePr>
          <p:xfrm>
            <a:off x="3733800" y="1813190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15640" imgH="253800" progId="Equation.DSMT4">
                    <p:embed/>
                  </p:oleObj>
                </mc:Choice>
                <mc:Fallback>
                  <p:oleObj name="Equation" r:id="rId15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33800" y="1813190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Rectangle 39"/>
            <p:cNvSpPr/>
            <p:nvPr/>
          </p:nvSpPr>
          <p:spPr>
            <a:xfrm>
              <a:off x="1879168" y="1127800"/>
              <a:ext cx="726509" cy="8326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606467" y="1257977"/>
              <a:ext cx="1281708" cy="13933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1888175" y="2133600"/>
              <a:ext cx="726509" cy="8326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1278576" y="1793174"/>
              <a:ext cx="609602" cy="522514"/>
            </a:xfrm>
            <a:custGeom>
              <a:avLst/>
              <a:gdLst>
                <a:gd name="connsiteX0" fmla="*/ 451263 w 486889"/>
                <a:gd name="connsiteY0" fmla="*/ 0 h 486888"/>
                <a:gd name="connsiteX1" fmla="*/ 0 w 486889"/>
                <a:gd name="connsiteY1" fmla="*/ 11875 h 486888"/>
                <a:gd name="connsiteX2" fmla="*/ 0 w 486889"/>
                <a:gd name="connsiteY2" fmla="*/ 486888 h 486888"/>
                <a:gd name="connsiteX3" fmla="*/ 486889 w 486889"/>
                <a:gd name="connsiteY3" fmla="*/ 486888 h 48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89" h="486888">
                  <a:moveTo>
                    <a:pt x="451263" y="0"/>
                  </a:moveTo>
                  <a:lnTo>
                    <a:pt x="0" y="11875"/>
                  </a:lnTo>
                  <a:lnTo>
                    <a:pt x="0" y="486888"/>
                  </a:lnTo>
                  <a:lnTo>
                    <a:pt x="486889" y="48688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603504" y="2819400"/>
              <a:ext cx="1260787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120"/>
                </p:ext>
              </p:extLst>
            </p:nvPr>
          </p:nvGraphicFramePr>
          <p:xfrm>
            <a:off x="1066800" y="1352540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40" imgH="253800" progId="Equation.DSMT4">
                    <p:embed/>
                  </p:oleObj>
                </mc:Choice>
                <mc:Fallback>
                  <p:oleObj name="Equation" r:id="rId1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66800" y="1352540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255445"/>
                </p:ext>
              </p:extLst>
            </p:nvPr>
          </p:nvGraphicFramePr>
          <p:xfrm>
            <a:off x="1099983" y="2387739"/>
            <a:ext cx="32226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040" imgH="253800" progId="Equation.DSMT4">
                    <p:embed/>
                  </p:oleObj>
                </mc:Choice>
                <mc:Fallback>
                  <p:oleObj name="Equation" r:id="rId19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99983" y="2387739"/>
                          <a:ext cx="32226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Freeform 10"/>
            <p:cNvSpPr/>
            <p:nvPr/>
          </p:nvSpPr>
          <p:spPr>
            <a:xfrm>
              <a:off x="2624447" y="1745673"/>
              <a:ext cx="605641" cy="570015"/>
            </a:xfrm>
            <a:custGeom>
              <a:avLst/>
              <a:gdLst>
                <a:gd name="connsiteX0" fmla="*/ 0 w 605641"/>
                <a:gd name="connsiteY0" fmla="*/ 0 h 570015"/>
                <a:gd name="connsiteX1" fmla="*/ 605641 w 605641"/>
                <a:gd name="connsiteY1" fmla="*/ 0 h 570015"/>
                <a:gd name="connsiteX2" fmla="*/ 605641 w 605641"/>
                <a:gd name="connsiteY2" fmla="*/ 570015 h 570015"/>
                <a:gd name="connsiteX3" fmla="*/ 0 w 605641"/>
                <a:gd name="connsiteY3" fmla="*/ 570015 h 57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5641" h="570015">
                  <a:moveTo>
                    <a:pt x="0" y="0"/>
                  </a:moveTo>
                  <a:lnTo>
                    <a:pt x="605641" y="0"/>
                  </a:lnTo>
                  <a:lnTo>
                    <a:pt x="605641" y="570015"/>
                  </a:lnTo>
                  <a:lnTo>
                    <a:pt x="0" y="57001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2612572" y="1249957"/>
              <a:ext cx="1349828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624447" y="2819400"/>
              <a:ext cx="1337953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9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0082956"/>
                </p:ext>
              </p:extLst>
            </p:nvPr>
          </p:nvGraphicFramePr>
          <p:xfrm>
            <a:off x="3027363" y="1325563"/>
            <a:ext cx="341312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5640" imgH="253800" progId="Equation.DSMT4">
                    <p:embed/>
                  </p:oleObj>
                </mc:Choice>
                <mc:Fallback>
                  <p:oleObj name="Equation" r:id="rId21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27363" y="1325563"/>
                          <a:ext cx="341312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5818331"/>
                </p:ext>
              </p:extLst>
            </p:nvPr>
          </p:nvGraphicFramePr>
          <p:xfrm>
            <a:off x="2998788" y="2362200"/>
            <a:ext cx="3429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15640" imgH="253800" progId="Equation.DSMT4">
                    <p:embed/>
                  </p:oleObj>
                </mc:Choice>
                <mc:Fallback>
                  <p:oleObj name="Equation" r:id="rId23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998788" y="2362200"/>
                          <a:ext cx="342900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" name="Straight Arrow Connector 16"/>
            <p:cNvCxnSpPr/>
            <p:nvPr/>
          </p:nvCxnSpPr>
          <p:spPr>
            <a:xfrm flipH="1">
              <a:off x="3230088" y="1247671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2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9411474"/>
                </p:ext>
              </p:extLst>
            </p:nvPr>
          </p:nvGraphicFramePr>
          <p:xfrm>
            <a:off x="1524000" y="188436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52280" imgH="253800" progId="Equation.DSMT4">
                    <p:embed/>
                  </p:oleObj>
                </mc:Choice>
                <mc:Fallback>
                  <p:oleObj name="Equation" r:id="rId25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24000" y="188436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4" name="Straight Arrow Connector 83"/>
            <p:cNvCxnSpPr/>
            <p:nvPr/>
          </p:nvCxnSpPr>
          <p:spPr>
            <a:xfrm>
              <a:off x="1295400" y="2315688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>
              <a:off x="2768518" y="2315569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9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9233364"/>
                </p:ext>
              </p:extLst>
            </p:nvPr>
          </p:nvGraphicFramePr>
          <p:xfrm>
            <a:off x="2834386" y="1916303"/>
            <a:ext cx="261937" cy="397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64880" imgH="253800" progId="Equation.DSMT4">
                    <p:embed/>
                  </p:oleObj>
                </mc:Choice>
                <mc:Fallback>
                  <p:oleObj name="Equation" r:id="rId26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834386" y="1916303"/>
                          <a:ext cx="261937" cy="3975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/>
          <p:cNvGrpSpPr/>
          <p:nvPr/>
        </p:nvGrpSpPr>
        <p:grpSpPr>
          <a:xfrm>
            <a:off x="5791200" y="1451200"/>
            <a:ext cx="2817313" cy="1368200"/>
            <a:chOff x="5791200" y="1219200"/>
            <a:chExt cx="2817313" cy="1368200"/>
          </a:xfrm>
        </p:grpSpPr>
        <p:grpSp>
          <p:nvGrpSpPr>
            <p:cNvPr id="64" name="Group 63"/>
            <p:cNvGrpSpPr/>
            <p:nvPr/>
          </p:nvGrpSpPr>
          <p:grpSpPr>
            <a:xfrm>
              <a:off x="5791200" y="1219200"/>
              <a:ext cx="2817313" cy="1368200"/>
              <a:chOff x="659182" y="1455665"/>
              <a:chExt cx="2817313" cy="136820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984504" y="1857302"/>
                <a:ext cx="2210155" cy="1325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984504" y="2590800"/>
                <a:ext cx="224825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1066800" y="1870552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8" name="Object 67"/>
              <p:cNvGraphicFramePr>
                <a:graphicFrameLocks noChangeAspect="1"/>
              </p:cNvGraphicFramePr>
              <p:nvPr/>
            </p:nvGraphicFramePr>
            <p:xfrm>
              <a:off x="1284288" y="1455665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52280" imgH="253800" progId="Equation.DSMT4">
                      <p:embed/>
                    </p:oleObj>
                  </mc:Choice>
                  <mc:Fallback>
                    <p:oleObj name="Equation" r:id="rId28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284288" y="1455665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6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1683412"/>
                  </p:ext>
                </p:extLst>
              </p:nvPr>
            </p:nvGraphicFramePr>
            <p:xfrm>
              <a:off x="2913432" y="1466778"/>
              <a:ext cx="26035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164880" imgH="253800" progId="Equation.DSMT4">
                      <p:embed/>
                    </p:oleObj>
                  </mc:Choice>
                  <mc:Fallback>
                    <p:oleObj name="Equation" r:id="rId29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2913432" y="1466778"/>
                            <a:ext cx="26035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TextBox 69"/>
              <p:cNvSpPr txBox="1"/>
              <p:nvPr/>
            </p:nvSpPr>
            <p:spPr>
              <a:xfrm>
                <a:off x="659182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59182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221277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221277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74" name="Object 73"/>
              <p:cNvGraphicFramePr>
                <a:graphicFrameLocks noChangeAspect="1"/>
              </p:cNvGraphicFramePr>
              <p:nvPr/>
            </p:nvGraphicFramePr>
            <p:xfrm>
              <a:off x="896938" y="2057400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203040" imgH="253800" progId="Equation.DSMT4">
                      <p:embed/>
                    </p:oleObj>
                  </mc:Choice>
                  <mc:Fallback>
                    <p:oleObj name="Equation" r:id="rId31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96938" y="2057400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74"/>
              <p:cNvGraphicFramePr>
                <a:graphicFrameLocks noChangeAspect="1"/>
              </p:cNvGraphicFramePr>
              <p:nvPr/>
            </p:nvGraphicFramePr>
            <p:xfrm>
              <a:off x="2967646" y="2024686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215640" imgH="253800" progId="Equation.DSMT4">
                      <p:embed/>
                    </p:oleObj>
                  </mc:Choice>
                  <mc:Fallback>
                    <p:oleObj name="Equation" r:id="rId32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967646" y="2024686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Rectangle 75"/>
              <p:cNvSpPr/>
              <p:nvPr/>
            </p:nvSpPr>
            <p:spPr>
              <a:xfrm>
                <a:off x="1596541" y="1676400"/>
                <a:ext cx="984466" cy="10800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+Z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3" name="Straight Arrow Connector 92"/>
            <p:cNvCxnSpPr/>
            <p:nvPr/>
          </p:nvCxnSpPr>
          <p:spPr>
            <a:xfrm flipH="1">
              <a:off x="7898073" y="1608961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333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407192" y="256198"/>
            <a:ext cx="5997175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3. Ghép song song – song song:</a:t>
            </a:r>
          </a:p>
        </p:txBody>
      </p:sp>
      <p:sp>
        <p:nvSpPr>
          <p:cNvPr id="86" name="Equal 85"/>
          <p:cNvSpPr/>
          <p:nvPr/>
        </p:nvSpPr>
        <p:spPr>
          <a:xfrm>
            <a:off x="5204650" y="1953843"/>
            <a:ext cx="586550" cy="411757"/>
          </a:xfrm>
          <a:prstGeom prst="mathEqua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259448"/>
              </p:ext>
            </p:extLst>
          </p:nvPr>
        </p:nvGraphicFramePr>
        <p:xfrm>
          <a:off x="533400" y="3499888"/>
          <a:ext cx="5736564" cy="107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4400" imgH="558720" progId="Equation.DSMT4">
                  <p:embed/>
                </p:oleObj>
              </mc:Choice>
              <mc:Fallback>
                <p:oleObj name="Equation" r:id="rId3" imgW="29844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499888"/>
                        <a:ext cx="5736564" cy="1072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ight Arrow 89"/>
          <p:cNvSpPr/>
          <p:nvPr/>
        </p:nvSpPr>
        <p:spPr>
          <a:xfrm>
            <a:off x="6477000" y="3746326"/>
            <a:ext cx="310781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115358"/>
              </p:ext>
            </p:extLst>
          </p:nvPr>
        </p:nvGraphicFramePr>
        <p:xfrm>
          <a:off x="6934200" y="3779838"/>
          <a:ext cx="12128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228600" progId="Equation.DSMT4">
                  <p:embed/>
                </p:oleObj>
              </mc:Choice>
              <mc:Fallback>
                <p:oleObj name="Equation" r:id="rId5" imgW="672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779838"/>
                        <a:ext cx="1212850" cy="41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itle 1"/>
          <p:cNvSpPr txBox="1">
            <a:spLocks/>
          </p:cNvSpPr>
          <p:nvPr/>
        </p:nvSpPr>
        <p:spPr>
          <a:xfrm>
            <a:off x="407191" y="5126123"/>
            <a:ext cx="5776251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Tổng quát có n M4C ghép song</a:t>
            </a:r>
            <a:r>
              <a:rPr lang="en-US" sz="2400" baseline="30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-song</a:t>
            </a:r>
            <a:r>
              <a:rPr lang="en-US" sz="2400" baseline="30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92050"/>
              </p:ext>
            </p:extLst>
          </p:nvPr>
        </p:nvGraphicFramePr>
        <p:xfrm>
          <a:off x="6003925" y="4976813"/>
          <a:ext cx="10826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457200" progId="Equation.DSMT4">
                  <p:embed/>
                </p:oleObj>
              </mc:Choice>
              <mc:Fallback>
                <p:oleObj name="Equation" r:id="rId7" imgW="571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4976813"/>
                        <a:ext cx="1082675" cy="8651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5945687" y="1451200"/>
            <a:ext cx="2817313" cy="1368200"/>
            <a:chOff x="5791200" y="1219200"/>
            <a:chExt cx="2817313" cy="1368200"/>
          </a:xfrm>
        </p:grpSpPr>
        <p:grpSp>
          <p:nvGrpSpPr>
            <p:cNvPr id="64" name="Group 63"/>
            <p:cNvGrpSpPr/>
            <p:nvPr/>
          </p:nvGrpSpPr>
          <p:grpSpPr>
            <a:xfrm>
              <a:off x="5791200" y="1219200"/>
              <a:ext cx="2817313" cy="1368200"/>
              <a:chOff x="659182" y="1455665"/>
              <a:chExt cx="2817313" cy="136820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984504" y="1857302"/>
                <a:ext cx="2210155" cy="1325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984504" y="2590800"/>
                <a:ext cx="224825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1066800" y="1870552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8" name="Object 67"/>
              <p:cNvGraphicFramePr>
                <a:graphicFrameLocks noChangeAspect="1"/>
              </p:cNvGraphicFramePr>
              <p:nvPr/>
            </p:nvGraphicFramePr>
            <p:xfrm>
              <a:off x="1284288" y="1455665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253800" progId="Equation.DSMT4">
                      <p:embed/>
                    </p:oleObj>
                  </mc:Choice>
                  <mc:Fallback>
                    <p:oleObj name="Equation" r:id="rId9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284288" y="1455665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913432" y="1466778"/>
              <a:ext cx="26035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64880" imgH="253800" progId="Equation.DSMT4">
                      <p:embed/>
                    </p:oleObj>
                  </mc:Choice>
                  <mc:Fallback>
                    <p:oleObj name="Equation" r:id="rId11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913432" y="1466778"/>
                            <a:ext cx="26035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TextBox 69"/>
              <p:cNvSpPr txBox="1"/>
              <p:nvPr/>
            </p:nvSpPr>
            <p:spPr>
              <a:xfrm>
                <a:off x="659182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59182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221277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221277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74" name="Object 73"/>
              <p:cNvGraphicFramePr>
                <a:graphicFrameLocks noChangeAspect="1"/>
              </p:cNvGraphicFramePr>
              <p:nvPr/>
            </p:nvGraphicFramePr>
            <p:xfrm>
              <a:off x="896938" y="2057400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03040" imgH="253800" progId="Equation.DSMT4">
                      <p:embed/>
                    </p:oleObj>
                  </mc:Choice>
                  <mc:Fallback>
                    <p:oleObj name="Equation" r:id="rId13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96938" y="2057400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74"/>
              <p:cNvGraphicFramePr>
                <a:graphicFrameLocks noChangeAspect="1"/>
              </p:cNvGraphicFramePr>
              <p:nvPr/>
            </p:nvGraphicFramePr>
            <p:xfrm>
              <a:off x="2967646" y="2024686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15640" imgH="253800" progId="Equation.DSMT4">
                      <p:embed/>
                    </p:oleObj>
                  </mc:Choice>
                  <mc:Fallback>
                    <p:oleObj name="Equation" r:id="rId15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967646" y="2024686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Rectangle 75"/>
              <p:cNvSpPr/>
              <p:nvPr/>
            </p:nvSpPr>
            <p:spPr>
              <a:xfrm>
                <a:off x="1596540" y="1676400"/>
                <a:ext cx="1012091" cy="10800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+Y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3" name="Straight Arrow Connector 92"/>
            <p:cNvCxnSpPr/>
            <p:nvPr/>
          </p:nvCxnSpPr>
          <p:spPr>
            <a:xfrm flipH="1">
              <a:off x="7898073" y="1608961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547060" y="994101"/>
            <a:ext cx="4405940" cy="2130099"/>
            <a:chOff x="333654" y="994101"/>
            <a:chExt cx="4405940" cy="2130099"/>
          </a:xfrm>
        </p:grpSpPr>
        <p:cxnSp>
          <p:nvCxnSpPr>
            <p:cNvPr id="45" name="Straight Arrow Connector 44"/>
            <p:cNvCxnSpPr/>
            <p:nvPr/>
          </p:nvCxnSpPr>
          <p:spPr>
            <a:xfrm>
              <a:off x="1654658" y="1408988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7274163"/>
                </p:ext>
              </p:extLst>
            </p:nvPr>
          </p:nvGraphicFramePr>
          <p:xfrm>
            <a:off x="1872146" y="994101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253800" progId="Equation.DSMT4">
                    <p:embed/>
                  </p:oleObj>
                </mc:Choice>
                <mc:Fallback>
                  <p:oleObj name="Equation" r:id="rId17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72146" y="994101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3745136"/>
                </p:ext>
              </p:extLst>
            </p:nvPr>
          </p:nvGraphicFramePr>
          <p:xfrm>
            <a:off x="4247581" y="1422185"/>
            <a:ext cx="261937" cy="397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64880" imgH="253800" progId="Equation.DSMT4">
                    <p:embed/>
                  </p:oleObj>
                </mc:Choice>
                <mc:Fallback>
                  <p:oleObj name="Equation" r:id="rId19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47581" y="1422185"/>
                          <a:ext cx="261937" cy="3975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TextBox 48"/>
            <p:cNvSpPr txBox="1"/>
            <p:nvPr/>
          </p:nvSpPr>
          <p:spPr>
            <a:xfrm>
              <a:off x="333654" y="1393719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4382" y="2362200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84376" y="1418828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82608" y="2433935"/>
              <a:ext cx="2552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54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3148931"/>
                </p:ext>
              </p:extLst>
            </p:nvPr>
          </p:nvGraphicFramePr>
          <p:xfrm>
            <a:off x="4383087" y="1971113"/>
            <a:ext cx="341313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5640" imgH="253800" progId="Equation.DSMT4">
                    <p:embed/>
                  </p:oleObj>
                </mc:Choice>
                <mc:Fallback>
                  <p:oleObj name="Equation" r:id="rId21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83087" y="1971113"/>
                          <a:ext cx="341313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Rectangle 39"/>
            <p:cNvSpPr/>
            <p:nvPr/>
          </p:nvSpPr>
          <p:spPr>
            <a:xfrm>
              <a:off x="2162310" y="1285723"/>
              <a:ext cx="726509" cy="8326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400693" y="1828800"/>
              <a:ext cx="566157" cy="6154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2171317" y="2291523"/>
              <a:ext cx="726509" cy="8326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400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25467" y="2478975"/>
              <a:ext cx="561154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001452" y="1823803"/>
              <a:ext cx="593725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042250" y="2452985"/>
              <a:ext cx="554471" cy="0"/>
            </a:xfrm>
            <a:prstGeom prst="line">
              <a:avLst/>
            </a:prstGeom>
            <a:ln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112469" y="1831656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2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427562"/>
                </p:ext>
              </p:extLst>
            </p:nvPr>
          </p:nvGraphicFramePr>
          <p:xfrm>
            <a:off x="1797050" y="2041525"/>
            <a:ext cx="258763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64880" imgH="253800" progId="Equation.DSMT4">
                    <p:embed/>
                  </p:oleObj>
                </mc:Choice>
                <mc:Fallback>
                  <p:oleObj name="Equation" r:id="rId22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797050" y="2041525"/>
                          <a:ext cx="258763" cy="4016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4" name="Straight Arrow Connector 83"/>
            <p:cNvCxnSpPr/>
            <p:nvPr/>
          </p:nvCxnSpPr>
          <p:spPr>
            <a:xfrm>
              <a:off x="1578542" y="2473611"/>
              <a:ext cx="381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>
              <a:off x="3051660" y="2473492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9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7658963"/>
                </p:ext>
              </p:extLst>
            </p:nvPr>
          </p:nvGraphicFramePr>
          <p:xfrm>
            <a:off x="3117528" y="2074226"/>
            <a:ext cx="261937" cy="397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64880" imgH="253800" progId="Equation.DSMT4">
                    <p:embed/>
                  </p:oleObj>
                </mc:Choice>
                <mc:Fallback>
                  <p:oleObj name="Equation" r:id="rId24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117528" y="2074226"/>
                          <a:ext cx="261937" cy="3975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Straight Connector 6"/>
            <p:cNvCxnSpPr/>
            <p:nvPr/>
          </p:nvCxnSpPr>
          <p:spPr>
            <a:xfrm>
              <a:off x="1578542" y="1424531"/>
              <a:ext cx="592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571500" y="1945575"/>
              <a:ext cx="592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590417" y="2467581"/>
              <a:ext cx="592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1583375" y="2948050"/>
              <a:ext cx="592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965896" y="1424531"/>
              <a:ext cx="619284" cy="4164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960894" y="1855652"/>
              <a:ext cx="640869" cy="6183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960949" y="1957451"/>
              <a:ext cx="633038" cy="5101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961184" y="2467581"/>
              <a:ext cx="618067" cy="4682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0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2347040"/>
                </p:ext>
              </p:extLst>
            </p:nvPr>
          </p:nvGraphicFramePr>
          <p:xfrm>
            <a:off x="414338" y="1992313"/>
            <a:ext cx="320675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03040" imgH="253800" progId="Equation.DSMT4">
                    <p:embed/>
                  </p:oleObj>
                </mc:Choice>
                <mc:Fallback>
                  <p:oleObj name="Equation" r:id="rId26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414338" y="1992313"/>
                          <a:ext cx="320675" cy="400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7" name="Straight Connector 36"/>
            <p:cNvCxnSpPr/>
            <p:nvPr/>
          </p:nvCxnSpPr>
          <p:spPr>
            <a:xfrm>
              <a:off x="2888819" y="1405594"/>
              <a:ext cx="61638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897826" y="1971113"/>
              <a:ext cx="6073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897826" y="2452985"/>
              <a:ext cx="6073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2897826" y="2977323"/>
              <a:ext cx="6073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505200" y="1405594"/>
              <a:ext cx="511742" cy="4353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V="1">
              <a:off x="3480496" y="1815719"/>
              <a:ext cx="532831" cy="6443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3505200" y="1976250"/>
              <a:ext cx="537050" cy="4859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V="1">
              <a:off x="3530508" y="2467014"/>
              <a:ext cx="522059" cy="5103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3" name="Object 10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284908"/>
                </p:ext>
              </p:extLst>
            </p:nvPr>
          </p:nvGraphicFramePr>
          <p:xfrm>
            <a:off x="3139745" y="1016193"/>
            <a:ext cx="261937" cy="397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64880" imgH="253800" progId="Equation.DSMT4">
                    <p:embed/>
                  </p:oleObj>
                </mc:Choice>
                <mc:Fallback>
                  <p:oleObj name="Equation" r:id="rId28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139745" y="1016193"/>
                          <a:ext cx="261937" cy="3975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4" name="Straight Arrow Connector 103"/>
            <p:cNvCxnSpPr/>
            <p:nvPr/>
          </p:nvCxnSpPr>
          <p:spPr>
            <a:xfrm flipH="1">
              <a:off x="2997118" y="1402238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6" name="Object 10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5156879"/>
                </p:ext>
              </p:extLst>
            </p:nvPr>
          </p:nvGraphicFramePr>
          <p:xfrm>
            <a:off x="671053" y="1373413"/>
            <a:ext cx="23971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52280" imgH="253800" progId="Equation.DSMT4">
                    <p:embed/>
                  </p:oleObj>
                </mc:Choice>
                <mc:Fallback>
                  <p:oleObj name="Equation" r:id="rId30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671053" y="1373413"/>
                          <a:ext cx="239712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9" name="Straight Arrow Connector 108"/>
            <p:cNvCxnSpPr/>
            <p:nvPr/>
          </p:nvCxnSpPr>
          <p:spPr>
            <a:xfrm>
              <a:off x="467799" y="1827594"/>
              <a:ext cx="33609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746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9" name="Title 1"/>
          <p:cNvSpPr txBox="1">
            <a:spLocks/>
          </p:cNvSpPr>
          <p:nvPr/>
        </p:nvSpPr>
        <p:spPr>
          <a:xfrm>
            <a:off x="426459" y="304800"/>
            <a:ext cx="4450342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ma trận Y của M4C: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81000" y="914400"/>
            <a:ext cx="3429000" cy="1643030"/>
            <a:chOff x="3886200" y="1468644"/>
            <a:chExt cx="3429000" cy="1643030"/>
          </a:xfrm>
        </p:grpSpPr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5314711" y="1468644"/>
              <a:ext cx="518873" cy="167172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81" name="Group 80"/>
            <p:cNvGrpSpPr>
              <a:grpSpLocks/>
            </p:cNvGrpSpPr>
            <p:nvPr/>
          </p:nvGrpSpPr>
          <p:grpSpPr bwMode="auto">
            <a:xfrm>
              <a:off x="4666333" y="2002035"/>
              <a:ext cx="957919" cy="152677"/>
              <a:chOff x="5184" y="13392"/>
              <a:chExt cx="1008" cy="158"/>
            </a:xfrm>
          </p:grpSpPr>
          <p:sp>
            <p:nvSpPr>
              <p:cNvPr id="124" name="Freeform 123"/>
              <p:cNvSpPr>
                <a:spLocks/>
              </p:cNvSpPr>
              <p:nvPr/>
            </p:nvSpPr>
            <p:spPr bwMode="auto">
              <a:xfrm>
                <a:off x="5472" y="13392"/>
                <a:ext cx="432" cy="158"/>
              </a:xfrm>
              <a:custGeom>
                <a:avLst/>
                <a:gdLst>
                  <a:gd name="T0" fmla="*/ 0 w 2160"/>
                  <a:gd name="T1" fmla="*/ 456 h 936"/>
                  <a:gd name="T2" fmla="*/ 288 w 2160"/>
                  <a:gd name="T3" fmla="*/ 24 h 936"/>
                  <a:gd name="T4" fmla="*/ 576 w 2160"/>
                  <a:gd name="T5" fmla="*/ 456 h 936"/>
                  <a:gd name="T6" fmla="*/ 432 w 2160"/>
                  <a:gd name="T7" fmla="*/ 888 h 936"/>
                  <a:gd name="T8" fmla="*/ 432 w 2160"/>
                  <a:gd name="T9" fmla="*/ 600 h 936"/>
                  <a:gd name="T10" fmla="*/ 720 w 2160"/>
                  <a:gd name="T11" fmla="*/ 24 h 936"/>
                  <a:gd name="T12" fmla="*/ 1008 w 2160"/>
                  <a:gd name="T13" fmla="*/ 456 h 936"/>
                  <a:gd name="T14" fmla="*/ 864 w 2160"/>
                  <a:gd name="T15" fmla="*/ 888 h 936"/>
                  <a:gd name="T16" fmla="*/ 864 w 2160"/>
                  <a:gd name="T17" fmla="*/ 600 h 936"/>
                  <a:gd name="T18" fmla="*/ 1152 w 2160"/>
                  <a:gd name="T19" fmla="*/ 24 h 936"/>
                  <a:gd name="T20" fmla="*/ 1440 w 2160"/>
                  <a:gd name="T21" fmla="*/ 600 h 936"/>
                  <a:gd name="T22" fmla="*/ 1296 w 2160"/>
                  <a:gd name="T23" fmla="*/ 888 h 936"/>
                  <a:gd name="T24" fmla="*/ 1440 w 2160"/>
                  <a:gd name="T25" fmla="*/ 312 h 936"/>
                  <a:gd name="T26" fmla="*/ 1584 w 2160"/>
                  <a:gd name="T27" fmla="*/ 24 h 936"/>
                  <a:gd name="T28" fmla="*/ 1872 w 2160"/>
                  <a:gd name="T29" fmla="*/ 456 h 936"/>
                  <a:gd name="T30" fmla="*/ 1728 w 2160"/>
                  <a:gd name="T31" fmla="*/ 888 h 936"/>
                  <a:gd name="T32" fmla="*/ 1728 w 2160"/>
                  <a:gd name="T33" fmla="*/ 600 h 936"/>
                  <a:gd name="T34" fmla="*/ 2016 w 2160"/>
                  <a:gd name="T35" fmla="*/ 24 h 936"/>
                  <a:gd name="T36" fmla="*/ 2160 w 2160"/>
                  <a:gd name="T37" fmla="*/ 45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60" h="936">
                    <a:moveTo>
                      <a:pt x="0" y="456"/>
                    </a:moveTo>
                    <a:cubicBezTo>
                      <a:pt x="96" y="240"/>
                      <a:pt x="192" y="24"/>
                      <a:pt x="288" y="24"/>
                    </a:cubicBezTo>
                    <a:cubicBezTo>
                      <a:pt x="384" y="24"/>
                      <a:pt x="552" y="312"/>
                      <a:pt x="576" y="456"/>
                    </a:cubicBezTo>
                    <a:cubicBezTo>
                      <a:pt x="600" y="600"/>
                      <a:pt x="456" y="864"/>
                      <a:pt x="432" y="888"/>
                    </a:cubicBezTo>
                    <a:cubicBezTo>
                      <a:pt x="408" y="912"/>
                      <a:pt x="384" y="744"/>
                      <a:pt x="432" y="600"/>
                    </a:cubicBezTo>
                    <a:cubicBezTo>
                      <a:pt x="480" y="456"/>
                      <a:pt x="624" y="48"/>
                      <a:pt x="720" y="24"/>
                    </a:cubicBezTo>
                    <a:cubicBezTo>
                      <a:pt x="816" y="0"/>
                      <a:pt x="984" y="312"/>
                      <a:pt x="1008" y="456"/>
                    </a:cubicBezTo>
                    <a:cubicBezTo>
                      <a:pt x="1032" y="600"/>
                      <a:pt x="888" y="864"/>
                      <a:pt x="864" y="888"/>
                    </a:cubicBezTo>
                    <a:cubicBezTo>
                      <a:pt x="840" y="912"/>
                      <a:pt x="816" y="744"/>
                      <a:pt x="864" y="600"/>
                    </a:cubicBezTo>
                    <a:cubicBezTo>
                      <a:pt x="912" y="456"/>
                      <a:pt x="1056" y="24"/>
                      <a:pt x="1152" y="24"/>
                    </a:cubicBezTo>
                    <a:cubicBezTo>
                      <a:pt x="1248" y="24"/>
                      <a:pt x="1416" y="456"/>
                      <a:pt x="1440" y="600"/>
                    </a:cubicBezTo>
                    <a:cubicBezTo>
                      <a:pt x="1464" y="744"/>
                      <a:pt x="1296" y="936"/>
                      <a:pt x="1296" y="888"/>
                    </a:cubicBezTo>
                    <a:cubicBezTo>
                      <a:pt x="1296" y="840"/>
                      <a:pt x="1392" y="456"/>
                      <a:pt x="1440" y="312"/>
                    </a:cubicBezTo>
                    <a:cubicBezTo>
                      <a:pt x="1488" y="168"/>
                      <a:pt x="1512" y="0"/>
                      <a:pt x="1584" y="24"/>
                    </a:cubicBezTo>
                    <a:cubicBezTo>
                      <a:pt x="1656" y="48"/>
                      <a:pt x="1848" y="312"/>
                      <a:pt x="1872" y="456"/>
                    </a:cubicBezTo>
                    <a:cubicBezTo>
                      <a:pt x="1896" y="600"/>
                      <a:pt x="1752" y="864"/>
                      <a:pt x="1728" y="888"/>
                    </a:cubicBezTo>
                    <a:cubicBezTo>
                      <a:pt x="1704" y="912"/>
                      <a:pt x="1680" y="744"/>
                      <a:pt x="1728" y="600"/>
                    </a:cubicBezTo>
                    <a:cubicBezTo>
                      <a:pt x="1776" y="456"/>
                      <a:pt x="1944" y="48"/>
                      <a:pt x="2016" y="24"/>
                    </a:cubicBezTo>
                    <a:cubicBezTo>
                      <a:pt x="2088" y="0"/>
                      <a:pt x="2124" y="228"/>
                      <a:pt x="2160" y="45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25" name="Line 10"/>
              <p:cNvCxnSpPr>
                <a:cxnSpLocks noChangeShapeType="1"/>
              </p:cNvCxnSpPr>
              <p:nvPr/>
            </p:nvCxnSpPr>
            <p:spPr bwMode="auto">
              <a:xfrm>
                <a:off x="590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6" name="Line 11"/>
              <p:cNvCxnSpPr>
                <a:cxnSpLocks noChangeShapeType="1"/>
              </p:cNvCxnSpPr>
              <p:nvPr/>
            </p:nvCxnSpPr>
            <p:spPr bwMode="auto">
              <a:xfrm flipH="1">
                <a:off x="518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9" name="Group 118"/>
            <p:cNvGrpSpPr>
              <a:grpSpLocks/>
            </p:cNvGrpSpPr>
            <p:nvPr/>
          </p:nvGrpSpPr>
          <p:grpSpPr bwMode="auto">
            <a:xfrm rot="5400000">
              <a:off x="5565807" y="2506623"/>
              <a:ext cx="71507" cy="205268"/>
              <a:chOff x="7702" y="4896"/>
              <a:chExt cx="74" cy="216"/>
            </a:xfrm>
          </p:grpSpPr>
          <p:cxnSp>
            <p:nvCxnSpPr>
              <p:cNvPr id="122" name="Line 14"/>
              <p:cNvCxnSpPr>
                <a:cxnSpLocks noChangeShapeType="1"/>
              </p:cNvCxnSpPr>
              <p:nvPr/>
            </p:nvCxnSpPr>
            <p:spPr bwMode="auto">
              <a:xfrm>
                <a:off x="7776" y="4896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" name="Line 15"/>
              <p:cNvCxnSpPr>
                <a:cxnSpLocks noChangeShapeType="1"/>
              </p:cNvCxnSpPr>
              <p:nvPr/>
            </p:nvCxnSpPr>
            <p:spPr bwMode="auto">
              <a:xfrm>
                <a:off x="7702" y="4896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20" name="Line 16"/>
            <p:cNvCxnSpPr>
              <a:cxnSpLocks noChangeShapeType="1"/>
            </p:cNvCxnSpPr>
            <p:nvPr/>
          </p:nvCxnSpPr>
          <p:spPr bwMode="auto">
            <a:xfrm>
              <a:off x="5605363" y="2082452"/>
              <a:ext cx="0" cy="4910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Line 17"/>
            <p:cNvCxnSpPr>
              <a:cxnSpLocks noChangeShapeType="1"/>
            </p:cNvCxnSpPr>
            <p:nvPr/>
          </p:nvCxnSpPr>
          <p:spPr bwMode="auto">
            <a:xfrm>
              <a:off x="5604412" y="2645010"/>
              <a:ext cx="0" cy="4536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95" name="Group 94"/>
            <p:cNvGrpSpPr>
              <a:grpSpLocks/>
            </p:cNvGrpSpPr>
            <p:nvPr/>
          </p:nvGrpSpPr>
          <p:grpSpPr bwMode="auto">
            <a:xfrm rot="5400000">
              <a:off x="4014782" y="2534479"/>
              <a:ext cx="974042" cy="164405"/>
              <a:chOff x="5184" y="13795"/>
              <a:chExt cx="1008" cy="173"/>
            </a:xfrm>
          </p:grpSpPr>
          <p:sp>
            <p:nvSpPr>
              <p:cNvPr id="116" name="Freeform 115"/>
              <p:cNvSpPr>
                <a:spLocks/>
              </p:cNvSpPr>
              <p:nvPr/>
            </p:nvSpPr>
            <p:spPr bwMode="auto">
              <a:xfrm>
                <a:off x="5417" y="13795"/>
                <a:ext cx="546" cy="1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17" name="Line 20"/>
              <p:cNvCxnSpPr>
                <a:cxnSpLocks noChangeShapeType="1"/>
              </p:cNvCxnSpPr>
              <p:nvPr/>
            </p:nvCxnSpPr>
            <p:spPr bwMode="auto">
              <a:xfrm flipH="1">
                <a:off x="518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8" name="Line 21"/>
              <p:cNvCxnSpPr>
                <a:cxnSpLocks noChangeShapeType="1"/>
              </p:cNvCxnSpPr>
              <p:nvPr/>
            </p:nvCxnSpPr>
            <p:spPr bwMode="auto">
              <a:xfrm flipH="1">
                <a:off x="590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2" name="Text Box 38"/>
            <p:cNvSpPr txBox="1">
              <a:spLocks noChangeArrowheads="1"/>
            </p:cNvSpPr>
            <p:nvPr/>
          </p:nvSpPr>
          <p:spPr bwMode="auto">
            <a:xfrm>
              <a:off x="5096421" y="2199892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ext Box 41"/>
            <p:cNvSpPr txBox="1">
              <a:spLocks noChangeArrowheads="1"/>
            </p:cNvSpPr>
            <p:nvPr/>
          </p:nvSpPr>
          <p:spPr bwMode="auto">
            <a:xfrm>
              <a:off x="5767313" y="2445864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7" name="Group 126"/>
            <p:cNvGrpSpPr>
              <a:grpSpLocks/>
            </p:cNvGrpSpPr>
            <p:nvPr/>
          </p:nvGrpSpPr>
          <p:grpSpPr bwMode="auto">
            <a:xfrm>
              <a:off x="5596325" y="2005845"/>
              <a:ext cx="957919" cy="152677"/>
              <a:chOff x="5184" y="13392"/>
              <a:chExt cx="1008" cy="158"/>
            </a:xfrm>
          </p:grpSpPr>
          <p:sp>
            <p:nvSpPr>
              <p:cNvPr id="128" name="Freeform 127"/>
              <p:cNvSpPr>
                <a:spLocks/>
              </p:cNvSpPr>
              <p:nvPr/>
            </p:nvSpPr>
            <p:spPr bwMode="auto">
              <a:xfrm>
                <a:off x="5472" y="13392"/>
                <a:ext cx="432" cy="158"/>
              </a:xfrm>
              <a:custGeom>
                <a:avLst/>
                <a:gdLst>
                  <a:gd name="T0" fmla="*/ 0 w 2160"/>
                  <a:gd name="T1" fmla="*/ 456 h 936"/>
                  <a:gd name="T2" fmla="*/ 288 w 2160"/>
                  <a:gd name="T3" fmla="*/ 24 h 936"/>
                  <a:gd name="T4" fmla="*/ 576 w 2160"/>
                  <a:gd name="T5" fmla="*/ 456 h 936"/>
                  <a:gd name="T6" fmla="*/ 432 w 2160"/>
                  <a:gd name="T7" fmla="*/ 888 h 936"/>
                  <a:gd name="T8" fmla="*/ 432 w 2160"/>
                  <a:gd name="T9" fmla="*/ 600 h 936"/>
                  <a:gd name="T10" fmla="*/ 720 w 2160"/>
                  <a:gd name="T11" fmla="*/ 24 h 936"/>
                  <a:gd name="T12" fmla="*/ 1008 w 2160"/>
                  <a:gd name="T13" fmla="*/ 456 h 936"/>
                  <a:gd name="T14" fmla="*/ 864 w 2160"/>
                  <a:gd name="T15" fmla="*/ 888 h 936"/>
                  <a:gd name="T16" fmla="*/ 864 w 2160"/>
                  <a:gd name="T17" fmla="*/ 600 h 936"/>
                  <a:gd name="T18" fmla="*/ 1152 w 2160"/>
                  <a:gd name="T19" fmla="*/ 24 h 936"/>
                  <a:gd name="T20" fmla="*/ 1440 w 2160"/>
                  <a:gd name="T21" fmla="*/ 600 h 936"/>
                  <a:gd name="T22" fmla="*/ 1296 w 2160"/>
                  <a:gd name="T23" fmla="*/ 888 h 936"/>
                  <a:gd name="T24" fmla="*/ 1440 w 2160"/>
                  <a:gd name="T25" fmla="*/ 312 h 936"/>
                  <a:gd name="T26" fmla="*/ 1584 w 2160"/>
                  <a:gd name="T27" fmla="*/ 24 h 936"/>
                  <a:gd name="T28" fmla="*/ 1872 w 2160"/>
                  <a:gd name="T29" fmla="*/ 456 h 936"/>
                  <a:gd name="T30" fmla="*/ 1728 w 2160"/>
                  <a:gd name="T31" fmla="*/ 888 h 936"/>
                  <a:gd name="T32" fmla="*/ 1728 w 2160"/>
                  <a:gd name="T33" fmla="*/ 600 h 936"/>
                  <a:gd name="T34" fmla="*/ 2016 w 2160"/>
                  <a:gd name="T35" fmla="*/ 24 h 936"/>
                  <a:gd name="T36" fmla="*/ 2160 w 2160"/>
                  <a:gd name="T37" fmla="*/ 45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60" h="936">
                    <a:moveTo>
                      <a:pt x="0" y="456"/>
                    </a:moveTo>
                    <a:cubicBezTo>
                      <a:pt x="96" y="240"/>
                      <a:pt x="192" y="24"/>
                      <a:pt x="288" y="24"/>
                    </a:cubicBezTo>
                    <a:cubicBezTo>
                      <a:pt x="384" y="24"/>
                      <a:pt x="552" y="312"/>
                      <a:pt x="576" y="456"/>
                    </a:cubicBezTo>
                    <a:cubicBezTo>
                      <a:pt x="600" y="600"/>
                      <a:pt x="456" y="864"/>
                      <a:pt x="432" y="888"/>
                    </a:cubicBezTo>
                    <a:cubicBezTo>
                      <a:pt x="408" y="912"/>
                      <a:pt x="384" y="744"/>
                      <a:pt x="432" y="600"/>
                    </a:cubicBezTo>
                    <a:cubicBezTo>
                      <a:pt x="480" y="456"/>
                      <a:pt x="624" y="48"/>
                      <a:pt x="720" y="24"/>
                    </a:cubicBezTo>
                    <a:cubicBezTo>
                      <a:pt x="816" y="0"/>
                      <a:pt x="984" y="312"/>
                      <a:pt x="1008" y="456"/>
                    </a:cubicBezTo>
                    <a:cubicBezTo>
                      <a:pt x="1032" y="600"/>
                      <a:pt x="888" y="864"/>
                      <a:pt x="864" y="888"/>
                    </a:cubicBezTo>
                    <a:cubicBezTo>
                      <a:pt x="840" y="912"/>
                      <a:pt x="816" y="744"/>
                      <a:pt x="864" y="600"/>
                    </a:cubicBezTo>
                    <a:cubicBezTo>
                      <a:pt x="912" y="456"/>
                      <a:pt x="1056" y="24"/>
                      <a:pt x="1152" y="24"/>
                    </a:cubicBezTo>
                    <a:cubicBezTo>
                      <a:pt x="1248" y="24"/>
                      <a:pt x="1416" y="456"/>
                      <a:pt x="1440" y="600"/>
                    </a:cubicBezTo>
                    <a:cubicBezTo>
                      <a:pt x="1464" y="744"/>
                      <a:pt x="1296" y="936"/>
                      <a:pt x="1296" y="888"/>
                    </a:cubicBezTo>
                    <a:cubicBezTo>
                      <a:pt x="1296" y="840"/>
                      <a:pt x="1392" y="456"/>
                      <a:pt x="1440" y="312"/>
                    </a:cubicBezTo>
                    <a:cubicBezTo>
                      <a:pt x="1488" y="168"/>
                      <a:pt x="1512" y="0"/>
                      <a:pt x="1584" y="24"/>
                    </a:cubicBezTo>
                    <a:cubicBezTo>
                      <a:pt x="1656" y="48"/>
                      <a:pt x="1848" y="312"/>
                      <a:pt x="1872" y="456"/>
                    </a:cubicBezTo>
                    <a:cubicBezTo>
                      <a:pt x="1896" y="600"/>
                      <a:pt x="1752" y="864"/>
                      <a:pt x="1728" y="888"/>
                    </a:cubicBezTo>
                    <a:cubicBezTo>
                      <a:pt x="1704" y="912"/>
                      <a:pt x="1680" y="744"/>
                      <a:pt x="1728" y="600"/>
                    </a:cubicBezTo>
                    <a:cubicBezTo>
                      <a:pt x="1776" y="456"/>
                      <a:pt x="1944" y="48"/>
                      <a:pt x="2016" y="24"/>
                    </a:cubicBezTo>
                    <a:cubicBezTo>
                      <a:pt x="2088" y="0"/>
                      <a:pt x="2124" y="228"/>
                      <a:pt x="2160" y="45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29" name="Line 10"/>
              <p:cNvCxnSpPr>
                <a:cxnSpLocks noChangeShapeType="1"/>
              </p:cNvCxnSpPr>
              <p:nvPr/>
            </p:nvCxnSpPr>
            <p:spPr bwMode="auto">
              <a:xfrm>
                <a:off x="590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0" name="Line 11"/>
              <p:cNvCxnSpPr>
                <a:cxnSpLocks noChangeShapeType="1"/>
              </p:cNvCxnSpPr>
              <p:nvPr/>
            </p:nvCxnSpPr>
            <p:spPr bwMode="auto">
              <a:xfrm flipH="1">
                <a:off x="518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31" name="Text Box 38"/>
            <p:cNvSpPr txBox="1">
              <a:spLocks noChangeArrowheads="1"/>
            </p:cNvSpPr>
            <p:nvPr/>
          </p:nvSpPr>
          <p:spPr bwMode="auto">
            <a:xfrm>
              <a:off x="6053449" y="2168131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3886200" y="3111674"/>
              <a:ext cx="34290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/>
            <p:cNvGrpSpPr>
              <a:grpSpLocks/>
            </p:cNvGrpSpPr>
            <p:nvPr/>
          </p:nvGrpSpPr>
          <p:grpSpPr bwMode="auto">
            <a:xfrm rot="5400000">
              <a:off x="6224582" y="2526281"/>
              <a:ext cx="974042" cy="164405"/>
              <a:chOff x="5184" y="13795"/>
              <a:chExt cx="1008" cy="173"/>
            </a:xfrm>
          </p:grpSpPr>
          <p:sp>
            <p:nvSpPr>
              <p:cNvPr id="133" name="Freeform 132"/>
              <p:cNvSpPr>
                <a:spLocks/>
              </p:cNvSpPr>
              <p:nvPr/>
            </p:nvSpPr>
            <p:spPr bwMode="auto">
              <a:xfrm>
                <a:off x="5417" y="13795"/>
                <a:ext cx="546" cy="1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34" name="Line 20"/>
              <p:cNvCxnSpPr>
                <a:cxnSpLocks noChangeShapeType="1"/>
              </p:cNvCxnSpPr>
              <p:nvPr/>
            </p:nvCxnSpPr>
            <p:spPr bwMode="auto">
              <a:xfrm flipH="1">
                <a:off x="518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5" name="Line 21"/>
              <p:cNvCxnSpPr>
                <a:cxnSpLocks noChangeShapeType="1"/>
              </p:cNvCxnSpPr>
              <p:nvPr/>
            </p:nvCxnSpPr>
            <p:spPr bwMode="auto">
              <a:xfrm flipH="1">
                <a:off x="590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9" name="Freeform 18"/>
            <p:cNvSpPr/>
            <p:nvPr/>
          </p:nvSpPr>
          <p:spPr>
            <a:xfrm>
              <a:off x="4496843" y="1552309"/>
              <a:ext cx="899385" cy="621676"/>
            </a:xfrm>
            <a:custGeom>
              <a:avLst/>
              <a:gdLst>
                <a:gd name="connsiteX0" fmla="*/ 839244 w 839244"/>
                <a:gd name="connsiteY0" fmla="*/ 0 h 663880"/>
                <a:gd name="connsiteX1" fmla="*/ 0 w 839244"/>
                <a:gd name="connsiteY1" fmla="*/ 0 h 663880"/>
                <a:gd name="connsiteX2" fmla="*/ 0 w 839244"/>
                <a:gd name="connsiteY2" fmla="*/ 663880 h 6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9244" h="663880">
                  <a:moveTo>
                    <a:pt x="839244" y="0"/>
                  </a:moveTo>
                  <a:lnTo>
                    <a:pt x="0" y="0"/>
                  </a:lnTo>
                  <a:lnTo>
                    <a:pt x="0" y="66388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5765446" y="1540701"/>
              <a:ext cx="935979" cy="776614"/>
            </a:xfrm>
            <a:custGeom>
              <a:avLst/>
              <a:gdLst>
                <a:gd name="connsiteX0" fmla="*/ 0 w 826718"/>
                <a:gd name="connsiteY0" fmla="*/ 0 h 776614"/>
                <a:gd name="connsiteX1" fmla="*/ 50104 w 826718"/>
                <a:gd name="connsiteY1" fmla="*/ 0 h 776614"/>
                <a:gd name="connsiteX2" fmla="*/ 826718 w 826718"/>
                <a:gd name="connsiteY2" fmla="*/ 0 h 776614"/>
                <a:gd name="connsiteX3" fmla="*/ 826718 w 826718"/>
                <a:gd name="connsiteY3" fmla="*/ 776614 h 77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718" h="776614">
                  <a:moveTo>
                    <a:pt x="0" y="0"/>
                  </a:moveTo>
                  <a:lnTo>
                    <a:pt x="50104" y="0"/>
                  </a:lnTo>
                  <a:lnTo>
                    <a:pt x="826718" y="0"/>
                  </a:lnTo>
                  <a:lnTo>
                    <a:pt x="826718" y="776614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3886200" y="2082452"/>
              <a:ext cx="780134" cy="0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554244" y="2074508"/>
              <a:ext cx="760956" cy="0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 Box 7"/>
            <p:cNvSpPr txBox="1">
              <a:spLocks noChangeArrowheads="1"/>
            </p:cNvSpPr>
            <p:nvPr/>
          </p:nvSpPr>
          <p:spPr bwMode="auto">
            <a:xfrm>
              <a:off x="4679309" y="2438320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Text Box 7"/>
            <p:cNvSpPr txBox="1">
              <a:spLocks noChangeArrowheads="1"/>
            </p:cNvSpPr>
            <p:nvPr/>
          </p:nvSpPr>
          <p:spPr bwMode="auto">
            <a:xfrm>
              <a:off x="6842531" y="2425026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Text Box 7"/>
            <p:cNvSpPr txBox="1">
              <a:spLocks noChangeArrowheads="1"/>
            </p:cNvSpPr>
            <p:nvPr/>
          </p:nvSpPr>
          <p:spPr bwMode="auto">
            <a:xfrm>
              <a:off x="5505170" y="1622995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4572000" y="609600"/>
            <a:ext cx="4267200" cy="2421175"/>
            <a:chOff x="228600" y="2522952"/>
            <a:chExt cx="4267200" cy="2421175"/>
          </a:xfrm>
        </p:grpSpPr>
        <p:sp>
          <p:nvSpPr>
            <p:cNvPr id="140" name="Freeform 139"/>
            <p:cNvSpPr>
              <a:spLocks/>
            </p:cNvSpPr>
            <p:nvPr/>
          </p:nvSpPr>
          <p:spPr bwMode="auto">
            <a:xfrm>
              <a:off x="2071927" y="3886200"/>
              <a:ext cx="518873" cy="167172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141" name="Group 140"/>
            <p:cNvGrpSpPr>
              <a:grpSpLocks/>
            </p:cNvGrpSpPr>
            <p:nvPr/>
          </p:nvGrpSpPr>
          <p:grpSpPr bwMode="auto">
            <a:xfrm>
              <a:off x="1354410" y="2848587"/>
              <a:ext cx="957919" cy="152677"/>
              <a:chOff x="5184" y="13392"/>
              <a:chExt cx="1008" cy="158"/>
            </a:xfrm>
          </p:grpSpPr>
          <p:sp>
            <p:nvSpPr>
              <p:cNvPr id="170" name="Freeform 169"/>
              <p:cNvSpPr>
                <a:spLocks/>
              </p:cNvSpPr>
              <p:nvPr/>
            </p:nvSpPr>
            <p:spPr bwMode="auto">
              <a:xfrm>
                <a:off x="5472" y="13392"/>
                <a:ext cx="432" cy="158"/>
              </a:xfrm>
              <a:custGeom>
                <a:avLst/>
                <a:gdLst>
                  <a:gd name="T0" fmla="*/ 0 w 2160"/>
                  <a:gd name="T1" fmla="*/ 456 h 936"/>
                  <a:gd name="T2" fmla="*/ 288 w 2160"/>
                  <a:gd name="T3" fmla="*/ 24 h 936"/>
                  <a:gd name="T4" fmla="*/ 576 w 2160"/>
                  <a:gd name="T5" fmla="*/ 456 h 936"/>
                  <a:gd name="T6" fmla="*/ 432 w 2160"/>
                  <a:gd name="T7" fmla="*/ 888 h 936"/>
                  <a:gd name="T8" fmla="*/ 432 w 2160"/>
                  <a:gd name="T9" fmla="*/ 600 h 936"/>
                  <a:gd name="T10" fmla="*/ 720 w 2160"/>
                  <a:gd name="T11" fmla="*/ 24 h 936"/>
                  <a:gd name="T12" fmla="*/ 1008 w 2160"/>
                  <a:gd name="T13" fmla="*/ 456 h 936"/>
                  <a:gd name="T14" fmla="*/ 864 w 2160"/>
                  <a:gd name="T15" fmla="*/ 888 h 936"/>
                  <a:gd name="T16" fmla="*/ 864 w 2160"/>
                  <a:gd name="T17" fmla="*/ 600 h 936"/>
                  <a:gd name="T18" fmla="*/ 1152 w 2160"/>
                  <a:gd name="T19" fmla="*/ 24 h 936"/>
                  <a:gd name="T20" fmla="*/ 1440 w 2160"/>
                  <a:gd name="T21" fmla="*/ 600 h 936"/>
                  <a:gd name="T22" fmla="*/ 1296 w 2160"/>
                  <a:gd name="T23" fmla="*/ 888 h 936"/>
                  <a:gd name="T24" fmla="*/ 1440 w 2160"/>
                  <a:gd name="T25" fmla="*/ 312 h 936"/>
                  <a:gd name="T26" fmla="*/ 1584 w 2160"/>
                  <a:gd name="T27" fmla="*/ 24 h 936"/>
                  <a:gd name="T28" fmla="*/ 1872 w 2160"/>
                  <a:gd name="T29" fmla="*/ 456 h 936"/>
                  <a:gd name="T30" fmla="*/ 1728 w 2160"/>
                  <a:gd name="T31" fmla="*/ 888 h 936"/>
                  <a:gd name="T32" fmla="*/ 1728 w 2160"/>
                  <a:gd name="T33" fmla="*/ 600 h 936"/>
                  <a:gd name="T34" fmla="*/ 2016 w 2160"/>
                  <a:gd name="T35" fmla="*/ 24 h 936"/>
                  <a:gd name="T36" fmla="*/ 2160 w 2160"/>
                  <a:gd name="T37" fmla="*/ 45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60" h="936">
                    <a:moveTo>
                      <a:pt x="0" y="456"/>
                    </a:moveTo>
                    <a:cubicBezTo>
                      <a:pt x="96" y="240"/>
                      <a:pt x="192" y="24"/>
                      <a:pt x="288" y="24"/>
                    </a:cubicBezTo>
                    <a:cubicBezTo>
                      <a:pt x="384" y="24"/>
                      <a:pt x="552" y="312"/>
                      <a:pt x="576" y="456"/>
                    </a:cubicBezTo>
                    <a:cubicBezTo>
                      <a:pt x="600" y="600"/>
                      <a:pt x="456" y="864"/>
                      <a:pt x="432" y="888"/>
                    </a:cubicBezTo>
                    <a:cubicBezTo>
                      <a:pt x="408" y="912"/>
                      <a:pt x="384" y="744"/>
                      <a:pt x="432" y="600"/>
                    </a:cubicBezTo>
                    <a:cubicBezTo>
                      <a:pt x="480" y="456"/>
                      <a:pt x="624" y="48"/>
                      <a:pt x="720" y="24"/>
                    </a:cubicBezTo>
                    <a:cubicBezTo>
                      <a:pt x="816" y="0"/>
                      <a:pt x="984" y="312"/>
                      <a:pt x="1008" y="456"/>
                    </a:cubicBezTo>
                    <a:cubicBezTo>
                      <a:pt x="1032" y="600"/>
                      <a:pt x="888" y="864"/>
                      <a:pt x="864" y="888"/>
                    </a:cubicBezTo>
                    <a:cubicBezTo>
                      <a:pt x="840" y="912"/>
                      <a:pt x="816" y="744"/>
                      <a:pt x="864" y="600"/>
                    </a:cubicBezTo>
                    <a:cubicBezTo>
                      <a:pt x="912" y="456"/>
                      <a:pt x="1056" y="24"/>
                      <a:pt x="1152" y="24"/>
                    </a:cubicBezTo>
                    <a:cubicBezTo>
                      <a:pt x="1248" y="24"/>
                      <a:pt x="1416" y="456"/>
                      <a:pt x="1440" y="600"/>
                    </a:cubicBezTo>
                    <a:cubicBezTo>
                      <a:pt x="1464" y="744"/>
                      <a:pt x="1296" y="936"/>
                      <a:pt x="1296" y="888"/>
                    </a:cubicBezTo>
                    <a:cubicBezTo>
                      <a:pt x="1296" y="840"/>
                      <a:pt x="1392" y="456"/>
                      <a:pt x="1440" y="312"/>
                    </a:cubicBezTo>
                    <a:cubicBezTo>
                      <a:pt x="1488" y="168"/>
                      <a:pt x="1512" y="0"/>
                      <a:pt x="1584" y="24"/>
                    </a:cubicBezTo>
                    <a:cubicBezTo>
                      <a:pt x="1656" y="48"/>
                      <a:pt x="1848" y="312"/>
                      <a:pt x="1872" y="456"/>
                    </a:cubicBezTo>
                    <a:cubicBezTo>
                      <a:pt x="1896" y="600"/>
                      <a:pt x="1752" y="864"/>
                      <a:pt x="1728" y="888"/>
                    </a:cubicBezTo>
                    <a:cubicBezTo>
                      <a:pt x="1704" y="912"/>
                      <a:pt x="1680" y="744"/>
                      <a:pt x="1728" y="600"/>
                    </a:cubicBezTo>
                    <a:cubicBezTo>
                      <a:pt x="1776" y="456"/>
                      <a:pt x="1944" y="48"/>
                      <a:pt x="2016" y="24"/>
                    </a:cubicBezTo>
                    <a:cubicBezTo>
                      <a:pt x="2088" y="0"/>
                      <a:pt x="2124" y="228"/>
                      <a:pt x="2160" y="45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71" name="Line 10"/>
              <p:cNvCxnSpPr>
                <a:cxnSpLocks noChangeShapeType="1"/>
              </p:cNvCxnSpPr>
              <p:nvPr/>
            </p:nvCxnSpPr>
            <p:spPr bwMode="auto">
              <a:xfrm>
                <a:off x="590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2" name="Line 11"/>
              <p:cNvCxnSpPr>
                <a:cxnSpLocks noChangeShapeType="1"/>
              </p:cNvCxnSpPr>
              <p:nvPr/>
            </p:nvCxnSpPr>
            <p:spPr bwMode="auto">
              <a:xfrm flipH="1">
                <a:off x="518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2" name="Group 141"/>
            <p:cNvGrpSpPr>
              <a:grpSpLocks/>
            </p:cNvGrpSpPr>
            <p:nvPr/>
          </p:nvGrpSpPr>
          <p:grpSpPr bwMode="auto">
            <a:xfrm rot="5400000">
              <a:off x="2253884" y="3247400"/>
              <a:ext cx="71507" cy="205268"/>
              <a:chOff x="7702" y="4896"/>
              <a:chExt cx="74" cy="216"/>
            </a:xfrm>
          </p:grpSpPr>
          <p:cxnSp>
            <p:nvCxnSpPr>
              <p:cNvPr id="168" name="Line 14"/>
              <p:cNvCxnSpPr>
                <a:cxnSpLocks noChangeShapeType="1"/>
              </p:cNvCxnSpPr>
              <p:nvPr/>
            </p:nvCxnSpPr>
            <p:spPr bwMode="auto">
              <a:xfrm>
                <a:off x="7776" y="4896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9" name="Line 15"/>
              <p:cNvCxnSpPr>
                <a:cxnSpLocks noChangeShapeType="1"/>
              </p:cNvCxnSpPr>
              <p:nvPr/>
            </p:nvCxnSpPr>
            <p:spPr bwMode="auto">
              <a:xfrm>
                <a:off x="7702" y="4896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43" name="Line 16"/>
            <p:cNvCxnSpPr>
              <a:cxnSpLocks noChangeShapeType="1"/>
            </p:cNvCxnSpPr>
            <p:nvPr/>
          </p:nvCxnSpPr>
          <p:spPr bwMode="auto">
            <a:xfrm>
              <a:off x="2293440" y="2929004"/>
              <a:ext cx="0" cy="3771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Line 17"/>
            <p:cNvCxnSpPr>
              <a:cxnSpLocks noChangeShapeType="1"/>
            </p:cNvCxnSpPr>
            <p:nvPr/>
          </p:nvCxnSpPr>
          <p:spPr bwMode="auto">
            <a:xfrm>
              <a:off x="2292489" y="3385787"/>
              <a:ext cx="0" cy="3184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45" name="Group 144"/>
            <p:cNvGrpSpPr>
              <a:grpSpLocks/>
            </p:cNvGrpSpPr>
            <p:nvPr/>
          </p:nvGrpSpPr>
          <p:grpSpPr bwMode="auto">
            <a:xfrm rot="5400000">
              <a:off x="1335776" y="4369777"/>
              <a:ext cx="974042" cy="164405"/>
              <a:chOff x="5184" y="13795"/>
              <a:chExt cx="1008" cy="173"/>
            </a:xfrm>
          </p:grpSpPr>
          <p:sp>
            <p:nvSpPr>
              <p:cNvPr id="165" name="Freeform 164"/>
              <p:cNvSpPr>
                <a:spLocks/>
              </p:cNvSpPr>
              <p:nvPr/>
            </p:nvSpPr>
            <p:spPr bwMode="auto">
              <a:xfrm>
                <a:off x="5417" y="13795"/>
                <a:ext cx="546" cy="1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66" name="Line 20"/>
              <p:cNvCxnSpPr>
                <a:cxnSpLocks noChangeShapeType="1"/>
              </p:cNvCxnSpPr>
              <p:nvPr/>
            </p:nvCxnSpPr>
            <p:spPr bwMode="auto">
              <a:xfrm flipH="1">
                <a:off x="518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7" name="Line 21"/>
              <p:cNvCxnSpPr>
                <a:cxnSpLocks noChangeShapeType="1"/>
              </p:cNvCxnSpPr>
              <p:nvPr/>
            </p:nvCxnSpPr>
            <p:spPr bwMode="auto">
              <a:xfrm flipH="1">
                <a:off x="590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46" name="Text Box 38"/>
            <p:cNvSpPr txBox="1">
              <a:spLocks noChangeArrowheads="1"/>
            </p:cNvSpPr>
            <p:nvPr/>
          </p:nvSpPr>
          <p:spPr bwMode="auto">
            <a:xfrm>
              <a:off x="1759474" y="2522952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 Box 41"/>
            <p:cNvSpPr txBox="1">
              <a:spLocks noChangeArrowheads="1"/>
            </p:cNvSpPr>
            <p:nvPr/>
          </p:nvSpPr>
          <p:spPr bwMode="auto">
            <a:xfrm>
              <a:off x="2493537" y="3200400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auto">
            <a:xfrm>
              <a:off x="2558093" y="2852397"/>
              <a:ext cx="410537" cy="152677"/>
            </a:xfrm>
            <a:custGeom>
              <a:avLst/>
              <a:gdLst>
                <a:gd name="T0" fmla="*/ 0 w 2160"/>
                <a:gd name="T1" fmla="*/ 456 h 936"/>
                <a:gd name="T2" fmla="*/ 288 w 2160"/>
                <a:gd name="T3" fmla="*/ 24 h 936"/>
                <a:gd name="T4" fmla="*/ 576 w 2160"/>
                <a:gd name="T5" fmla="*/ 456 h 936"/>
                <a:gd name="T6" fmla="*/ 432 w 2160"/>
                <a:gd name="T7" fmla="*/ 888 h 936"/>
                <a:gd name="T8" fmla="*/ 432 w 2160"/>
                <a:gd name="T9" fmla="*/ 600 h 936"/>
                <a:gd name="T10" fmla="*/ 720 w 2160"/>
                <a:gd name="T11" fmla="*/ 24 h 936"/>
                <a:gd name="T12" fmla="*/ 1008 w 2160"/>
                <a:gd name="T13" fmla="*/ 456 h 936"/>
                <a:gd name="T14" fmla="*/ 864 w 2160"/>
                <a:gd name="T15" fmla="*/ 888 h 936"/>
                <a:gd name="T16" fmla="*/ 864 w 2160"/>
                <a:gd name="T17" fmla="*/ 600 h 936"/>
                <a:gd name="T18" fmla="*/ 1152 w 2160"/>
                <a:gd name="T19" fmla="*/ 24 h 936"/>
                <a:gd name="T20" fmla="*/ 1440 w 2160"/>
                <a:gd name="T21" fmla="*/ 600 h 936"/>
                <a:gd name="T22" fmla="*/ 1296 w 2160"/>
                <a:gd name="T23" fmla="*/ 888 h 936"/>
                <a:gd name="T24" fmla="*/ 1440 w 2160"/>
                <a:gd name="T25" fmla="*/ 312 h 936"/>
                <a:gd name="T26" fmla="*/ 1584 w 2160"/>
                <a:gd name="T27" fmla="*/ 24 h 936"/>
                <a:gd name="T28" fmla="*/ 1872 w 2160"/>
                <a:gd name="T29" fmla="*/ 456 h 936"/>
                <a:gd name="T30" fmla="*/ 1728 w 2160"/>
                <a:gd name="T31" fmla="*/ 888 h 936"/>
                <a:gd name="T32" fmla="*/ 1728 w 2160"/>
                <a:gd name="T33" fmla="*/ 600 h 936"/>
                <a:gd name="T34" fmla="*/ 2016 w 2160"/>
                <a:gd name="T35" fmla="*/ 24 h 936"/>
                <a:gd name="T36" fmla="*/ 2160 w 2160"/>
                <a:gd name="T37" fmla="*/ 45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0" h="936">
                  <a:moveTo>
                    <a:pt x="0" y="456"/>
                  </a:moveTo>
                  <a:cubicBezTo>
                    <a:pt x="96" y="240"/>
                    <a:pt x="192" y="24"/>
                    <a:pt x="288" y="24"/>
                  </a:cubicBezTo>
                  <a:cubicBezTo>
                    <a:pt x="384" y="24"/>
                    <a:pt x="552" y="312"/>
                    <a:pt x="576" y="456"/>
                  </a:cubicBezTo>
                  <a:cubicBezTo>
                    <a:pt x="600" y="600"/>
                    <a:pt x="456" y="864"/>
                    <a:pt x="432" y="888"/>
                  </a:cubicBezTo>
                  <a:cubicBezTo>
                    <a:pt x="408" y="912"/>
                    <a:pt x="384" y="744"/>
                    <a:pt x="432" y="600"/>
                  </a:cubicBezTo>
                  <a:cubicBezTo>
                    <a:pt x="480" y="456"/>
                    <a:pt x="624" y="48"/>
                    <a:pt x="720" y="24"/>
                  </a:cubicBezTo>
                  <a:cubicBezTo>
                    <a:pt x="816" y="0"/>
                    <a:pt x="984" y="312"/>
                    <a:pt x="1008" y="456"/>
                  </a:cubicBezTo>
                  <a:cubicBezTo>
                    <a:pt x="1032" y="600"/>
                    <a:pt x="888" y="864"/>
                    <a:pt x="864" y="888"/>
                  </a:cubicBezTo>
                  <a:cubicBezTo>
                    <a:pt x="840" y="912"/>
                    <a:pt x="816" y="744"/>
                    <a:pt x="864" y="600"/>
                  </a:cubicBezTo>
                  <a:cubicBezTo>
                    <a:pt x="912" y="456"/>
                    <a:pt x="1056" y="24"/>
                    <a:pt x="1152" y="24"/>
                  </a:cubicBezTo>
                  <a:cubicBezTo>
                    <a:pt x="1248" y="24"/>
                    <a:pt x="1416" y="456"/>
                    <a:pt x="1440" y="600"/>
                  </a:cubicBezTo>
                  <a:cubicBezTo>
                    <a:pt x="1464" y="744"/>
                    <a:pt x="1296" y="936"/>
                    <a:pt x="1296" y="888"/>
                  </a:cubicBezTo>
                  <a:cubicBezTo>
                    <a:pt x="1296" y="840"/>
                    <a:pt x="1392" y="456"/>
                    <a:pt x="1440" y="312"/>
                  </a:cubicBezTo>
                  <a:cubicBezTo>
                    <a:pt x="1488" y="168"/>
                    <a:pt x="1512" y="0"/>
                    <a:pt x="1584" y="24"/>
                  </a:cubicBezTo>
                  <a:cubicBezTo>
                    <a:pt x="1656" y="48"/>
                    <a:pt x="1848" y="312"/>
                    <a:pt x="1872" y="456"/>
                  </a:cubicBezTo>
                  <a:cubicBezTo>
                    <a:pt x="1896" y="600"/>
                    <a:pt x="1752" y="864"/>
                    <a:pt x="1728" y="888"/>
                  </a:cubicBezTo>
                  <a:cubicBezTo>
                    <a:pt x="1704" y="912"/>
                    <a:pt x="1680" y="744"/>
                    <a:pt x="1728" y="600"/>
                  </a:cubicBezTo>
                  <a:cubicBezTo>
                    <a:pt x="1776" y="456"/>
                    <a:pt x="1944" y="48"/>
                    <a:pt x="2016" y="24"/>
                  </a:cubicBezTo>
                  <a:cubicBezTo>
                    <a:pt x="2088" y="0"/>
                    <a:pt x="2124" y="228"/>
                    <a:pt x="2160" y="45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cxnSp>
          <p:nvCxnSpPr>
            <p:cNvPr id="163" name="Line 10"/>
            <p:cNvCxnSpPr>
              <a:cxnSpLocks noChangeShapeType="1"/>
            </p:cNvCxnSpPr>
            <p:nvPr/>
          </p:nvCxnSpPr>
          <p:spPr bwMode="auto">
            <a:xfrm>
              <a:off x="2968630" y="2924870"/>
              <a:ext cx="2736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" name="Line 11"/>
            <p:cNvCxnSpPr>
              <a:cxnSpLocks noChangeShapeType="1"/>
            </p:cNvCxnSpPr>
            <p:nvPr/>
          </p:nvCxnSpPr>
          <p:spPr bwMode="auto">
            <a:xfrm flipH="1">
              <a:off x="2284402" y="2924870"/>
              <a:ext cx="2736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9" name="Text Box 38"/>
            <p:cNvSpPr txBox="1">
              <a:spLocks noChangeArrowheads="1"/>
            </p:cNvSpPr>
            <p:nvPr/>
          </p:nvSpPr>
          <p:spPr bwMode="auto">
            <a:xfrm>
              <a:off x="2726460" y="2526762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0" name="Straight Connector 149"/>
            <p:cNvCxnSpPr/>
            <p:nvPr/>
          </p:nvCxnSpPr>
          <p:spPr>
            <a:xfrm flipV="1">
              <a:off x="1377008" y="3716751"/>
              <a:ext cx="1865313" cy="9122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oup 150"/>
            <p:cNvGrpSpPr>
              <a:grpSpLocks/>
            </p:cNvGrpSpPr>
            <p:nvPr/>
          </p:nvGrpSpPr>
          <p:grpSpPr bwMode="auto">
            <a:xfrm rot="5400000">
              <a:off x="2262182" y="4367461"/>
              <a:ext cx="974042" cy="164405"/>
              <a:chOff x="5184" y="13795"/>
              <a:chExt cx="1008" cy="173"/>
            </a:xfrm>
          </p:grpSpPr>
          <p:sp>
            <p:nvSpPr>
              <p:cNvPr id="159" name="Freeform 158"/>
              <p:cNvSpPr>
                <a:spLocks/>
              </p:cNvSpPr>
              <p:nvPr/>
            </p:nvSpPr>
            <p:spPr bwMode="auto">
              <a:xfrm>
                <a:off x="5417" y="13795"/>
                <a:ext cx="546" cy="1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60" name="Line 20"/>
              <p:cNvCxnSpPr>
                <a:cxnSpLocks noChangeShapeType="1"/>
              </p:cNvCxnSpPr>
              <p:nvPr/>
            </p:nvCxnSpPr>
            <p:spPr bwMode="auto">
              <a:xfrm flipH="1">
                <a:off x="518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1" name="Line 21"/>
              <p:cNvCxnSpPr>
                <a:cxnSpLocks noChangeShapeType="1"/>
              </p:cNvCxnSpPr>
              <p:nvPr/>
            </p:nvCxnSpPr>
            <p:spPr bwMode="auto">
              <a:xfrm flipH="1">
                <a:off x="590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54" name="Straight Connector 153"/>
            <p:cNvCxnSpPr/>
            <p:nvPr/>
          </p:nvCxnSpPr>
          <p:spPr>
            <a:xfrm>
              <a:off x="1354411" y="2916478"/>
              <a:ext cx="12975" cy="0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3242321" y="2933586"/>
              <a:ext cx="0" cy="0"/>
            </a:xfrm>
            <a:prstGeom prst="line">
              <a:avLst/>
            </a:prstGeom>
            <a:ln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 Box 7"/>
            <p:cNvSpPr txBox="1">
              <a:spLocks noChangeArrowheads="1"/>
            </p:cNvSpPr>
            <p:nvPr/>
          </p:nvSpPr>
          <p:spPr bwMode="auto">
            <a:xfrm>
              <a:off x="1435794" y="4306590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 Box 7"/>
            <p:cNvSpPr txBox="1">
              <a:spLocks noChangeArrowheads="1"/>
            </p:cNvSpPr>
            <p:nvPr/>
          </p:nvSpPr>
          <p:spPr bwMode="auto">
            <a:xfrm>
              <a:off x="2911799" y="4268244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Text Box 7"/>
            <p:cNvSpPr txBox="1">
              <a:spLocks noChangeArrowheads="1"/>
            </p:cNvSpPr>
            <p:nvPr/>
          </p:nvSpPr>
          <p:spPr bwMode="auto">
            <a:xfrm>
              <a:off x="2252512" y="4038600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Connector 51"/>
            <p:cNvCxnSpPr>
              <a:endCxn id="140" idx="1"/>
            </p:cNvCxnSpPr>
            <p:nvPr/>
          </p:nvCxnSpPr>
          <p:spPr>
            <a:xfrm>
              <a:off x="1377008" y="3969786"/>
              <a:ext cx="7813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>
              <a:stCxn id="140" idx="10"/>
            </p:cNvCxnSpPr>
            <p:nvPr/>
          </p:nvCxnSpPr>
          <p:spPr>
            <a:xfrm>
              <a:off x="2590800" y="3969786"/>
              <a:ext cx="6515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1377008" y="4936685"/>
              <a:ext cx="186531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>
              <a:off x="3242321" y="2916478"/>
              <a:ext cx="796279" cy="5341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flipV="1">
              <a:off x="3226920" y="3472458"/>
              <a:ext cx="824206" cy="4822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3214394" y="3725873"/>
              <a:ext cx="824206" cy="4378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V="1">
              <a:off x="3242321" y="4161192"/>
              <a:ext cx="796279" cy="7731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4038600" y="3459932"/>
              <a:ext cx="457200" cy="0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4038600" y="4165948"/>
              <a:ext cx="457200" cy="0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>
              <a:off x="685800" y="2924870"/>
              <a:ext cx="668610" cy="5258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 flipH="1" flipV="1">
              <a:off x="693671" y="3450675"/>
              <a:ext cx="733383" cy="5191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flipH="1">
              <a:off x="693671" y="3721312"/>
              <a:ext cx="733384" cy="4664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 flipH="1" flipV="1">
              <a:off x="673794" y="4187793"/>
              <a:ext cx="680617" cy="7563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 flipH="1">
              <a:off x="228600" y="3463201"/>
              <a:ext cx="457200" cy="21783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 flipH="1">
              <a:off x="228600" y="4191000"/>
              <a:ext cx="457200" cy="21783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Equal 228"/>
          <p:cNvSpPr/>
          <p:nvPr/>
        </p:nvSpPr>
        <p:spPr>
          <a:xfrm>
            <a:off x="3962400" y="1741348"/>
            <a:ext cx="609600" cy="398672"/>
          </a:xfrm>
          <a:prstGeom prst="mathEqua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429347"/>
              </p:ext>
            </p:extLst>
          </p:nvPr>
        </p:nvGraphicFramePr>
        <p:xfrm>
          <a:off x="3850409" y="5143328"/>
          <a:ext cx="1483591" cy="460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560" imgH="228600" progId="Equation.DSMT4">
                  <p:embed/>
                </p:oleObj>
              </mc:Choice>
              <mc:Fallback>
                <p:oleObj name="Equation" r:id="rId3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0409" y="5143328"/>
                        <a:ext cx="1483591" cy="46072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454289"/>
              </p:ext>
            </p:extLst>
          </p:nvPr>
        </p:nvGraphicFramePr>
        <p:xfrm>
          <a:off x="381000" y="4633913"/>
          <a:ext cx="2055596" cy="1563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8200" imgH="888840" progId="Equation.DSMT4">
                  <p:embed/>
                </p:oleObj>
              </mc:Choice>
              <mc:Fallback>
                <p:oleObj name="Equation" r:id="rId5" imgW="11682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633913"/>
                        <a:ext cx="2055596" cy="1563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929000"/>
              </p:ext>
            </p:extLst>
          </p:nvPr>
        </p:nvGraphicFramePr>
        <p:xfrm>
          <a:off x="338179" y="3028457"/>
          <a:ext cx="2844846" cy="1605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888840" progId="Equation.DSMT4">
                  <p:embed/>
                </p:oleObj>
              </mc:Choice>
              <mc:Fallback>
                <p:oleObj name="Equation" r:id="rId7" imgW="15746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79" y="3028457"/>
                        <a:ext cx="2844846" cy="1605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382807"/>
              </p:ext>
            </p:extLst>
          </p:nvPr>
        </p:nvGraphicFramePr>
        <p:xfrm>
          <a:off x="3748087" y="3415430"/>
          <a:ext cx="4938713" cy="99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08080" imgH="545760" progId="Equation.DSMT4">
                  <p:embed/>
                </p:oleObj>
              </mc:Choice>
              <mc:Fallback>
                <p:oleObj name="Equation" r:id="rId9" imgW="29080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7" y="3415430"/>
                        <a:ext cx="4938713" cy="99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" name="Right Arrow 233"/>
          <p:cNvSpPr/>
          <p:nvPr/>
        </p:nvSpPr>
        <p:spPr>
          <a:xfrm>
            <a:off x="3300412" y="3705225"/>
            <a:ext cx="305322" cy="3810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ight Arrow 236"/>
          <p:cNvSpPr/>
          <p:nvPr/>
        </p:nvSpPr>
        <p:spPr>
          <a:xfrm>
            <a:off x="3352278" y="5174456"/>
            <a:ext cx="305322" cy="3810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34" grpId="0" animBg="1"/>
      <p:bldP spid="2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333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407192" y="256198"/>
            <a:ext cx="5997175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4. Ghép nối tiếp – song song:</a:t>
            </a:r>
          </a:p>
        </p:txBody>
      </p:sp>
      <p:sp>
        <p:nvSpPr>
          <p:cNvPr id="86" name="Equal 85"/>
          <p:cNvSpPr/>
          <p:nvPr/>
        </p:nvSpPr>
        <p:spPr>
          <a:xfrm>
            <a:off x="4876800" y="1953843"/>
            <a:ext cx="586550" cy="411757"/>
          </a:xfrm>
          <a:prstGeom prst="mathEqua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23754"/>
              </p:ext>
            </p:extLst>
          </p:nvPr>
        </p:nvGraphicFramePr>
        <p:xfrm>
          <a:off x="461962" y="3490913"/>
          <a:ext cx="585787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160" imgH="558720" progId="Equation.DSMT4">
                  <p:embed/>
                </p:oleObj>
              </mc:Choice>
              <mc:Fallback>
                <p:oleObj name="Equation" r:id="rId3" imgW="32511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" y="3490913"/>
                        <a:ext cx="5857875" cy="1004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ight Arrow 89"/>
          <p:cNvSpPr/>
          <p:nvPr/>
        </p:nvSpPr>
        <p:spPr>
          <a:xfrm>
            <a:off x="6526212" y="3746326"/>
            <a:ext cx="310781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432583"/>
              </p:ext>
            </p:extLst>
          </p:nvPr>
        </p:nvGraphicFramePr>
        <p:xfrm>
          <a:off x="6948487" y="3779838"/>
          <a:ext cx="12811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228600" progId="Equation.DSMT4">
                  <p:embed/>
                </p:oleObj>
              </mc:Choice>
              <mc:Fallback>
                <p:oleObj name="Equation" r:id="rId5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7" y="3779838"/>
                        <a:ext cx="1281113" cy="41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itle 1"/>
          <p:cNvSpPr txBox="1">
            <a:spLocks/>
          </p:cNvSpPr>
          <p:nvPr/>
        </p:nvSpPr>
        <p:spPr>
          <a:xfrm>
            <a:off x="327849" y="5126123"/>
            <a:ext cx="587096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Tổng quát có n M4C ghép nối tiếp-song</a:t>
            </a:r>
            <a:r>
              <a:rPr lang="en-US" sz="2400" baseline="30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936131"/>
              </p:ext>
            </p:extLst>
          </p:nvPr>
        </p:nvGraphicFramePr>
        <p:xfrm>
          <a:off x="6432550" y="5021263"/>
          <a:ext cx="11445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457200" progId="Equation.DSMT4">
                  <p:embed/>
                </p:oleObj>
              </mc:Choice>
              <mc:Fallback>
                <p:oleObj name="Equation" r:id="rId7" imgW="634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5021263"/>
                        <a:ext cx="1144588" cy="8223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5791200" y="1451200"/>
            <a:ext cx="2817313" cy="1368200"/>
            <a:chOff x="5791200" y="1219200"/>
            <a:chExt cx="2817313" cy="1368200"/>
          </a:xfrm>
        </p:grpSpPr>
        <p:grpSp>
          <p:nvGrpSpPr>
            <p:cNvPr id="64" name="Group 63"/>
            <p:cNvGrpSpPr/>
            <p:nvPr/>
          </p:nvGrpSpPr>
          <p:grpSpPr>
            <a:xfrm>
              <a:off x="5791200" y="1219200"/>
              <a:ext cx="2817313" cy="1368200"/>
              <a:chOff x="659182" y="1455665"/>
              <a:chExt cx="2817313" cy="136820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984504" y="1857302"/>
                <a:ext cx="2210155" cy="1325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984504" y="2590800"/>
                <a:ext cx="224825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1066800" y="1870552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8" name="Object 67"/>
              <p:cNvGraphicFramePr>
                <a:graphicFrameLocks noChangeAspect="1"/>
              </p:cNvGraphicFramePr>
              <p:nvPr/>
            </p:nvGraphicFramePr>
            <p:xfrm>
              <a:off x="1284288" y="1455665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253800" progId="Equation.DSMT4">
                      <p:embed/>
                    </p:oleObj>
                  </mc:Choice>
                  <mc:Fallback>
                    <p:oleObj name="Equation" r:id="rId9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284288" y="1455665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913432" y="1466778"/>
              <a:ext cx="26035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64880" imgH="253800" progId="Equation.DSMT4">
                      <p:embed/>
                    </p:oleObj>
                  </mc:Choice>
                  <mc:Fallback>
                    <p:oleObj name="Equation" r:id="rId11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913432" y="1466778"/>
                            <a:ext cx="26035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TextBox 69"/>
              <p:cNvSpPr txBox="1"/>
              <p:nvPr/>
            </p:nvSpPr>
            <p:spPr>
              <a:xfrm>
                <a:off x="659182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59182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221277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221277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74" name="Object 73"/>
              <p:cNvGraphicFramePr>
                <a:graphicFrameLocks noChangeAspect="1"/>
              </p:cNvGraphicFramePr>
              <p:nvPr/>
            </p:nvGraphicFramePr>
            <p:xfrm>
              <a:off x="896938" y="2057400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03040" imgH="253800" progId="Equation.DSMT4">
                      <p:embed/>
                    </p:oleObj>
                  </mc:Choice>
                  <mc:Fallback>
                    <p:oleObj name="Equation" r:id="rId13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96938" y="2057400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74"/>
              <p:cNvGraphicFramePr>
                <a:graphicFrameLocks noChangeAspect="1"/>
              </p:cNvGraphicFramePr>
              <p:nvPr/>
            </p:nvGraphicFramePr>
            <p:xfrm>
              <a:off x="2967646" y="2024686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15640" imgH="253800" progId="Equation.DSMT4">
                      <p:embed/>
                    </p:oleObj>
                  </mc:Choice>
                  <mc:Fallback>
                    <p:oleObj name="Equation" r:id="rId15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967646" y="2024686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Rectangle 75"/>
              <p:cNvSpPr/>
              <p:nvPr/>
            </p:nvSpPr>
            <p:spPr>
              <a:xfrm>
                <a:off x="1596540" y="1676400"/>
                <a:ext cx="1002277" cy="10800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3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+H</a:t>
                </a:r>
                <a:r>
                  <a:rPr lang="en-US" sz="23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3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3" name="Straight Arrow Connector 92"/>
            <p:cNvCxnSpPr/>
            <p:nvPr/>
          </p:nvCxnSpPr>
          <p:spPr>
            <a:xfrm flipH="1">
              <a:off x="7898073" y="1608961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812319" y="990600"/>
            <a:ext cx="4025878" cy="2133600"/>
            <a:chOff x="812319" y="990600"/>
            <a:chExt cx="4025878" cy="2133600"/>
          </a:xfrm>
        </p:grpSpPr>
        <p:grpSp>
          <p:nvGrpSpPr>
            <p:cNvPr id="22" name="Group 21"/>
            <p:cNvGrpSpPr/>
            <p:nvPr/>
          </p:nvGrpSpPr>
          <p:grpSpPr>
            <a:xfrm>
              <a:off x="812319" y="990600"/>
              <a:ext cx="4025878" cy="2133600"/>
              <a:chOff x="478858" y="832677"/>
              <a:chExt cx="4025878" cy="2133600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>
                <a:off x="864818" y="1253087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6" name="Object 45"/>
              <p:cNvGraphicFramePr>
                <a:graphicFrameLocks noChangeAspect="1"/>
              </p:cNvGraphicFramePr>
              <p:nvPr/>
            </p:nvGraphicFramePr>
            <p:xfrm>
              <a:off x="1082306" y="838200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52280" imgH="253800" progId="Equation.DSMT4">
                      <p:embed/>
                    </p:oleObj>
                  </mc:Choice>
                  <mc:Fallback>
                    <p:oleObj name="Equation" r:id="rId17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082306" y="838200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Object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06992927"/>
                  </p:ext>
                </p:extLst>
              </p:nvPr>
            </p:nvGraphicFramePr>
            <p:xfrm>
              <a:off x="3927888" y="1384482"/>
              <a:ext cx="261937" cy="3975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64880" imgH="253800" progId="Equation.DSMT4">
                      <p:embed/>
                    </p:oleObj>
                  </mc:Choice>
                  <mc:Fallback>
                    <p:oleObj name="Equation" r:id="rId18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3927888" y="1384482"/>
                            <a:ext cx="261937" cy="39759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TextBox 48"/>
              <p:cNvSpPr txBox="1"/>
              <p:nvPr/>
            </p:nvSpPr>
            <p:spPr>
              <a:xfrm>
                <a:off x="478858" y="1248159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575870" y="2433152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249518" y="1392574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4234788" y="2208692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53" name="Object 52"/>
              <p:cNvGraphicFramePr>
                <a:graphicFrameLocks noChangeAspect="1"/>
              </p:cNvGraphicFramePr>
              <p:nvPr/>
            </p:nvGraphicFramePr>
            <p:xfrm>
              <a:off x="490384" y="1760452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03040" imgH="253800" progId="Equation.DSMT4">
                      <p:embed/>
                    </p:oleObj>
                  </mc:Choice>
                  <mc:Fallback>
                    <p:oleObj name="Equation" r:id="rId20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90384" y="1760452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" name="Object 5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859156"/>
                  </p:ext>
                </p:extLst>
              </p:nvPr>
            </p:nvGraphicFramePr>
            <p:xfrm>
              <a:off x="4125826" y="1823277"/>
              <a:ext cx="341313" cy="4158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15640" imgH="253800" progId="Equation.DSMT4">
                      <p:embed/>
                    </p:oleObj>
                  </mc:Choice>
                  <mc:Fallback>
                    <p:oleObj name="Equation" r:id="rId21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125826" y="1823277"/>
                            <a:ext cx="341313" cy="41582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Rectangle 39"/>
              <p:cNvSpPr/>
              <p:nvPr/>
            </p:nvSpPr>
            <p:spPr>
              <a:xfrm>
                <a:off x="1879168" y="1127800"/>
                <a:ext cx="726509" cy="8326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24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606467" y="1257977"/>
                <a:ext cx="1281708" cy="13933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1888175" y="2133600"/>
                <a:ext cx="726509" cy="8326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1278576" y="1793174"/>
                <a:ext cx="609602" cy="522514"/>
              </a:xfrm>
              <a:custGeom>
                <a:avLst/>
                <a:gdLst>
                  <a:gd name="connsiteX0" fmla="*/ 451263 w 486889"/>
                  <a:gd name="connsiteY0" fmla="*/ 0 h 486888"/>
                  <a:gd name="connsiteX1" fmla="*/ 0 w 486889"/>
                  <a:gd name="connsiteY1" fmla="*/ 11875 h 486888"/>
                  <a:gd name="connsiteX2" fmla="*/ 0 w 486889"/>
                  <a:gd name="connsiteY2" fmla="*/ 486888 h 486888"/>
                  <a:gd name="connsiteX3" fmla="*/ 486889 w 486889"/>
                  <a:gd name="connsiteY3" fmla="*/ 486888 h 486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6889" h="486888">
                    <a:moveTo>
                      <a:pt x="451263" y="0"/>
                    </a:moveTo>
                    <a:lnTo>
                      <a:pt x="0" y="11875"/>
                    </a:lnTo>
                    <a:lnTo>
                      <a:pt x="0" y="486888"/>
                    </a:lnTo>
                    <a:lnTo>
                      <a:pt x="486889" y="48688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03504" y="2819400"/>
                <a:ext cx="126078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0" name="Object 59"/>
              <p:cNvGraphicFramePr>
                <a:graphicFrameLocks noChangeAspect="1"/>
              </p:cNvGraphicFramePr>
              <p:nvPr/>
            </p:nvGraphicFramePr>
            <p:xfrm>
              <a:off x="1066800" y="1352540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203040" imgH="253800" progId="Equation.DSMT4">
                      <p:embed/>
                    </p:oleObj>
                  </mc:Choice>
                  <mc:Fallback>
                    <p:oleObj name="Equation" r:id="rId22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066800" y="1352540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76"/>
              <p:cNvGraphicFramePr>
                <a:graphicFrameLocks noChangeAspect="1"/>
              </p:cNvGraphicFramePr>
              <p:nvPr/>
            </p:nvGraphicFramePr>
            <p:xfrm>
              <a:off x="1099983" y="2387739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203040" imgH="253800" progId="Equation.DSMT4">
                      <p:embed/>
                    </p:oleObj>
                  </mc:Choice>
                  <mc:Fallback>
                    <p:oleObj name="Equation" r:id="rId24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1099983" y="2387739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3" name="Straight Connector 12"/>
              <p:cNvCxnSpPr/>
              <p:nvPr/>
            </p:nvCxnSpPr>
            <p:spPr>
              <a:xfrm>
                <a:off x="3759671" y="1801083"/>
                <a:ext cx="617516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3771443" y="2310580"/>
                <a:ext cx="605641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H="1">
                <a:off x="3874535" y="1793174"/>
                <a:ext cx="355682" cy="123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82" name="Object 81"/>
              <p:cNvGraphicFramePr>
                <a:graphicFrameLocks noChangeAspect="1"/>
              </p:cNvGraphicFramePr>
              <p:nvPr/>
            </p:nvGraphicFramePr>
            <p:xfrm>
              <a:off x="1524000" y="188436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52280" imgH="253800" progId="Equation.DSMT4">
                      <p:embed/>
                    </p:oleObj>
                  </mc:Choice>
                  <mc:Fallback>
                    <p:oleObj name="Equation" r:id="rId26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524000" y="188436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84" name="Straight Arrow Connector 83"/>
              <p:cNvCxnSpPr/>
              <p:nvPr/>
            </p:nvCxnSpPr>
            <p:spPr>
              <a:xfrm>
                <a:off x="1295400" y="2315688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H="1">
                <a:off x="2768518" y="2315569"/>
                <a:ext cx="355682" cy="123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89" name="Object 8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0344189"/>
                  </p:ext>
                </p:extLst>
              </p:nvPr>
            </p:nvGraphicFramePr>
            <p:xfrm>
              <a:off x="2834386" y="1916303"/>
              <a:ext cx="261937" cy="3975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64880" imgH="253800" progId="Equation.DSMT4">
                      <p:embed/>
                    </p:oleObj>
                  </mc:Choice>
                  <mc:Fallback>
                    <p:oleObj name="Equation" r:id="rId27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2834386" y="1916303"/>
                            <a:ext cx="261937" cy="39759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80" name="Straight Arrow Connector 79"/>
              <p:cNvCxnSpPr/>
              <p:nvPr/>
            </p:nvCxnSpPr>
            <p:spPr>
              <a:xfrm flipH="1">
                <a:off x="2685842" y="1268958"/>
                <a:ext cx="355682" cy="123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88" name="Object 8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29207063"/>
                  </p:ext>
                </p:extLst>
              </p:nvPr>
            </p:nvGraphicFramePr>
            <p:xfrm>
              <a:off x="2841433" y="832677"/>
              <a:ext cx="261937" cy="3975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164880" imgH="253800" progId="Equation.DSMT4">
                      <p:embed/>
                    </p:oleObj>
                  </mc:Choice>
                  <mc:Fallback>
                    <p:oleObj name="Equation" r:id="rId29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2841433" y="832677"/>
                            <a:ext cx="261937" cy="39759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7" name="Straight Connector 6"/>
            <p:cNvCxnSpPr/>
            <p:nvPr/>
          </p:nvCxnSpPr>
          <p:spPr>
            <a:xfrm>
              <a:off x="2931225" y="1451200"/>
              <a:ext cx="53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948050" y="1940625"/>
              <a:ext cx="53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953000" y="2478975"/>
              <a:ext cx="53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2957950" y="3017325"/>
              <a:ext cx="533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464625" y="1439650"/>
              <a:ext cx="673032" cy="5351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3456877" y="1956395"/>
              <a:ext cx="680780" cy="5225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430464" y="1938995"/>
              <a:ext cx="696206" cy="5295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3489198" y="2473491"/>
              <a:ext cx="632522" cy="5335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255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33300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407192" y="256198"/>
            <a:ext cx="5997175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5. Ghép song song - nối tiếp:</a:t>
            </a:r>
          </a:p>
        </p:txBody>
      </p:sp>
      <p:sp>
        <p:nvSpPr>
          <p:cNvPr id="86" name="Equal 85"/>
          <p:cNvSpPr/>
          <p:nvPr/>
        </p:nvSpPr>
        <p:spPr>
          <a:xfrm>
            <a:off x="4876800" y="1953843"/>
            <a:ext cx="586550" cy="411757"/>
          </a:xfrm>
          <a:prstGeom prst="mathEqua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259481"/>
              </p:ext>
            </p:extLst>
          </p:nvPr>
        </p:nvGraphicFramePr>
        <p:xfrm>
          <a:off x="450850" y="3490913"/>
          <a:ext cx="58816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63760" imgH="558720" progId="Equation.DSMT4">
                  <p:embed/>
                </p:oleObj>
              </mc:Choice>
              <mc:Fallback>
                <p:oleObj name="Equation" r:id="rId3" imgW="32637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3490913"/>
                        <a:ext cx="5881688" cy="1004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ight Arrow 89"/>
          <p:cNvSpPr/>
          <p:nvPr/>
        </p:nvSpPr>
        <p:spPr>
          <a:xfrm>
            <a:off x="6526212" y="3746326"/>
            <a:ext cx="310781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563380"/>
              </p:ext>
            </p:extLst>
          </p:nvPr>
        </p:nvGraphicFramePr>
        <p:xfrm>
          <a:off x="6948487" y="3779838"/>
          <a:ext cx="12811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228600" progId="Equation.DSMT4">
                  <p:embed/>
                </p:oleObj>
              </mc:Choice>
              <mc:Fallback>
                <p:oleObj name="Equation" r:id="rId5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7" y="3779838"/>
                        <a:ext cx="1281113" cy="41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itle 1"/>
          <p:cNvSpPr txBox="1">
            <a:spLocks/>
          </p:cNvSpPr>
          <p:nvPr/>
        </p:nvSpPr>
        <p:spPr>
          <a:xfrm>
            <a:off x="327849" y="5126123"/>
            <a:ext cx="587096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Tổng quát có n M4C ghép nối tiếp-song</a:t>
            </a:r>
            <a:r>
              <a:rPr lang="en-US" sz="2400" baseline="30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024611"/>
              </p:ext>
            </p:extLst>
          </p:nvPr>
        </p:nvGraphicFramePr>
        <p:xfrm>
          <a:off x="6467475" y="5021263"/>
          <a:ext cx="10747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6880" imgH="457200" progId="Equation.DSMT4">
                  <p:embed/>
                </p:oleObj>
              </mc:Choice>
              <mc:Fallback>
                <p:oleObj name="Equation" r:id="rId7" imgW="596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5021263"/>
                        <a:ext cx="1074738" cy="8223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5791200" y="1451200"/>
            <a:ext cx="2817313" cy="1368200"/>
            <a:chOff x="5791200" y="1219200"/>
            <a:chExt cx="2817313" cy="1368200"/>
          </a:xfrm>
        </p:grpSpPr>
        <p:grpSp>
          <p:nvGrpSpPr>
            <p:cNvPr id="64" name="Group 63"/>
            <p:cNvGrpSpPr/>
            <p:nvPr/>
          </p:nvGrpSpPr>
          <p:grpSpPr>
            <a:xfrm>
              <a:off x="5791200" y="1219200"/>
              <a:ext cx="2817313" cy="1368200"/>
              <a:chOff x="659182" y="1455665"/>
              <a:chExt cx="2817313" cy="1368200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984504" y="1857302"/>
                <a:ext cx="2210155" cy="1325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984504" y="2590800"/>
                <a:ext cx="224825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1066800" y="1870552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8" name="Object 67"/>
              <p:cNvGraphicFramePr>
                <a:graphicFrameLocks noChangeAspect="1"/>
              </p:cNvGraphicFramePr>
              <p:nvPr/>
            </p:nvGraphicFramePr>
            <p:xfrm>
              <a:off x="1284288" y="1455665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253800" progId="Equation.DSMT4">
                      <p:embed/>
                    </p:oleObj>
                  </mc:Choice>
                  <mc:Fallback>
                    <p:oleObj name="Equation" r:id="rId9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284288" y="1455665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913432" y="1466778"/>
              <a:ext cx="260350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64880" imgH="253800" progId="Equation.DSMT4">
                      <p:embed/>
                    </p:oleObj>
                  </mc:Choice>
                  <mc:Fallback>
                    <p:oleObj name="Equation" r:id="rId11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913432" y="1466778"/>
                            <a:ext cx="260350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TextBox 69"/>
              <p:cNvSpPr txBox="1"/>
              <p:nvPr/>
            </p:nvSpPr>
            <p:spPr>
              <a:xfrm>
                <a:off x="659182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59182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221277" y="1629426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221277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74" name="Object 73"/>
              <p:cNvGraphicFramePr>
                <a:graphicFrameLocks noChangeAspect="1"/>
              </p:cNvGraphicFramePr>
              <p:nvPr/>
            </p:nvGraphicFramePr>
            <p:xfrm>
              <a:off x="896938" y="2057400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03040" imgH="253800" progId="Equation.DSMT4">
                      <p:embed/>
                    </p:oleObj>
                  </mc:Choice>
                  <mc:Fallback>
                    <p:oleObj name="Equation" r:id="rId13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96938" y="2057400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74"/>
              <p:cNvGraphicFramePr>
                <a:graphicFrameLocks noChangeAspect="1"/>
              </p:cNvGraphicFramePr>
              <p:nvPr/>
            </p:nvGraphicFramePr>
            <p:xfrm>
              <a:off x="2967646" y="2024686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15640" imgH="253800" progId="Equation.DSMT4">
                      <p:embed/>
                    </p:oleObj>
                  </mc:Choice>
                  <mc:Fallback>
                    <p:oleObj name="Equation" r:id="rId15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967646" y="2024686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Rectangle 75"/>
              <p:cNvSpPr/>
              <p:nvPr/>
            </p:nvSpPr>
            <p:spPr>
              <a:xfrm>
                <a:off x="1596540" y="1676400"/>
                <a:ext cx="1041669" cy="10800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sz="23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+G</a:t>
                </a:r>
                <a:r>
                  <a:rPr lang="en-US" sz="23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3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3" name="Straight Arrow Connector 92"/>
            <p:cNvCxnSpPr/>
            <p:nvPr/>
          </p:nvCxnSpPr>
          <p:spPr>
            <a:xfrm flipH="1">
              <a:off x="7898073" y="1608961"/>
              <a:ext cx="355682" cy="12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10547" y="1077810"/>
            <a:ext cx="4137653" cy="2130099"/>
            <a:chOff x="470860" y="1077810"/>
            <a:chExt cx="4137653" cy="2130099"/>
          </a:xfrm>
        </p:grpSpPr>
        <p:grpSp>
          <p:nvGrpSpPr>
            <p:cNvPr id="131" name="Group 130"/>
            <p:cNvGrpSpPr/>
            <p:nvPr/>
          </p:nvGrpSpPr>
          <p:grpSpPr>
            <a:xfrm>
              <a:off x="470860" y="1077810"/>
              <a:ext cx="4137653" cy="2130099"/>
              <a:chOff x="333654" y="994101"/>
              <a:chExt cx="4137653" cy="2130099"/>
            </a:xfrm>
          </p:grpSpPr>
          <p:cxnSp>
            <p:nvCxnSpPr>
              <p:cNvPr id="132" name="Straight Arrow Connector 131"/>
              <p:cNvCxnSpPr/>
              <p:nvPr/>
            </p:nvCxnSpPr>
            <p:spPr>
              <a:xfrm>
                <a:off x="1654658" y="1408988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33" name="Object 1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6063534"/>
                  </p:ext>
                </p:extLst>
              </p:nvPr>
            </p:nvGraphicFramePr>
            <p:xfrm>
              <a:off x="1872146" y="994101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52280" imgH="253800" progId="Equation.DSMT4">
                      <p:embed/>
                    </p:oleObj>
                  </mc:Choice>
                  <mc:Fallback>
                    <p:oleObj name="Equation" r:id="rId17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872146" y="994101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4" name="Object 1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1409233"/>
                  </p:ext>
                </p:extLst>
              </p:nvPr>
            </p:nvGraphicFramePr>
            <p:xfrm>
              <a:off x="3818882" y="1007881"/>
              <a:ext cx="261937" cy="3975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64880" imgH="253800" progId="Equation.DSMT4">
                      <p:embed/>
                    </p:oleObj>
                  </mc:Choice>
                  <mc:Fallback>
                    <p:oleObj name="Equation" r:id="rId19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818882" y="1007881"/>
                            <a:ext cx="261937" cy="39759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" name="TextBox 134"/>
              <p:cNvSpPr txBox="1"/>
              <p:nvPr/>
            </p:nvSpPr>
            <p:spPr>
              <a:xfrm>
                <a:off x="333654" y="1393719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354382" y="236220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4207962" y="1335703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4206194" y="2507091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139" name="Object 1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810753"/>
                  </p:ext>
                </p:extLst>
              </p:nvPr>
            </p:nvGraphicFramePr>
            <p:xfrm>
              <a:off x="4129994" y="1971113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15640" imgH="253800" progId="Equation.DSMT4">
                      <p:embed/>
                    </p:oleObj>
                  </mc:Choice>
                  <mc:Fallback>
                    <p:oleObj name="Equation" r:id="rId21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129994" y="1971113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0" name="Rectangle 139"/>
              <p:cNvSpPr/>
              <p:nvPr/>
            </p:nvSpPr>
            <p:spPr>
              <a:xfrm>
                <a:off x="2162310" y="1285723"/>
                <a:ext cx="726509" cy="8326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24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1" name="Straight Connector 140"/>
              <p:cNvCxnSpPr/>
              <p:nvPr/>
            </p:nvCxnSpPr>
            <p:spPr>
              <a:xfrm>
                <a:off x="400693" y="1828800"/>
                <a:ext cx="566157" cy="6154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Rectangle 141"/>
              <p:cNvSpPr/>
              <p:nvPr/>
            </p:nvSpPr>
            <p:spPr>
              <a:xfrm>
                <a:off x="2171317" y="2291523"/>
                <a:ext cx="726509" cy="8326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sz="2400" baseline="-25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3" name="Straight Connector 142"/>
              <p:cNvCxnSpPr/>
              <p:nvPr/>
            </p:nvCxnSpPr>
            <p:spPr>
              <a:xfrm>
                <a:off x="425467" y="2478975"/>
                <a:ext cx="561154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2888819" y="1420325"/>
                <a:ext cx="1411831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>
                <a:off x="2900694" y="2928666"/>
                <a:ext cx="1381700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 flipH="1">
                <a:off x="3871022" y="1428708"/>
                <a:ext cx="355682" cy="123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47" name="Object 1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1756896"/>
                  </p:ext>
                </p:extLst>
              </p:nvPr>
            </p:nvGraphicFramePr>
            <p:xfrm>
              <a:off x="1797050" y="2041525"/>
              <a:ext cx="258763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64880" imgH="253800" progId="Equation.DSMT4">
                      <p:embed/>
                    </p:oleObj>
                  </mc:Choice>
                  <mc:Fallback>
                    <p:oleObj name="Equation" r:id="rId22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797050" y="2041525"/>
                            <a:ext cx="258763" cy="4016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48" name="Straight Arrow Connector 147"/>
              <p:cNvCxnSpPr/>
              <p:nvPr/>
            </p:nvCxnSpPr>
            <p:spPr>
              <a:xfrm>
                <a:off x="1578542" y="2473611"/>
                <a:ext cx="381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/>
              <p:cNvCxnSpPr/>
              <p:nvPr/>
            </p:nvCxnSpPr>
            <p:spPr>
              <a:xfrm flipH="1">
                <a:off x="3051660" y="2449742"/>
                <a:ext cx="355682" cy="123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/>
              <p:nvPr/>
            </p:nvCxnSpPr>
            <p:spPr>
              <a:xfrm>
                <a:off x="1578542" y="1424531"/>
                <a:ext cx="5927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>
                <a:off x="1571500" y="1945575"/>
                <a:ext cx="5927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1590417" y="2467581"/>
                <a:ext cx="5927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>
                <a:off x="1583375" y="2948050"/>
                <a:ext cx="5927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 flipH="1">
                <a:off x="965896" y="1424531"/>
                <a:ext cx="619284" cy="4164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flipH="1" flipV="1">
                <a:off x="960894" y="1855652"/>
                <a:ext cx="640869" cy="6183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 flipH="1">
                <a:off x="960949" y="1957451"/>
                <a:ext cx="633038" cy="5101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H="1" flipV="1">
                <a:off x="961184" y="2467581"/>
                <a:ext cx="618067" cy="46822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59" name="Object 15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1886468"/>
                  </p:ext>
                </p:extLst>
              </p:nvPr>
            </p:nvGraphicFramePr>
            <p:xfrm>
              <a:off x="414338" y="1992313"/>
              <a:ext cx="32067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203040" imgH="253800" progId="Equation.DSMT4">
                      <p:embed/>
                    </p:oleObj>
                  </mc:Choice>
                  <mc:Fallback>
                    <p:oleObj name="Equation" r:id="rId24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414338" y="1992313"/>
                            <a:ext cx="32067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0" name="Object 16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6322589"/>
                  </p:ext>
                </p:extLst>
              </p:nvPr>
            </p:nvGraphicFramePr>
            <p:xfrm>
              <a:off x="671053" y="137341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52280" imgH="253800" progId="Equation.DSMT4">
                      <p:embed/>
                    </p:oleObj>
                  </mc:Choice>
                  <mc:Fallback>
                    <p:oleObj name="Equation" r:id="rId26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671053" y="137341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71" name="Straight Arrow Connector 170"/>
              <p:cNvCxnSpPr/>
              <p:nvPr/>
            </p:nvCxnSpPr>
            <p:spPr>
              <a:xfrm>
                <a:off x="467799" y="1827594"/>
                <a:ext cx="33609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72" name="Object 17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5621832"/>
                  </p:ext>
                </p:extLst>
              </p:nvPr>
            </p:nvGraphicFramePr>
            <p:xfrm>
              <a:off x="3090027" y="2036443"/>
              <a:ext cx="261937" cy="3975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64880" imgH="253800" progId="Equation.DSMT4">
                      <p:embed/>
                    </p:oleObj>
                  </mc:Choice>
                  <mc:Fallback>
                    <p:oleObj name="Equation" r:id="rId28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090027" y="2036443"/>
                            <a:ext cx="261937" cy="39759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3" name="Object 17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200457"/>
                  </p:ext>
                </p:extLst>
              </p:nvPr>
            </p:nvGraphicFramePr>
            <p:xfrm>
              <a:off x="3358596" y="1480310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215640" imgH="253800" progId="Equation.DSMT4">
                      <p:embed/>
                    </p:oleObj>
                  </mc:Choice>
                  <mc:Fallback>
                    <p:oleObj name="Equation" r:id="rId29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3358596" y="1480310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" name="Object 1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6325779"/>
                  </p:ext>
                </p:extLst>
              </p:nvPr>
            </p:nvGraphicFramePr>
            <p:xfrm>
              <a:off x="3385906" y="2488041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215640" imgH="253800" progId="Equation.DSMT4">
                      <p:embed/>
                    </p:oleObj>
                  </mc:Choice>
                  <mc:Fallback>
                    <p:oleObj name="Equation" r:id="rId31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3385906" y="2488041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Freeform 8"/>
            <p:cNvSpPr/>
            <p:nvPr/>
          </p:nvSpPr>
          <p:spPr>
            <a:xfrm>
              <a:off x="3040083" y="2042556"/>
              <a:ext cx="617517" cy="498763"/>
            </a:xfrm>
            <a:custGeom>
              <a:avLst/>
              <a:gdLst>
                <a:gd name="connsiteX0" fmla="*/ 0 w 617517"/>
                <a:gd name="connsiteY0" fmla="*/ 0 h 498763"/>
                <a:gd name="connsiteX1" fmla="*/ 617517 w 617517"/>
                <a:gd name="connsiteY1" fmla="*/ 0 h 498763"/>
                <a:gd name="connsiteX2" fmla="*/ 617517 w 617517"/>
                <a:gd name="connsiteY2" fmla="*/ 498763 h 498763"/>
                <a:gd name="connsiteX3" fmla="*/ 23751 w 617517"/>
                <a:gd name="connsiteY3" fmla="*/ 498763 h 49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7517" h="498763">
                  <a:moveTo>
                    <a:pt x="0" y="0"/>
                  </a:moveTo>
                  <a:lnTo>
                    <a:pt x="617517" y="0"/>
                  </a:lnTo>
                  <a:lnTo>
                    <a:pt x="617517" y="498763"/>
                  </a:lnTo>
                  <a:lnTo>
                    <a:pt x="23751" y="498763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70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6.5 CÁC THÔNG SỐ LÀM VIỆC CỦA M4C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870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381000" y="838200"/>
            <a:ext cx="4648200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1.Trở kháng vào M4C:</a:t>
            </a:r>
          </a:p>
        </p:txBody>
      </p:sp>
      <p:sp>
        <p:nvSpPr>
          <p:cNvPr id="99" name="Title 1"/>
          <p:cNvSpPr txBox="1">
            <a:spLocks/>
          </p:cNvSpPr>
          <p:nvPr/>
        </p:nvSpPr>
        <p:spPr>
          <a:xfrm>
            <a:off x="404750" y="1321893"/>
            <a:ext cx="408349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a.</a:t>
            </a:r>
            <a:r>
              <a:rPr lang="en-US" sz="2400" u="sng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Trở kháng vào sơ cấp: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267200" y="1340550"/>
            <a:ext cx="4796615" cy="1936050"/>
            <a:chOff x="4267200" y="1269305"/>
            <a:chExt cx="4796615" cy="1936050"/>
          </a:xfrm>
        </p:grpSpPr>
        <p:sp>
          <p:nvSpPr>
            <p:cNvPr id="4" name="Rectangle 3"/>
            <p:cNvSpPr/>
            <p:nvPr/>
          </p:nvSpPr>
          <p:spPr>
            <a:xfrm>
              <a:off x="6102221" y="1598817"/>
              <a:ext cx="1344082" cy="117032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M4C tuyến tính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7464849" y="1743629"/>
              <a:ext cx="1060429" cy="903328"/>
            </a:xfrm>
            <a:custGeom>
              <a:avLst/>
              <a:gdLst>
                <a:gd name="connsiteX0" fmla="*/ 0 w 961902"/>
                <a:gd name="connsiteY0" fmla="*/ 0 h 819398"/>
                <a:gd name="connsiteX1" fmla="*/ 961902 w 961902"/>
                <a:gd name="connsiteY1" fmla="*/ 0 h 819398"/>
                <a:gd name="connsiteX2" fmla="*/ 961902 w 961902"/>
                <a:gd name="connsiteY2" fmla="*/ 819398 h 819398"/>
                <a:gd name="connsiteX3" fmla="*/ 0 w 961902"/>
                <a:gd name="connsiteY3" fmla="*/ 819398 h 81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1902" h="819398">
                  <a:moveTo>
                    <a:pt x="0" y="0"/>
                  </a:moveTo>
                  <a:lnTo>
                    <a:pt x="961902" y="0"/>
                  </a:lnTo>
                  <a:lnTo>
                    <a:pt x="961902" y="819398"/>
                  </a:lnTo>
                  <a:lnTo>
                    <a:pt x="0" y="819398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441272" y="2013100"/>
              <a:ext cx="168010" cy="4200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8065978" y="2601136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8073612" y="1703262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7614313" y="1677079"/>
              <a:ext cx="4516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401127"/>
                </p:ext>
              </p:extLst>
            </p:nvPr>
          </p:nvGraphicFramePr>
          <p:xfrm>
            <a:off x="7708045" y="1269328"/>
            <a:ext cx="287017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53800" progId="Equation.DSMT4">
                    <p:embed/>
                  </p:oleObj>
                </mc:Choice>
                <mc:Fallback>
                  <p:oleObj name="Equation" r:id="rId3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08045" y="1269328"/>
                          <a:ext cx="287017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Text Box 7"/>
            <p:cNvSpPr txBox="1">
              <a:spLocks noChangeArrowheads="1"/>
            </p:cNvSpPr>
            <p:nvPr/>
          </p:nvSpPr>
          <p:spPr bwMode="auto">
            <a:xfrm>
              <a:off x="8661648" y="2057409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8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9236840"/>
                </p:ext>
              </p:extLst>
            </p:nvPr>
          </p:nvGraphicFramePr>
          <p:xfrm>
            <a:off x="7952084" y="1972848"/>
            <a:ext cx="374523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640" imgH="253800" progId="Equation.DSMT4">
                    <p:embed/>
                  </p:oleObj>
                </mc:Choice>
                <mc:Fallback>
                  <p:oleObj name="Equation" r:id="rId5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52084" y="1972848"/>
                          <a:ext cx="374523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7945152" y="1730431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545398" y="1756721"/>
              <a:ext cx="1557913" cy="890236"/>
            </a:xfrm>
            <a:custGeom>
              <a:avLst/>
              <a:gdLst>
                <a:gd name="connsiteX0" fmla="*/ 1389413 w 1413164"/>
                <a:gd name="connsiteY0" fmla="*/ 0 h 748145"/>
                <a:gd name="connsiteX1" fmla="*/ 0 w 1413164"/>
                <a:gd name="connsiteY1" fmla="*/ 0 h 748145"/>
                <a:gd name="connsiteX2" fmla="*/ 0 w 1413164"/>
                <a:gd name="connsiteY2" fmla="*/ 748145 h 748145"/>
                <a:gd name="connsiteX3" fmla="*/ 1413164 w 1413164"/>
                <a:gd name="connsiteY3" fmla="*/ 748145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3164" h="748145">
                  <a:moveTo>
                    <a:pt x="1389413" y="0"/>
                  </a:moveTo>
                  <a:lnTo>
                    <a:pt x="0" y="0"/>
                  </a:lnTo>
                  <a:lnTo>
                    <a:pt x="0" y="748145"/>
                  </a:lnTo>
                  <a:lnTo>
                    <a:pt x="1413164" y="74814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auto">
            <a:xfrm>
              <a:off x="4847112" y="1315546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758139" y="1677365"/>
              <a:ext cx="420025" cy="1579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375491" y="2018135"/>
              <a:ext cx="356466" cy="3564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5378121" y="2620386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5385755" y="1722513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85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4778157"/>
                </p:ext>
              </p:extLst>
            </p:nvPr>
          </p:nvGraphicFramePr>
          <p:xfrm>
            <a:off x="5274421" y="1992098"/>
            <a:ext cx="353521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74421" y="1992098"/>
                          <a:ext cx="353521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5262170" y="1749680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93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1951945"/>
                </p:ext>
              </p:extLst>
            </p:nvPr>
          </p:nvGraphicFramePr>
          <p:xfrm>
            <a:off x="4726637" y="1985098"/>
            <a:ext cx="332520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53800" progId="Equation.DSMT4">
                    <p:embed/>
                  </p:oleObj>
                </mc:Choice>
                <mc:Fallback>
                  <p:oleObj name="Equation" r:id="rId9" imgW="1904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26637" y="1985098"/>
                          <a:ext cx="332520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9314884"/>
                </p:ext>
              </p:extLst>
            </p:nvPr>
          </p:nvGraphicFramePr>
          <p:xfrm>
            <a:off x="5634943" y="1269305"/>
            <a:ext cx="266016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253800" progId="Equation.DSMT4">
                    <p:embed/>
                  </p:oleObj>
                </mc:Choice>
                <mc:Fallback>
                  <p:oleObj name="Equation" r:id="rId11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634943" y="1269305"/>
                          <a:ext cx="266016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/>
            <p:nvPr/>
          </p:nvCxnSpPr>
          <p:spPr>
            <a:xfrm>
              <a:off x="5514185" y="1690171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4267200" y="1700244"/>
              <a:ext cx="336020" cy="1017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5226209" y="2777273"/>
              <a:ext cx="516921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US" sz="2000" b="1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="1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5640866" y="2209800"/>
              <a:ext cx="302734" cy="773901"/>
            </a:xfrm>
            <a:custGeom>
              <a:avLst/>
              <a:gdLst>
                <a:gd name="connsiteX0" fmla="*/ 0 w 250520"/>
                <a:gd name="connsiteY0" fmla="*/ 876822 h 876822"/>
                <a:gd name="connsiteX1" fmla="*/ 0 w 250520"/>
                <a:gd name="connsiteY1" fmla="*/ 0 h 876822"/>
                <a:gd name="connsiteX2" fmla="*/ 250520 w 250520"/>
                <a:gd name="connsiteY2" fmla="*/ 0 h 87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20" h="876822">
                  <a:moveTo>
                    <a:pt x="0" y="876822"/>
                  </a:moveTo>
                  <a:lnTo>
                    <a:pt x="0" y="0"/>
                  </a:lnTo>
                  <a:lnTo>
                    <a:pt x="250520" y="0"/>
                  </a:ln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041293"/>
              </p:ext>
            </p:extLst>
          </p:nvPr>
        </p:nvGraphicFramePr>
        <p:xfrm>
          <a:off x="1371600" y="1793826"/>
          <a:ext cx="1124669" cy="949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1320" imgH="482400" progId="Equation.DSMT4">
                  <p:embed/>
                </p:oleObj>
              </mc:Choice>
              <mc:Fallback>
                <p:oleObj name="Equation" r:id="rId13" imgW="5713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93826"/>
                        <a:ext cx="1124669" cy="9493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786863"/>
              </p:ext>
            </p:extLst>
          </p:nvPr>
        </p:nvGraphicFramePr>
        <p:xfrm>
          <a:off x="417512" y="3275013"/>
          <a:ext cx="400208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33360" imgH="545760" progId="Equation.DSMT4">
                  <p:embed/>
                </p:oleObj>
              </mc:Choice>
              <mc:Fallback>
                <p:oleObj name="Equation" r:id="rId15" imgW="21333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" y="3275013"/>
                        <a:ext cx="4002088" cy="1025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/>
          <p:cNvSpPr/>
          <p:nvPr/>
        </p:nvSpPr>
        <p:spPr>
          <a:xfrm>
            <a:off x="4647911" y="3564476"/>
            <a:ext cx="354398" cy="3810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02501"/>
              </p:ext>
            </p:extLst>
          </p:nvPr>
        </p:nvGraphicFramePr>
        <p:xfrm>
          <a:off x="5253038" y="3411538"/>
          <a:ext cx="2192337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30040" imgH="469800" progId="Equation.DSMT4">
                  <p:embed/>
                </p:oleObj>
              </mc:Choice>
              <mc:Fallback>
                <p:oleObj name="Equation" r:id="rId17" imgW="1130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3411538"/>
                        <a:ext cx="2192337" cy="9128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256909"/>
              </p:ext>
            </p:extLst>
          </p:nvPr>
        </p:nvGraphicFramePr>
        <p:xfrm>
          <a:off x="5164138" y="4465638"/>
          <a:ext cx="23606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57120" imgH="228600" progId="Equation.DSMT4">
                  <p:embed/>
                </p:oleObj>
              </mc:Choice>
              <mc:Fallback>
                <p:oleObj name="Equation" r:id="rId19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4465638"/>
                        <a:ext cx="2360612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itle 1"/>
          <p:cNvSpPr txBox="1">
            <a:spLocks/>
          </p:cNvSpPr>
          <p:nvPr/>
        </p:nvSpPr>
        <p:spPr>
          <a:xfrm>
            <a:off x="535862" y="5187539"/>
            <a:ext cx="4264738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Biểu diễn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theo ma trận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959021"/>
              </p:ext>
            </p:extLst>
          </p:nvPr>
        </p:nvGraphicFramePr>
        <p:xfrm>
          <a:off x="5181600" y="5057775"/>
          <a:ext cx="2209800" cy="899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55600" imgH="469800" progId="Equation.DSMT4">
                  <p:embed/>
                </p:oleObj>
              </mc:Choice>
              <mc:Fallback>
                <p:oleObj name="Equation" r:id="rId21" imgW="1155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057775"/>
                        <a:ext cx="2209800" cy="89939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247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9" name="Title 1"/>
          <p:cNvSpPr txBox="1">
            <a:spLocks/>
          </p:cNvSpPr>
          <p:nvPr/>
        </p:nvSpPr>
        <p:spPr>
          <a:xfrm>
            <a:off x="404750" y="457200"/>
            <a:ext cx="408349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b.</a:t>
            </a:r>
            <a:r>
              <a:rPr lang="en-US" sz="2400" u="sng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Trở kháng vào thứ cấp:</a:t>
            </a:r>
          </a:p>
        </p:txBody>
      </p:sp>
      <p:graphicFrame>
        <p:nvGraphicFramePr>
          <p:cNvPr id="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578307"/>
              </p:ext>
            </p:extLst>
          </p:nvPr>
        </p:nvGraphicFramePr>
        <p:xfrm>
          <a:off x="1331913" y="1250950"/>
          <a:ext cx="1182687" cy="935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482400" progId="Equation.DSMT4">
                  <p:embed/>
                </p:oleObj>
              </mc:Choice>
              <mc:Fallback>
                <p:oleObj name="Equation" r:id="rId3" imgW="609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250950"/>
                        <a:ext cx="1182687" cy="935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838663"/>
              </p:ext>
            </p:extLst>
          </p:nvPr>
        </p:nvGraphicFramePr>
        <p:xfrm>
          <a:off x="465138" y="2819400"/>
          <a:ext cx="39068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2600" imgH="545760" progId="Equation.DSMT4">
                  <p:embed/>
                </p:oleObj>
              </mc:Choice>
              <mc:Fallback>
                <p:oleObj name="Equation" r:id="rId5" imgW="20826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2819400"/>
                        <a:ext cx="3906837" cy="1025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/>
          <p:cNvSpPr/>
          <p:nvPr/>
        </p:nvSpPr>
        <p:spPr>
          <a:xfrm>
            <a:off x="4647911" y="3108863"/>
            <a:ext cx="354398" cy="3810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091811"/>
              </p:ext>
            </p:extLst>
          </p:nvPr>
        </p:nvGraphicFramePr>
        <p:xfrm>
          <a:off x="5229225" y="2955925"/>
          <a:ext cx="22415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55600" imgH="469800" progId="Equation.DSMT4">
                  <p:embed/>
                </p:oleObj>
              </mc:Choice>
              <mc:Fallback>
                <p:oleObj name="Equation" r:id="rId7" imgW="1155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225" y="2955925"/>
                        <a:ext cx="2241550" cy="91281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172659"/>
              </p:ext>
            </p:extLst>
          </p:nvPr>
        </p:nvGraphicFramePr>
        <p:xfrm>
          <a:off x="5164138" y="4038600"/>
          <a:ext cx="23606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57120" imgH="228600" progId="Equation.DSMT4">
                  <p:embed/>
                </p:oleObj>
              </mc:Choice>
              <mc:Fallback>
                <p:oleObj name="Equation" r:id="rId9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4038600"/>
                        <a:ext cx="2360612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itle 1"/>
          <p:cNvSpPr txBox="1">
            <a:spLocks/>
          </p:cNvSpPr>
          <p:nvPr/>
        </p:nvSpPr>
        <p:spPr>
          <a:xfrm>
            <a:off x="535862" y="4868451"/>
            <a:ext cx="4264738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Biểu diễn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theo ma trận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883948"/>
              </p:ext>
            </p:extLst>
          </p:nvPr>
        </p:nvGraphicFramePr>
        <p:xfrm>
          <a:off x="5192713" y="4738687"/>
          <a:ext cx="21859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3000" imgH="469800" progId="Equation.DSMT4">
                  <p:embed/>
                </p:oleObj>
              </mc:Choice>
              <mc:Fallback>
                <p:oleObj name="Equation" r:id="rId11" imgW="11430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4738687"/>
                        <a:ext cx="2185987" cy="90011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3989387" y="714918"/>
            <a:ext cx="4926013" cy="2104482"/>
            <a:chOff x="4191000" y="762000"/>
            <a:chExt cx="4926013" cy="2104482"/>
          </a:xfrm>
        </p:grpSpPr>
        <p:sp>
          <p:nvSpPr>
            <p:cNvPr id="40" name="Text Box 7"/>
            <p:cNvSpPr txBox="1">
              <a:spLocks noChangeArrowheads="1"/>
            </p:cNvSpPr>
            <p:nvPr/>
          </p:nvSpPr>
          <p:spPr bwMode="auto">
            <a:xfrm>
              <a:off x="8035819" y="774526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5746273" y="1091512"/>
              <a:ext cx="1344082" cy="117032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M4C tuyến tính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7108901" y="1236324"/>
              <a:ext cx="1501983" cy="903328"/>
            </a:xfrm>
            <a:custGeom>
              <a:avLst/>
              <a:gdLst>
                <a:gd name="connsiteX0" fmla="*/ 0 w 961902"/>
                <a:gd name="connsiteY0" fmla="*/ 0 h 819398"/>
                <a:gd name="connsiteX1" fmla="*/ 961902 w 961902"/>
                <a:gd name="connsiteY1" fmla="*/ 0 h 819398"/>
                <a:gd name="connsiteX2" fmla="*/ 961902 w 961902"/>
                <a:gd name="connsiteY2" fmla="*/ 819398 h 819398"/>
                <a:gd name="connsiteX3" fmla="*/ 0 w 961902"/>
                <a:gd name="connsiteY3" fmla="*/ 819398 h 81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1902" h="819398">
                  <a:moveTo>
                    <a:pt x="0" y="0"/>
                  </a:moveTo>
                  <a:lnTo>
                    <a:pt x="961902" y="0"/>
                  </a:lnTo>
                  <a:lnTo>
                    <a:pt x="961902" y="819398"/>
                  </a:lnTo>
                  <a:lnTo>
                    <a:pt x="0" y="819398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7710030" y="2093831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7717664" y="1195957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7187852" y="1169774"/>
              <a:ext cx="4516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864390"/>
                </p:ext>
              </p:extLst>
            </p:nvPr>
          </p:nvGraphicFramePr>
          <p:xfrm>
            <a:off x="7281584" y="762023"/>
            <a:ext cx="287017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53800" progId="Equation.DSMT4">
                    <p:embed/>
                  </p:oleObj>
                </mc:Choice>
                <mc:Fallback>
                  <p:oleObj name="Equation" r:id="rId13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81584" y="762023"/>
                          <a:ext cx="287017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Text Box 7"/>
            <p:cNvSpPr txBox="1">
              <a:spLocks noChangeArrowheads="1"/>
            </p:cNvSpPr>
            <p:nvPr/>
          </p:nvSpPr>
          <p:spPr bwMode="auto">
            <a:xfrm>
              <a:off x="4191000" y="1532097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8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631478"/>
                </p:ext>
              </p:extLst>
            </p:nvPr>
          </p:nvGraphicFramePr>
          <p:xfrm>
            <a:off x="7596136" y="1465543"/>
            <a:ext cx="374523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15640" imgH="253800" progId="Equation.DSMT4">
                    <p:embed/>
                  </p:oleObj>
                </mc:Choice>
                <mc:Fallback>
                  <p:oleObj name="Equation" r:id="rId15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596136" y="1465543"/>
                          <a:ext cx="374523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7589204" y="1223126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646361" y="1249416"/>
              <a:ext cx="1101002" cy="890236"/>
            </a:xfrm>
            <a:custGeom>
              <a:avLst/>
              <a:gdLst>
                <a:gd name="connsiteX0" fmla="*/ 1389413 w 1413164"/>
                <a:gd name="connsiteY0" fmla="*/ 0 h 748145"/>
                <a:gd name="connsiteX1" fmla="*/ 0 w 1413164"/>
                <a:gd name="connsiteY1" fmla="*/ 0 h 748145"/>
                <a:gd name="connsiteX2" fmla="*/ 0 w 1413164"/>
                <a:gd name="connsiteY2" fmla="*/ 748145 h 748145"/>
                <a:gd name="connsiteX3" fmla="*/ 1413164 w 1413164"/>
                <a:gd name="connsiteY3" fmla="*/ 748145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3164" h="748145">
                  <a:moveTo>
                    <a:pt x="1389413" y="0"/>
                  </a:moveTo>
                  <a:lnTo>
                    <a:pt x="0" y="0"/>
                  </a:lnTo>
                  <a:lnTo>
                    <a:pt x="0" y="748145"/>
                  </a:lnTo>
                  <a:lnTo>
                    <a:pt x="1413164" y="74814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61975" y="1157372"/>
              <a:ext cx="420025" cy="1579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8421712" y="1524565"/>
              <a:ext cx="356466" cy="3564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5022173" y="2113081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5029807" y="1215208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85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485344"/>
                </p:ext>
              </p:extLst>
            </p:nvPr>
          </p:nvGraphicFramePr>
          <p:xfrm>
            <a:off x="4918473" y="1484793"/>
            <a:ext cx="353521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40" imgH="253800" progId="Equation.DSMT4">
                    <p:embed/>
                  </p:oleObj>
                </mc:Choice>
                <mc:Fallback>
                  <p:oleObj name="Equation" r:id="rId1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918473" y="1484793"/>
                          <a:ext cx="353521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4906222" y="1242375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93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1384372"/>
                </p:ext>
              </p:extLst>
            </p:nvPr>
          </p:nvGraphicFramePr>
          <p:xfrm>
            <a:off x="8761413" y="1492250"/>
            <a:ext cx="355600" cy="439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040" imgH="253800" progId="Equation.DSMT4">
                    <p:embed/>
                  </p:oleObj>
                </mc:Choice>
                <mc:Fallback>
                  <p:oleObj name="Equation" r:id="rId19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761413" y="1492250"/>
                          <a:ext cx="355600" cy="4397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1110390"/>
                </p:ext>
              </p:extLst>
            </p:nvPr>
          </p:nvGraphicFramePr>
          <p:xfrm>
            <a:off x="5278995" y="762000"/>
            <a:ext cx="266016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52280" imgH="253800" progId="Equation.DSMT4">
                    <p:embed/>
                  </p:oleObj>
                </mc:Choice>
                <mc:Fallback>
                  <p:oleObj name="Equation" r:id="rId21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278995" y="762000"/>
                          <a:ext cx="266016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/>
            <p:nvPr/>
          </p:nvCxnSpPr>
          <p:spPr>
            <a:xfrm>
              <a:off x="5158237" y="1182866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8313421" y="1206674"/>
              <a:ext cx="336020" cy="1017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7315200" y="2438400"/>
              <a:ext cx="516921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US" sz="2000" b="1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2000" b="1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547383" y="1505794"/>
              <a:ext cx="168010" cy="4200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189940" y="1752600"/>
              <a:ext cx="313150" cy="676405"/>
            </a:xfrm>
            <a:custGeom>
              <a:avLst/>
              <a:gdLst>
                <a:gd name="connsiteX0" fmla="*/ 0 w 313150"/>
                <a:gd name="connsiteY0" fmla="*/ 0 h 676405"/>
                <a:gd name="connsiteX1" fmla="*/ 313150 w 313150"/>
                <a:gd name="connsiteY1" fmla="*/ 0 h 676405"/>
                <a:gd name="connsiteX2" fmla="*/ 313150 w 313150"/>
                <a:gd name="connsiteY2" fmla="*/ 676405 h 67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3150" h="676405">
                  <a:moveTo>
                    <a:pt x="0" y="0"/>
                  </a:moveTo>
                  <a:lnTo>
                    <a:pt x="313150" y="0"/>
                  </a:lnTo>
                  <a:lnTo>
                    <a:pt x="313150" y="676405"/>
                  </a:lnTo>
                </a:path>
              </a:pathLst>
            </a:custGeom>
            <a:noFill/>
            <a:ln>
              <a:head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85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29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7870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381000" y="304800"/>
            <a:ext cx="6477000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Các hàm truyền đạt của M4C:</a:t>
            </a:r>
          </a:p>
        </p:txBody>
      </p:sp>
      <p:sp>
        <p:nvSpPr>
          <p:cNvPr id="99" name="Title 1"/>
          <p:cNvSpPr txBox="1">
            <a:spLocks/>
          </p:cNvSpPr>
          <p:nvPr/>
        </p:nvSpPr>
        <p:spPr>
          <a:xfrm>
            <a:off x="404750" y="914400"/>
            <a:ext cx="408349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a.</a:t>
            </a:r>
            <a:r>
              <a:rPr lang="en-US" sz="2400" u="sng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Hàm truyền đạt điện áp: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267200" y="838200"/>
            <a:ext cx="4796615" cy="1936050"/>
            <a:chOff x="4267200" y="1269305"/>
            <a:chExt cx="4796615" cy="1936050"/>
          </a:xfrm>
        </p:grpSpPr>
        <p:sp>
          <p:nvSpPr>
            <p:cNvPr id="4" name="Rectangle 3"/>
            <p:cNvSpPr/>
            <p:nvPr/>
          </p:nvSpPr>
          <p:spPr>
            <a:xfrm>
              <a:off x="6102221" y="1598817"/>
              <a:ext cx="1344082" cy="117032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M4C tuyến tính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7464849" y="1743629"/>
              <a:ext cx="1060429" cy="903328"/>
            </a:xfrm>
            <a:custGeom>
              <a:avLst/>
              <a:gdLst>
                <a:gd name="connsiteX0" fmla="*/ 0 w 961902"/>
                <a:gd name="connsiteY0" fmla="*/ 0 h 819398"/>
                <a:gd name="connsiteX1" fmla="*/ 961902 w 961902"/>
                <a:gd name="connsiteY1" fmla="*/ 0 h 819398"/>
                <a:gd name="connsiteX2" fmla="*/ 961902 w 961902"/>
                <a:gd name="connsiteY2" fmla="*/ 819398 h 819398"/>
                <a:gd name="connsiteX3" fmla="*/ 0 w 961902"/>
                <a:gd name="connsiteY3" fmla="*/ 819398 h 81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1902" h="819398">
                  <a:moveTo>
                    <a:pt x="0" y="0"/>
                  </a:moveTo>
                  <a:lnTo>
                    <a:pt x="961902" y="0"/>
                  </a:lnTo>
                  <a:lnTo>
                    <a:pt x="961902" y="819398"/>
                  </a:lnTo>
                  <a:lnTo>
                    <a:pt x="0" y="819398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441272" y="2013100"/>
              <a:ext cx="168010" cy="4200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8065978" y="2601136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8073612" y="1703262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7614313" y="1677079"/>
              <a:ext cx="4516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Object 59"/>
            <p:cNvGraphicFramePr>
              <a:graphicFrameLocks noChangeAspect="1"/>
            </p:cNvGraphicFramePr>
            <p:nvPr/>
          </p:nvGraphicFramePr>
          <p:xfrm>
            <a:off x="7708045" y="1269328"/>
            <a:ext cx="287017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53800" progId="Equation.DSMT4">
                    <p:embed/>
                  </p:oleObj>
                </mc:Choice>
                <mc:Fallback>
                  <p:oleObj name="Equation" r:id="rId3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08045" y="1269328"/>
                          <a:ext cx="287017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Text Box 7"/>
            <p:cNvSpPr txBox="1">
              <a:spLocks noChangeArrowheads="1"/>
            </p:cNvSpPr>
            <p:nvPr/>
          </p:nvSpPr>
          <p:spPr bwMode="auto">
            <a:xfrm>
              <a:off x="8661648" y="2057409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8" name="Object 77"/>
            <p:cNvGraphicFramePr>
              <a:graphicFrameLocks noChangeAspect="1"/>
            </p:cNvGraphicFramePr>
            <p:nvPr/>
          </p:nvGraphicFramePr>
          <p:xfrm>
            <a:off x="7952084" y="1972848"/>
            <a:ext cx="374523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640" imgH="253800" progId="Equation.DSMT4">
                    <p:embed/>
                  </p:oleObj>
                </mc:Choice>
                <mc:Fallback>
                  <p:oleObj name="Equation" r:id="rId5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52084" y="1972848"/>
                          <a:ext cx="374523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7945152" y="1730431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545398" y="1756721"/>
              <a:ext cx="1557913" cy="890236"/>
            </a:xfrm>
            <a:custGeom>
              <a:avLst/>
              <a:gdLst>
                <a:gd name="connsiteX0" fmla="*/ 1389413 w 1413164"/>
                <a:gd name="connsiteY0" fmla="*/ 0 h 748145"/>
                <a:gd name="connsiteX1" fmla="*/ 0 w 1413164"/>
                <a:gd name="connsiteY1" fmla="*/ 0 h 748145"/>
                <a:gd name="connsiteX2" fmla="*/ 0 w 1413164"/>
                <a:gd name="connsiteY2" fmla="*/ 748145 h 748145"/>
                <a:gd name="connsiteX3" fmla="*/ 1413164 w 1413164"/>
                <a:gd name="connsiteY3" fmla="*/ 748145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3164" h="748145">
                  <a:moveTo>
                    <a:pt x="1389413" y="0"/>
                  </a:moveTo>
                  <a:lnTo>
                    <a:pt x="0" y="0"/>
                  </a:lnTo>
                  <a:lnTo>
                    <a:pt x="0" y="748145"/>
                  </a:lnTo>
                  <a:lnTo>
                    <a:pt x="1413164" y="74814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auto">
            <a:xfrm>
              <a:off x="4847112" y="1315546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758139" y="1677365"/>
              <a:ext cx="420025" cy="1579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375491" y="2018135"/>
              <a:ext cx="356466" cy="3564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5378121" y="2620386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5385755" y="1722513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85" name="Object 84"/>
            <p:cNvGraphicFramePr>
              <a:graphicFrameLocks noChangeAspect="1"/>
            </p:cNvGraphicFramePr>
            <p:nvPr/>
          </p:nvGraphicFramePr>
          <p:xfrm>
            <a:off x="5274421" y="1992098"/>
            <a:ext cx="353521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74421" y="1992098"/>
                          <a:ext cx="353521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5262170" y="1749680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93" name="Object 92"/>
            <p:cNvGraphicFramePr>
              <a:graphicFrameLocks noChangeAspect="1"/>
            </p:cNvGraphicFramePr>
            <p:nvPr/>
          </p:nvGraphicFramePr>
          <p:xfrm>
            <a:off x="4726637" y="1985098"/>
            <a:ext cx="332520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53800" progId="Equation.DSMT4">
                    <p:embed/>
                  </p:oleObj>
                </mc:Choice>
                <mc:Fallback>
                  <p:oleObj name="Equation" r:id="rId9" imgW="1904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26637" y="1985098"/>
                          <a:ext cx="332520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96"/>
            <p:cNvGraphicFramePr>
              <a:graphicFrameLocks noChangeAspect="1"/>
            </p:cNvGraphicFramePr>
            <p:nvPr/>
          </p:nvGraphicFramePr>
          <p:xfrm>
            <a:off x="5634943" y="1269305"/>
            <a:ext cx="266016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253800" progId="Equation.DSMT4">
                    <p:embed/>
                  </p:oleObj>
                </mc:Choice>
                <mc:Fallback>
                  <p:oleObj name="Equation" r:id="rId11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634943" y="1269305"/>
                          <a:ext cx="266016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/>
            <p:nvPr/>
          </p:nvCxnSpPr>
          <p:spPr>
            <a:xfrm>
              <a:off x="5514185" y="1690171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4267200" y="1700244"/>
              <a:ext cx="336020" cy="1017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5226209" y="2777273"/>
              <a:ext cx="516921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US" sz="2000" b="1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="1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5640866" y="2209800"/>
              <a:ext cx="302734" cy="773901"/>
            </a:xfrm>
            <a:custGeom>
              <a:avLst/>
              <a:gdLst>
                <a:gd name="connsiteX0" fmla="*/ 0 w 250520"/>
                <a:gd name="connsiteY0" fmla="*/ 876822 h 876822"/>
                <a:gd name="connsiteX1" fmla="*/ 0 w 250520"/>
                <a:gd name="connsiteY1" fmla="*/ 0 h 876822"/>
                <a:gd name="connsiteX2" fmla="*/ 250520 w 250520"/>
                <a:gd name="connsiteY2" fmla="*/ 0 h 87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20" h="876822">
                  <a:moveTo>
                    <a:pt x="0" y="876822"/>
                  </a:moveTo>
                  <a:lnTo>
                    <a:pt x="0" y="0"/>
                  </a:lnTo>
                  <a:lnTo>
                    <a:pt x="250520" y="0"/>
                  </a:ln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912889"/>
              </p:ext>
            </p:extLst>
          </p:nvPr>
        </p:nvGraphicFramePr>
        <p:xfrm>
          <a:off x="1389931" y="1371600"/>
          <a:ext cx="1124669" cy="949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1320" imgH="482400" progId="Equation.DSMT4">
                  <p:embed/>
                </p:oleObj>
              </mc:Choice>
              <mc:Fallback>
                <p:oleObj name="Equation" r:id="rId13" imgW="5713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931" y="1371600"/>
                        <a:ext cx="1124669" cy="9493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562781"/>
              </p:ext>
            </p:extLst>
          </p:nvPr>
        </p:nvGraphicFramePr>
        <p:xfrm>
          <a:off x="428625" y="2684463"/>
          <a:ext cx="3827463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20760" imgH="545760" progId="Equation.DSMT4">
                  <p:embed/>
                </p:oleObj>
              </mc:Choice>
              <mc:Fallback>
                <p:oleObj name="Equation" r:id="rId15" imgW="21207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2684463"/>
                        <a:ext cx="3827463" cy="985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/>
          <p:cNvSpPr/>
          <p:nvPr/>
        </p:nvSpPr>
        <p:spPr>
          <a:xfrm>
            <a:off x="4647911" y="2973925"/>
            <a:ext cx="354398" cy="3810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913963"/>
              </p:ext>
            </p:extLst>
          </p:nvPr>
        </p:nvGraphicFramePr>
        <p:xfrm>
          <a:off x="5157787" y="2805113"/>
          <a:ext cx="208121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04840" imgH="469800" progId="Equation.DSMT4">
                  <p:embed/>
                </p:oleObj>
              </mc:Choice>
              <mc:Fallback>
                <p:oleObj name="Equation" r:id="rId17" imgW="1104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787" y="2805113"/>
                        <a:ext cx="2081213" cy="8874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523574"/>
              </p:ext>
            </p:extLst>
          </p:nvPr>
        </p:nvGraphicFramePr>
        <p:xfrm>
          <a:off x="5240338" y="3733800"/>
          <a:ext cx="23606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57120" imgH="228600" progId="Equation.DSMT4">
                  <p:embed/>
                </p:oleObj>
              </mc:Choice>
              <mc:Fallback>
                <p:oleObj name="Equation" r:id="rId19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3733800"/>
                        <a:ext cx="2360612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itle 1"/>
          <p:cNvSpPr txBox="1">
            <a:spLocks/>
          </p:cNvSpPr>
          <p:nvPr/>
        </p:nvSpPr>
        <p:spPr>
          <a:xfrm>
            <a:off x="483802" y="4335051"/>
            <a:ext cx="4164398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Biểu diễn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theo ma trận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990844"/>
              </p:ext>
            </p:extLst>
          </p:nvPr>
        </p:nvGraphicFramePr>
        <p:xfrm>
          <a:off x="5130800" y="4205288"/>
          <a:ext cx="216058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30040" imgH="469800" progId="Equation.DSMT4">
                  <p:embed/>
                </p:oleObj>
              </mc:Choice>
              <mc:Fallback>
                <p:oleObj name="Equation" r:id="rId21" imgW="1130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4205288"/>
                        <a:ext cx="2160588" cy="9001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itle 1"/>
          <p:cNvSpPr txBox="1">
            <a:spLocks/>
          </p:cNvSpPr>
          <p:nvPr/>
        </p:nvSpPr>
        <p:spPr>
          <a:xfrm>
            <a:off x="483802" y="5554251"/>
            <a:ext cx="4164398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Biểu diễn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theo ma trận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453278"/>
              </p:ext>
            </p:extLst>
          </p:nvPr>
        </p:nvGraphicFramePr>
        <p:xfrm>
          <a:off x="5105400" y="5230813"/>
          <a:ext cx="220980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55600" imgH="672840" progId="Equation.DSMT4">
                  <p:embed/>
                </p:oleObj>
              </mc:Choice>
              <mc:Fallback>
                <p:oleObj name="Equation" r:id="rId23" imgW="11556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230813"/>
                        <a:ext cx="2209800" cy="12890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974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" grpId="0"/>
      <p:bldP spid="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9" name="Title 1"/>
          <p:cNvSpPr txBox="1">
            <a:spLocks/>
          </p:cNvSpPr>
          <p:nvPr/>
        </p:nvSpPr>
        <p:spPr>
          <a:xfrm>
            <a:off x="404750" y="254169"/>
            <a:ext cx="4083499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b.</a:t>
            </a:r>
            <a:r>
              <a:rPr lang="en-US" sz="2400" u="sng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Hàm truyền đạt dòng điện: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267200" y="533400"/>
            <a:ext cx="4796615" cy="1936050"/>
            <a:chOff x="4267200" y="1269305"/>
            <a:chExt cx="4796615" cy="1936050"/>
          </a:xfrm>
        </p:grpSpPr>
        <p:sp>
          <p:nvSpPr>
            <p:cNvPr id="4" name="Rectangle 3"/>
            <p:cNvSpPr/>
            <p:nvPr/>
          </p:nvSpPr>
          <p:spPr>
            <a:xfrm>
              <a:off x="6102221" y="1598817"/>
              <a:ext cx="1344082" cy="117032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M4C tuyến tính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7464849" y="1743629"/>
              <a:ext cx="1060429" cy="903328"/>
            </a:xfrm>
            <a:custGeom>
              <a:avLst/>
              <a:gdLst>
                <a:gd name="connsiteX0" fmla="*/ 0 w 961902"/>
                <a:gd name="connsiteY0" fmla="*/ 0 h 819398"/>
                <a:gd name="connsiteX1" fmla="*/ 961902 w 961902"/>
                <a:gd name="connsiteY1" fmla="*/ 0 h 819398"/>
                <a:gd name="connsiteX2" fmla="*/ 961902 w 961902"/>
                <a:gd name="connsiteY2" fmla="*/ 819398 h 819398"/>
                <a:gd name="connsiteX3" fmla="*/ 0 w 961902"/>
                <a:gd name="connsiteY3" fmla="*/ 819398 h 81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1902" h="819398">
                  <a:moveTo>
                    <a:pt x="0" y="0"/>
                  </a:moveTo>
                  <a:lnTo>
                    <a:pt x="961902" y="0"/>
                  </a:lnTo>
                  <a:lnTo>
                    <a:pt x="961902" y="819398"/>
                  </a:lnTo>
                  <a:lnTo>
                    <a:pt x="0" y="819398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441272" y="2013100"/>
              <a:ext cx="168010" cy="4200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8065978" y="2601136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8073612" y="1703262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7614313" y="1677079"/>
              <a:ext cx="4516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Object 59"/>
            <p:cNvGraphicFramePr>
              <a:graphicFrameLocks noChangeAspect="1"/>
            </p:cNvGraphicFramePr>
            <p:nvPr/>
          </p:nvGraphicFramePr>
          <p:xfrm>
            <a:off x="7708045" y="1269328"/>
            <a:ext cx="287017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4880" imgH="253800" progId="Equation.DSMT4">
                    <p:embed/>
                  </p:oleObj>
                </mc:Choice>
                <mc:Fallback>
                  <p:oleObj name="Equation" r:id="rId3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08045" y="1269328"/>
                          <a:ext cx="287017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Text Box 7"/>
            <p:cNvSpPr txBox="1">
              <a:spLocks noChangeArrowheads="1"/>
            </p:cNvSpPr>
            <p:nvPr/>
          </p:nvSpPr>
          <p:spPr bwMode="auto">
            <a:xfrm>
              <a:off x="8661648" y="2057409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8" name="Object 77"/>
            <p:cNvGraphicFramePr>
              <a:graphicFrameLocks noChangeAspect="1"/>
            </p:cNvGraphicFramePr>
            <p:nvPr/>
          </p:nvGraphicFramePr>
          <p:xfrm>
            <a:off x="7952084" y="1972848"/>
            <a:ext cx="374523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640" imgH="253800" progId="Equation.DSMT4">
                    <p:embed/>
                  </p:oleObj>
                </mc:Choice>
                <mc:Fallback>
                  <p:oleObj name="Equation" r:id="rId5" imgW="215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52084" y="1972848"/>
                          <a:ext cx="374523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7945152" y="1730431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545398" y="1756721"/>
              <a:ext cx="1557913" cy="890236"/>
            </a:xfrm>
            <a:custGeom>
              <a:avLst/>
              <a:gdLst>
                <a:gd name="connsiteX0" fmla="*/ 1389413 w 1413164"/>
                <a:gd name="connsiteY0" fmla="*/ 0 h 748145"/>
                <a:gd name="connsiteX1" fmla="*/ 0 w 1413164"/>
                <a:gd name="connsiteY1" fmla="*/ 0 h 748145"/>
                <a:gd name="connsiteX2" fmla="*/ 0 w 1413164"/>
                <a:gd name="connsiteY2" fmla="*/ 748145 h 748145"/>
                <a:gd name="connsiteX3" fmla="*/ 1413164 w 1413164"/>
                <a:gd name="connsiteY3" fmla="*/ 748145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3164" h="748145">
                  <a:moveTo>
                    <a:pt x="1389413" y="0"/>
                  </a:moveTo>
                  <a:lnTo>
                    <a:pt x="0" y="0"/>
                  </a:lnTo>
                  <a:lnTo>
                    <a:pt x="0" y="748145"/>
                  </a:lnTo>
                  <a:lnTo>
                    <a:pt x="1413164" y="748145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auto">
            <a:xfrm>
              <a:off x="4847112" y="1315546"/>
              <a:ext cx="402167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758139" y="1677365"/>
              <a:ext cx="420025" cy="1579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375491" y="2018135"/>
              <a:ext cx="356466" cy="3564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5378121" y="2620386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5385755" y="1722513"/>
              <a:ext cx="84005" cy="840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85" name="Object 84"/>
            <p:cNvGraphicFramePr>
              <a:graphicFrameLocks noChangeAspect="1"/>
            </p:cNvGraphicFramePr>
            <p:nvPr/>
          </p:nvGraphicFramePr>
          <p:xfrm>
            <a:off x="5274421" y="1992098"/>
            <a:ext cx="353521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53800" progId="Equation.DSMT4">
                    <p:embed/>
                  </p:oleObj>
                </mc:Choice>
                <mc:Fallback>
                  <p:oleObj name="Equation" r:id="rId7" imgW="203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74421" y="1992098"/>
                          <a:ext cx="353521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5262170" y="1749680"/>
              <a:ext cx="3360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93" name="Object 92"/>
            <p:cNvGraphicFramePr>
              <a:graphicFrameLocks noChangeAspect="1"/>
            </p:cNvGraphicFramePr>
            <p:nvPr/>
          </p:nvGraphicFramePr>
          <p:xfrm>
            <a:off x="4726637" y="1985098"/>
            <a:ext cx="332520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53800" progId="Equation.DSMT4">
                    <p:embed/>
                  </p:oleObj>
                </mc:Choice>
                <mc:Fallback>
                  <p:oleObj name="Equation" r:id="rId9" imgW="1904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26637" y="1985098"/>
                          <a:ext cx="332520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96"/>
            <p:cNvGraphicFramePr>
              <a:graphicFrameLocks noChangeAspect="1"/>
            </p:cNvGraphicFramePr>
            <p:nvPr/>
          </p:nvGraphicFramePr>
          <p:xfrm>
            <a:off x="5634943" y="1269305"/>
            <a:ext cx="266016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253800" progId="Equation.DSMT4">
                    <p:embed/>
                  </p:oleObj>
                </mc:Choice>
                <mc:Fallback>
                  <p:oleObj name="Equation" r:id="rId11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634943" y="1269305"/>
                          <a:ext cx="266016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Straight Arrow Connector 15"/>
            <p:cNvCxnSpPr/>
            <p:nvPr/>
          </p:nvCxnSpPr>
          <p:spPr>
            <a:xfrm>
              <a:off x="5514185" y="1690171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4267200" y="1700244"/>
              <a:ext cx="336020" cy="10179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5226209" y="2777273"/>
              <a:ext cx="516921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en-US" sz="2000" b="1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 b="1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5640866" y="2209800"/>
              <a:ext cx="302734" cy="773901"/>
            </a:xfrm>
            <a:custGeom>
              <a:avLst/>
              <a:gdLst>
                <a:gd name="connsiteX0" fmla="*/ 0 w 250520"/>
                <a:gd name="connsiteY0" fmla="*/ 876822 h 876822"/>
                <a:gd name="connsiteX1" fmla="*/ 0 w 250520"/>
                <a:gd name="connsiteY1" fmla="*/ 0 h 876822"/>
                <a:gd name="connsiteX2" fmla="*/ 250520 w 250520"/>
                <a:gd name="connsiteY2" fmla="*/ 0 h 87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20" h="876822">
                  <a:moveTo>
                    <a:pt x="0" y="876822"/>
                  </a:moveTo>
                  <a:lnTo>
                    <a:pt x="0" y="0"/>
                  </a:lnTo>
                  <a:lnTo>
                    <a:pt x="250520" y="0"/>
                  </a:lnTo>
                </a:path>
              </a:pathLst>
            </a:custGeom>
            <a:noFill/>
            <a:ln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390553"/>
              </p:ext>
            </p:extLst>
          </p:nvPr>
        </p:nvGraphicFramePr>
        <p:xfrm>
          <a:off x="1465263" y="1066800"/>
          <a:ext cx="9731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000" imgH="482400" progId="Equation.DSMT4">
                  <p:embed/>
                </p:oleObj>
              </mc:Choice>
              <mc:Fallback>
                <p:oleObj name="Equation" r:id="rId13" imgW="495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1066800"/>
                        <a:ext cx="973137" cy="949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805089"/>
              </p:ext>
            </p:extLst>
          </p:nvPr>
        </p:nvGraphicFramePr>
        <p:xfrm>
          <a:off x="719138" y="2362200"/>
          <a:ext cx="2782230" cy="1119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58640" imgH="545760" progId="Equation.DSMT4">
                  <p:embed/>
                </p:oleObj>
              </mc:Choice>
              <mc:Fallback>
                <p:oleObj name="Equation" r:id="rId15" imgW="13586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2362200"/>
                        <a:ext cx="2782230" cy="11190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/>
          <p:cNvSpPr/>
          <p:nvPr/>
        </p:nvSpPr>
        <p:spPr>
          <a:xfrm>
            <a:off x="3644544" y="2664362"/>
            <a:ext cx="354398" cy="3810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96784"/>
              </p:ext>
            </p:extLst>
          </p:nvPr>
        </p:nvGraphicFramePr>
        <p:xfrm>
          <a:off x="4230688" y="2495550"/>
          <a:ext cx="18875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01440" imgH="469800" progId="Equation.DSMT4">
                  <p:embed/>
                </p:oleObj>
              </mc:Choice>
              <mc:Fallback>
                <p:oleObj name="Equation" r:id="rId17" imgW="901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688" y="2495550"/>
                        <a:ext cx="1887537" cy="9858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itle 1"/>
          <p:cNvSpPr txBox="1">
            <a:spLocks/>
          </p:cNvSpPr>
          <p:nvPr/>
        </p:nvSpPr>
        <p:spPr>
          <a:xfrm>
            <a:off x="320122" y="3581400"/>
            <a:ext cx="5166278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Đơn vị Neper (Np), decibel (dB):</a:t>
            </a:r>
          </a:p>
        </p:txBody>
      </p:sp>
      <p:graphicFrame>
        <p:nvGraphicFramePr>
          <p:cNvPr id="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167231"/>
              </p:ext>
            </p:extLst>
          </p:nvPr>
        </p:nvGraphicFramePr>
        <p:xfrm>
          <a:off x="825500" y="4189413"/>
          <a:ext cx="27892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73120" imgH="571320" progId="Equation.DSMT4">
                  <p:embed/>
                </p:oleObj>
              </mc:Choice>
              <mc:Fallback>
                <p:oleObj name="Equation" r:id="rId19" imgW="147312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4189413"/>
                        <a:ext cx="2789237" cy="992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51610"/>
              </p:ext>
            </p:extLst>
          </p:nvPr>
        </p:nvGraphicFramePr>
        <p:xfrm>
          <a:off x="809625" y="5181600"/>
          <a:ext cx="2576512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6800" imgH="571320" progId="Equation.DSMT4">
                  <p:embed/>
                </p:oleObj>
              </mc:Choice>
              <mc:Fallback>
                <p:oleObj name="Equation" r:id="rId21" imgW="139680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5181600"/>
                        <a:ext cx="2576512" cy="985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259291"/>
              </p:ext>
            </p:extLst>
          </p:nvPr>
        </p:nvGraphicFramePr>
        <p:xfrm>
          <a:off x="4370387" y="4114800"/>
          <a:ext cx="33258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841400" imgH="571320" progId="Equation.DSMT4">
                  <p:embed/>
                </p:oleObj>
              </mc:Choice>
              <mc:Fallback>
                <p:oleObj name="Equation" r:id="rId23" imgW="184140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387" y="4114800"/>
                        <a:ext cx="3325813" cy="1031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16676"/>
              </p:ext>
            </p:extLst>
          </p:nvPr>
        </p:nvGraphicFramePr>
        <p:xfrm>
          <a:off x="4406900" y="5181600"/>
          <a:ext cx="32353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65080" imgH="571320" progId="Equation.DSMT4">
                  <p:embed/>
                </p:oleObj>
              </mc:Choice>
              <mc:Fallback>
                <p:oleObj name="Equation" r:id="rId25" imgW="176508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5181600"/>
                        <a:ext cx="3235325" cy="1046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288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9" name="Title 1"/>
          <p:cNvSpPr txBox="1">
            <a:spLocks/>
          </p:cNvSpPr>
          <p:nvPr/>
        </p:nvSpPr>
        <p:spPr>
          <a:xfrm>
            <a:off x="426458" y="228600"/>
            <a:ext cx="8427841" cy="1246495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a) Tìm ma trận A của M4C</a:t>
            </a:r>
          </a:p>
          <a:p>
            <a:pPr marL="1314450" indent="-1314450"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b) Tìm hàm truyền đạt điện áp, vẽ định tính đặc tuyến tần số biên độ &amp; pha khi cửa 2 nối với tải R.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533400" y="1447800"/>
            <a:ext cx="3585761" cy="1466509"/>
            <a:chOff x="625997" y="1477272"/>
            <a:chExt cx="3585761" cy="1466509"/>
          </a:xfrm>
        </p:grpSpPr>
        <p:sp>
          <p:nvSpPr>
            <p:cNvPr id="173" name="Freeform 172"/>
            <p:cNvSpPr>
              <a:spLocks/>
            </p:cNvSpPr>
            <p:nvPr/>
          </p:nvSpPr>
          <p:spPr bwMode="auto">
            <a:xfrm>
              <a:off x="961619" y="1830282"/>
              <a:ext cx="518873" cy="167172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174" name="Group 173"/>
            <p:cNvGrpSpPr/>
            <p:nvPr/>
          </p:nvGrpSpPr>
          <p:grpSpPr>
            <a:xfrm>
              <a:off x="1657140" y="1914559"/>
              <a:ext cx="555159" cy="1016175"/>
              <a:chOff x="1699732" y="2671208"/>
              <a:chExt cx="555159" cy="1016175"/>
            </a:xfrm>
          </p:grpSpPr>
          <p:grpSp>
            <p:nvGrpSpPr>
              <p:cNvPr id="190" name="Group 189"/>
              <p:cNvGrpSpPr>
                <a:grpSpLocks/>
              </p:cNvGrpSpPr>
              <p:nvPr/>
            </p:nvGrpSpPr>
            <p:grpSpPr bwMode="auto">
              <a:xfrm rot="5400000">
                <a:off x="1766612" y="3095379"/>
                <a:ext cx="71507" cy="205268"/>
                <a:chOff x="7702" y="4896"/>
                <a:chExt cx="74" cy="216"/>
              </a:xfrm>
            </p:grpSpPr>
            <p:cxnSp>
              <p:nvCxnSpPr>
                <p:cNvPr id="194" name="Line 14"/>
                <p:cNvCxnSpPr>
                  <a:cxnSpLocks noChangeShapeType="1"/>
                </p:cNvCxnSpPr>
                <p:nvPr/>
              </p:nvCxnSpPr>
              <p:spPr bwMode="auto">
                <a:xfrm>
                  <a:off x="7776" y="4896"/>
                  <a:ext cx="0" cy="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5" name="Line 15"/>
                <p:cNvCxnSpPr>
                  <a:cxnSpLocks noChangeShapeType="1"/>
                </p:cNvCxnSpPr>
                <p:nvPr/>
              </p:nvCxnSpPr>
              <p:spPr bwMode="auto">
                <a:xfrm>
                  <a:off x="7702" y="4896"/>
                  <a:ext cx="0" cy="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91" name="Line 16"/>
              <p:cNvCxnSpPr>
                <a:cxnSpLocks noChangeShapeType="1"/>
              </p:cNvCxnSpPr>
              <p:nvPr/>
            </p:nvCxnSpPr>
            <p:spPr bwMode="auto">
              <a:xfrm>
                <a:off x="1806168" y="2671208"/>
                <a:ext cx="0" cy="4910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2" name="Line 17"/>
              <p:cNvCxnSpPr>
                <a:cxnSpLocks noChangeShapeType="1"/>
              </p:cNvCxnSpPr>
              <p:nvPr/>
            </p:nvCxnSpPr>
            <p:spPr bwMode="auto">
              <a:xfrm>
                <a:off x="1805217" y="3233766"/>
                <a:ext cx="0" cy="4536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3" name="Text Box 41"/>
              <p:cNvSpPr txBox="1">
                <a:spLocks noChangeArrowheads="1"/>
              </p:cNvSpPr>
              <p:nvPr/>
            </p:nvSpPr>
            <p:spPr bwMode="auto">
              <a:xfrm>
                <a:off x="1981200" y="3034620"/>
                <a:ext cx="273691" cy="250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625997" y="2943781"/>
              <a:ext cx="3585761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>
              <a:off x="625997" y="1914559"/>
              <a:ext cx="398142" cy="0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3514476" y="1919141"/>
              <a:ext cx="697282" cy="0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 Box 7"/>
            <p:cNvSpPr txBox="1">
              <a:spLocks noChangeArrowheads="1"/>
            </p:cNvSpPr>
            <p:nvPr/>
          </p:nvSpPr>
          <p:spPr bwMode="auto">
            <a:xfrm>
              <a:off x="1221055" y="1484525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Freeform 178"/>
            <p:cNvSpPr>
              <a:spLocks/>
            </p:cNvSpPr>
            <p:nvPr/>
          </p:nvSpPr>
          <p:spPr bwMode="auto">
            <a:xfrm>
              <a:off x="2389321" y="1823029"/>
              <a:ext cx="518873" cy="167172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80" name="Text Box 7"/>
            <p:cNvSpPr txBox="1">
              <a:spLocks noChangeArrowheads="1"/>
            </p:cNvSpPr>
            <p:nvPr/>
          </p:nvSpPr>
          <p:spPr bwMode="auto">
            <a:xfrm>
              <a:off x="2648757" y="1477272"/>
              <a:ext cx="273691" cy="250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1" name="Group 180"/>
            <p:cNvGrpSpPr/>
            <p:nvPr/>
          </p:nvGrpSpPr>
          <p:grpSpPr>
            <a:xfrm>
              <a:off x="3068758" y="1910351"/>
              <a:ext cx="555159" cy="1016175"/>
              <a:chOff x="1699732" y="2671208"/>
              <a:chExt cx="555159" cy="1016175"/>
            </a:xfrm>
          </p:grpSpPr>
          <p:grpSp>
            <p:nvGrpSpPr>
              <p:cNvPr id="184" name="Group 183"/>
              <p:cNvGrpSpPr>
                <a:grpSpLocks/>
              </p:cNvGrpSpPr>
              <p:nvPr/>
            </p:nvGrpSpPr>
            <p:grpSpPr bwMode="auto">
              <a:xfrm rot="5400000">
                <a:off x="1766612" y="3095379"/>
                <a:ext cx="71507" cy="205268"/>
                <a:chOff x="7702" y="4896"/>
                <a:chExt cx="74" cy="216"/>
              </a:xfrm>
            </p:grpSpPr>
            <p:cxnSp>
              <p:nvCxnSpPr>
                <p:cNvPr id="188" name="Line 14"/>
                <p:cNvCxnSpPr>
                  <a:cxnSpLocks noChangeShapeType="1"/>
                </p:cNvCxnSpPr>
                <p:nvPr/>
              </p:nvCxnSpPr>
              <p:spPr bwMode="auto">
                <a:xfrm>
                  <a:off x="7776" y="4896"/>
                  <a:ext cx="0" cy="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9" name="Line 15"/>
                <p:cNvCxnSpPr>
                  <a:cxnSpLocks noChangeShapeType="1"/>
                </p:cNvCxnSpPr>
                <p:nvPr/>
              </p:nvCxnSpPr>
              <p:spPr bwMode="auto">
                <a:xfrm>
                  <a:off x="7702" y="4896"/>
                  <a:ext cx="0" cy="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85" name="Line 16"/>
              <p:cNvCxnSpPr>
                <a:cxnSpLocks noChangeShapeType="1"/>
              </p:cNvCxnSpPr>
              <p:nvPr/>
            </p:nvCxnSpPr>
            <p:spPr bwMode="auto">
              <a:xfrm>
                <a:off x="1806168" y="2671208"/>
                <a:ext cx="0" cy="4910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6" name="Line 17"/>
              <p:cNvCxnSpPr>
                <a:cxnSpLocks noChangeShapeType="1"/>
              </p:cNvCxnSpPr>
              <p:nvPr/>
            </p:nvCxnSpPr>
            <p:spPr bwMode="auto">
              <a:xfrm>
                <a:off x="1805217" y="3233766"/>
                <a:ext cx="0" cy="4536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7" name="Text Box 41"/>
              <p:cNvSpPr txBox="1">
                <a:spLocks noChangeArrowheads="1"/>
              </p:cNvSpPr>
              <p:nvPr/>
            </p:nvSpPr>
            <p:spPr bwMode="auto">
              <a:xfrm>
                <a:off x="1981200" y="3034620"/>
                <a:ext cx="273691" cy="250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2" name="Straight Connector 181"/>
            <p:cNvCxnSpPr>
              <a:stCxn id="173" idx="10"/>
              <a:endCxn id="179" idx="1"/>
            </p:cNvCxnSpPr>
            <p:nvPr/>
          </p:nvCxnSpPr>
          <p:spPr>
            <a:xfrm flipV="1">
              <a:off x="1480492" y="1906615"/>
              <a:ext cx="995308" cy="72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2864670" y="1910351"/>
              <a:ext cx="661288" cy="79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>
            <a:off x="2158652" y="1472852"/>
            <a:ext cx="0" cy="1649105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 231"/>
          <p:cNvGrpSpPr/>
          <p:nvPr/>
        </p:nvGrpSpPr>
        <p:grpSpPr>
          <a:xfrm>
            <a:off x="502292" y="3251538"/>
            <a:ext cx="6584308" cy="507831"/>
            <a:chOff x="609600" y="3683169"/>
            <a:chExt cx="6553200" cy="507831"/>
          </a:xfrm>
        </p:grpSpPr>
        <p:sp>
          <p:nvSpPr>
            <p:cNvPr id="233" name="Title 1"/>
            <p:cNvSpPr txBox="1">
              <a:spLocks/>
            </p:cNvSpPr>
            <p:nvPr/>
          </p:nvSpPr>
          <p:spPr>
            <a:xfrm>
              <a:off x="609600" y="3683169"/>
              <a:ext cx="6553200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Hở mạch cửa 2 của M4C hình </a:t>
              </a:r>
              <a:r>
                <a:rPr lang="en-US" sz="20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 panose="05050102010706020507" pitchFamily="18" charset="2"/>
                </a:rPr>
                <a:t></a:t>
              </a: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,          :</a:t>
              </a:r>
            </a:p>
          </p:txBody>
        </p:sp>
        <p:graphicFrame>
          <p:nvGraphicFramePr>
            <p:cNvPr id="234" name="Object 2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3709833"/>
                </p:ext>
              </p:extLst>
            </p:nvPr>
          </p:nvGraphicFramePr>
          <p:xfrm>
            <a:off x="5105400" y="3703504"/>
            <a:ext cx="731395" cy="435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31640" imgH="253800" progId="Equation.DSMT4">
                    <p:embed/>
                  </p:oleObj>
                </mc:Choice>
                <mc:Fallback>
                  <p:oleObj name="Equation" r:id="rId3" imgW="431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05400" y="3703504"/>
                          <a:ext cx="731395" cy="435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998776"/>
              </p:ext>
            </p:extLst>
          </p:nvPr>
        </p:nvGraphicFramePr>
        <p:xfrm>
          <a:off x="610960" y="3695700"/>
          <a:ext cx="28495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545760" progId="Equation.DSMT4">
                  <p:embed/>
                </p:oleObj>
              </mc:Choice>
              <mc:Fallback>
                <p:oleObj name="Equation" r:id="rId5" imgW="151128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60" y="3695700"/>
                        <a:ext cx="2849563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975676"/>
              </p:ext>
            </p:extLst>
          </p:nvPr>
        </p:nvGraphicFramePr>
        <p:xfrm>
          <a:off x="3946940" y="3622844"/>
          <a:ext cx="24415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545760" progId="Equation.DSMT4">
                  <p:embed/>
                </p:oleObj>
              </mc:Choice>
              <mc:Fallback>
                <p:oleObj name="Equation" r:id="rId7" imgW="12189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940" y="3622844"/>
                        <a:ext cx="2441575" cy="1092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2" name="Group 271"/>
          <p:cNvGrpSpPr/>
          <p:nvPr/>
        </p:nvGrpSpPr>
        <p:grpSpPr>
          <a:xfrm>
            <a:off x="6137646" y="1371600"/>
            <a:ext cx="2244354" cy="1638822"/>
            <a:chOff x="5689948" y="1371600"/>
            <a:chExt cx="2244354" cy="1638822"/>
          </a:xfrm>
        </p:grpSpPr>
        <p:grpSp>
          <p:nvGrpSpPr>
            <p:cNvPr id="261" name="Group 260"/>
            <p:cNvGrpSpPr/>
            <p:nvPr/>
          </p:nvGrpSpPr>
          <p:grpSpPr>
            <a:xfrm>
              <a:off x="5813701" y="1467270"/>
              <a:ext cx="1882499" cy="1459256"/>
              <a:chOff x="5432701" y="1467270"/>
              <a:chExt cx="1882499" cy="1459256"/>
            </a:xfrm>
          </p:grpSpPr>
          <p:sp>
            <p:nvSpPr>
              <p:cNvPr id="238" name="Freeform 237"/>
              <p:cNvSpPr>
                <a:spLocks/>
              </p:cNvSpPr>
              <p:nvPr/>
            </p:nvSpPr>
            <p:spPr bwMode="auto">
              <a:xfrm>
                <a:off x="5881927" y="1813027"/>
                <a:ext cx="518873" cy="167172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grpSp>
            <p:nvGrpSpPr>
              <p:cNvPr id="239" name="Group 238"/>
              <p:cNvGrpSpPr/>
              <p:nvPr/>
            </p:nvGrpSpPr>
            <p:grpSpPr>
              <a:xfrm>
                <a:off x="5949236" y="1897304"/>
                <a:ext cx="711273" cy="1016175"/>
                <a:chOff x="1193727" y="2671208"/>
                <a:chExt cx="711273" cy="1016175"/>
              </a:xfrm>
            </p:grpSpPr>
            <p:grpSp>
              <p:nvGrpSpPr>
                <p:cNvPr id="255" name="Group 254"/>
                <p:cNvGrpSpPr>
                  <a:grpSpLocks/>
                </p:cNvGrpSpPr>
                <p:nvPr/>
              </p:nvGrpSpPr>
              <p:grpSpPr bwMode="auto">
                <a:xfrm rot="5400000">
                  <a:off x="1766612" y="3095379"/>
                  <a:ext cx="71507" cy="205268"/>
                  <a:chOff x="7702" y="4896"/>
                  <a:chExt cx="74" cy="216"/>
                </a:xfrm>
              </p:grpSpPr>
              <p:cxnSp>
                <p:nvCxnSpPr>
                  <p:cNvPr id="259" name="Line 1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76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60" name="Line 1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02" y="4896"/>
                    <a:ext cx="0" cy="216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256" name="Line 16"/>
                <p:cNvCxnSpPr>
                  <a:cxnSpLocks noChangeShapeType="1"/>
                </p:cNvCxnSpPr>
                <p:nvPr/>
              </p:nvCxnSpPr>
              <p:spPr bwMode="auto">
                <a:xfrm>
                  <a:off x="1806168" y="2671208"/>
                  <a:ext cx="0" cy="49105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" name="Line 17"/>
                <p:cNvCxnSpPr>
                  <a:cxnSpLocks noChangeShapeType="1"/>
                </p:cNvCxnSpPr>
                <p:nvPr/>
              </p:nvCxnSpPr>
              <p:spPr bwMode="auto">
                <a:xfrm>
                  <a:off x="1805217" y="3233766"/>
                  <a:ext cx="0" cy="4536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258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193727" y="3054520"/>
                  <a:ext cx="512660" cy="50016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1/sC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40" name="Straight Connector 239"/>
              <p:cNvCxnSpPr/>
              <p:nvPr/>
            </p:nvCxnSpPr>
            <p:spPr>
              <a:xfrm>
                <a:off x="5432701" y="2926526"/>
                <a:ext cx="1882499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/>
              <p:cNvCxnSpPr>
                <a:stCxn id="238" idx="1"/>
              </p:cNvCxnSpPr>
              <p:nvPr/>
            </p:nvCxnSpPr>
            <p:spPr>
              <a:xfrm flipH="1">
                <a:off x="5432701" y="1896613"/>
                <a:ext cx="535705" cy="0"/>
              </a:xfrm>
              <a:prstGeom prst="line">
                <a:avLst/>
              </a:prstGeom>
              <a:ln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Text Box 7"/>
              <p:cNvSpPr txBox="1">
                <a:spLocks noChangeArrowheads="1"/>
              </p:cNvSpPr>
              <p:nvPr/>
            </p:nvSpPr>
            <p:spPr bwMode="auto">
              <a:xfrm>
                <a:off x="6084914" y="1467270"/>
                <a:ext cx="273691" cy="250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7" name="Straight Connector 246"/>
              <p:cNvCxnSpPr>
                <a:stCxn id="238" idx="10"/>
              </p:cNvCxnSpPr>
              <p:nvPr/>
            </p:nvCxnSpPr>
            <p:spPr>
              <a:xfrm>
                <a:off x="6400800" y="1896613"/>
                <a:ext cx="914400" cy="0"/>
              </a:xfrm>
              <a:prstGeom prst="line">
                <a:avLst/>
              </a:prstGeom>
              <a:ln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65" name="Object 2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410451"/>
                </p:ext>
              </p:extLst>
            </p:nvPr>
          </p:nvGraphicFramePr>
          <p:xfrm>
            <a:off x="7099300" y="1384300"/>
            <a:ext cx="461963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66400" imgH="253800" progId="Equation.DSMT4">
                    <p:embed/>
                  </p:oleObj>
                </mc:Choice>
                <mc:Fallback>
                  <p:oleObj name="Equation" r:id="rId9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099300" y="1384300"/>
                          <a:ext cx="461963" cy="441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" name="TextBox 265"/>
            <p:cNvSpPr txBox="1"/>
            <p:nvPr/>
          </p:nvSpPr>
          <p:spPr>
            <a:xfrm>
              <a:off x="7598282" y="1791222"/>
              <a:ext cx="33602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5689948" y="1810093"/>
              <a:ext cx="33602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graphicFrame>
          <p:nvGraphicFramePr>
            <p:cNvPr id="268" name="Object 2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0722103"/>
                </p:ext>
              </p:extLst>
            </p:nvPr>
          </p:nvGraphicFramePr>
          <p:xfrm>
            <a:off x="5888171" y="1371600"/>
            <a:ext cx="266016" cy="44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253800" progId="Equation.DSMT4">
                    <p:embed/>
                  </p:oleObj>
                </mc:Choice>
                <mc:Fallback>
                  <p:oleObj name="Equation" r:id="rId11" imgW="152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88171" y="1371600"/>
                          <a:ext cx="266016" cy="4410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9" name="Straight Arrow Connector 268"/>
            <p:cNvCxnSpPr/>
            <p:nvPr/>
          </p:nvCxnSpPr>
          <p:spPr>
            <a:xfrm>
              <a:off x="5767413" y="1817518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85291"/>
                </p:ext>
              </p:extLst>
            </p:nvPr>
          </p:nvGraphicFramePr>
          <p:xfrm>
            <a:off x="7543800" y="2225822"/>
            <a:ext cx="381000" cy="447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53800" progId="Equation.DSMT4">
                    <p:embed/>
                  </p:oleObj>
                </mc:Choice>
                <mc:Fallback>
                  <p:oleObj name="Equation" r:id="rId13" imgW="2156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3800" y="2225822"/>
                          <a:ext cx="381000" cy="4473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6417530"/>
                </p:ext>
              </p:extLst>
            </p:nvPr>
          </p:nvGraphicFramePr>
          <p:xfrm>
            <a:off x="5711825" y="2201863"/>
            <a:ext cx="358775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253800" progId="Equation.DSMT4">
                    <p:embed/>
                  </p:oleObj>
                </mc:Choice>
                <mc:Fallback>
                  <p:oleObj name="Equation" r:id="rId15" imgW="2030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1825" y="2201863"/>
                          <a:ext cx="358775" cy="4476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78" name="Straight Arrow Connector 277"/>
            <p:cNvCxnSpPr/>
            <p:nvPr/>
          </p:nvCxnSpPr>
          <p:spPr>
            <a:xfrm>
              <a:off x="7039769" y="1827756"/>
              <a:ext cx="5040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3" name="Group 272"/>
          <p:cNvGrpSpPr/>
          <p:nvPr/>
        </p:nvGrpSpPr>
        <p:grpSpPr>
          <a:xfrm>
            <a:off x="457200" y="4775200"/>
            <a:ext cx="4728413" cy="507831"/>
            <a:chOff x="607249" y="3421732"/>
            <a:chExt cx="4823641" cy="507831"/>
          </a:xfrm>
        </p:grpSpPr>
        <p:sp>
          <p:nvSpPr>
            <p:cNvPr id="274" name="Title 1"/>
            <p:cNvSpPr txBox="1">
              <a:spLocks/>
            </p:cNvSpPr>
            <p:nvPr/>
          </p:nvSpPr>
          <p:spPr>
            <a:xfrm>
              <a:off x="607249" y="3421732"/>
              <a:ext cx="4823641" cy="507831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Ngắn mạch cửa 2,          :</a:t>
              </a:r>
            </a:p>
          </p:txBody>
        </p:sp>
        <p:graphicFrame>
          <p:nvGraphicFramePr>
            <p:cNvPr id="275" name="Object 274"/>
            <p:cNvGraphicFramePr>
              <a:graphicFrameLocks noChangeAspect="1"/>
            </p:cNvGraphicFramePr>
            <p:nvPr/>
          </p:nvGraphicFramePr>
          <p:xfrm>
            <a:off x="3321224" y="3448264"/>
            <a:ext cx="834028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82400" imgH="253800" progId="Equation.DSMT4">
                    <p:embed/>
                  </p:oleObj>
                </mc:Choice>
                <mc:Fallback>
                  <p:oleObj name="Equation" r:id="rId17" imgW="482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21224" y="3448264"/>
                          <a:ext cx="834028" cy="442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587003"/>
              </p:ext>
            </p:extLst>
          </p:nvPr>
        </p:nvGraphicFramePr>
        <p:xfrm>
          <a:off x="3979636" y="5221288"/>
          <a:ext cx="2463800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18960" imgH="545760" progId="Equation.DSMT4">
                  <p:embed/>
                </p:oleObj>
              </mc:Choice>
              <mc:Fallback>
                <p:oleObj name="Equation" r:id="rId19" imgW="12189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636" y="5221288"/>
                        <a:ext cx="2463800" cy="1103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003094"/>
              </p:ext>
            </p:extLst>
          </p:nvPr>
        </p:nvGraphicFramePr>
        <p:xfrm>
          <a:off x="533400" y="5183578"/>
          <a:ext cx="2397818" cy="112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68200" imgH="545760" progId="Equation.DSMT4">
                  <p:embed/>
                </p:oleObj>
              </mc:Choice>
              <mc:Fallback>
                <p:oleObj name="Equation" r:id="rId21" imgW="1168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3578"/>
                        <a:ext cx="2397818" cy="11211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408886"/>
              </p:ext>
            </p:extLst>
          </p:nvPr>
        </p:nvGraphicFramePr>
        <p:xfrm>
          <a:off x="6530199" y="4403725"/>
          <a:ext cx="23241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84200" imgH="495000" progId="Equation.DSMT4">
                  <p:embed/>
                </p:oleObj>
              </mc:Choice>
              <mc:Fallback>
                <p:oleObj name="Equation" r:id="rId23" imgW="13842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199" y="4403725"/>
                        <a:ext cx="2324100" cy="8540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4703561" y="1866378"/>
            <a:ext cx="897864" cy="1089764"/>
            <a:chOff x="4703561" y="1866378"/>
            <a:chExt cx="897864" cy="1089764"/>
          </a:xfrm>
        </p:grpSpPr>
        <p:grpSp>
          <p:nvGrpSpPr>
            <p:cNvPr id="5" name="Group 4"/>
            <p:cNvGrpSpPr/>
            <p:nvPr/>
          </p:nvGrpSpPr>
          <p:grpSpPr>
            <a:xfrm>
              <a:off x="4703561" y="1866378"/>
              <a:ext cx="164405" cy="1089764"/>
              <a:chOff x="4703561" y="1866378"/>
              <a:chExt cx="164405" cy="1089764"/>
            </a:xfrm>
          </p:grpSpPr>
          <p:sp>
            <p:nvSpPr>
              <p:cNvPr id="62" name="Freeform 61"/>
              <p:cNvSpPr>
                <a:spLocks/>
              </p:cNvSpPr>
              <p:nvPr/>
            </p:nvSpPr>
            <p:spPr bwMode="auto">
              <a:xfrm rot="5400000">
                <a:off x="4521961" y="2315009"/>
                <a:ext cx="527606" cy="164405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" name="Freeform 2"/>
              <p:cNvSpPr/>
              <p:nvPr/>
            </p:nvSpPr>
            <p:spPr>
              <a:xfrm>
                <a:off x="4784942" y="1866378"/>
                <a:ext cx="0" cy="300625"/>
              </a:xfrm>
              <a:custGeom>
                <a:avLst/>
                <a:gdLst>
                  <a:gd name="connsiteX0" fmla="*/ 0 w 0"/>
                  <a:gd name="connsiteY0" fmla="*/ 0 h 300625"/>
                  <a:gd name="connsiteX1" fmla="*/ 0 w 0"/>
                  <a:gd name="connsiteY1" fmla="*/ 300625 h 300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0625">
                    <a:moveTo>
                      <a:pt x="0" y="0"/>
                    </a:moveTo>
                    <a:lnTo>
                      <a:pt x="0" y="300625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reeform 3"/>
              <p:cNvSpPr/>
              <p:nvPr/>
            </p:nvSpPr>
            <p:spPr>
              <a:xfrm>
                <a:off x="4784942" y="2655518"/>
                <a:ext cx="0" cy="300624"/>
              </a:xfrm>
              <a:custGeom>
                <a:avLst/>
                <a:gdLst>
                  <a:gd name="connsiteX0" fmla="*/ 0 w 0"/>
                  <a:gd name="connsiteY0" fmla="*/ 0 h 300624"/>
                  <a:gd name="connsiteX1" fmla="*/ 0 w 0"/>
                  <a:gd name="connsiteY1" fmla="*/ 300624 h 300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300624">
                    <a:moveTo>
                      <a:pt x="0" y="0"/>
                    </a:moveTo>
                    <a:lnTo>
                      <a:pt x="0" y="300624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" name="Text Box 7"/>
            <p:cNvSpPr txBox="1">
              <a:spLocks noChangeArrowheads="1"/>
            </p:cNvSpPr>
            <p:nvPr/>
          </p:nvSpPr>
          <p:spPr bwMode="auto">
            <a:xfrm>
              <a:off x="4953000" y="2232933"/>
              <a:ext cx="648425" cy="428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Zt=R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396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02626"/>
              </p:ext>
            </p:extLst>
          </p:nvPr>
        </p:nvGraphicFramePr>
        <p:xfrm>
          <a:off x="228600" y="381000"/>
          <a:ext cx="46482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400" imgH="495000" progId="Equation.DSMT4">
                  <p:embed/>
                </p:oleObj>
              </mc:Choice>
              <mc:Fallback>
                <p:oleObj name="Equation" r:id="rId3" imgW="27684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"/>
                        <a:ext cx="46482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940541"/>
              </p:ext>
            </p:extLst>
          </p:nvPr>
        </p:nvGraphicFramePr>
        <p:xfrm>
          <a:off x="4876800" y="343422"/>
          <a:ext cx="41148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90560" imgH="545760" progId="Equation.DSMT4">
                  <p:embed/>
                </p:oleObj>
              </mc:Choice>
              <mc:Fallback>
                <p:oleObj name="Equation" r:id="rId5" imgW="25905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43422"/>
                        <a:ext cx="41148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632300"/>
              </p:ext>
            </p:extLst>
          </p:nvPr>
        </p:nvGraphicFramePr>
        <p:xfrm>
          <a:off x="228600" y="1371600"/>
          <a:ext cx="5710237" cy="1068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90840" imgH="634680" progId="Equation.DSMT4">
                  <p:embed/>
                </p:oleObj>
              </mc:Choice>
              <mc:Fallback>
                <p:oleObj name="Equation" r:id="rId7" imgW="3390840" imgH="6346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71600"/>
                        <a:ext cx="5710237" cy="10683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752863"/>
              </p:ext>
            </p:extLst>
          </p:nvPr>
        </p:nvGraphicFramePr>
        <p:xfrm>
          <a:off x="268287" y="2362200"/>
          <a:ext cx="4222750" cy="844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23800" imgH="469800" progId="Equation.DSMT4">
                  <p:embed/>
                </p:oleObj>
              </mc:Choice>
              <mc:Fallback>
                <p:oleObj name="Equation" r:id="rId9" imgW="232380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" y="2362200"/>
                        <a:ext cx="4222750" cy="844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48888"/>
              </p:ext>
            </p:extLst>
          </p:nvPr>
        </p:nvGraphicFramePr>
        <p:xfrm>
          <a:off x="762000" y="4193067"/>
          <a:ext cx="4343400" cy="1674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68400" imgH="1079280" progId="Equation.DSMT4">
                  <p:embed/>
                </p:oleObj>
              </mc:Choice>
              <mc:Fallback>
                <p:oleObj name="Equation" r:id="rId11" imgW="2768400" imgH="1079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93067"/>
                        <a:ext cx="4343400" cy="1674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304800" y="4734276"/>
            <a:ext cx="381000" cy="5334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260" y="2431720"/>
            <a:ext cx="3475583" cy="1987879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509309"/>
            <a:ext cx="3276600" cy="1993024"/>
          </a:xfrm>
          <a:prstGeom prst="rect">
            <a:avLst/>
          </a:prstGeom>
        </p:spPr>
      </p:pic>
      <p:cxnSp>
        <p:nvCxnSpPr>
          <p:cNvPr id="82" name="Straight Arrow Connector 81"/>
          <p:cNvCxnSpPr/>
          <p:nvPr/>
        </p:nvCxnSpPr>
        <p:spPr>
          <a:xfrm flipV="1">
            <a:off x="4419600" y="3886200"/>
            <a:ext cx="762000" cy="306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4419600" y="5638800"/>
            <a:ext cx="881223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184464"/>
              </p:ext>
            </p:extLst>
          </p:nvPr>
        </p:nvGraphicFramePr>
        <p:xfrm>
          <a:off x="7142410" y="4541542"/>
          <a:ext cx="401390" cy="606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4560" imgH="457200" progId="Equation.DSMT4">
                  <p:embed/>
                </p:oleObj>
              </mc:Choice>
              <mc:Fallback>
                <p:oleObj name="Equation" r:id="rId15" imgW="304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410" y="4541542"/>
                        <a:ext cx="401390" cy="606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53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513570"/>
              </p:ext>
            </p:extLst>
          </p:nvPr>
        </p:nvGraphicFramePr>
        <p:xfrm>
          <a:off x="638744" y="1633334"/>
          <a:ext cx="1037656" cy="95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5000" imgH="457200" progId="Equation.DSMT4">
                  <p:embed/>
                </p:oleObj>
              </mc:Choice>
              <mc:Fallback>
                <p:oleObj name="Equation" r:id="rId3" imgW="495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744" y="1633334"/>
                        <a:ext cx="1037656" cy="9574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628900"/>
              </p:ext>
            </p:extLst>
          </p:nvPr>
        </p:nvGraphicFramePr>
        <p:xfrm>
          <a:off x="6805612" y="1657350"/>
          <a:ext cx="15001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431640" progId="Equation.DSMT4">
                  <p:embed/>
                </p:oleObj>
              </mc:Choice>
              <mc:Fallback>
                <p:oleObj name="Equation" r:id="rId5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2" y="1657350"/>
                        <a:ext cx="1500188" cy="8985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ontent Placeholder 2"/>
          <p:cNvSpPr txBox="1">
            <a:spLocks/>
          </p:cNvSpPr>
          <p:nvPr/>
        </p:nvSpPr>
        <p:spPr>
          <a:xfrm>
            <a:off x="228600" y="2800350"/>
            <a:ext cx="8534400" cy="85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algn="just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Khi 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=R</a:t>
            </a:r>
            <a:r>
              <a:rPr lang="en-US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sz="2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=0: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nguồn và tải được phối hợp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không phản xạ, khi đó công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truyền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đạt cực đại.</a:t>
            </a:r>
          </a:p>
        </p:txBody>
      </p:sp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369710"/>
              </p:ext>
            </p:extLst>
          </p:nvPr>
        </p:nvGraphicFramePr>
        <p:xfrm>
          <a:off x="685800" y="3919908"/>
          <a:ext cx="1689101" cy="88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457200" progId="Equation.DSMT4">
                  <p:embed/>
                </p:oleObj>
              </mc:Choice>
              <mc:Fallback>
                <p:oleObj name="Equation" r:id="rId7" imgW="87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19908"/>
                        <a:ext cx="1689101" cy="8806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655408"/>
              </p:ext>
            </p:extLst>
          </p:nvPr>
        </p:nvGraphicFramePr>
        <p:xfrm>
          <a:off x="6729412" y="3902075"/>
          <a:ext cx="15001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600" imgH="431640" progId="Equation.DSMT4">
                  <p:embed/>
                </p:oleObj>
              </mc:Choice>
              <mc:Fallback>
                <p:oleObj name="Equation" r:id="rId9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2" y="3902075"/>
                        <a:ext cx="1500188" cy="8985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Content Placeholder 2"/>
          <p:cNvSpPr txBox="1">
            <a:spLocks/>
          </p:cNvSpPr>
          <p:nvPr/>
        </p:nvSpPr>
        <p:spPr>
          <a:xfrm>
            <a:off x="228600" y="4991100"/>
            <a:ext cx="8534400" cy="1181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xạ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Z</a:t>
            </a:r>
            <a:r>
              <a:rPr lang="en-US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thỏa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mãn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Z</a:t>
            </a:r>
            <a:r>
              <a:rPr lang="en-US" sz="2400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i="1" baseline="30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49" name="Title 1"/>
          <p:cNvSpPr txBox="1">
            <a:spLocks/>
          </p:cNvSpPr>
          <p:nvPr/>
        </p:nvSpPr>
        <p:spPr>
          <a:xfrm>
            <a:off x="4665777" y="1721024"/>
            <a:ext cx="2039823" cy="815608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20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Hệ số phản xạ sóng: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6.6 CÁC THÔNG SỐ SÓNG CỦA  M4C</a:t>
            </a:r>
          </a:p>
        </p:txBody>
      </p:sp>
      <p:sp>
        <p:nvSpPr>
          <p:cNvPr id="51" name="Title 1"/>
          <p:cNvSpPr txBox="1">
            <a:spLocks/>
          </p:cNvSpPr>
          <p:nvPr/>
        </p:nvSpPr>
        <p:spPr>
          <a:xfrm>
            <a:off x="381000" y="838200"/>
            <a:ext cx="7315200" cy="538609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Phối hợp trở kháng (phối hợp sóng):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146304" y="787052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2819400" y="3581400"/>
            <a:ext cx="2739950" cy="1228710"/>
            <a:chOff x="-2778446" y="630866"/>
            <a:chExt cx="2739950" cy="1228710"/>
          </a:xfrm>
        </p:grpSpPr>
        <p:sp>
          <p:nvSpPr>
            <p:cNvPr id="62" name="Oval 61"/>
            <p:cNvSpPr/>
            <p:nvPr/>
          </p:nvSpPr>
          <p:spPr>
            <a:xfrm>
              <a:off x="-1368708" y="1786268"/>
              <a:ext cx="73308" cy="73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-1368708" y="959824"/>
              <a:ext cx="73308" cy="73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 Box 7"/>
            <p:cNvSpPr txBox="1">
              <a:spLocks noChangeArrowheads="1"/>
            </p:cNvSpPr>
            <p:nvPr/>
          </p:nvSpPr>
          <p:spPr bwMode="auto">
            <a:xfrm>
              <a:off x="-389451" y="1323313"/>
              <a:ext cx="350955" cy="373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 Box 7"/>
            <p:cNvSpPr txBox="1">
              <a:spLocks noChangeArrowheads="1"/>
            </p:cNvSpPr>
            <p:nvPr/>
          </p:nvSpPr>
          <p:spPr bwMode="auto">
            <a:xfrm>
              <a:off x="-2027355" y="630866"/>
              <a:ext cx="350955" cy="373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-2683945" y="1237422"/>
              <a:ext cx="311074" cy="31107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67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816421"/>
                </p:ext>
              </p:extLst>
            </p:nvPr>
          </p:nvGraphicFramePr>
          <p:xfrm>
            <a:off x="-2358026" y="1201340"/>
            <a:ext cx="250748" cy="3089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0" imgH="203040" progId="Equation.DSMT4">
                    <p:embed/>
                  </p:oleObj>
                </mc:Choice>
                <mc:Fallback>
                  <p:oleObj name="Equation" r:id="rId11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-2358026" y="1201340"/>
                          <a:ext cx="250748" cy="3089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TextBox 67"/>
            <p:cNvSpPr txBox="1"/>
            <p:nvPr/>
          </p:nvSpPr>
          <p:spPr>
            <a:xfrm>
              <a:off x="-2778446" y="885580"/>
              <a:ext cx="293231" cy="8882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-2528408" y="995281"/>
              <a:ext cx="1991264" cy="8335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-2104998" y="946611"/>
              <a:ext cx="366539" cy="1377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-609600" y="1240466"/>
              <a:ext cx="146616" cy="3665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ight Arrow 3"/>
          <p:cNvSpPr/>
          <p:nvPr/>
        </p:nvSpPr>
        <p:spPr>
          <a:xfrm>
            <a:off x="5915781" y="4194833"/>
            <a:ext cx="228600" cy="3665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913340" y="1316201"/>
            <a:ext cx="2658660" cy="1274599"/>
            <a:chOff x="1883295" y="1240466"/>
            <a:chExt cx="2658660" cy="1274599"/>
          </a:xfrm>
        </p:grpSpPr>
        <p:sp>
          <p:nvSpPr>
            <p:cNvPr id="16" name="Oval 15"/>
            <p:cNvSpPr/>
            <p:nvPr/>
          </p:nvSpPr>
          <p:spPr>
            <a:xfrm>
              <a:off x="3335565" y="2441757"/>
              <a:ext cx="73308" cy="73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335565" y="1625481"/>
              <a:ext cx="73308" cy="73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4191000" y="1912430"/>
              <a:ext cx="350955" cy="373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2676918" y="1240466"/>
              <a:ext cx="350955" cy="373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 baseline="-25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endParaRPr lang="en-US" sz="20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977796" y="1921677"/>
              <a:ext cx="311074" cy="31107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2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0171426"/>
                </p:ext>
              </p:extLst>
            </p:nvPr>
          </p:nvGraphicFramePr>
          <p:xfrm>
            <a:off x="2303715" y="1885595"/>
            <a:ext cx="250748" cy="3089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203040" progId="Equation.DSMT4">
                    <p:embed/>
                  </p:oleObj>
                </mc:Choice>
                <mc:Fallback>
                  <p:oleObj name="Equation" r:id="rId13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03715" y="1885595"/>
                          <a:ext cx="250748" cy="3089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Box 23"/>
            <p:cNvSpPr txBox="1"/>
            <p:nvPr/>
          </p:nvSpPr>
          <p:spPr>
            <a:xfrm>
              <a:off x="1883295" y="1569835"/>
              <a:ext cx="293231" cy="8882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+-</a:t>
              </a:r>
            </a:p>
          </p:txBody>
        </p:sp>
        <p:sp>
          <p:nvSpPr>
            <p:cNvPr id="82" name="Freeform 81"/>
            <p:cNvSpPr>
              <a:spLocks/>
            </p:cNvSpPr>
            <p:nvPr/>
          </p:nvSpPr>
          <p:spPr bwMode="auto">
            <a:xfrm>
              <a:off x="2517875" y="1571279"/>
              <a:ext cx="518873" cy="167172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auto">
            <a:xfrm rot="5400000">
              <a:off x="3791868" y="1984973"/>
              <a:ext cx="518873" cy="167172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5" name="Freeform 4"/>
            <p:cNvSpPr/>
            <p:nvPr/>
          </p:nvSpPr>
          <p:spPr>
            <a:xfrm>
              <a:off x="3040912" y="1648048"/>
              <a:ext cx="999460" cy="274949"/>
            </a:xfrm>
            <a:custGeom>
              <a:avLst/>
              <a:gdLst>
                <a:gd name="connsiteX0" fmla="*/ 999460 w 999460"/>
                <a:gd name="connsiteY0" fmla="*/ 170121 h 170121"/>
                <a:gd name="connsiteX1" fmla="*/ 999460 w 999460"/>
                <a:gd name="connsiteY1" fmla="*/ 0 h 170121"/>
                <a:gd name="connsiteX2" fmla="*/ 0 w 999460"/>
                <a:gd name="connsiteY2" fmla="*/ 0 h 17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9460" h="170121">
                  <a:moveTo>
                    <a:pt x="999460" y="170121"/>
                  </a:moveTo>
                  <a:lnTo>
                    <a:pt x="999460" y="0"/>
                  </a:ln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2137144" y="1658680"/>
              <a:ext cx="1913861" cy="821159"/>
            </a:xfrm>
            <a:custGeom>
              <a:avLst/>
              <a:gdLst>
                <a:gd name="connsiteX0" fmla="*/ 425303 w 1913861"/>
                <a:gd name="connsiteY0" fmla="*/ 0 h 925033"/>
                <a:gd name="connsiteX1" fmla="*/ 0 w 1913861"/>
                <a:gd name="connsiteY1" fmla="*/ 0 h 925033"/>
                <a:gd name="connsiteX2" fmla="*/ 0 w 1913861"/>
                <a:gd name="connsiteY2" fmla="*/ 925033 h 925033"/>
                <a:gd name="connsiteX3" fmla="*/ 1913861 w 1913861"/>
                <a:gd name="connsiteY3" fmla="*/ 925033 h 925033"/>
                <a:gd name="connsiteX4" fmla="*/ 1913861 w 1913861"/>
                <a:gd name="connsiteY4" fmla="*/ 691116 h 92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3861" h="925033">
                  <a:moveTo>
                    <a:pt x="425303" y="0"/>
                  </a:moveTo>
                  <a:lnTo>
                    <a:pt x="0" y="0"/>
                  </a:lnTo>
                  <a:lnTo>
                    <a:pt x="0" y="925033"/>
                  </a:lnTo>
                  <a:lnTo>
                    <a:pt x="1913861" y="925033"/>
                  </a:lnTo>
                  <a:lnTo>
                    <a:pt x="1913861" y="69111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1481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3429000" cy="639762"/>
          </a:xfrm>
        </p:spPr>
        <p:txBody>
          <a:bodyPr>
            <a:normAutofit/>
          </a:bodyPr>
          <a:lstStyle/>
          <a:p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Trở kháng sóng: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1339" y="821899"/>
            <a:ext cx="8234085" cy="508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="1" i="1" baseline="-2500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- Trở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sóng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cấp;  </a:t>
            </a:r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="1" i="1" baseline="-2500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- Trở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sóng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cấp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505200" y="1330868"/>
            <a:ext cx="5410200" cy="2268867"/>
            <a:chOff x="3132455" y="1645920"/>
            <a:chExt cx="3200400" cy="1293124"/>
          </a:xfrm>
        </p:grpSpPr>
        <p:grpSp>
          <p:nvGrpSpPr>
            <p:cNvPr id="47" name="Group 46"/>
            <p:cNvGrpSpPr/>
            <p:nvPr/>
          </p:nvGrpSpPr>
          <p:grpSpPr>
            <a:xfrm>
              <a:off x="3132455" y="1645920"/>
              <a:ext cx="3200400" cy="1293124"/>
              <a:chOff x="3132455" y="1645920"/>
              <a:chExt cx="3200400" cy="1293124"/>
            </a:xfrm>
          </p:grpSpPr>
          <p:sp>
            <p:nvSpPr>
              <p:cNvPr id="53" name="Text Box 4"/>
              <p:cNvSpPr txBox="1">
                <a:spLocks noChangeArrowheads="1"/>
              </p:cNvSpPr>
              <p:nvPr/>
            </p:nvSpPr>
            <p:spPr bwMode="auto">
              <a:xfrm>
                <a:off x="5897245" y="2148205"/>
                <a:ext cx="435610" cy="2597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2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=Z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54" name="Text Box 5"/>
              <p:cNvSpPr txBox="1">
                <a:spLocks noChangeArrowheads="1"/>
              </p:cNvSpPr>
              <p:nvPr/>
            </p:nvSpPr>
            <p:spPr bwMode="auto">
              <a:xfrm>
                <a:off x="3305175" y="1691005"/>
                <a:ext cx="570230" cy="168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1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=Z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5" name="Line 8"/>
              <p:cNvCxnSpPr/>
              <p:nvPr/>
            </p:nvCxnSpPr>
            <p:spPr bwMode="auto">
              <a:xfrm>
                <a:off x="3843020" y="1909445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Line 9"/>
              <p:cNvCxnSpPr/>
              <p:nvPr/>
            </p:nvCxnSpPr>
            <p:spPr bwMode="auto">
              <a:xfrm>
                <a:off x="3885565" y="1966595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Line 10"/>
              <p:cNvCxnSpPr/>
              <p:nvPr/>
            </p:nvCxnSpPr>
            <p:spPr bwMode="auto">
              <a:xfrm>
                <a:off x="3885565" y="2509520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Line 11"/>
              <p:cNvCxnSpPr/>
              <p:nvPr/>
            </p:nvCxnSpPr>
            <p:spPr bwMode="auto">
              <a:xfrm flipH="1">
                <a:off x="5074285" y="1909445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59" name="Group 58"/>
              <p:cNvGrpSpPr>
                <a:grpSpLocks/>
              </p:cNvGrpSpPr>
              <p:nvPr/>
            </p:nvGrpSpPr>
            <p:grpSpPr bwMode="auto">
              <a:xfrm>
                <a:off x="3837305" y="2002790"/>
                <a:ext cx="91440" cy="91440"/>
                <a:chOff x="4194" y="5364"/>
                <a:chExt cx="144" cy="144"/>
              </a:xfrm>
            </p:grpSpPr>
            <p:cxnSp>
              <p:nvCxnSpPr>
                <p:cNvPr id="86" name="Line 17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7" name="Line 18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60" name="Line 19"/>
              <p:cNvCxnSpPr/>
              <p:nvPr/>
            </p:nvCxnSpPr>
            <p:spPr bwMode="auto">
              <a:xfrm>
                <a:off x="3826510" y="2422525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61" name="Group 60"/>
              <p:cNvGrpSpPr>
                <a:grpSpLocks/>
              </p:cNvGrpSpPr>
              <p:nvPr/>
            </p:nvGrpSpPr>
            <p:grpSpPr bwMode="auto">
              <a:xfrm>
                <a:off x="5316220" y="2013585"/>
                <a:ext cx="91440" cy="91440"/>
                <a:chOff x="4194" y="5364"/>
                <a:chExt cx="144" cy="144"/>
              </a:xfrm>
            </p:grpSpPr>
            <p:cxnSp>
              <p:nvCxnSpPr>
                <p:cNvPr id="84" name="Line 21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5" name="Line 22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62" name="Line 23"/>
              <p:cNvCxnSpPr/>
              <p:nvPr/>
            </p:nvCxnSpPr>
            <p:spPr bwMode="auto">
              <a:xfrm>
                <a:off x="5316220" y="2433320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63" name="Rectangle 62"/>
              <p:cNvSpPr>
                <a:spLocks noChangeArrowheads="1"/>
              </p:cNvSpPr>
              <p:nvPr/>
            </p:nvSpPr>
            <p:spPr bwMode="auto">
              <a:xfrm>
                <a:off x="4267200" y="1847215"/>
                <a:ext cx="731520" cy="7315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marL="0" marR="0"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/>
                    <a:ea typeface="Times New Roman"/>
                    <a:cs typeface="Times New Roman"/>
                  </a:rPr>
                  <a:t> </a:t>
                </a:r>
                <a:r>
                  <a:rPr lang="en-US" sz="2400">
                    <a:effectLst/>
                    <a:latin typeface="Times New Roman"/>
                    <a:ea typeface="Times New Roman"/>
                    <a:cs typeface="Times New Roman"/>
                  </a:rPr>
                  <a:t>Mạng</a:t>
                </a: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>
                    <a:effectLst/>
                    <a:latin typeface="Times New Roman"/>
                    <a:ea typeface="Times New Roman"/>
                    <a:cs typeface="Times New Roman"/>
                  </a:rPr>
                  <a:t>4 cực</a:t>
                </a:r>
                <a:endParaRPr lang="en-US" sz="2400">
                  <a:effectLst/>
                  <a:latin typeface="VNarial"/>
                  <a:ea typeface="Times New Roman"/>
                  <a:cs typeface="Times New Roman"/>
                </a:endParaRPr>
              </a:p>
            </p:txBody>
          </p:sp>
          <p:sp>
            <p:nvSpPr>
              <p:cNvPr id="64" name="Freeform 63"/>
              <p:cNvSpPr>
                <a:spLocks/>
              </p:cNvSpPr>
              <p:nvPr/>
            </p:nvSpPr>
            <p:spPr bwMode="auto">
              <a:xfrm>
                <a:off x="3245485" y="1965325"/>
                <a:ext cx="640080" cy="548640"/>
              </a:xfrm>
              <a:custGeom>
                <a:avLst/>
                <a:gdLst>
                  <a:gd name="T0" fmla="*/ 864 w 864"/>
                  <a:gd name="T1" fmla="*/ 0 h 864"/>
                  <a:gd name="T2" fmla="*/ 0 w 864"/>
                  <a:gd name="T3" fmla="*/ 0 h 864"/>
                  <a:gd name="T4" fmla="*/ 0 w 864"/>
                  <a:gd name="T5" fmla="*/ 864 h 864"/>
                  <a:gd name="T6" fmla="*/ 864 w 864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864">
                    <a:moveTo>
                      <a:pt x="864" y="0"/>
                    </a:moveTo>
                    <a:lnTo>
                      <a:pt x="0" y="0"/>
                    </a:lnTo>
                    <a:lnTo>
                      <a:pt x="0" y="864"/>
                    </a:lnTo>
                    <a:lnTo>
                      <a:pt x="864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5" name="Rectangle 64"/>
              <p:cNvSpPr>
                <a:spLocks noChangeArrowheads="1"/>
              </p:cNvSpPr>
              <p:nvPr/>
            </p:nvSpPr>
            <p:spPr bwMode="auto">
              <a:xfrm>
                <a:off x="3417570" y="1906270"/>
                <a:ext cx="274320" cy="1098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66" name="Group 65"/>
              <p:cNvGrpSpPr>
                <a:grpSpLocks/>
              </p:cNvGrpSpPr>
              <p:nvPr/>
            </p:nvGrpSpPr>
            <p:grpSpPr bwMode="auto">
              <a:xfrm>
                <a:off x="3132455" y="2115820"/>
                <a:ext cx="228600" cy="228600"/>
                <a:chOff x="1884" y="2304"/>
                <a:chExt cx="360" cy="360"/>
              </a:xfrm>
            </p:grpSpPr>
            <p:sp>
              <p:nvSpPr>
                <p:cNvPr id="80" name="Oval 79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81" name="Line 29"/>
                <p:cNvCxnSpPr/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" name="Line 30"/>
                <p:cNvCxnSpPr/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3" name="Line 31"/>
                <p:cNvCxnSpPr/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67" name="Freeform 66"/>
              <p:cNvSpPr>
                <a:spLocks/>
              </p:cNvSpPr>
              <p:nvPr/>
            </p:nvSpPr>
            <p:spPr bwMode="auto">
              <a:xfrm>
                <a:off x="5348605" y="1965325"/>
                <a:ext cx="457200" cy="548640"/>
              </a:xfrm>
              <a:custGeom>
                <a:avLst/>
                <a:gdLst>
                  <a:gd name="T0" fmla="*/ 0 w 720"/>
                  <a:gd name="T1" fmla="*/ 0 h 864"/>
                  <a:gd name="T2" fmla="*/ 720 w 720"/>
                  <a:gd name="T3" fmla="*/ 0 h 864"/>
                  <a:gd name="T4" fmla="*/ 720 w 720"/>
                  <a:gd name="T5" fmla="*/ 864 h 864"/>
                  <a:gd name="T6" fmla="*/ 0 w 720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864">
                    <a:moveTo>
                      <a:pt x="0" y="0"/>
                    </a:moveTo>
                    <a:lnTo>
                      <a:pt x="720" y="0"/>
                    </a:lnTo>
                    <a:lnTo>
                      <a:pt x="720" y="864"/>
                    </a:lnTo>
                    <a:lnTo>
                      <a:pt x="0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8" name="Rectangle 67"/>
              <p:cNvSpPr>
                <a:spLocks noChangeArrowheads="1"/>
              </p:cNvSpPr>
              <p:nvPr/>
            </p:nvSpPr>
            <p:spPr bwMode="auto">
              <a:xfrm>
                <a:off x="5749925" y="2094230"/>
                <a:ext cx="109855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69" name="Group 68"/>
              <p:cNvGrpSpPr/>
              <p:nvPr/>
            </p:nvGrpSpPr>
            <p:grpSpPr>
              <a:xfrm>
                <a:off x="3387090" y="1645920"/>
                <a:ext cx="2087245" cy="692785"/>
                <a:chOff x="0" y="0"/>
                <a:chExt cx="2087659" cy="692978"/>
              </a:xfrm>
            </p:grpSpPr>
            <p:sp>
              <p:nvSpPr>
                <p:cNvPr id="7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40688" y="15903"/>
                  <a:ext cx="139700" cy="215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75" name="Group 74"/>
                <p:cNvGrpSpPr/>
                <p:nvPr/>
              </p:nvGrpSpPr>
              <p:grpSpPr>
                <a:xfrm>
                  <a:off x="0" y="0"/>
                  <a:ext cx="2087659" cy="692978"/>
                  <a:chOff x="0" y="0"/>
                  <a:chExt cx="2087659" cy="692978"/>
                </a:xfrm>
              </p:grpSpPr>
              <p:sp>
                <p:nvSpPr>
                  <p:cNvPr id="76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4459" y="477078"/>
                    <a:ext cx="203200" cy="2159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77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4946" y="0"/>
                    <a:ext cx="165100" cy="2159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78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477078"/>
                    <a:ext cx="165100" cy="2159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79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370" y="539264"/>
                    <a:ext cx="163837" cy="145762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</p:grpSp>
          </p:grpSp>
          <p:sp>
            <p:nvSpPr>
              <p:cNvPr id="70" name="Freeform 69"/>
              <p:cNvSpPr>
                <a:spLocks/>
              </p:cNvSpPr>
              <p:nvPr/>
            </p:nvSpPr>
            <p:spPr bwMode="auto">
              <a:xfrm>
                <a:off x="4060884" y="2239645"/>
                <a:ext cx="190441" cy="505460"/>
              </a:xfrm>
              <a:custGeom>
                <a:avLst/>
                <a:gdLst>
                  <a:gd name="T0" fmla="*/ 0 w 288"/>
                  <a:gd name="T1" fmla="*/ 576 h 576"/>
                  <a:gd name="T2" fmla="*/ 0 w 288"/>
                  <a:gd name="T3" fmla="*/ 0 h 576"/>
                  <a:gd name="T4" fmla="*/ 288 w 28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576">
                    <a:moveTo>
                      <a:pt x="0" y="576"/>
                    </a:moveTo>
                    <a:lnTo>
                      <a:pt x="0" y="0"/>
                    </a:lnTo>
                    <a:lnTo>
                      <a:pt x="288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1" name="Freeform 70"/>
              <p:cNvSpPr>
                <a:spLocks/>
              </p:cNvSpPr>
              <p:nvPr/>
            </p:nvSpPr>
            <p:spPr bwMode="auto">
              <a:xfrm>
                <a:off x="5033986" y="2223770"/>
                <a:ext cx="162242" cy="516889"/>
              </a:xfrm>
              <a:custGeom>
                <a:avLst/>
                <a:gdLst>
                  <a:gd name="T0" fmla="*/ 288 w 288"/>
                  <a:gd name="T1" fmla="*/ 1008 h 1008"/>
                  <a:gd name="T2" fmla="*/ 288 w 288"/>
                  <a:gd name="T3" fmla="*/ 0 h 1008"/>
                  <a:gd name="T4" fmla="*/ 0 w 288"/>
                  <a:gd name="T5" fmla="*/ 0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1008">
                    <a:moveTo>
                      <a:pt x="288" y="1008"/>
                    </a:moveTo>
                    <a:lnTo>
                      <a:pt x="288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2" name="Text Box 37"/>
              <p:cNvSpPr txBox="1">
                <a:spLocks noChangeArrowheads="1"/>
              </p:cNvSpPr>
              <p:nvPr/>
            </p:nvSpPr>
            <p:spPr bwMode="auto">
              <a:xfrm>
                <a:off x="3758942" y="2669169"/>
                <a:ext cx="603885" cy="269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v1=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73" name="Text Box 38"/>
              <p:cNvSpPr txBox="1">
                <a:spLocks noChangeArrowheads="1"/>
              </p:cNvSpPr>
              <p:nvPr/>
            </p:nvSpPr>
            <p:spPr bwMode="auto">
              <a:xfrm>
                <a:off x="4982480" y="2669169"/>
                <a:ext cx="603885" cy="2419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v2=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p:grpSp>
        <p:graphicFrame>
          <p:nvGraphicFramePr>
            <p:cNvPr id="4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9730230"/>
                </p:ext>
              </p:extLst>
            </p:nvPr>
          </p:nvGraphicFramePr>
          <p:xfrm>
            <a:off x="3798736" y="2123917"/>
            <a:ext cx="199859" cy="252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41200" progId="Equation.DSMT4">
                    <p:embed/>
                  </p:oleObj>
                </mc:Choice>
                <mc:Fallback>
                  <p:oleObj name="Equation" r:id="rId2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8736" y="2123917"/>
                          <a:ext cx="199859" cy="2528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7134071"/>
                </p:ext>
              </p:extLst>
            </p:nvPr>
          </p:nvGraphicFramePr>
          <p:xfrm>
            <a:off x="5256213" y="2144713"/>
            <a:ext cx="2127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241200" progId="Equation.DSMT4">
                    <p:embed/>
                  </p:oleObj>
                </mc:Choice>
                <mc:Fallback>
                  <p:oleObj name="Equation" r:id="rId4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6213" y="2144713"/>
                          <a:ext cx="2127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5016400"/>
                </p:ext>
              </p:extLst>
            </p:nvPr>
          </p:nvGraphicFramePr>
          <p:xfrm>
            <a:off x="3922713" y="1674867"/>
            <a:ext cx="147637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241200" progId="Equation.DSMT4">
                    <p:embed/>
                  </p:oleObj>
                </mc:Choice>
                <mc:Fallback>
                  <p:oleObj name="Equation" r:id="rId6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2713" y="1674867"/>
                          <a:ext cx="147637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4960272"/>
                </p:ext>
              </p:extLst>
            </p:nvPr>
          </p:nvGraphicFramePr>
          <p:xfrm>
            <a:off x="5145088" y="1663754"/>
            <a:ext cx="1603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241200" progId="Equation.DSMT4">
                    <p:embed/>
                  </p:oleObj>
                </mc:Choice>
                <mc:Fallback>
                  <p:oleObj name="Equation" r:id="rId8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5088" y="1663754"/>
                          <a:ext cx="160337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6324070"/>
                </p:ext>
              </p:extLst>
            </p:nvPr>
          </p:nvGraphicFramePr>
          <p:xfrm>
            <a:off x="3384550" y="2116138"/>
            <a:ext cx="1873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41200" progId="Equation.DSMT4">
                    <p:embed/>
                  </p:oleObj>
                </mc:Choice>
                <mc:Fallback>
                  <p:oleObj name="Equation" r:id="rId10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550" y="2116138"/>
                          <a:ext cx="1873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" name="Content Placeholder 2"/>
          <p:cNvSpPr txBox="1">
            <a:spLocks/>
          </p:cNvSpPr>
          <p:nvPr/>
        </p:nvSpPr>
        <p:spPr>
          <a:xfrm>
            <a:off x="435296" y="1640002"/>
            <a:ext cx="2996332" cy="137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định 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="1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và </a:t>
            </a:r>
            <a:r>
              <a:rPr lang="en-US" sz="24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="1" i="1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lvl="0">
              <a:spcBef>
                <a:spcPts val="1200"/>
              </a:spcBef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Khi Z</a:t>
            </a:r>
            <a:r>
              <a:rPr lang="en-US" sz="22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200" b="1" i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200" b="1" i="1" baseline="-2500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  <a:r>
              <a:rPr lang="en-US" sz="2200" b="1" i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thì </a:t>
            </a:r>
            <a:r>
              <a:rPr lang="en-US" sz="2200" b="1">
                <a:latin typeface="Times New Roman"/>
                <a:ea typeface="Calibri"/>
                <a:cs typeface="Times New Roman"/>
              </a:rPr>
              <a:t>Z</a:t>
            </a:r>
            <a:r>
              <a:rPr lang="en-US" sz="2200" b="1" baseline="-25000">
                <a:latin typeface="Times New Roman"/>
                <a:ea typeface="Calibri"/>
                <a:cs typeface="Times New Roman"/>
              </a:rPr>
              <a:t>v1</a:t>
            </a:r>
            <a:r>
              <a:rPr lang="en-US" sz="2200" b="1">
                <a:latin typeface="Times New Roman"/>
                <a:ea typeface="Calibri"/>
                <a:cs typeface="Times New Roman"/>
              </a:rPr>
              <a:t>=Z</a:t>
            </a:r>
            <a:r>
              <a:rPr lang="en-US" sz="2200" b="1" baseline="-25000">
                <a:latin typeface="Times New Roman"/>
                <a:ea typeface="Calibri"/>
                <a:cs typeface="Times New Roman"/>
              </a:rPr>
              <a:t>c1 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Khi Z</a:t>
            </a:r>
            <a:r>
              <a:rPr lang="en-US" sz="22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200" b="1" i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200" b="1" i="1" baseline="-2500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  <a:r>
              <a:rPr lang="en-US" sz="2200" b="1" i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thì </a:t>
            </a:r>
            <a:r>
              <a:rPr lang="en-US" sz="2200" b="1">
                <a:latin typeface="Times New Roman"/>
                <a:ea typeface="Calibri"/>
                <a:cs typeface="Times New Roman"/>
              </a:rPr>
              <a:t>Z</a:t>
            </a:r>
            <a:r>
              <a:rPr lang="en-US" sz="2200" b="1" baseline="-25000">
                <a:latin typeface="Times New Roman"/>
                <a:ea typeface="Calibri"/>
                <a:cs typeface="Times New Roman"/>
              </a:rPr>
              <a:t>v2</a:t>
            </a:r>
            <a:r>
              <a:rPr lang="en-US" sz="2200" b="1">
                <a:latin typeface="Times New Roman"/>
                <a:ea typeface="Calibri"/>
                <a:cs typeface="Times New Roman"/>
              </a:rPr>
              <a:t>=Z</a:t>
            </a:r>
            <a:r>
              <a:rPr lang="en-US" sz="2200" b="1" baseline="-25000">
                <a:latin typeface="Times New Roman"/>
                <a:ea typeface="Calibri"/>
                <a:cs typeface="Times New Roman"/>
              </a:rPr>
              <a:t>c2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200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097598"/>
              </p:ext>
            </p:extLst>
          </p:nvPr>
        </p:nvGraphicFramePr>
        <p:xfrm>
          <a:off x="457200" y="3605213"/>
          <a:ext cx="2259012" cy="180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977760" progId="Equation.DSMT4">
                  <p:embed/>
                </p:oleObj>
              </mc:Choice>
              <mc:Fallback>
                <p:oleObj name="Equation" r:id="rId12" imgW="123156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05213"/>
                        <a:ext cx="2259012" cy="180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233715"/>
              </p:ext>
            </p:extLst>
          </p:nvPr>
        </p:nvGraphicFramePr>
        <p:xfrm>
          <a:off x="4800600" y="3640244"/>
          <a:ext cx="2327695" cy="176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5280" imgH="977760" progId="Equation.DSMT4">
                  <p:embed/>
                </p:oleObj>
              </mc:Choice>
              <mc:Fallback>
                <p:oleObj name="Equation" r:id="rId14" imgW="129528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640244"/>
                        <a:ext cx="2327695" cy="1769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31426"/>
              </p:ext>
            </p:extLst>
          </p:nvPr>
        </p:nvGraphicFramePr>
        <p:xfrm>
          <a:off x="1396198" y="5588000"/>
          <a:ext cx="1726602" cy="9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507960" progId="Equation.DSMT4">
                  <p:embed/>
                </p:oleObj>
              </mc:Choice>
              <mc:Fallback>
                <p:oleObj name="Equation" r:id="rId16" imgW="9522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198" y="5588000"/>
                        <a:ext cx="1726602" cy="9227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60000"/>
                            <a:satMod val="1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686888"/>
              </p:ext>
            </p:extLst>
          </p:nvPr>
        </p:nvGraphicFramePr>
        <p:xfrm>
          <a:off x="3498850" y="5588000"/>
          <a:ext cx="1758950" cy="929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65160" imgH="507960" progId="Equation.DSMT4">
                  <p:embed/>
                </p:oleObj>
              </mc:Choice>
              <mc:Fallback>
                <p:oleObj name="Equation" r:id="rId18" imgW="965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5588000"/>
                        <a:ext cx="1758950" cy="92925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60000"/>
                            <a:satMod val="1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/>
          <p:cNvSpPr/>
          <p:nvPr/>
        </p:nvSpPr>
        <p:spPr>
          <a:xfrm>
            <a:off x="609600" y="5755341"/>
            <a:ext cx="304800" cy="4572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175620" y="3545664"/>
            <a:ext cx="1073679" cy="847042"/>
            <a:chOff x="3175620" y="3581523"/>
            <a:chExt cx="1073679" cy="847042"/>
          </a:xfrm>
        </p:grpSpPr>
        <p:sp>
          <p:nvSpPr>
            <p:cNvPr id="12" name="Right Arrow 11"/>
            <p:cNvSpPr/>
            <p:nvPr/>
          </p:nvSpPr>
          <p:spPr>
            <a:xfrm>
              <a:off x="3175620" y="4013342"/>
              <a:ext cx="939180" cy="1014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Content Placeholder 2"/>
            <p:cNvSpPr txBox="1">
              <a:spLocks/>
            </p:cNvSpPr>
            <p:nvPr/>
          </p:nvSpPr>
          <p:spPr>
            <a:xfrm>
              <a:off x="3200400" y="3581523"/>
              <a:ext cx="1048899" cy="8470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lvl="0" algn="ctr">
                <a:spcBef>
                  <a:spcPts val="1200"/>
                </a:spcBef>
                <a:defRPr/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</a:p>
            <a:p>
              <a:pPr algn="ctr">
                <a:spcBef>
                  <a:spcPts val="1200"/>
                </a:spcBef>
                <a:defRPr/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v1</a:t>
              </a: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  <a:endPara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200400" y="4486958"/>
            <a:ext cx="1073679" cy="847042"/>
            <a:chOff x="3175620" y="3581523"/>
            <a:chExt cx="1073679" cy="847042"/>
          </a:xfrm>
        </p:grpSpPr>
        <p:sp>
          <p:nvSpPr>
            <p:cNvPr id="97" name="Right Arrow 96"/>
            <p:cNvSpPr/>
            <p:nvPr/>
          </p:nvSpPr>
          <p:spPr>
            <a:xfrm>
              <a:off x="3175620" y="4013342"/>
              <a:ext cx="939180" cy="1014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ontent Placeholder 2"/>
            <p:cNvSpPr txBox="1">
              <a:spLocks/>
            </p:cNvSpPr>
            <p:nvPr/>
          </p:nvSpPr>
          <p:spPr>
            <a:xfrm>
              <a:off x="3200400" y="3581523"/>
              <a:ext cx="1048899" cy="8470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lvl="0" algn="ctr">
                <a:spcBef>
                  <a:spcPts val="1200"/>
                </a:spcBef>
                <a:defRPr/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</a:p>
            <a:p>
              <a:pPr algn="ctr">
                <a:spcBef>
                  <a:spcPts val="1200"/>
                </a:spcBef>
                <a:defRPr/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v2</a:t>
              </a: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c2</a:t>
              </a:r>
              <a:endPara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615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ontent Placeholder 2"/>
          <p:cNvSpPr txBox="1">
            <a:spLocks/>
          </p:cNvSpPr>
          <p:nvPr/>
        </p:nvSpPr>
        <p:spPr>
          <a:xfrm>
            <a:off x="457200" y="2337513"/>
            <a:ext cx="8065286" cy="864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Nếu M4C được phối hợp trở kháng ở phía sơ cấp lẫn thức cấp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 M4C được phối hợp trở kháng ở 2 phía.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32763" y="3200400"/>
            <a:ext cx="7076112" cy="1085850"/>
            <a:chOff x="432763" y="3124200"/>
            <a:chExt cx="7076112" cy="1085850"/>
          </a:xfrm>
        </p:grpSpPr>
        <p:graphicFrame>
          <p:nvGraphicFramePr>
            <p:cNvPr id="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8703480"/>
                </p:ext>
              </p:extLst>
            </p:nvPr>
          </p:nvGraphicFramePr>
          <p:xfrm>
            <a:off x="4656138" y="3124200"/>
            <a:ext cx="2852737" cy="1085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07880" imgH="482400" progId="Equation.DSMT4">
                    <p:embed/>
                  </p:oleObj>
                </mc:Choice>
                <mc:Fallback>
                  <p:oleObj name="Equation" r:id="rId2" imgW="1307880" imgH="482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138" y="3124200"/>
                          <a:ext cx="2852737" cy="1085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1" name="Content Placeholder 2"/>
            <p:cNvSpPr txBox="1">
              <a:spLocks/>
            </p:cNvSpPr>
            <p:nvPr/>
          </p:nvSpPr>
          <p:spPr>
            <a:xfrm>
              <a:off x="432763" y="3422299"/>
              <a:ext cx="4367837" cy="4572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42900" marR="0" lvl="0" indent="-34290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Trở kháng sóng trung bình: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200" y="4276725"/>
            <a:ext cx="6013450" cy="1065213"/>
            <a:chOff x="457200" y="4200525"/>
            <a:chExt cx="6013450" cy="1065213"/>
          </a:xfrm>
        </p:grpSpPr>
        <p:graphicFrame>
          <p:nvGraphicFramePr>
            <p:cNvPr id="132" name="Object 1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669371"/>
                </p:ext>
              </p:extLst>
            </p:nvPr>
          </p:nvGraphicFramePr>
          <p:xfrm>
            <a:off x="3921125" y="4200525"/>
            <a:ext cx="2549525" cy="1065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68200" imgH="482400" progId="Equation.DSMT4">
                    <p:embed/>
                  </p:oleObj>
                </mc:Choice>
                <mc:Fallback>
                  <p:oleObj name="Equation" r:id="rId4" imgW="116820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1125" y="4200525"/>
                          <a:ext cx="2549525" cy="10652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" name="Content Placeholder 2"/>
            <p:cNvSpPr txBox="1">
              <a:spLocks/>
            </p:cNvSpPr>
            <p:nvPr/>
          </p:nvSpPr>
          <p:spPr>
            <a:xfrm>
              <a:off x="457200" y="4503861"/>
              <a:ext cx="4367837" cy="4572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42900" marR="0" lvl="0" indent="-34290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Tỉ số trở kháng sóng: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28427" y="5376863"/>
            <a:ext cx="7694823" cy="1100137"/>
            <a:chOff x="528427" y="5300663"/>
            <a:chExt cx="7694823" cy="1100137"/>
          </a:xfrm>
        </p:grpSpPr>
        <p:graphicFrame>
          <p:nvGraphicFramePr>
            <p:cNvPr id="134" name="Object 1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889799"/>
                </p:ext>
              </p:extLst>
            </p:nvPr>
          </p:nvGraphicFramePr>
          <p:xfrm>
            <a:off x="3651250" y="5300663"/>
            <a:ext cx="2963863" cy="1065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58640" imgH="482400" progId="Equation.DSMT4">
                    <p:embed/>
                  </p:oleObj>
                </mc:Choice>
                <mc:Fallback>
                  <p:oleObj name="Equation" r:id="rId6" imgW="135864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250" y="5300663"/>
                          <a:ext cx="2963863" cy="10652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9"/>
            <p:cNvGrpSpPr/>
            <p:nvPr/>
          </p:nvGrpSpPr>
          <p:grpSpPr>
            <a:xfrm>
              <a:off x="528427" y="5572125"/>
              <a:ext cx="3961416" cy="828675"/>
              <a:chOff x="528427" y="5495924"/>
              <a:chExt cx="3961416" cy="828675"/>
            </a:xfrm>
          </p:grpSpPr>
          <p:sp>
            <p:nvSpPr>
              <p:cNvPr id="135" name="Content Placeholder 2"/>
              <p:cNvSpPr txBox="1">
                <a:spLocks/>
              </p:cNvSpPr>
              <p:nvPr/>
            </p:nvSpPr>
            <p:spPr>
              <a:xfrm>
                <a:off x="528427" y="5495924"/>
                <a:ext cx="3961416" cy="8286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v"/>
                  <a:tabLst/>
                  <a:defRPr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Nếu M4C đối xứng:  </a:t>
                </a:r>
              </a:p>
            </p:txBody>
          </p:sp>
          <p:graphicFrame>
            <p:nvGraphicFramePr>
              <p:cNvPr id="136" name="Object 1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5442787"/>
                  </p:ext>
                </p:extLst>
              </p:nvPr>
            </p:nvGraphicFramePr>
            <p:xfrm>
              <a:off x="1628775" y="5799137"/>
              <a:ext cx="1412875" cy="514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647640" imgH="228600" progId="Equation.DSMT4">
                      <p:embed/>
                    </p:oleObj>
                  </mc:Choice>
                  <mc:Fallback>
                    <p:oleObj name="Equation" r:id="rId8" imgW="6476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8775" y="5799137"/>
                            <a:ext cx="1412875" cy="514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7" name="Object 1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7694694"/>
                </p:ext>
              </p:extLst>
            </p:nvPr>
          </p:nvGraphicFramePr>
          <p:xfrm>
            <a:off x="7335838" y="5486400"/>
            <a:ext cx="887412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06080" imgH="228600" progId="Equation.DSMT4">
                    <p:embed/>
                  </p:oleObj>
                </mc:Choice>
                <mc:Fallback>
                  <p:oleObj name="Equation" r:id="rId10" imgW="406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5838" y="5486400"/>
                          <a:ext cx="887412" cy="5064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" name="Content Placeholder 2"/>
            <p:cNvSpPr txBox="1">
              <a:spLocks/>
            </p:cNvSpPr>
            <p:nvPr/>
          </p:nvSpPr>
          <p:spPr>
            <a:xfrm>
              <a:off x="6705600" y="5538850"/>
              <a:ext cx="544024" cy="4572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985682" y="185653"/>
            <a:ext cx="5410200" cy="2268867"/>
            <a:chOff x="3132455" y="1645920"/>
            <a:chExt cx="3200400" cy="1293124"/>
          </a:xfrm>
        </p:grpSpPr>
        <p:grpSp>
          <p:nvGrpSpPr>
            <p:cNvPr id="60" name="Group 59"/>
            <p:cNvGrpSpPr/>
            <p:nvPr/>
          </p:nvGrpSpPr>
          <p:grpSpPr>
            <a:xfrm>
              <a:off x="3132455" y="1645920"/>
              <a:ext cx="3200400" cy="1293124"/>
              <a:chOff x="3132455" y="1645920"/>
              <a:chExt cx="3200400" cy="1293124"/>
            </a:xfrm>
          </p:grpSpPr>
          <p:sp>
            <p:nvSpPr>
              <p:cNvPr id="66" name="Text Box 4"/>
              <p:cNvSpPr txBox="1">
                <a:spLocks noChangeArrowheads="1"/>
              </p:cNvSpPr>
              <p:nvPr/>
            </p:nvSpPr>
            <p:spPr bwMode="auto">
              <a:xfrm>
                <a:off x="5897245" y="2148205"/>
                <a:ext cx="435610" cy="2597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2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=Z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67" name="Text Box 5"/>
              <p:cNvSpPr txBox="1">
                <a:spLocks noChangeArrowheads="1"/>
              </p:cNvSpPr>
              <p:nvPr/>
            </p:nvSpPr>
            <p:spPr bwMode="auto">
              <a:xfrm>
                <a:off x="3305175" y="1691005"/>
                <a:ext cx="570230" cy="168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1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=Z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68" name="Line 8"/>
              <p:cNvCxnSpPr/>
              <p:nvPr/>
            </p:nvCxnSpPr>
            <p:spPr bwMode="auto">
              <a:xfrm>
                <a:off x="3843020" y="1909445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" name="Line 9"/>
              <p:cNvCxnSpPr/>
              <p:nvPr/>
            </p:nvCxnSpPr>
            <p:spPr bwMode="auto">
              <a:xfrm>
                <a:off x="3885565" y="1966595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" name="Line 10"/>
              <p:cNvCxnSpPr/>
              <p:nvPr/>
            </p:nvCxnSpPr>
            <p:spPr bwMode="auto">
              <a:xfrm>
                <a:off x="3885565" y="2509520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Line 11"/>
              <p:cNvCxnSpPr/>
              <p:nvPr/>
            </p:nvCxnSpPr>
            <p:spPr bwMode="auto">
              <a:xfrm flipH="1">
                <a:off x="5074285" y="1909445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72" name="Group 71"/>
              <p:cNvGrpSpPr>
                <a:grpSpLocks/>
              </p:cNvGrpSpPr>
              <p:nvPr/>
            </p:nvGrpSpPr>
            <p:grpSpPr bwMode="auto">
              <a:xfrm>
                <a:off x="3837305" y="2002790"/>
                <a:ext cx="91440" cy="91440"/>
                <a:chOff x="4194" y="5364"/>
                <a:chExt cx="144" cy="144"/>
              </a:xfrm>
            </p:grpSpPr>
            <p:cxnSp>
              <p:nvCxnSpPr>
                <p:cNvPr id="150" name="Line 17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1" name="Line 18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73" name="Line 19"/>
              <p:cNvCxnSpPr/>
              <p:nvPr/>
            </p:nvCxnSpPr>
            <p:spPr bwMode="auto">
              <a:xfrm>
                <a:off x="3826510" y="2422525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74" name="Group 73"/>
              <p:cNvGrpSpPr>
                <a:grpSpLocks/>
              </p:cNvGrpSpPr>
              <p:nvPr/>
            </p:nvGrpSpPr>
            <p:grpSpPr bwMode="auto">
              <a:xfrm>
                <a:off x="5316220" y="2013585"/>
                <a:ext cx="91440" cy="91440"/>
                <a:chOff x="4194" y="5364"/>
                <a:chExt cx="144" cy="144"/>
              </a:xfrm>
            </p:grpSpPr>
            <p:cxnSp>
              <p:nvCxnSpPr>
                <p:cNvPr id="148" name="Line 21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9" name="Line 22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75" name="Line 23"/>
              <p:cNvCxnSpPr/>
              <p:nvPr/>
            </p:nvCxnSpPr>
            <p:spPr bwMode="auto">
              <a:xfrm>
                <a:off x="5316220" y="2433320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76" name="Rectangle 75"/>
              <p:cNvSpPr>
                <a:spLocks noChangeArrowheads="1"/>
              </p:cNvSpPr>
              <p:nvPr/>
            </p:nvSpPr>
            <p:spPr bwMode="auto">
              <a:xfrm>
                <a:off x="4267200" y="1847215"/>
                <a:ext cx="731520" cy="7315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marL="0" marR="0"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/>
                    <a:ea typeface="Times New Roman"/>
                    <a:cs typeface="Times New Roman"/>
                  </a:rPr>
                  <a:t> </a:t>
                </a:r>
                <a:r>
                  <a:rPr lang="en-US" sz="2400">
                    <a:effectLst/>
                    <a:latin typeface="Times New Roman"/>
                    <a:ea typeface="Times New Roman"/>
                    <a:cs typeface="Times New Roman"/>
                  </a:rPr>
                  <a:t>Mạng</a:t>
                </a: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>
                    <a:effectLst/>
                    <a:latin typeface="Times New Roman"/>
                    <a:ea typeface="Times New Roman"/>
                    <a:cs typeface="Times New Roman"/>
                  </a:rPr>
                  <a:t>4 cực</a:t>
                </a:r>
                <a:endParaRPr lang="en-US" sz="2400">
                  <a:effectLst/>
                  <a:latin typeface="VNarial"/>
                  <a:ea typeface="Times New Roman"/>
                  <a:cs typeface="Times New Roman"/>
                </a:endParaRPr>
              </a:p>
            </p:txBody>
          </p:sp>
          <p:sp>
            <p:nvSpPr>
              <p:cNvPr id="77" name="Freeform 76"/>
              <p:cNvSpPr>
                <a:spLocks/>
              </p:cNvSpPr>
              <p:nvPr/>
            </p:nvSpPr>
            <p:spPr bwMode="auto">
              <a:xfrm>
                <a:off x="3245485" y="1965325"/>
                <a:ext cx="640080" cy="548640"/>
              </a:xfrm>
              <a:custGeom>
                <a:avLst/>
                <a:gdLst>
                  <a:gd name="T0" fmla="*/ 864 w 864"/>
                  <a:gd name="T1" fmla="*/ 0 h 864"/>
                  <a:gd name="T2" fmla="*/ 0 w 864"/>
                  <a:gd name="T3" fmla="*/ 0 h 864"/>
                  <a:gd name="T4" fmla="*/ 0 w 864"/>
                  <a:gd name="T5" fmla="*/ 864 h 864"/>
                  <a:gd name="T6" fmla="*/ 864 w 864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864">
                    <a:moveTo>
                      <a:pt x="864" y="0"/>
                    </a:moveTo>
                    <a:lnTo>
                      <a:pt x="0" y="0"/>
                    </a:lnTo>
                    <a:lnTo>
                      <a:pt x="0" y="864"/>
                    </a:lnTo>
                    <a:lnTo>
                      <a:pt x="864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8" name="Rectangle 77"/>
              <p:cNvSpPr>
                <a:spLocks noChangeArrowheads="1"/>
              </p:cNvSpPr>
              <p:nvPr/>
            </p:nvSpPr>
            <p:spPr bwMode="auto">
              <a:xfrm>
                <a:off x="3417570" y="1906270"/>
                <a:ext cx="274320" cy="1098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79" name="Group 78"/>
              <p:cNvGrpSpPr>
                <a:grpSpLocks/>
              </p:cNvGrpSpPr>
              <p:nvPr/>
            </p:nvGrpSpPr>
            <p:grpSpPr bwMode="auto">
              <a:xfrm>
                <a:off x="3132455" y="2115820"/>
                <a:ext cx="228600" cy="228600"/>
                <a:chOff x="1884" y="2304"/>
                <a:chExt cx="360" cy="360"/>
              </a:xfrm>
            </p:grpSpPr>
            <p:sp>
              <p:nvSpPr>
                <p:cNvPr id="144" name="Oval 143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145" name="Line 29"/>
                <p:cNvCxnSpPr/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6" name="Line 30"/>
                <p:cNvCxnSpPr/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7" name="Line 31"/>
                <p:cNvCxnSpPr/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80" name="Freeform 79"/>
              <p:cNvSpPr>
                <a:spLocks/>
              </p:cNvSpPr>
              <p:nvPr/>
            </p:nvSpPr>
            <p:spPr bwMode="auto">
              <a:xfrm>
                <a:off x="5348605" y="1965325"/>
                <a:ext cx="457200" cy="548640"/>
              </a:xfrm>
              <a:custGeom>
                <a:avLst/>
                <a:gdLst>
                  <a:gd name="T0" fmla="*/ 0 w 720"/>
                  <a:gd name="T1" fmla="*/ 0 h 864"/>
                  <a:gd name="T2" fmla="*/ 720 w 720"/>
                  <a:gd name="T3" fmla="*/ 0 h 864"/>
                  <a:gd name="T4" fmla="*/ 720 w 720"/>
                  <a:gd name="T5" fmla="*/ 864 h 864"/>
                  <a:gd name="T6" fmla="*/ 0 w 720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864">
                    <a:moveTo>
                      <a:pt x="0" y="0"/>
                    </a:moveTo>
                    <a:lnTo>
                      <a:pt x="720" y="0"/>
                    </a:lnTo>
                    <a:lnTo>
                      <a:pt x="720" y="864"/>
                    </a:lnTo>
                    <a:lnTo>
                      <a:pt x="0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1" name="Rectangle 80"/>
              <p:cNvSpPr>
                <a:spLocks noChangeArrowheads="1"/>
              </p:cNvSpPr>
              <p:nvPr/>
            </p:nvSpPr>
            <p:spPr bwMode="auto">
              <a:xfrm>
                <a:off x="5749925" y="2094230"/>
                <a:ext cx="109855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3387090" y="1645920"/>
                <a:ext cx="2087245" cy="692785"/>
                <a:chOff x="0" y="0"/>
                <a:chExt cx="2087659" cy="692978"/>
              </a:xfrm>
            </p:grpSpPr>
            <p:sp>
              <p:nvSpPr>
                <p:cNvPr id="8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40688" y="15903"/>
                  <a:ext cx="139700" cy="215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139" name="Group 138"/>
                <p:cNvGrpSpPr/>
                <p:nvPr/>
              </p:nvGrpSpPr>
              <p:grpSpPr>
                <a:xfrm>
                  <a:off x="0" y="0"/>
                  <a:ext cx="2087659" cy="692978"/>
                  <a:chOff x="0" y="0"/>
                  <a:chExt cx="2087659" cy="692978"/>
                </a:xfrm>
              </p:grpSpPr>
              <p:sp>
                <p:nvSpPr>
                  <p:cNvPr id="140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4459" y="477078"/>
                    <a:ext cx="203200" cy="2159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141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4946" y="0"/>
                    <a:ext cx="165100" cy="2159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142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477078"/>
                    <a:ext cx="165100" cy="2159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143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370" y="539264"/>
                    <a:ext cx="163837" cy="145762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</p:grpSp>
          </p:grpSp>
          <p:sp>
            <p:nvSpPr>
              <p:cNvPr id="83" name="Freeform 82"/>
              <p:cNvSpPr>
                <a:spLocks/>
              </p:cNvSpPr>
              <p:nvPr/>
            </p:nvSpPr>
            <p:spPr bwMode="auto">
              <a:xfrm>
                <a:off x="4060884" y="2239645"/>
                <a:ext cx="190441" cy="505460"/>
              </a:xfrm>
              <a:custGeom>
                <a:avLst/>
                <a:gdLst>
                  <a:gd name="T0" fmla="*/ 0 w 288"/>
                  <a:gd name="T1" fmla="*/ 576 h 576"/>
                  <a:gd name="T2" fmla="*/ 0 w 288"/>
                  <a:gd name="T3" fmla="*/ 0 h 576"/>
                  <a:gd name="T4" fmla="*/ 288 w 28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576">
                    <a:moveTo>
                      <a:pt x="0" y="576"/>
                    </a:moveTo>
                    <a:lnTo>
                      <a:pt x="0" y="0"/>
                    </a:lnTo>
                    <a:lnTo>
                      <a:pt x="288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4" name="Freeform 83"/>
              <p:cNvSpPr>
                <a:spLocks/>
              </p:cNvSpPr>
              <p:nvPr/>
            </p:nvSpPr>
            <p:spPr bwMode="auto">
              <a:xfrm>
                <a:off x="5033986" y="2223770"/>
                <a:ext cx="162242" cy="516889"/>
              </a:xfrm>
              <a:custGeom>
                <a:avLst/>
                <a:gdLst>
                  <a:gd name="T0" fmla="*/ 288 w 288"/>
                  <a:gd name="T1" fmla="*/ 1008 h 1008"/>
                  <a:gd name="T2" fmla="*/ 288 w 288"/>
                  <a:gd name="T3" fmla="*/ 0 h 1008"/>
                  <a:gd name="T4" fmla="*/ 0 w 288"/>
                  <a:gd name="T5" fmla="*/ 0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1008">
                    <a:moveTo>
                      <a:pt x="288" y="1008"/>
                    </a:moveTo>
                    <a:lnTo>
                      <a:pt x="288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5" name="Text Box 37"/>
              <p:cNvSpPr txBox="1">
                <a:spLocks noChangeArrowheads="1"/>
              </p:cNvSpPr>
              <p:nvPr/>
            </p:nvSpPr>
            <p:spPr bwMode="auto">
              <a:xfrm>
                <a:off x="3758942" y="2669169"/>
                <a:ext cx="603885" cy="269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v1=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86" name="Text Box 38"/>
              <p:cNvSpPr txBox="1">
                <a:spLocks noChangeArrowheads="1"/>
              </p:cNvSpPr>
              <p:nvPr/>
            </p:nvSpPr>
            <p:spPr bwMode="auto">
              <a:xfrm>
                <a:off x="4982480" y="2669169"/>
                <a:ext cx="603885" cy="2419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sz="2000" b="1" baseline="-25000">
                    <a:effectLst/>
                    <a:latin typeface="Times New Roman"/>
                    <a:ea typeface="Calibri"/>
                    <a:cs typeface="Times New Roman"/>
                  </a:rPr>
                  <a:t>v2=</a:t>
                </a:r>
                <a:r>
                  <a:rPr lang="en-US" sz="2000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sz="2000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sz="20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p:grpSp>
        <p:graphicFrame>
          <p:nvGraphicFramePr>
            <p:cNvPr id="6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009080"/>
                </p:ext>
              </p:extLst>
            </p:nvPr>
          </p:nvGraphicFramePr>
          <p:xfrm>
            <a:off x="3798736" y="2123917"/>
            <a:ext cx="199859" cy="252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241200" progId="Equation.DSMT4">
                    <p:embed/>
                  </p:oleObj>
                </mc:Choice>
                <mc:Fallback>
                  <p:oleObj name="Equation" r:id="rId12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8736" y="2123917"/>
                          <a:ext cx="199859" cy="2528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3117128"/>
                </p:ext>
              </p:extLst>
            </p:nvPr>
          </p:nvGraphicFramePr>
          <p:xfrm>
            <a:off x="5256213" y="2144713"/>
            <a:ext cx="2127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3040" imgH="241200" progId="Equation.DSMT4">
                    <p:embed/>
                  </p:oleObj>
                </mc:Choice>
                <mc:Fallback>
                  <p:oleObj name="Equation" r:id="rId14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6213" y="2144713"/>
                          <a:ext cx="2127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0911316"/>
                </p:ext>
              </p:extLst>
            </p:nvPr>
          </p:nvGraphicFramePr>
          <p:xfrm>
            <a:off x="3922713" y="1674867"/>
            <a:ext cx="147637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241200" progId="Equation.DSMT4">
                    <p:embed/>
                  </p:oleObj>
                </mc:Choice>
                <mc:Fallback>
                  <p:oleObj name="Equation" r:id="rId16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2713" y="1674867"/>
                          <a:ext cx="147637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4220978"/>
                </p:ext>
              </p:extLst>
            </p:nvPr>
          </p:nvGraphicFramePr>
          <p:xfrm>
            <a:off x="5145088" y="1663754"/>
            <a:ext cx="1603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280" imgH="241200" progId="Equation.DSMT4">
                    <p:embed/>
                  </p:oleObj>
                </mc:Choice>
                <mc:Fallback>
                  <p:oleObj name="Equation" r:id="rId18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5088" y="1663754"/>
                          <a:ext cx="160337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2509698"/>
                </p:ext>
              </p:extLst>
            </p:nvPr>
          </p:nvGraphicFramePr>
          <p:xfrm>
            <a:off x="3384550" y="2116138"/>
            <a:ext cx="1873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241200" progId="Equation.DSMT4">
                    <p:embed/>
                  </p:oleObj>
                </mc:Choice>
                <mc:Fallback>
                  <p:oleObj name="Equation" r:id="rId20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550" y="2116138"/>
                          <a:ext cx="1873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40469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752"/>
            <a:ext cx="4267200" cy="7159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 Hyperbolic </a:t>
            </a:r>
          </a:p>
        </p:txBody>
      </p:sp>
      <p:grpSp>
        <p:nvGrpSpPr>
          <p:cNvPr id="158" name="Group 157"/>
          <p:cNvGrpSpPr>
            <a:grpSpLocks/>
          </p:cNvGrpSpPr>
          <p:nvPr/>
        </p:nvGrpSpPr>
        <p:grpSpPr bwMode="auto">
          <a:xfrm>
            <a:off x="3200400" y="1049541"/>
            <a:ext cx="2438400" cy="2987227"/>
            <a:chOff x="3024" y="8844"/>
            <a:chExt cx="2304" cy="2676"/>
          </a:xfrm>
        </p:grpSpPr>
        <p:grpSp>
          <p:nvGrpSpPr>
            <p:cNvPr id="166" name="Group 165"/>
            <p:cNvGrpSpPr>
              <a:grpSpLocks/>
            </p:cNvGrpSpPr>
            <p:nvPr/>
          </p:nvGrpSpPr>
          <p:grpSpPr bwMode="auto">
            <a:xfrm>
              <a:off x="3024" y="8844"/>
              <a:ext cx="2304" cy="2184"/>
              <a:chOff x="3024" y="8844"/>
              <a:chExt cx="2304" cy="2184"/>
            </a:xfrm>
          </p:grpSpPr>
          <p:sp>
            <p:nvSpPr>
              <p:cNvPr id="168" name="Oval 167"/>
              <p:cNvSpPr>
                <a:spLocks noChangeArrowheads="1"/>
              </p:cNvSpPr>
              <p:nvPr/>
            </p:nvSpPr>
            <p:spPr bwMode="auto">
              <a:xfrm>
                <a:off x="4206" y="10740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>
                    <a:effectLst/>
                    <a:latin typeface="Times New Roman"/>
                    <a:ea typeface="Calibri"/>
                    <a:cs typeface="Times New Roman"/>
                  </a:rPr>
                  <a:t>0</a:t>
                </a:r>
                <a:endParaRPr lang="en-US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69" name="Oval 168"/>
              <p:cNvSpPr>
                <a:spLocks noChangeArrowheads="1"/>
              </p:cNvSpPr>
              <p:nvPr/>
            </p:nvSpPr>
            <p:spPr bwMode="auto">
              <a:xfrm>
                <a:off x="4176" y="10329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>
                    <a:effectLst/>
                    <a:latin typeface="Times New Roman"/>
                    <a:ea typeface="Calibri"/>
                    <a:cs typeface="Times New Roman"/>
                  </a:rPr>
                  <a:t>1</a:t>
                </a:r>
                <a:endParaRPr lang="en-US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70" name="Text Box 6"/>
              <p:cNvSpPr txBox="1">
                <a:spLocks noChangeArrowheads="1"/>
              </p:cNvSpPr>
              <p:nvPr/>
            </p:nvSpPr>
            <p:spPr bwMode="auto">
              <a:xfrm>
                <a:off x="4290" y="9156"/>
                <a:ext cx="144" cy="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>
                    <a:effectLst/>
                    <a:latin typeface="Times New Roman"/>
                    <a:ea typeface="Calibri"/>
                    <a:cs typeface="Times New Roman"/>
                  </a:rPr>
                  <a:t>y</a:t>
                </a:r>
                <a:endParaRPr lang="en-US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71" name="Text Box 7"/>
              <p:cNvSpPr txBox="1">
                <a:spLocks noChangeArrowheads="1"/>
              </p:cNvSpPr>
              <p:nvPr/>
            </p:nvSpPr>
            <p:spPr bwMode="auto">
              <a:xfrm>
                <a:off x="5154" y="10368"/>
                <a:ext cx="144" cy="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>
                    <a:effectLst/>
                    <a:latin typeface="Times New Roman"/>
                    <a:ea typeface="Calibri"/>
                    <a:cs typeface="Times New Roman"/>
                  </a:rPr>
                  <a:t>x</a:t>
                </a:r>
                <a:endParaRPr lang="en-US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172" name="Line 8"/>
              <p:cNvCxnSpPr/>
              <p:nvPr/>
            </p:nvCxnSpPr>
            <p:spPr bwMode="auto">
              <a:xfrm flipV="1">
                <a:off x="4176" y="9216"/>
                <a:ext cx="0" cy="17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3" name="Line 9"/>
              <p:cNvCxnSpPr/>
              <p:nvPr/>
            </p:nvCxnSpPr>
            <p:spPr bwMode="auto">
              <a:xfrm>
                <a:off x="3024" y="10716"/>
                <a:ext cx="230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74" name="Arc 10"/>
              <p:cNvSpPr>
                <a:spLocks/>
              </p:cNvSpPr>
              <p:nvPr/>
            </p:nvSpPr>
            <p:spPr bwMode="auto">
              <a:xfrm rot="10800000">
                <a:off x="3546" y="8844"/>
                <a:ext cx="1267" cy="1524"/>
              </a:xfrm>
              <a:custGeom>
                <a:avLst/>
                <a:gdLst>
                  <a:gd name="G0" fmla="+- 19153 0 0"/>
                  <a:gd name="G1" fmla="+- 21600 0 0"/>
                  <a:gd name="G2" fmla="+- 21600 0 0"/>
                  <a:gd name="T0" fmla="*/ 0 w 38145"/>
                  <a:gd name="T1" fmla="*/ 11615 h 21600"/>
                  <a:gd name="T2" fmla="*/ 38145 w 38145"/>
                  <a:gd name="T3" fmla="*/ 11311 h 21600"/>
                  <a:gd name="T4" fmla="*/ 19153 w 3814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145" h="21600" fill="none" extrusionOk="0">
                    <a:moveTo>
                      <a:pt x="-1" y="11614"/>
                    </a:moveTo>
                    <a:cubicBezTo>
                      <a:pt x="3720" y="4476"/>
                      <a:pt x="11102" y="-1"/>
                      <a:pt x="19153" y="0"/>
                    </a:cubicBezTo>
                    <a:cubicBezTo>
                      <a:pt x="27079" y="0"/>
                      <a:pt x="34369" y="4341"/>
                      <a:pt x="38145" y="11310"/>
                    </a:cubicBezTo>
                  </a:path>
                  <a:path w="38145" h="21600" stroke="0" extrusionOk="0">
                    <a:moveTo>
                      <a:pt x="-1" y="11614"/>
                    </a:moveTo>
                    <a:cubicBezTo>
                      <a:pt x="3720" y="4476"/>
                      <a:pt x="11102" y="-1"/>
                      <a:pt x="19153" y="0"/>
                    </a:cubicBezTo>
                    <a:cubicBezTo>
                      <a:pt x="27079" y="0"/>
                      <a:pt x="34369" y="4341"/>
                      <a:pt x="38145" y="11310"/>
                    </a:cubicBezTo>
                    <a:lnTo>
                      <a:pt x="19153" y="21600"/>
                    </a:lnTo>
                    <a:close/>
                  </a:path>
                </a:pathLst>
              </a:custGeom>
              <a:noFill/>
              <a:ln w="15875">
                <a:solidFill>
                  <a:srgbClr val="C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167" name="Text Box 11"/>
            <p:cNvSpPr txBox="1">
              <a:spLocks noChangeArrowheads="1"/>
            </p:cNvSpPr>
            <p:nvPr/>
          </p:nvSpPr>
          <p:spPr bwMode="auto">
            <a:xfrm>
              <a:off x="3600" y="11088"/>
              <a:ext cx="1152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b="1">
                  <a:effectLst/>
                  <a:latin typeface="Times New Roman"/>
                  <a:ea typeface="Calibri"/>
                  <a:cs typeface="Times New Roman"/>
                </a:rPr>
                <a:t>y =ch x</a:t>
              </a:r>
              <a:endParaRPr lang="en-US" b="1">
                <a:effectLst/>
                <a:latin typeface="Calibri"/>
                <a:ea typeface="Calibri"/>
                <a:cs typeface="Times New Roman"/>
              </a:endParaRPr>
            </a:p>
          </p:txBody>
        </p:sp>
      </p:grpSp>
      <p:grpSp>
        <p:nvGrpSpPr>
          <p:cNvPr id="159" name="Group 158"/>
          <p:cNvGrpSpPr>
            <a:grpSpLocks/>
          </p:cNvGrpSpPr>
          <p:nvPr/>
        </p:nvGrpSpPr>
        <p:grpSpPr bwMode="auto">
          <a:xfrm>
            <a:off x="6105757" y="1471504"/>
            <a:ext cx="2438400" cy="2598753"/>
            <a:chOff x="7344" y="9162"/>
            <a:chExt cx="2304" cy="2328"/>
          </a:xfrm>
        </p:grpSpPr>
        <p:sp>
          <p:nvSpPr>
            <p:cNvPr id="160" name="Text Box 13"/>
            <p:cNvSpPr txBox="1">
              <a:spLocks noChangeArrowheads="1"/>
            </p:cNvSpPr>
            <p:nvPr/>
          </p:nvSpPr>
          <p:spPr bwMode="auto">
            <a:xfrm>
              <a:off x="8610" y="9162"/>
              <a:ext cx="14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61" name="Text Box 14"/>
            <p:cNvSpPr txBox="1">
              <a:spLocks noChangeArrowheads="1"/>
            </p:cNvSpPr>
            <p:nvPr/>
          </p:nvSpPr>
          <p:spPr bwMode="auto">
            <a:xfrm>
              <a:off x="9474" y="9774"/>
              <a:ext cx="14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162" name="Line 15"/>
            <p:cNvCxnSpPr/>
            <p:nvPr/>
          </p:nvCxnSpPr>
          <p:spPr bwMode="auto">
            <a:xfrm flipV="1">
              <a:off x="8496" y="9222"/>
              <a:ext cx="0" cy="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3" name="Line 16"/>
            <p:cNvCxnSpPr/>
            <p:nvPr/>
          </p:nvCxnSpPr>
          <p:spPr bwMode="auto">
            <a:xfrm>
              <a:off x="7344" y="10122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64" name="Text Box 17"/>
            <p:cNvSpPr txBox="1">
              <a:spLocks noChangeArrowheads="1"/>
            </p:cNvSpPr>
            <p:nvPr/>
          </p:nvSpPr>
          <p:spPr bwMode="auto">
            <a:xfrm>
              <a:off x="8064" y="11058"/>
              <a:ext cx="1152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b="1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y =sh x</a:t>
              </a:r>
            </a:p>
          </p:txBody>
        </p:sp>
        <p:sp>
          <p:nvSpPr>
            <p:cNvPr id="165" name="Freeform 164"/>
            <p:cNvSpPr>
              <a:spLocks/>
            </p:cNvSpPr>
            <p:nvPr/>
          </p:nvSpPr>
          <p:spPr bwMode="auto">
            <a:xfrm>
              <a:off x="7812" y="9348"/>
              <a:ext cx="1296" cy="1584"/>
            </a:xfrm>
            <a:custGeom>
              <a:avLst/>
              <a:gdLst>
                <a:gd name="T0" fmla="*/ 1872 w 1872"/>
                <a:gd name="T1" fmla="*/ 0 h 2880"/>
                <a:gd name="T2" fmla="*/ 1440 w 1872"/>
                <a:gd name="T3" fmla="*/ 1008 h 2880"/>
                <a:gd name="T4" fmla="*/ 720 w 1872"/>
                <a:gd name="T5" fmla="*/ 1584 h 2880"/>
                <a:gd name="T6" fmla="*/ 288 w 1872"/>
                <a:gd name="T7" fmla="*/ 2160 h 2880"/>
                <a:gd name="T8" fmla="*/ 0 w 1872"/>
                <a:gd name="T9" fmla="*/ 2880 h 2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2" h="2880">
                  <a:moveTo>
                    <a:pt x="1872" y="0"/>
                  </a:moveTo>
                  <a:cubicBezTo>
                    <a:pt x="1752" y="372"/>
                    <a:pt x="1632" y="744"/>
                    <a:pt x="1440" y="1008"/>
                  </a:cubicBezTo>
                  <a:cubicBezTo>
                    <a:pt x="1248" y="1272"/>
                    <a:pt x="912" y="1392"/>
                    <a:pt x="720" y="1584"/>
                  </a:cubicBezTo>
                  <a:cubicBezTo>
                    <a:pt x="528" y="1776"/>
                    <a:pt x="408" y="1944"/>
                    <a:pt x="288" y="2160"/>
                  </a:cubicBezTo>
                  <a:cubicBezTo>
                    <a:pt x="168" y="2376"/>
                    <a:pt x="84" y="2628"/>
                    <a:pt x="0" y="2880"/>
                  </a:cubicBezTo>
                </a:path>
              </a:pathLst>
            </a:custGeom>
            <a:noFill/>
            <a:ln w="158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5" name="Rectangle 4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6" name="Object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253293"/>
              </p:ext>
            </p:extLst>
          </p:nvPr>
        </p:nvGraphicFramePr>
        <p:xfrm>
          <a:off x="3522309" y="533400"/>
          <a:ext cx="1811691" cy="791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900" imgH="431800" progId="Equation.DSMT4">
                  <p:embed/>
                </p:oleObj>
              </mc:Choice>
              <mc:Fallback>
                <p:oleObj name="Equation" r:id="rId3" imgW="977900" imgH="431800" progId="Equation.DSMT4">
                  <p:embed/>
                  <p:pic>
                    <p:nvPicPr>
                      <p:cNvPr id="0" name="Object 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309" y="533400"/>
                        <a:ext cx="1811691" cy="7915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Rectangle 4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8" name="Object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061405"/>
              </p:ext>
            </p:extLst>
          </p:nvPr>
        </p:nvGraphicFramePr>
        <p:xfrm>
          <a:off x="6414473" y="533400"/>
          <a:ext cx="1891327" cy="82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900" imgH="431800" progId="Equation.DSMT4">
                  <p:embed/>
                </p:oleObj>
              </mc:Choice>
              <mc:Fallback>
                <p:oleObj name="Equation" r:id="rId5" imgW="977900" imgH="431800" progId="Equation.DSMT4">
                  <p:embed/>
                  <p:pic>
                    <p:nvPicPr>
                      <p:cNvPr id="0" name="Object 4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473" y="533400"/>
                        <a:ext cx="1891327" cy="826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Object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069238"/>
              </p:ext>
            </p:extLst>
          </p:nvPr>
        </p:nvGraphicFramePr>
        <p:xfrm>
          <a:off x="381000" y="4887525"/>
          <a:ext cx="3910013" cy="90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55520" imgH="457200" progId="Equation.DSMT4">
                  <p:embed/>
                </p:oleObj>
              </mc:Choice>
              <mc:Fallback>
                <p:oleObj name="Equation" r:id="rId7" imgW="1955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87525"/>
                        <a:ext cx="3910013" cy="9063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Object 1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849569"/>
              </p:ext>
            </p:extLst>
          </p:nvPr>
        </p:nvGraphicFramePr>
        <p:xfrm>
          <a:off x="4563864" y="4881062"/>
          <a:ext cx="4296205" cy="887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34880" imgH="457200" progId="Equation.DSMT4">
                  <p:embed/>
                </p:oleObj>
              </mc:Choice>
              <mc:Fallback>
                <p:oleObj name="Equation" r:id="rId9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3864" y="4881062"/>
                        <a:ext cx="4296205" cy="8877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Content Placeholder 2"/>
          <p:cNvSpPr txBox="1">
            <a:spLocks/>
          </p:cNvSpPr>
          <p:nvPr/>
        </p:nvSpPr>
        <p:spPr>
          <a:xfrm>
            <a:off x="4623396" y="4343400"/>
            <a:ext cx="2901553" cy="436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Với hàm phức:</a:t>
            </a:r>
          </a:p>
        </p:txBody>
      </p:sp>
      <p:sp>
        <p:nvSpPr>
          <p:cNvPr id="185" name="Content Placeholder 2"/>
          <p:cNvSpPr txBox="1">
            <a:spLocks/>
          </p:cNvSpPr>
          <p:nvPr/>
        </p:nvSpPr>
        <p:spPr>
          <a:xfrm>
            <a:off x="436960" y="4372642"/>
            <a:ext cx="2901553" cy="436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Tính chất:</a:t>
            </a:r>
          </a:p>
        </p:txBody>
      </p:sp>
      <p:graphicFrame>
        <p:nvGraphicFramePr>
          <p:cNvPr id="186" name="Object 1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514090"/>
              </p:ext>
            </p:extLst>
          </p:nvPr>
        </p:nvGraphicFramePr>
        <p:xfrm>
          <a:off x="472533" y="1632251"/>
          <a:ext cx="2423067" cy="118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520" imgH="507960" progId="Equation.DSMT4">
                  <p:embed/>
                </p:oleObj>
              </mc:Choice>
              <mc:Fallback>
                <p:oleObj name="Equation" r:id="rId11" imgW="10285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33" y="1632251"/>
                        <a:ext cx="2423067" cy="1185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285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/>
      <p:bldP spid="18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90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535132"/>
              </p:ext>
            </p:extLst>
          </p:nvPr>
        </p:nvGraphicFramePr>
        <p:xfrm>
          <a:off x="4849813" y="2617788"/>
          <a:ext cx="303053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482400" progId="Equation.DSMT4">
                  <p:embed/>
                </p:oleObj>
              </mc:Choice>
              <mc:Fallback>
                <p:oleObj name="Equation" r:id="rId3" imgW="1460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13" y="2617788"/>
                        <a:ext cx="3030537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216269" y="2905125"/>
            <a:ext cx="4946053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sóng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531569"/>
              </p:ext>
            </p:extLst>
          </p:nvPr>
        </p:nvGraphicFramePr>
        <p:xfrm>
          <a:off x="1243013" y="3571875"/>
          <a:ext cx="32083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241200" progId="Equation.DSMT4">
                  <p:embed/>
                </p:oleObj>
              </mc:Choice>
              <mc:Fallback>
                <p:oleObj name="Equation" r:id="rId5" imgW="1549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571875"/>
                        <a:ext cx="32083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2"/>
          <p:cNvSpPr txBox="1">
            <a:spLocks/>
          </p:cNvSpPr>
          <p:nvPr/>
        </p:nvSpPr>
        <p:spPr>
          <a:xfrm>
            <a:off x="152400" y="1038225"/>
            <a:ext cx="3933825" cy="121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M4C được phối hợp trở kháng phía thứ cấp: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584396"/>
              </p:ext>
            </p:extLst>
          </p:nvPr>
        </p:nvGraphicFramePr>
        <p:xfrm>
          <a:off x="914400" y="1765300"/>
          <a:ext cx="186848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440" imgH="228600" progId="Equation.DSMT4">
                  <p:embed/>
                </p:oleObj>
              </mc:Choice>
              <mc:Fallback>
                <p:oleObj name="Equation" r:id="rId7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65300"/>
                        <a:ext cx="1868487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4267200" cy="715962"/>
          </a:xfrm>
        </p:spPr>
        <p:txBody>
          <a:bodyPr>
            <a:normAutofit/>
          </a:bodyPr>
          <a:lstStyle/>
          <a:p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Hệ số truyền đạt sóng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3810000" y="552067"/>
            <a:ext cx="5105400" cy="2114933"/>
            <a:chOff x="3132455" y="1645920"/>
            <a:chExt cx="3200400" cy="1293124"/>
          </a:xfrm>
        </p:grpSpPr>
        <p:grpSp>
          <p:nvGrpSpPr>
            <p:cNvPr id="63" name="Group 62"/>
            <p:cNvGrpSpPr/>
            <p:nvPr/>
          </p:nvGrpSpPr>
          <p:grpSpPr>
            <a:xfrm>
              <a:off x="3132455" y="1645920"/>
              <a:ext cx="3200400" cy="1293124"/>
              <a:chOff x="3132455" y="1645920"/>
              <a:chExt cx="3200400" cy="1293124"/>
            </a:xfrm>
          </p:grpSpPr>
          <p:sp>
            <p:nvSpPr>
              <p:cNvPr id="69" name="Text Box 4"/>
              <p:cNvSpPr txBox="1">
                <a:spLocks noChangeArrowheads="1"/>
              </p:cNvSpPr>
              <p:nvPr/>
            </p:nvSpPr>
            <p:spPr bwMode="auto">
              <a:xfrm>
                <a:off x="5897245" y="2148205"/>
                <a:ext cx="435610" cy="2597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effectLst/>
                    <a:latin typeface="Times New Roman"/>
                    <a:ea typeface="Calibri"/>
                    <a:cs typeface="Times New Roman"/>
                  </a:rPr>
                  <a:t>2</a:t>
                </a: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=Z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70" name="Text Box 5"/>
              <p:cNvSpPr txBox="1">
                <a:spLocks noChangeArrowheads="1"/>
              </p:cNvSpPr>
              <p:nvPr/>
            </p:nvSpPr>
            <p:spPr bwMode="auto">
              <a:xfrm>
                <a:off x="3305175" y="1691005"/>
                <a:ext cx="570230" cy="168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effectLst/>
                    <a:latin typeface="Times New Roman"/>
                    <a:ea typeface="Calibri"/>
                    <a:cs typeface="Times New Roman"/>
                  </a:rPr>
                  <a:t>1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71" name="Line 8"/>
              <p:cNvCxnSpPr/>
              <p:nvPr/>
            </p:nvCxnSpPr>
            <p:spPr bwMode="auto">
              <a:xfrm>
                <a:off x="3843020" y="1909445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" name="Line 9"/>
              <p:cNvCxnSpPr/>
              <p:nvPr/>
            </p:nvCxnSpPr>
            <p:spPr bwMode="auto">
              <a:xfrm>
                <a:off x="3885565" y="1966595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3" name="Line 10"/>
              <p:cNvCxnSpPr/>
              <p:nvPr/>
            </p:nvCxnSpPr>
            <p:spPr bwMode="auto">
              <a:xfrm>
                <a:off x="3885565" y="2509520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5" name="Group 74"/>
              <p:cNvGrpSpPr>
                <a:grpSpLocks/>
              </p:cNvGrpSpPr>
              <p:nvPr/>
            </p:nvGrpSpPr>
            <p:grpSpPr bwMode="auto">
              <a:xfrm>
                <a:off x="3837305" y="2002790"/>
                <a:ext cx="91440" cy="91440"/>
                <a:chOff x="4194" y="5364"/>
                <a:chExt cx="144" cy="144"/>
              </a:xfrm>
            </p:grpSpPr>
            <p:cxnSp>
              <p:nvCxnSpPr>
                <p:cNvPr id="102" name="Line 17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" name="Line 18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76" name="Line 19"/>
              <p:cNvCxnSpPr/>
              <p:nvPr/>
            </p:nvCxnSpPr>
            <p:spPr bwMode="auto">
              <a:xfrm>
                <a:off x="3826510" y="2422525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77" name="Group 76"/>
              <p:cNvGrpSpPr>
                <a:grpSpLocks/>
              </p:cNvGrpSpPr>
              <p:nvPr/>
            </p:nvGrpSpPr>
            <p:grpSpPr bwMode="auto">
              <a:xfrm>
                <a:off x="5316220" y="2013585"/>
                <a:ext cx="91440" cy="91440"/>
                <a:chOff x="4194" y="5364"/>
                <a:chExt cx="144" cy="144"/>
              </a:xfrm>
            </p:grpSpPr>
            <p:cxnSp>
              <p:nvCxnSpPr>
                <p:cNvPr id="100" name="Line 21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1" name="Line 22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78" name="Line 23"/>
              <p:cNvCxnSpPr/>
              <p:nvPr/>
            </p:nvCxnSpPr>
            <p:spPr bwMode="auto">
              <a:xfrm>
                <a:off x="5316220" y="2433320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Rectangle 78"/>
              <p:cNvSpPr>
                <a:spLocks noChangeArrowheads="1"/>
              </p:cNvSpPr>
              <p:nvPr/>
            </p:nvSpPr>
            <p:spPr bwMode="auto">
              <a:xfrm>
                <a:off x="4267200" y="1847215"/>
                <a:ext cx="731520" cy="7315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marL="0" marR="0"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/>
                    <a:ea typeface="Times New Roman"/>
                    <a:cs typeface="Times New Roman"/>
                  </a:rPr>
                  <a:t> </a:t>
                </a:r>
                <a:r>
                  <a:rPr lang="en-US" sz="2800" b="1">
                    <a:effectLst/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lang="en-US" sz="2800" b="1">
                  <a:effectLst/>
                  <a:latin typeface="VNarial"/>
                  <a:ea typeface="Times New Roman"/>
                  <a:cs typeface="Times New Roman"/>
                </a:endParaRPr>
              </a:p>
            </p:txBody>
          </p:sp>
          <p:sp>
            <p:nvSpPr>
              <p:cNvPr id="80" name="Freeform 79"/>
              <p:cNvSpPr>
                <a:spLocks/>
              </p:cNvSpPr>
              <p:nvPr/>
            </p:nvSpPr>
            <p:spPr bwMode="auto">
              <a:xfrm>
                <a:off x="3245485" y="1965325"/>
                <a:ext cx="640080" cy="548640"/>
              </a:xfrm>
              <a:custGeom>
                <a:avLst/>
                <a:gdLst>
                  <a:gd name="T0" fmla="*/ 864 w 864"/>
                  <a:gd name="T1" fmla="*/ 0 h 864"/>
                  <a:gd name="T2" fmla="*/ 0 w 864"/>
                  <a:gd name="T3" fmla="*/ 0 h 864"/>
                  <a:gd name="T4" fmla="*/ 0 w 864"/>
                  <a:gd name="T5" fmla="*/ 864 h 864"/>
                  <a:gd name="T6" fmla="*/ 864 w 864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864">
                    <a:moveTo>
                      <a:pt x="864" y="0"/>
                    </a:moveTo>
                    <a:lnTo>
                      <a:pt x="0" y="0"/>
                    </a:lnTo>
                    <a:lnTo>
                      <a:pt x="0" y="864"/>
                    </a:lnTo>
                    <a:lnTo>
                      <a:pt x="864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1" name="Rectangle 80"/>
              <p:cNvSpPr>
                <a:spLocks noChangeArrowheads="1"/>
              </p:cNvSpPr>
              <p:nvPr/>
            </p:nvSpPr>
            <p:spPr bwMode="auto">
              <a:xfrm>
                <a:off x="3417570" y="1906270"/>
                <a:ext cx="274320" cy="1098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82" name="Group 81"/>
              <p:cNvGrpSpPr>
                <a:grpSpLocks/>
              </p:cNvGrpSpPr>
              <p:nvPr/>
            </p:nvGrpSpPr>
            <p:grpSpPr bwMode="auto">
              <a:xfrm>
                <a:off x="3132455" y="2115820"/>
                <a:ext cx="228600" cy="228600"/>
                <a:chOff x="1884" y="2304"/>
                <a:chExt cx="360" cy="360"/>
              </a:xfrm>
            </p:grpSpPr>
            <p:sp>
              <p:nvSpPr>
                <p:cNvPr id="96" name="Oval 95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97" name="Line 29"/>
                <p:cNvCxnSpPr/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8" name="Line 30"/>
                <p:cNvCxnSpPr/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" name="Line 31"/>
                <p:cNvCxnSpPr/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83" name="Freeform 82"/>
              <p:cNvSpPr>
                <a:spLocks/>
              </p:cNvSpPr>
              <p:nvPr/>
            </p:nvSpPr>
            <p:spPr bwMode="auto">
              <a:xfrm>
                <a:off x="5348605" y="1965325"/>
                <a:ext cx="457200" cy="548640"/>
              </a:xfrm>
              <a:custGeom>
                <a:avLst/>
                <a:gdLst>
                  <a:gd name="T0" fmla="*/ 0 w 720"/>
                  <a:gd name="T1" fmla="*/ 0 h 864"/>
                  <a:gd name="T2" fmla="*/ 720 w 720"/>
                  <a:gd name="T3" fmla="*/ 0 h 864"/>
                  <a:gd name="T4" fmla="*/ 720 w 720"/>
                  <a:gd name="T5" fmla="*/ 864 h 864"/>
                  <a:gd name="T6" fmla="*/ 0 w 720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864">
                    <a:moveTo>
                      <a:pt x="0" y="0"/>
                    </a:moveTo>
                    <a:lnTo>
                      <a:pt x="720" y="0"/>
                    </a:lnTo>
                    <a:lnTo>
                      <a:pt x="720" y="864"/>
                    </a:lnTo>
                    <a:lnTo>
                      <a:pt x="0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4" name="Rectangle 83"/>
              <p:cNvSpPr>
                <a:spLocks noChangeArrowheads="1"/>
              </p:cNvSpPr>
              <p:nvPr/>
            </p:nvSpPr>
            <p:spPr bwMode="auto">
              <a:xfrm>
                <a:off x="5749925" y="2094230"/>
                <a:ext cx="109855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85" name="Group 84"/>
              <p:cNvGrpSpPr/>
              <p:nvPr/>
            </p:nvGrpSpPr>
            <p:grpSpPr>
              <a:xfrm>
                <a:off x="3387090" y="1645920"/>
                <a:ext cx="2087245" cy="692785"/>
                <a:chOff x="0" y="0"/>
                <a:chExt cx="2087659" cy="692978"/>
              </a:xfrm>
            </p:grpSpPr>
            <p:sp>
              <p:nvSpPr>
                <p:cNvPr id="9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40688" y="15903"/>
                  <a:ext cx="139700" cy="215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grpSp>
              <p:nvGrpSpPr>
                <p:cNvPr id="91" name="Group 90"/>
                <p:cNvGrpSpPr/>
                <p:nvPr/>
              </p:nvGrpSpPr>
              <p:grpSpPr>
                <a:xfrm>
                  <a:off x="0" y="0"/>
                  <a:ext cx="2087659" cy="692978"/>
                  <a:chOff x="0" y="0"/>
                  <a:chExt cx="2087659" cy="692978"/>
                </a:xfrm>
              </p:grpSpPr>
              <p:sp>
                <p:nvSpPr>
                  <p:cNvPr id="92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4459" y="477078"/>
                    <a:ext cx="203200" cy="2159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9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4946" y="0"/>
                    <a:ext cx="165100" cy="2159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94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477078"/>
                    <a:ext cx="165100" cy="2159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/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95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370" y="539264"/>
                    <a:ext cx="163837" cy="145762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 type="none" w="sm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</a:pPr>
                    <a:endParaRPr lang="en-US" sz="1100">
                      <a:effectLst/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</p:grpSp>
          </p:grpSp>
          <p:sp>
            <p:nvSpPr>
              <p:cNvPr id="86" name="Freeform 85"/>
              <p:cNvSpPr>
                <a:spLocks/>
              </p:cNvSpPr>
              <p:nvPr/>
            </p:nvSpPr>
            <p:spPr bwMode="auto">
              <a:xfrm>
                <a:off x="4060884" y="2239645"/>
                <a:ext cx="190441" cy="505460"/>
              </a:xfrm>
              <a:custGeom>
                <a:avLst/>
                <a:gdLst>
                  <a:gd name="T0" fmla="*/ 0 w 288"/>
                  <a:gd name="T1" fmla="*/ 576 h 576"/>
                  <a:gd name="T2" fmla="*/ 0 w 288"/>
                  <a:gd name="T3" fmla="*/ 0 h 576"/>
                  <a:gd name="T4" fmla="*/ 288 w 28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576">
                    <a:moveTo>
                      <a:pt x="0" y="576"/>
                    </a:moveTo>
                    <a:lnTo>
                      <a:pt x="0" y="0"/>
                    </a:lnTo>
                    <a:lnTo>
                      <a:pt x="288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7" name="Freeform 86"/>
              <p:cNvSpPr>
                <a:spLocks/>
              </p:cNvSpPr>
              <p:nvPr/>
            </p:nvSpPr>
            <p:spPr bwMode="auto">
              <a:xfrm>
                <a:off x="5033986" y="2223770"/>
                <a:ext cx="162242" cy="516889"/>
              </a:xfrm>
              <a:custGeom>
                <a:avLst/>
                <a:gdLst>
                  <a:gd name="T0" fmla="*/ 288 w 288"/>
                  <a:gd name="T1" fmla="*/ 1008 h 1008"/>
                  <a:gd name="T2" fmla="*/ 288 w 288"/>
                  <a:gd name="T3" fmla="*/ 0 h 1008"/>
                  <a:gd name="T4" fmla="*/ 0 w 288"/>
                  <a:gd name="T5" fmla="*/ 0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1008">
                    <a:moveTo>
                      <a:pt x="288" y="1008"/>
                    </a:moveTo>
                    <a:lnTo>
                      <a:pt x="288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8" name="Text Box 37"/>
              <p:cNvSpPr txBox="1">
                <a:spLocks noChangeArrowheads="1"/>
              </p:cNvSpPr>
              <p:nvPr/>
            </p:nvSpPr>
            <p:spPr bwMode="auto">
              <a:xfrm>
                <a:off x="3758942" y="2669169"/>
                <a:ext cx="603885" cy="269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effectLst/>
                    <a:latin typeface="Times New Roman"/>
                    <a:ea typeface="Calibri"/>
                    <a:cs typeface="Times New Roman"/>
                  </a:rPr>
                  <a:t>v1=</a:t>
                </a: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89" name="Text Box 38"/>
              <p:cNvSpPr txBox="1">
                <a:spLocks noChangeArrowheads="1"/>
              </p:cNvSpPr>
              <p:nvPr/>
            </p:nvSpPr>
            <p:spPr bwMode="auto">
              <a:xfrm>
                <a:off x="4982480" y="2669169"/>
                <a:ext cx="603885" cy="2419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effectLst/>
                    <a:latin typeface="Times New Roman"/>
                    <a:ea typeface="Calibri"/>
                    <a:cs typeface="Times New Roman"/>
                  </a:rPr>
                  <a:t>v2=</a:t>
                </a: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58" name="Line 8"/>
              <p:cNvCxnSpPr/>
              <p:nvPr/>
            </p:nvCxnSpPr>
            <p:spPr bwMode="auto">
              <a:xfrm>
                <a:off x="5098435" y="1904300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aphicFrame>
          <p:nvGraphicFramePr>
            <p:cNvPr id="6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8956267"/>
                </p:ext>
              </p:extLst>
            </p:nvPr>
          </p:nvGraphicFramePr>
          <p:xfrm>
            <a:off x="3798736" y="2123917"/>
            <a:ext cx="199859" cy="252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8736" y="2123917"/>
                          <a:ext cx="199859" cy="2528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8269771"/>
                </p:ext>
              </p:extLst>
            </p:nvPr>
          </p:nvGraphicFramePr>
          <p:xfrm>
            <a:off x="5256213" y="2144713"/>
            <a:ext cx="2127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41200" progId="Equation.DSMT4">
                    <p:embed/>
                  </p:oleObj>
                </mc:Choice>
                <mc:Fallback>
                  <p:oleObj name="Equation" r:id="rId11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6213" y="2144713"/>
                          <a:ext cx="2127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255305"/>
                </p:ext>
              </p:extLst>
            </p:nvPr>
          </p:nvGraphicFramePr>
          <p:xfrm>
            <a:off x="3922713" y="1674867"/>
            <a:ext cx="147637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241200" progId="Equation.DSMT4">
                    <p:embed/>
                  </p:oleObj>
                </mc:Choice>
                <mc:Fallback>
                  <p:oleObj name="Equation" r:id="rId13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2713" y="1674867"/>
                          <a:ext cx="147637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0067843"/>
                </p:ext>
              </p:extLst>
            </p:nvPr>
          </p:nvGraphicFramePr>
          <p:xfrm>
            <a:off x="5145088" y="1663754"/>
            <a:ext cx="1603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241200" progId="Equation.DSMT4">
                    <p:embed/>
                  </p:oleObj>
                </mc:Choice>
                <mc:Fallback>
                  <p:oleObj name="Equation" r:id="rId15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5088" y="1663754"/>
                          <a:ext cx="160337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5239499"/>
                </p:ext>
              </p:extLst>
            </p:nvPr>
          </p:nvGraphicFramePr>
          <p:xfrm>
            <a:off x="3384550" y="2116138"/>
            <a:ext cx="1873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480" imgH="241200" progId="Equation.DSMT4">
                    <p:embed/>
                  </p:oleObj>
                </mc:Choice>
                <mc:Fallback>
                  <p:oleObj name="Equation" r:id="rId17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550" y="2116138"/>
                          <a:ext cx="1873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881599"/>
              </p:ext>
            </p:extLst>
          </p:nvPr>
        </p:nvGraphicFramePr>
        <p:xfrm>
          <a:off x="609600" y="4176713"/>
          <a:ext cx="63214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47760" imgH="482400" progId="Equation.DSMT4">
                  <p:embed/>
                </p:oleObj>
              </mc:Choice>
              <mc:Fallback>
                <p:oleObj name="Equation" r:id="rId19" imgW="304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76713"/>
                        <a:ext cx="632142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Content Placeholder 2"/>
          <p:cNvSpPr txBox="1">
            <a:spLocks/>
          </p:cNvSpPr>
          <p:nvPr/>
        </p:nvSpPr>
        <p:spPr>
          <a:xfrm>
            <a:off x="228600" y="3581400"/>
            <a:ext cx="115533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   Với:</a:t>
            </a:r>
          </a:p>
        </p:txBody>
      </p:sp>
      <p:graphicFrame>
        <p:nvGraphicFramePr>
          <p:cNvPr id="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799288"/>
              </p:ext>
            </p:extLst>
          </p:nvPr>
        </p:nvGraphicFramePr>
        <p:xfrm>
          <a:off x="681037" y="5334000"/>
          <a:ext cx="29765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34960" imgH="482400" progId="Equation.DSMT4">
                  <p:embed/>
                </p:oleObj>
              </mc:Choice>
              <mc:Fallback>
                <p:oleObj name="Equation" r:id="rId21" imgW="1434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7" y="5334000"/>
                        <a:ext cx="2976563" cy="10048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519646"/>
              </p:ext>
            </p:extLst>
          </p:nvPr>
        </p:nvGraphicFramePr>
        <p:xfrm>
          <a:off x="4318000" y="5334000"/>
          <a:ext cx="271303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07880" imgH="482400" progId="Equation.DSMT4">
                  <p:embed/>
                </p:oleObj>
              </mc:Choice>
              <mc:Fallback>
                <p:oleObj name="Equation" r:id="rId23" imgW="1307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5334000"/>
                        <a:ext cx="2713038" cy="10048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411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370548"/>
              </p:ext>
            </p:extLst>
          </p:nvPr>
        </p:nvGraphicFramePr>
        <p:xfrm>
          <a:off x="5172417" y="1155699"/>
          <a:ext cx="342423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0960" imgH="304560" progId="Equation.DSMT4">
                  <p:embed/>
                </p:oleObj>
              </mc:Choice>
              <mc:Fallback>
                <p:oleObj name="Equation" r:id="rId3" imgW="1650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417" y="1155699"/>
                        <a:ext cx="3424237" cy="6318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37602"/>
              </p:ext>
            </p:extLst>
          </p:nvPr>
        </p:nvGraphicFramePr>
        <p:xfrm>
          <a:off x="404813" y="381000"/>
          <a:ext cx="4243387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507960" progId="Equation.DSMT4">
                  <p:embed/>
                </p:oleObj>
              </mc:Choice>
              <mc:Fallback>
                <p:oleObj name="Equation" r:id="rId5" imgW="2336760" imgH="507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381000"/>
                        <a:ext cx="4243387" cy="973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041387"/>
              </p:ext>
            </p:extLst>
          </p:nvPr>
        </p:nvGraphicFramePr>
        <p:xfrm>
          <a:off x="422275" y="1395413"/>
          <a:ext cx="173831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482400" progId="Equation.DSMT4">
                  <p:embed/>
                </p:oleObj>
              </mc:Choice>
              <mc:Fallback>
                <p:oleObj name="Equation" r:id="rId7" imgW="87624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1395413"/>
                        <a:ext cx="173831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ight Brace 9"/>
          <p:cNvSpPr/>
          <p:nvPr/>
        </p:nvSpPr>
        <p:spPr>
          <a:xfrm>
            <a:off x="4638676" y="633412"/>
            <a:ext cx="304800" cy="1676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Content Placeholder 2"/>
          <p:cNvSpPr txBox="1">
            <a:spLocks/>
          </p:cNvSpPr>
          <p:nvPr/>
        </p:nvSpPr>
        <p:spPr>
          <a:xfrm>
            <a:off x="304800" y="3352800"/>
            <a:ext cx="3933825" cy="121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M4C được phối hợp trở kháng phía sơ cấp: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3977504" y="2743200"/>
            <a:ext cx="4614046" cy="2133600"/>
            <a:chOff x="3190558" y="1645920"/>
            <a:chExt cx="2936211" cy="1293124"/>
          </a:xfrm>
        </p:grpSpPr>
        <p:grpSp>
          <p:nvGrpSpPr>
            <p:cNvPr id="107" name="Group 106"/>
            <p:cNvGrpSpPr/>
            <p:nvPr/>
          </p:nvGrpSpPr>
          <p:grpSpPr>
            <a:xfrm>
              <a:off x="3190558" y="1645920"/>
              <a:ext cx="2729547" cy="1293124"/>
              <a:chOff x="3190558" y="1645920"/>
              <a:chExt cx="2729547" cy="1293124"/>
            </a:xfrm>
          </p:grpSpPr>
          <p:sp>
            <p:nvSpPr>
              <p:cNvPr id="126" name="Freeform 125"/>
              <p:cNvSpPr>
                <a:spLocks/>
              </p:cNvSpPr>
              <p:nvPr/>
            </p:nvSpPr>
            <p:spPr bwMode="auto">
              <a:xfrm>
                <a:off x="5348605" y="1965325"/>
                <a:ext cx="457200" cy="548640"/>
              </a:xfrm>
              <a:custGeom>
                <a:avLst/>
                <a:gdLst>
                  <a:gd name="T0" fmla="*/ 0 w 720"/>
                  <a:gd name="T1" fmla="*/ 0 h 864"/>
                  <a:gd name="T2" fmla="*/ 720 w 720"/>
                  <a:gd name="T3" fmla="*/ 0 h 864"/>
                  <a:gd name="T4" fmla="*/ 720 w 720"/>
                  <a:gd name="T5" fmla="*/ 864 h 864"/>
                  <a:gd name="T6" fmla="*/ 0 w 720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864">
                    <a:moveTo>
                      <a:pt x="0" y="0"/>
                    </a:moveTo>
                    <a:lnTo>
                      <a:pt x="720" y="0"/>
                    </a:lnTo>
                    <a:lnTo>
                      <a:pt x="720" y="864"/>
                    </a:lnTo>
                    <a:lnTo>
                      <a:pt x="0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13" name="Text Box 4"/>
              <p:cNvSpPr txBox="1">
                <a:spLocks noChangeArrowheads="1"/>
              </p:cNvSpPr>
              <p:nvPr/>
            </p:nvSpPr>
            <p:spPr bwMode="auto">
              <a:xfrm>
                <a:off x="3334352" y="2125403"/>
                <a:ext cx="435610" cy="2597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1</a:t>
                </a: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=Z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115" name="Line 8"/>
              <p:cNvCxnSpPr/>
              <p:nvPr/>
            </p:nvCxnSpPr>
            <p:spPr bwMode="auto">
              <a:xfrm>
                <a:off x="3471892" y="1909445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" name="Line 9"/>
              <p:cNvCxnSpPr/>
              <p:nvPr/>
            </p:nvCxnSpPr>
            <p:spPr bwMode="auto">
              <a:xfrm>
                <a:off x="3885565" y="1966595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7" name="Line 10"/>
              <p:cNvCxnSpPr/>
              <p:nvPr/>
            </p:nvCxnSpPr>
            <p:spPr bwMode="auto">
              <a:xfrm>
                <a:off x="3885565" y="2509520"/>
                <a:ext cx="14630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18" name="Group 117"/>
              <p:cNvGrpSpPr>
                <a:grpSpLocks/>
              </p:cNvGrpSpPr>
              <p:nvPr/>
            </p:nvGrpSpPr>
            <p:grpSpPr bwMode="auto">
              <a:xfrm>
                <a:off x="3837305" y="2002790"/>
                <a:ext cx="91440" cy="91440"/>
                <a:chOff x="4194" y="5364"/>
                <a:chExt cx="144" cy="144"/>
              </a:xfrm>
            </p:grpSpPr>
            <p:cxnSp>
              <p:nvCxnSpPr>
                <p:cNvPr id="146" name="Line 17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7" name="Line 18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119" name="Line 19"/>
              <p:cNvCxnSpPr/>
              <p:nvPr/>
            </p:nvCxnSpPr>
            <p:spPr bwMode="auto">
              <a:xfrm>
                <a:off x="3826510" y="2422525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120" name="Group 119"/>
              <p:cNvGrpSpPr>
                <a:grpSpLocks/>
              </p:cNvGrpSpPr>
              <p:nvPr/>
            </p:nvGrpSpPr>
            <p:grpSpPr bwMode="auto">
              <a:xfrm>
                <a:off x="5316220" y="2013585"/>
                <a:ext cx="91440" cy="91440"/>
                <a:chOff x="4194" y="5364"/>
                <a:chExt cx="144" cy="144"/>
              </a:xfrm>
            </p:grpSpPr>
            <p:cxnSp>
              <p:nvCxnSpPr>
                <p:cNvPr id="144" name="Line 21"/>
                <p:cNvCxnSpPr/>
                <p:nvPr/>
              </p:nvCxnSpPr>
              <p:spPr bwMode="auto">
                <a:xfrm>
                  <a:off x="4194" y="541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5" name="Line 22"/>
                <p:cNvCxnSpPr/>
                <p:nvPr/>
              </p:nvCxnSpPr>
              <p:spPr bwMode="auto">
                <a:xfrm>
                  <a:off x="4248" y="536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121" name="Line 23"/>
              <p:cNvCxnSpPr/>
              <p:nvPr/>
            </p:nvCxnSpPr>
            <p:spPr bwMode="auto">
              <a:xfrm>
                <a:off x="5316220" y="2433320"/>
                <a:ext cx="9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22" name="Rectangle 121"/>
              <p:cNvSpPr>
                <a:spLocks noChangeArrowheads="1"/>
              </p:cNvSpPr>
              <p:nvPr/>
            </p:nvSpPr>
            <p:spPr bwMode="auto">
              <a:xfrm>
                <a:off x="4267200" y="1847215"/>
                <a:ext cx="731520" cy="7315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marL="0" marR="0"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/>
                    <a:ea typeface="Times New Roman"/>
                    <a:cs typeface="Times New Roman"/>
                  </a:rPr>
                  <a:t> </a:t>
                </a:r>
                <a:r>
                  <a:rPr lang="en-US" sz="2800" b="1">
                    <a:effectLst/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lang="en-US" sz="2800" b="1">
                  <a:effectLst/>
                  <a:latin typeface="VNarial"/>
                  <a:ea typeface="Times New Roman"/>
                  <a:cs typeface="Times New Roman"/>
                </a:endParaRPr>
              </a:p>
            </p:txBody>
          </p:sp>
          <p:sp>
            <p:nvSpPr>
              <p:cNvPr id="123" name="Freeform 122"/>
              <p:cNvSpPr>
                <a:spLocks/>
              </p:cNvSpPr>
              <p:nvPr/>
            </p:nvSpPr>
            <p:spPr bwMode="auto">
              <a:xfrm>
                <a:off x="3245485" y="1965325"/>
                <a:ext cx="640080" cy="548640"/>
              </a:xfrm>
              <a:custGeom>
                <a:avLst/>
                <a:gdLst>
                  <a:gd name="T0" fmla="*/ 864 w 864"/>
                  <a:gd name="T1" fmla="*/ 0 h 864"/>
                  <a:gd name="T2" fmla="*/ 0 w 864"/>
                  <a:gd name="T3" fmla="*/ 0 h 864"/>
                  <a:gd name="T4" fmla="*/ 0 w 864"/>
                  <a:gd name="T5" fmla="*/ 864 h 864"/>
                  <a:gd name="T6" fmla="*/ 864 w 864"/>
                  <a:gd name="T7" fmla="*/ 864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864">
                    <a:moveTo>
                      <a:pt x="864" y="0"/>
                    </a:moveTo>
                    <a:lnTo>
                      <a:pt x="0" y="0"/>
                    </a:lnTo>
                    <a:lnTo>
                      <a:pt x="0" y="864"/>
                    </a:lnTo>
                    <a:lnTo>
                      <a:pt x="864" y="864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125" name="Group 124"/>
              <p:cNvGrpSpPr>
                <a:grpSpLocks/>
              </p:cNvGrpSpPr>
              <p:nvPr/>
            </p:nvGrpSpPr>
            <p:grpSpPr bwMode="auto">
              <a:xfrm>
                <a:off x="5691505" y="2109470"/>
                <a:ext cx="228600" cy="228600"/>
                <a:chOff x="5914" y="2294"/>
                <a:chExt cx="360" cy="360"/>
              </a:xfrm>
            </p:grpSpPr>
            <p:sp>
              <p:nvSpPr>
                <p:cNvPr id="140" name="Oval 139"/>
                <p:cNvSpPr>
                  <a:spLocks noChangeArrowheads="1"/>
                </p:cNvSpPr>
                <p:nvPr/>
              </p:nvSpPr>
              <p:spPr bwMode="auto">
                <a:xfrm>
                  <a:off x="5914" y="229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141" name="Line 29"/>
                <p:cNvCxnSpPr/>
                <p:nvPr/>
              </p:nvCxnSpPr>
              <p:spPr bwMode="auto">
                <a:xfrm>
                  <a:off x="6040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2" name="Line 30"/>
                <p:cNvCxnSpPr/>
                <p:nvPr/>
              </p:nvCxnSpPr>
              <p:spPr bwMode="auto">
                <a:xfrm>
                  <a:off x="6098" y="234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3" name="Line 31"/>
                <p:cNvCxnSpPr/>
                <p:nvPr/>
              </p:nvCxnSpPr>
              <p:spPr bwMode="auto">
                <a:xfrm>
                  <a:off x="6036" y="257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27" name="Rectangle 126"/>
              <p:cNvSpPr>
                <a:spLocks noChangeArrowheads="1"/>
              </p:cNvSpPr>
              <p:nvPr/>
            </p:nvSpPr>
            <p:spPr bwMode="auto">
              <a:xfrm>
                <a:off x="3190558" y="2110528"/>
                <a:ext cx="109855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135" name="Group 134"/>
              <p:cNvGrpSpPr/>
              <p:nvPr/>
            </p:nvGrpSpPr>
            <p:grpSpPr>
              <a:xfrm>
                <a:off x="3816375" y="1645920"/>
                <a:ext cx="1657960" cy="692785"/>
                <a:chOff x="429370" y="0"/>
                <a:chExt cx="1658289" cy="692978"/>
              </a:xfrm>
            </p:grpSpPr>
            <p:sp>
              <p:nvSpPr>
                <p:cNvPr id="13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884459" y="477078"/>
                  <a:ext cx="203200" cy="215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3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804946" y="0"/>
                  <a:ext cx="165100" cy="215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3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29370" y="539264"/>
                  <a:ext cx="163837" cy="14576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endParaRPr lang="en-US" sz="1100">
                    <a:effectLst/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129" name="Freeform 128"/>
              <p:cNvSpPr>
                <a:spLocks/>
              </p:cNvSpPr>
              <p:nvPr/>
            </p:nvSpPr>
            <p:spPr bwMode="auto">
              <a:xfrm>
                <a:off x="4060884" y="2239645"/>
                <a:ext cx="190441" cy="505460"/>
              </a:xfrm>
              <a:custGeom>
                <a:avLst/>
                <a:gdLst>
                  <a:gd name="T0" fmla="*/ 0 w 288"/>
                  <a:gd name="T1" fmla="*/ 576 h 576"/>
                  <a:gd name="T2" fmla="*/ 0 w 288"/>
                  <a:gd name="T3" fmla="*/ 0 h 576"/>
                  <a:gd name="T4" fmla="*/ 288 w 28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576">
                    <a:moveTo>
                      <a:pt x="0" y="576"/>
                    </a:moveTo>
                    <a:lnTo>
                      <a:pt x="0" y="0"/>
                    </a:lnTo>
                    <a:lnTo>
                      <a:pt x="288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30" name="Freeform 129"/>
              <p:cNvSpPr>
                <a:spLocks/>
              </p:cNvSpPr>
              <p:nvPr/>
            </p:nvSpPr>
            <p:spPr bwMode="auto">
              <a:xfrm>
                <a:off x="5033986" y="2223770"/>
                <a:ext cx="162242" cy="516889"/>
              </a:xfrm>
              <a:custGeom>
                <a:avLst/>
                <a:gdLst>
                  <a:gd name="T0" fmla="*/ 288 w 288"/>
                  <a:gd name="T1" fmla="*/ 1008 h 1008"/>
                  <a:gd name="T2" fmla="*/ 288 w 288"/>
                  <a:gd name="T3" fmla="*/ 0 h 1008"/>
                  <a:gd name="T4" fmla="*/ 0 w 288"/>
                  <a:gd name="T5" fmla="*/ 0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1008">
                    <a:moveTo>
                      <a:pt x="288" y="1008"/>
                    </a:moveTo>
                    <a:lnTo>
                      <a:pt x="288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31" name="Text Box 37"/>
              <p:cNvSpPr txBox="1">
                <a:spLocks noChangeArrowheads="1"/>
              </p:cNvSpPr>
              <p:nvPr/>
            </p:nvSpPr>
            <p:spPr bwMode="auto">
              <a:xfrm>
                <a:off x="3758942" y="2669169"/>
                <a:ext cx="603885" cy="269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effectLst/>
                    <a:latin typeface="Times New Roman"/>
                    <a:ea typeface="Calibri"/>
                    <a:cs typeface="Times New Roman"/>
                  </a:rPr>
                  <a:t>v1=</a:t>
                </a: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c1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32" name="Text Box 38"/>
              <p:cNvSpPr txBox="1">
                <a:spLocks noChangeArrowheads="1"/>
              </p:cNvSpPr>
              <p:nvPr/>
            </p:nvSpPr>
            <p:spPr bwMode="auto">
              <a:xfrm>
                <a:off x="4982480" y="2669169"/>
                <a:ext cx="603885" cy="2419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effectLst/>
                    <a:latin typeface="Times New Roman"/>
                    <a:ea typeface="Calibri"/>
                    <a:cs typeface="Times New Roman"/>
                  </a:rPr>
                  <a:t>v2=</a:t>
                </a: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 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c2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133" name="Line 8"/>
              <p:cNvCxnSpPr/>
              <p:nvPr/>
            </p:nvCxnSpPr>
            <p:spPr bwMode="auto">
              <a:xfrm>
                <a:off x="5098435" y="1904300"/>
                <a:ext cx="274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4" name="Rectangle 123"/>
              <p:cNvSpPr>
                <a:spLocks noChangeArrowheads="1"/>
              </p:cNvSpPr>
              <p:nvPr/>
            </p:nvSpPr>
            <p:spPr bwMode="auto">
              <a:xfrm>
                <a:off x="5474335" y="1915444"/>
                <a:ext cx="274320" cy="1098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18288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49" name="Text Box 4"/>
              <p:cNvSpPr txBox="1">
                <a:spLocks noChangeArrowheads="1"/>
              </p:cNvSpPr>
              <p:nvPr/>
            </p:nvSpPr>
            <p:spPr bwMode="auto">
              <a:xfrm>
                <a:off x="5530997" y="1706880"/>
                <a:ext cx="268458" cy="2597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b="1">
                    <a:effectLst/>
                    <a:latin typeface="Times New Roman"/>
                    <a:ea typeface="Calibri"/>
                    <a:cs typeface="Times New Roman"/>
                  </a:rPr>
                  <a:t>Z</a:t>
                </a:r>
                <a:r>
                  <a:rPr lang="en-US" b="1" baseline="-25000">
                    <a:latin typeface="Times New Roman"/>
                    <a:ea typeface="Calibri"/>
                    <a:cs typeface="Times New Roman"/>
                  </a:rPr>
                  <a:t>2</a:t>
                </a:r>
                <a:endParaRPr lang="en-US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p:grpSp>
        <p:graphicFrame>
          <p:nvGraphicFramePr>
            <p:cNvPr id="10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3579261"/>
                </p:ext>
              </p:extLst>
            </p:nvPr>
          </p:nvGraphicFramePr>
          <p:xfrm>
            <a:off x="3798736" y="2123917"/>
            <a:ext cx="199859" cy="252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8736" y="2123917"/>
                          <a:ext cx="199859" cy="2528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7449369"/>
                </p:ext>
              </p:extLst>
            </p:nvPr>
          </p:nvGraphicFramePr>
          <p:xfrm>
            <a:off x="5256213" y="2144713"/>
            <a:ext cx="212725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41200" progId="Equation.DSMT4">
                    <p:embed/>
                  </p:oleObj>
                </mc:Choice>
                <mc:Fallback>
                  <p:oleObj name="Equation" r:id="rId11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6213" y="2144713"/>
                          <a:ext cx="212725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00373"/>
                </p:ext>
              </p:extLst>
            </p:nvPr>
          </p:nvGraphicFramePr>
          <p:xfrm>
            <a:off x="3537485" y="1663032"/>
            <a:ext cx="147637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241200" progId="Equation.DSMT4">
                    <p:embed/>
                  </p:oleObj>
                </mc:Choice>
                <mc:Fallback>
                  <p:oleObj name="Equation" r:id="rId13" imgW="139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485" y="1663032"/>
                          <a:ext cx="147637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6036326"/>
                </p:ext>
              </p:extLst>
            </p:nvPr>
          </p:nvGraphicFramePr>
          <p:xfrm>
            <a:off x="5145088" y="1663754"/>
            <a:ext cx="1603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241200" progId="Equation.DSMT4">
                    <p:embed/>
                  </p:oleObj>
                </mc:Choice>
                <mc:Fallback>
                  <p:oleObj name="Equation" r:id="rId15" imgW="152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5088" y="1663754"/>
                          <a:ext cx="160337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0112661"/>
                </p:ext>
              </p:extLst>
            </p:nvPr>
          </p:nvGraphicFramePr>
          <p:xfrm>
            <a:off x="5926744" y="2121220"/>
            <a:ext cx="200025" cy="253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90440" imgH="241200" progId="Equation.DSMT4">
                    <p:embed/>
                  </p:oleObj>
                </mc:Choice>
                <mc:Fallback>
                  <p:oleObj name="Equation" r:id="rId17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6744" y="2121220"/>
                          <a:ext cx="200025" cy="2530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498639"/>
              </p:ext>
            </p:extLst>
          </p:nvPr>
        </p:nvGraphicFramePr>
        <p:xfrm>
          <a:off x="5038725" y="5105400"/>
          <a:ext cx="29765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34960" imgH="482400" progId="Equation.DSMT4">
                  <p:embed/>
                </p:oleObj>
              </mc:Choice>
              <mc:Fallback>
                <p:oleObj name="Equation" r:id="rId19" imgW="1434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5105400"/>
                        <a:ext cx="297656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Content Placeholder 2"/>
          <p:cNvSpPr txBox="1">
            <a:spLocks/>
          </p:cNvSpPr>
          <p:nvPr/>
        </p:nvSpPr>
        <p:spPr>
          <a:xfrm>
            <a:off x="216269" y="5410200"/>
            <a:ext cx="512889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sóng thứ </a:t>
            </a:r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51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157512"/>
              </p:ext>
            </p:extLst>
          </p:nvPr>
        </p:nvGraphicFramePr>
        <p:xfrm>
          <a:off x="2397125" y="1419225"/>
          <a:ext cx="176371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88840" imgH="482400" progId="Equation.DSMT4">
                  <p:embed/>
                </p:oleObj>
              </mc:Choice>
              <mc:Fallback>
                <p:oleObj name="Equation" r:id="rId21" imgW="888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1419225"/>
                        <a:ext cx="176371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41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5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37643"/>
              </p:ext>
            </p:extLst>
          </p:nvPr>
        </p:nvGraphicFramePr>
        <p:xfrm>
          <a:off x="501650" y="898525"/>
          <a:ext cx="827563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51080" imgH="482400" progId="Equation.DSMT4">
                  <p:embed/>
                </p:oleObj>
              </mc:Choice>
              <mc:Fallback>
                <p:oleObj name="Equation" r:id="rId3" imgW="4051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898525"/>
                        <a:ext cx="827563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33400" y="365125"/>
            <a:ext cx="3938588" cy="549275"/>
            <a:chOff x="533400" y="365125"/>
            <a:chExt cx="3938588" cy="549275"/>
          </a:xfrm>
        </p:grpSpPr>
        <p:graphicFrame>
          <p:nvGraphicFramePr>
            <p:cNvPr id="2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1882655"/>
                </p:ext>
              </p:extLst>
            </p:nvPr>
          </p:nvGraphicFramePr>
          <p:xfrm>
            <a:off x="1263650" y="365125"/>
            <a:ext cx="3208338" cy="501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49080" imgH="241200" progId="Equation.DSMT4">
                    <p:embed/>
                  </p:oleObj>
                </mc:Choice>
                <mc:Fallback>
                  <p:oleObj name="Equation" r:id="rId5" imgW="1549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650" y="365125"/>
                          <a:ext cx="3208338" cy="501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E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Content Placeholder 2"/>
            <p:cNvSpPr txBox="1">
              <a:spLocks/>
            </p:cNvSpPr>
            <p:nvPr/>
          </p:nvSpPr>
          <p:spPr>
            <a:xfrm>
              <a:off x="533400" y="381000"/>
              <a:ext cx="8382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Với:</a:t>
              </a:r>
            </a:p>
          </p:txBody>
        </p:sp>
      </p:grp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8469"/>
              </p:ext>
            </p:extLst>
          </p:nvPr>
        </p:nvGraphicFramePr>
        <p:xfrm>
          <a:off x="595313" y="2043113"/>
          <a:ext cx="324167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040" imgH="482400" progId="Equation.DSMT4">
                  <p:embed/>
                </p:oleObj>
              </mc:Choice>
              <mc:Fallback>
                <p:oleObj name="Equation" r:id="rId7" imgW="1562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2043113"/>
                        <a:ext cx="3241675" cy="10048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47794"/>
              </p:ext>
            </p:extLst>
          </p:nvPr>
        </p:nvGraphicFramePr>
        <p:xfrm>
          <a:off x="4419600" y="2043113"/>
          <a:ext cx="25542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1560" imgH="482400" progId="Equation.DSMT4">
                  <p:embed/>
                </p:oleObj>
              </mc:Choice>
              <mc:Fallback>
                <p:oleObj name="Equation" r:id="rId9" imgW="1231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43113"/>
                        <a:ext cx="2554288" cy="10048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493812"/>
              </p:ext>
            </p:extLst>
          </p:nvPr>
        </p:nvGraphicFramePr>
        <p:xfrm>
          <a:off x="5219700" y="3938588"/>
          <a:ext cx="3503613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88760" imgH="533160" progId="Equation.DSMT4">
                  <p:embed/>
                </p:oleObj>
              </mc:Choice>
              <mc:Fallback>
                <p:oleObj name="Equation" r:id="rId11" imgW="168876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938588"/>
                        <a:ext cx="3503613" cy="11064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030533"/>
              </p:ext>
            </p:extLst>
          </p:nvPr>
        </p:nvGraphicFramePr>
        <p:xfrm>
          <a:off x="558800" y="3217863"/>
          <a:ext cx="4241800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36760" imgH="698400" progId="Equation.DSMT4">
                  <p:embed/>
                </p:oleObj>
              </mc:Choice>
              <mc:Fallback>
                <p:oleObj name="Equation" r:id="rId13" imgW="23367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3217863"/>
                        <a:ext cx="4241800" cy="1338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891258"/>
              </p:ext>
            </p:extLst>
          </p:nvPr>
        </p:nvGraphicFramePr>
        <p:xfrm>
          <a:off x="590550" y="4479925"/>
          <a:ext cx="17367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76240" imgH="482400" progId="Equation.DSMT4">
                  <p:embed/>
                </p:oleObj>
              </mc:Choice>
              <mc:Fallback>
                <p:oleObj name="Equation" r:id="rId15" imgW="876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4479925"/>
                        <a:ext cx="17367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ight Brace 15"/>
          <p:cNvSpPr/>
          <p:nvPr/>
        </p:nvSpPr>
        <p:spPr>
          <a:xfrm>
            <a:off x="4805022" y="3565650"/>
            <a:ext cx="304800" cy="18288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39338" y="5711825"/>
            <a:ext cx="3245262" cy="536575"/>
            <a:chOff x="539338" y="5575175"/>
            <a:chExt cx="3245262" cy="536575"/>
          </a:xfrm>
        </p:grpSpPr>
        <p:graphicFrame>
          <p:nvGraphicFramePr>
            <p:cNvPr id="1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4366477"/>
                </p:ext>
              </p:extLst>
            </p:nvPr>
          </p:nvGraphicFramePr>
          <p:xfrm>
            <a:off x="1363663" y="5575175"/>
            <a:ext cx="2420937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168200" imgH="228600" progId="Equation.DSMT4">
                    <p:embed/>
                  </p:oleObj>
                </mc:Choice>
                <mc:Fallback>
                  <p:oleObj name="Equation" r:id="rId17" imgW="1168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3663" y="5575175"/>
                          <a:ext cx="2420937" cy="474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E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Content Placeholder 2"/>
            <p:cNvSpPr txBox="1">
              <a:spLocks/>
            </p:cNvSpPr>
            <p:nvPr/>
          </p:nvSpPr>
          <p:spPr>
            <a:xfrm>
              <a:off x="539338" y="5578350"/>
              <a:ext cx="838200" cy="533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Với:</a:t>
              </a:r>
            </a:p>
          </p:txBody>
        </p:sp>
      </p:grp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896163"/>
              </p:ext>
            </p:extLst>
          </p:nvPr>
        </p:nvGraphicFramePr>
        <p:xfrm>
          <a:off x="2552700" y="4495800"/>
          <a:ext cx="176371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88840" imgH="482400" progId="Equation.DSMT4">
                  <p:embed/>
                </p:oleObj>
              </mc:Choice>
              <mc:Fallback>
                <p:oleObj name="Equation" r:id="rId19" imgW="888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495800"/>
                        <a:ext cx="176371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941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>
            <a:spLocks/>
          </p:cNvSpPr>
          <p:nvPr/>
        </p:nvSpPr>
        <p:spPr>
          <a:xfrm>
            <a:off x="609600" y="5486400"/>
            <a:ext cx="8135587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Khi </a:t>
            </a:r>
            <a:r>
              <a:rPr lang="en-US" sz="2800" b="1" i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</a:t>
            </a:r>
            <a:r>
              <a:rPr lang="en-US" sz="2800" b="1" i="1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1, thì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khả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năng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truyền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đạt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năng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lương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theo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hai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hướng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là như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nhau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,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nói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M4C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đối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xứng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năng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lượng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  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764144"/>
              </p:ext>
            </p:extLst>
          </p:nvPr>
        </p:nvGraphicFramePr>
        <p:xfrm>
          <a:off x="761010" y="838200"/>
          <a:ext cx="44962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47840" imgH="533160" progId="Equation.DSMT4">
                  <p:embed/>
                </p:oleObj>
              </mc:Choice>
              <mc:Fallback>
                <p:oleObj name="Equation" r:id="rId3" imgW="2247840" imgH="5331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010" y="838200"/>
                        <a:ext cx="4496288" cy="1066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2"/>
          <p:cNvSpPr txBox="1">
            <a:spLocks/>
          </p:cNvSpPr>
          <p:nvPr/>
        </p:nvSpPr>
        <p:spPr>
          <a:xfrm>
            <a:off x="381000" y="381000"/>
            <a:ext cx="548541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Hệ số truyền đạt sóng trung bình:</a:t>
            </a: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506123"/>
              </p:ext>
            </p:extLst>
          </p:nvPr>
        </p:nvGraphicFramePr>
        <p:xfrm>
          <a:off x="761010" y="2438400"/>
          <a:ext cx="2662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53800" progId="Equation.DSMT4">
                  <p:embed/>
                </p:oleObj>
              </mc:Choice>
              <mc:Fallback>
                <p:oleObj name="Equation" r:id="rId5" imgW="1282680" imgH="253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010" y="2438400"/>
                        <a:ext cx="2662238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2"/>
          <p:cNvSpPr txBox="1">
            <a:spLocks/>
          </p:cNvSpPr>
          <p:nvPr/>
        </p:nvSpPr>
        <p:spPr>
          <a:xfrm>
            <a:off x="398813" y="1905000"/>
            <a:ext cx="548541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Tỉ số năng lượng: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422565" y="3048000"/>
            <a:ext cx="3235035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Nếu M4C tương hỗ: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872801"/>
              </p:ext>
            </p:extLst>
          </p:nvPr>
        </p:nvGraphicFramePr>
        <p:xfrm>
          <a:off x="838200" y="3505200"/>
          <a:ext cx="1739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253800" progId="Equation.DSMT4">
                  <p:embed/>
                </p:oleObj>
              </mc:Choice>
              <mc:Fallback>
                <p:oleObj name="Equation" r:id="rId7" imgW="838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05200"/>
                        <a:ext cx="1739900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276472"/>
              </p:ext>
            </p:extLst>
          </p:nvPr>
        </p:nvGraphicFramePr>
        <p:xfrm>
          <a:off x="3530600" y="3429000"/>
          <a:ext cx="4318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8920" imgH="304560" progId="Equation.DSMT4">
                  <p:embed/>
                </p:oleObj>
              </mc:Choice>
              <mc:Fallback>
                <p:oleObj name="Equation" r:id="rId9" imgW="2158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3429000"/>
                        <a:ext cx="431800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"/>
          <p:cNvSpPr txBox="1">
            <a:spLocks/>
          </p:cNvSpPr>
          <p:nvPr/>
        </p:nvSpPr>
        <p:spPr>
          <a:xfrm>
            <a:off x="2877787" y="3545775"/>
            <a:ext cx="703613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</a:p>
        </p:txBody>
      </p:sp>
      <p:sp>
        <p:nvSpPr>
          <p:cNvPr id="15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137740"/>
              </p:ext>
            </p:extLst>
          </p:nvPr>
        </p:nvGraphicFramePr>
        <p:xfrm>
          <a:off x="5605463" y="4191000"/>
          <a:ext cx="231933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3000" imgH="558720" progId="Equation.DSMT4">
                  <p:embed/>
                </p:oleObj>
              </mc:Choice>
              <mc:Fallback>
                <p:oleObj name="Equation" r:id="rId11" imgW="1143000" imgH="55872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4191000"/>
                        <a:ext cx="2319337" cy="11493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349377"/>
              </p:ext>
            </p:extLst>
          </p:nvPr>
        </p:nvGraphicFramePr>
        <p:xfrm>
          <a:off x="838201" y="4185852"/>
          <a:ext cx="4346016" cy="551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20760" imgH="266400" progId="Equation.DSMT4">
                  <p:embed/>
                </p:oleObj>
              </mc:Choice>
              <mc:Fallback>
                <p:oleObj name="Equation" r:id="rId13" imgW="2120760" imgH="2664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1" y="4185852"/>
                        <a:ext cx="4346016" cy="5514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047862"/>
              </p:ext>
            </p:extLst>
          </p:nvPr>
        </p:nvGraphicFramePr>
        <p:xfrm>
          <a:off x="860426" y="4789488"/>
          <a:ext cx="4365086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71520" imgH="266400" progId="Equation.DSMT4">
                  <p:embed/>
                </p:oleObj>
              </mc:Choice>
              <mc:Fallback>
                <p:oleObj name="Equation" r:id="rId15" imgW="2171520" imgH="2664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6" y="4789488"/>
                        <a:ext cx="4365086" cy="544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ight Brace 28"/>
          <p:cNvSpPr/>
          <p:nvPr/>
        </p:nvSpPr>
        <p:spPr>
          <a:xfrm>
            <a:off x="5181600" y="4343400"/>
            <a:ext cx="304800" cy="838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1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715962"/>
          </a:xfrm>
        </p:spPr>
        <p:txBody>
          <a:bodyPr>
            <a:normAutofit/>
          </a:bodyPr>
          <a:lstStyle/>
          <a:p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Ý nghĩa của hệ số truyền đạt sóng</a:t>
            </a:r>
          </a:p>
        </p:txBody>
      </p:sp>
      <p:graphicFrame>
        <p:nvGraphicFramePr>
          <p:cNvPr id="37990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288296"/>
              </p:ext>
            </p:extLst>
          </p:nvPr>
        </p:nvGraphicFramePr>
        <p:xfrm>
          <a:off x="611188" y="938213"/>
          <a:ext cx="66357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558720" progId="Equation.DSMT4">
                  <p:embed/>
                </p:oleObj>
              </mc:Choice>
              <mc:Fallback>
                <p:oleObj name="Equation" r:id="rId2" imgW="32004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38213"/>
                        <a:ext cx="6635750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944752"/>
              </p:ext>
            </p:extLst>
          </p:nvPr>
        </p:nvGraphicFramePr>
        <p:xfrm>
          <a:off x="569913" y="2068513"/>
          <a:ext cx="700563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77880" imgH="533160" progId="Equation.DSMT4">
                  <p:embed/>
                </p:oleObj>
              </mc:Choice>
              <mc:Fallback>
                <p:oleObj name="Equation" r:id="rId4" imgW="33778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2068513"/>
                        <a:ext cx="700563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739858"/>
              </p:ext>
            </p:extLst>
          </p:nvPr>
        </p:nvGraphicFramePr>
        <p:xfrm>
          <a:off x="574675" y="3133725"/>
          <a:ext cx="3319463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533160" progId="Equation.DSMT4">
                  <p:embed/>
                </p:oleObj>
              </mc:Choice>
              <mc:Fallback>
                <p:oleObj name="Equation" r:id="rId6" imgW="16002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3133725"/>
                        <a:ext cx="3319463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4267200" y="3200400"/>
            <a:ext cx="48006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2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sơ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200" y="3733800"/>
            <a:ext cx="44196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2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thứ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09600" y="4191000"/>
          <a:ext cx="317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91000"/>
                        <a:ext cx="3175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1143000" y="4210050"/>
            <a:ext cx="7696200" cy="129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Nep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dB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10log(S</a:t>
            </a:r>
            <a:r>
              <a:rPr lang="en-US" sz="2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/S</a:t>
            </a:r>
            <a:r>
              <a:rPr lang="en-US" sz="2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685800" y="5391150"/>
          <a:ext cx="2905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228600" progId="Equation.DSMT4">
                  <p:embed/>
                </p:oleObj>
              </mc:Choice>
              <mc:Fallback>
                <p:oleObj name="Equation" r:id="rId10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91150"/>
                        <a:ext cx="2905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2"/>
          <p:cNvSpPr txBox="1">
            <a:spLocks/>
          </p:cNvSpPr>
          <p:nvPr/>
        </p:nvSpPr>
        <p:spPr>
          <a:xfrm>
            <a:off x="1143000" y="5410200"/>
            <a:ext cx="7696200" cy="1119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rad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Left Brace 7"/>
          <p:cNvSpPr/>
          <p:nvPr/>
        </p:nvSpPr>
        <p:spPr>
          <a:xfrm>
            <a:off x="4155375" y="3352800"/>
            <a:ext cx="152400" cy="6526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05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1"/>
          <p:cNvSpPr txBox="1">
            <a:spLocks/>
          </p:cNvSpPr>
          <p:nvPr/>
        </p:nvSpPr>
        <p:spPr>
          <a:xfrm>
            <a:off x="426458" y="342037"/>
            <a:ext cx="8427841" cy="877163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60425" indent="-860425"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Xác định trở kháng sóng và hệ số truyền đạt sóng của các M4C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2438400" y="1067778"/>
            <a:ext cx="1510015" cy="2080463"/>
            <a:chOff x="2438400" y="1205309"/>
            <a:chExt cx="1510015" cy="2080463"/>
          </a:xfrm>
        </p:grpSpPr>
        <p:sp>
          <p:nvSpPr>
            <p:cNvPr id="67" name="Title 1"/>
            <p:cNvSpPr txBox="1">
              <a:spLocks/>
            </p:cNvSpPr>
            <p:nvPr/>
          </p:nvSpPr>
          <p:spPr>
            <a:xfrm>
              <a:off x="2571312" y="2839496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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2438400" y="1649277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2438400" y="2756572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/>
            <p:cNvSpPr/>
            <p:nvPr/>
          </p:nvSpPr>
          <p:spPr>
            <a:xfrm>
              <a:off x="3078190" y="1591447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2799138" y="1649277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/>
            <p:cNvSpPr/>
            <p:nvPr/>
          </p:nvSpPr>
          <p:spPr>
            <a:xfrm rot="5400000">
              <a:off x="2569593" y="2094654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44820" y="1205309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866414" y="2020699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4359605" y="1067778"/>
            <a:ext cx="1980670" cy="2080877"/>
            <a:chOff x="4419600" y="1219049"/>
            <a:chExt cx="1980670" cy="2080877"/>
          </a:xfrm>
        </p:grpSpPr>
        <p:cxnSp>
          <p:nvCxnSpPr>
            <p:cNvPr id="94" name="Straight Connector 93"/>
            <p:cNvCxnSpPr/>
            <p:nvPr/>
          </p:nvCxnSpPr>
          <p:spPr>
            <a:xfrm>
              <a:off x="4419600" y="1665774"/>
              <a:ext cx="198067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4419600" y="2773069"/>
              <a:ext cx="198067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/>
            <p:cNvSpPr/>
            <p:nvPr/>
          </p:nvSpPr>
          <p:spPr>
            <a:xfrm>
              <a:off x="5562600" y="1607944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5382958" y="166577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 rot="5400000">
              <a:off x="5153413" y="211115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574161" y="1221806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450234" y="2037196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690114" y="160015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99829" y="121904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21" name="Title 1"/>
            <p:cNvSpPr txBox="1">
              <a:spLocks/>
            </p:cNvSpPr>
            <p:nvPr/>
          </p:nvSpPr>
          <p:spPr>
            <a:xfrm>
              <a:off x="4820181" y="2853650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T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6798005" y="1053060"/>
            <a:ext cx="2209800" cy="2110164"/>
            <a:chOff x="6858000" y="1204331"/>
            <a:chExt cx="2209800" cy="2110164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6858000" y="1648298"/>
              <a:ext cx="1996299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6858000" y="2755594"/>
              <a:ext cx="1996299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7513931" y="1590469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7232723" y="1648298"/>
              <a:ext cx="0" cy="1107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 rot="5400000">
              <a:off x="7003178" y="2093675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444953" y="1204331"/>
              <a:ext cx="639387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299999" y="2019721"/>
              <a:ext cx="6370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89" name="Straight Connector 88"/>
            <p:cNvCxnSpPr/>
            <p:nvPr/>
          </p:nvCxnSpPr>
          <p:spPr>
            <a:xfrm>
              <a:off x="8355047" y="1648298"/>
              <a:ext cx="0" cy="1107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/>
            <p:cNvSpPr/>
            <p:nvPr/>
          </p:nvSpPr>
          <p:spPr>
            <a:xfrm rot="5400000">
              <a:off x="8135438" y="2093675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432260" y="2019721"/>
              <a:ext cx="6355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2" name="Title 1"/>
            <p:cNvSpPr txBox="1">
              <a:spLocks/>
            </p:cNvSpPr>
            <p:nvPr/>
          </p:nvSpPr>
          <p:spPr>
            <a:xfrm>
              <a:off x="7177424" y="2868219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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sp>
        <p:nvSpPr>
          <p:cNvPr id="128" name="Title 1"/>
          <p:cNvSpPr txBox="1">
            <a:spLocks/>
          </p:cNvSpPr>
          <p:nvPr/>
        </p:nvSpPr>
        <p:spPr>
          <a:xfrm>
            <a:off x="435424" y="3124200"/>
            <a:ext cx="1048900" cy="507831"/>
          </a:xfrm>
          <a:prstGeom prst="rect">
            <a:avLst/>
          </a:prstGeom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60425" indent="-860425"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Giải: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691919"/>
              </p:ext>
            </p:extLst>
          </p:nvPr>
        </p:nvGraphicFramePr>
        <p:xfrm>
          <a:off x="1016598" y="3581400"/>
          <a:ext cx="1726602" cy="9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200" imgH="507960" progId="Equation.DSMT4">
                  <p:embed/>
                </p:oleObj>
              </mc:Choice>
              <mc:Fallback>
                <p:oleObj name="Equation" r:id="rId3" imgW="9522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598" y="3581400"/>
                        <a:ext cx="1726602" cy="9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369074"/>
              </p:ext>
            </p:extLst>
          </p:nvPr>
        </p:nvGraphicFramePr>
        <p:xfrm>
          <a:off x="3270250" y="3581400"/>
          <a:ext cx="1758950" cy="929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507960" progId="Equation.DSMT4">
                  <p:embed/>
                </p:oleObj>
              </mc:Choice>
              <mc:Fallback>
                <p:oleObj name="Equation" r:id="rId5" imgW="965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3581400"/>
                        <a:ext cx="1758950" cy="929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997412"/>
              </p:ext>
            </p:extLst>
          </p:nvPr>
        </p:nvGraphicFramePr>
        <p:xfrm>
          <a:off x="5537200" y="3733800"/>
          <a:ext cx="314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304560" progId="Equation.DSMT4">
                  <p:embed/>
                </p:oleObj>
              </mc:Choice>
              <mc:Fallback>
                <p:oleObj name="Equation" r:id="rId7" imgW="1574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733800"/>
                        <a:ext cx="314960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54"/>
          <p:cNvGrpSpPr/>
          <p:nvPr/>
        </p:nvGrpSpPr>
        <p:grpSpPr>
          <a:xfrm>
            <a:off x="470274" y="1086390"/>
            <a:ext cx="1523676" cy="2090574"/>
            <a:chOff x="465058" y="1205309"/>
            <a:chExt cx="1523676" cy="2090574"/>
          </a:xfrm>
        </p:grpSpPr>
        <p:sp>
          <p:nvSpPr>
            <p:cNvPr id="56" name="Title 1"/>
            <p:cNvSpPr txBox="1">
              <a:spLocks/>
            </p:cNvSpPr>
            <p:nvPr/>
          </p:nvSpPr>
          <p:spPr>
            <a:xfrm>
              <a:off x="693334" y="2849607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r>
                <a:rPr lang="en-US"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465058" y="1652034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65058" y="2759329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484323" y="165203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 rot="5400000">
              <a:off x="1236157" y="209741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551600" y="2023456"/>
              <a:ext cx="4371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10142" y="158641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4963" y="120530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102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/>
          <p:cNvGrpSpPr/>
          <p:nvPr/>
        </p:nvGrpSpPr>
        <p:grpSpPr>
          <a:xfrm>
            <a:off x="533400" y="3405937"/>
            <a:ext cx="1510015" cy="2080463"/>
            <a:chOff x="2438400" y="1205309"/>
            <a:chExt cx="1510015" cy="2080463"/>
          </a:xfrm>
        </p:grpSpPr>
        <p:sp>
          <p:nvSpPr>
            <p:cNvPr id="67" name="Title 1"/>
            <p:cNvSpPr txBox="1">
              <a:spLocks/>
            </p:cNvSpPr>
            <p:nvPr/>
          </p:nvSpPr>
          <p:spPr>
            <a:xfrm>
              <a:off x="2571312" y="2839496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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2438400" y="1649277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2438400" y="2756572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/>
            <p:cNvSpPr/>
            <p:nvPr/>
          </p:nvSpPr>
          <p:spPr>
            <a:xfrm>
              <a:off x="3078190" y="1591447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2799138" y="1649277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/>
            <p:cNvSpPr/>
            <p:nvPr/>
          </p:nvSpPr>
          <p:spPr>
            <a:xfrm rot="5400000">
              <a:off x="2569593" y="2094654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44820" y="1205309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866414" y="2020699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814857"/>
              </p:ext>
            </p:extLst>
          </p:nvPr>
        </p:nvGraphicFramePr>
        <p:xfrm>
          <a:off x="3276601" y="2212976"/>
          <a:ext cx="1828799" cy="1153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711000" progId="Equation.DSMT4">
                  <p:embed/>
                </p:oleObj>
              </mc:Choice>
              <mc:Fallback>
                <p:oleObj name="Equation" r:id="rId3" imgW="11300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2212976"/>
                        <a:ext cx="1828799" cy="1153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128103"/>
              </p:ext>
            </p:extLst>
          </p:nvPr>
        </p:nvGraphicFramePr>
        <p:xfrm>
          <a:off x="282575" y="2198688"/>
          <a:ext cx="2587626" cy="912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87240" imgH="558720" progId="Equation.DSMT4">
                  <p:embed/>
                </p:oleObj>
              </mc:Choice>
              <mc:Fallback>
                <p:oleObj name="Equation" r:id="rId5" imgW="15872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2198688"/>
                        <a:ext cx="2587626" cy="912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195603"/>
              </p:ext>
            </p:extLst>
          </p:nvPr>
        </p:nvGraphicFramePr>
        <p:xfrm>
          <a:off x="5511800" y="2260989"/>
          <a:ext cx="3108927" cy="92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507960" progId="Equation.DSMT4">
                  <p:embed/>
                </p:oleObj>
              </mc:Choice>
              <mc:Fallback>
                <p:oleObj name="Equation" r:id="rId7" imgW="17017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800" y="2260989"/>
                        <a:ext cx="3108927" cy="928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754103"/>
              </p:ext>
            </p:extLst>
          </p:nvPr>
        </p:nvGraphicFramePr>
        <p:xfrm>
          <a:off x="3124200" y="3690938"/>
          <a:ext cx="2676525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25400" imgH="927000" progId="Equation.DSMT4">
                  <p:embed/>
                </p:oleObj>
              </mc:Choice>
              <mc:Fallback>
                <p:oleObj name="Equation" r:id="rId9" imgW="162540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690938"/>
                        <a:ext cx="2676525" cy="15224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ight Arrow 64"/>
          <p:cNvSpPr/>
          <p:nvPr/>
        </p:nvSpPr>
        <p:spPr>
          <a:xfrm>
            <a:off x="2362200" y="4042582"/>
            <a:ext cx="304127" cy="46433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511289"/>
              </p:ext>
            </p:extLst>
          </p:nvPr>
        </p:nvGraphicFramePr>
        <p:xfrm>
          <a:off x="381001" y="5491293"/>
          <a:ext cx="1904999" cy="1214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17440" imgH="711000" progId="Equation.DSMT4">
                  <p:embed/>
                </p:oleObj>
              </mc:Choice>
              <mc:Fallback>
                <p:oleObj name="Equation" r:id="rId11" imgW="11174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1" y="5491293"/>
                        <a:ext cx="1904999" cy="1214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0006"/>
              </p:ext>
            </p:extLst>
          </p:nvPr>
        </p:nvGraphicFramePr>
        <p:xfrm>
          <a:off x="2568575" y="5385917"/>
          <a:ext cx="2737911" cy="949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12800" imgH="558720" progId="Equation.DSMT4">
                  <p:embed/>
                </p:oleObj>
              </mc:Choice>
              <mc:Fallback>
                <p:oleObj name="Equation" r:id="rId13" imgW="16128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385917"/>
                        <a:ext cx="2737911" cy="949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308689"/>
              </p:ext>
            </p:extLst>
          </p:nvPr>
        </p:nvGraphicFramePr>
        <p:xfrm>
          <a:off x="5666068" y="5338230"/>
          <a:ext cx="3096932" cy="92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01720" imgH="507960" progId="Equation.DSMT4">
                  <p:embed/>
                </p:oleObj>
              </mc:Choice>
              <mc:Fallback>
                <p:oleObj name="Equation" r:id="rId15" imgW="17017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6068" y="5338230"/>
                        <a:ext cx="3096932" cy="9244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Group 72"/>
          <p:cNvGrpSpPr/>
          <p:nvPr/>
        </p:nvGrpSpPr>
        <p:grpSpPr>
          <a:xfrm>
            <a:off x="533400" y="138921"/>
            <a:ext cx="1523676" cy="2090574"/>
            <a:chOff x="465058" y="1205309"/>
            <a:chExt cx="1523676" cy="2090574"/>
          </a:xfrm>
        </p:grpSpPr>
        <p:sp>
          <p:nvSpPr>
            <p:cNvPr id="74" name="Title 1"/>
            <p:cNvSpPr txBox="1">
              <a:spLocks/>
            </p:cNvSpPr>
            <p:nvPr/>
          </p:nvSpPr>
          <p:spPr>
            <a:xfrm>
              <a:off x="693334" y="2849607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r>
                <a:rPr lang="en-US"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465058" y="1652034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65058" y="2759329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1484323" y="165203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tangle 102"/>
            <p:cNvSpPr/>
            <p:nvPr/>
          </p:nvSpPr>
          <p:spPr>
            <a:xfrm rot="5400000">
              <a:off x="1236157" y="209741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551600" y="2023456"/>
              <a:ext cx="4371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10142" y="158641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44963" y="120530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</p:grpSp>
      <p:graphicFrame>
        <p:nvGraphicFramePr>
          <p:cNvPr id="1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774316"/>
              </p:ext>
            </p:extLst>
          </p:nvPr>
        </p:nvGraphicFramePr>
        <p:xfrm>
          <a:off x="3170241" y="362553"/>
          <a:ext cx="2502610" cy="1649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3880" imgH="977760" progId="Equation.DSMT4">
                  <p:embed/>
                </p:oleObj>
              </mc:Choice>
              <mc:Fallback>
                <p:oleObj name="Equation" r:id="rId16" imgW="152388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41" y="362553"/>
                        <a:ext cx="2502610" cy="164976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Right Arrow 114"/>
          <p:cNvSpPr/>
          <p:nvPr/>
        </p:nvSpPr>
        <p:spPr>
          <a:xfrm>
            <a:off x="2438400" y="873235"/>
            <a:ext cx="304127" cy="46433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76200" y="3405937"/>
            <a:ext cx="906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09600" y="228600"/>
            <a:ext cx="1980670" cy="2080877"/>
            <a:chOff x="4419600" y="1219049"/>
            <a:chExt cx="1980670" cy="208087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4419600" y="1665774"/>
              <a:ext cx="198067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419600" y="2773069"/>
              <a:ext cx="198067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5562600" y="1607944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5382958" y="166577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 rot="5400000">
              <a:off x="5153413" y="211115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574161" y="1221806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50234" y="2037196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690114" y="160015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99829" y="121904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29" name="Title 1"/>
            <p:cNvSpPr txBox="1">
              <a:spLocks/>
            </p:cNvSpPr>
            <p:nvPr/>
          </p:nvSpPr>
          <p:spPr>
            <a:xfrm>
              <a:off x="4820181" y="2853650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T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09600" y="3223836"/>
            <a:ext cx="2209800" cy="2110164"/>
            <a:chOff x="6858000" y="1204331"/>
            <a:chExt cx="2209800" cy="2110164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6858000" y="1648298"/>
              <a:ext cx="1996299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858000" y="2755594"/>
              <a:ext cx="1996299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7513931" y="1590469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7232723" y="1648298"/>
              <a:ext cx="0" cy="1107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 rot="5400000">
              <a:off x="7003178" y="2093675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44953" y="1204331"/>
              <a:ext cx="639387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299999" y="2019721"/>
              <a:ext cx="6370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8355047" y="1648298"/>
              <a:ext cx="0" cy="1107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 rot="5400000">
              <a:off x="8135438" y="2093675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432260" y="2019721"/>
              <a:ext cx="6355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1" name="Title 1"/>
            <p:cNvSpPr txBox="1">
              <a:spLocks/>
            </p:cNvSpPr>
            <p:nvPr/>
          </p:nvSpPr>
          <p:spPr>
            <a:xfrm>
              <a:off x="7177424" y="2868219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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sp>
        <p:nvSpPr>
          <p:cNvPr id="42" name="Right Arrow 41"/>
          <p:cNvSpPr/>
          <p:nvPr/>
        </p:nvSpPr>
        <p:spPr>
          <a:xfrm>
            <a:off x="2941435" y="945802"/>
            <a:ext cx="304127" cy="46433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>
            <a:off x="2941436" y="3898805"/>
            <a:ext cx="304127" cy="46433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391264"/>
              </p:ext>
            </p:extLst>
          </p:nvPr>
        </p:nvGraphicFramePr>
        <p:xfrm>
          <a:off x="3553628" y="492535"/>
          <a:ext cx="2967038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760" imgH="977760" progId="Equation.DSMT4">
                  <p:embed/>
                </p:oleObj>
              </mc:Choice>
              <mc:Fallback>
                <p:oleObj name="Equation" r:id="rId3" imgW="212076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628" y="492535"/>
                        <a:ext cx="2967038" cy="14065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129463"/>
              </p:ext>
            </p:extLst>
          </p:nvPr>
        </p:nvGraphicFramePr>
        <p:xfrm>
          <a:off x="3445678" y="3432453"/>
          <a:ext cx="318293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520" imgH="977760" progId="Equation.DSMT4">
                  <p:embed/>
                </p:oleObj>
              </mc:Choice>
              <mc:Fallback>
                <p:oleObj name="Equation" r:id="rId5" imgW="217152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678" y="3432453"/>
                        <a:ext cx="3182937" cy="14732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450781"/>
              </p:ext>
            </p:extLst>
          </p:nvPr>
        </p:nvGraphicFramePr>
        <p:xfrm>
          <a:off x="490538" y="2057400"/>
          <a:ext cx="4310062" cy="979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63480" imgH="558720" progId="Equation.DSMT4">
                  <p:embed/>
                </p:oleObj>
              </mc:Choice>
              <mc:Fallback>
                <p:oleObj name="Equation" r:id="rId7" imgW="24634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8" y="2057400"/>
                        <a:ext cx="4310062" cy="979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856342"/>
              </p:ext>
            </p:extLst>
          </p:nvPr>
        </p:nvGraphicFramePr>
        <p:xfrm>
          <a:off x="5076825" y="2097368"/>
          <a:ext cx="38687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57400" imgH="507960" progId="Equation.DSMT4">
                  <p:embed/>
                </p:oleObj>
              </mc:Choice>
              <mc:Fallback>
                <p:oleObj name="Equation" r:id="rId9" imgW="20574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097368"/>
                        <a:ext cx="3868738" cy="955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36333"/>
              </p:ext>
            </p:extLst>
          </p:nvPr>
        </p:nvGraphicFramePr>
        <p:xfrm>
          <a:off x="5067253" y="5216525"/>
          <a:ext cx="38687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57400" imgH="507960" progId="Equation.DSMT4">
                  <p:embed/>
                </p:oleObj>
              </mc:Choice>
              <mc:Fallback>
                <p:oleObj name="Equation" r:id="rId11" imgW="20574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253" y="5216525"/>
                        <a:ext cx="3868738" cy="955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040395"/>
              </p:ext>
            </p:extLst>
          </p:nvPr>
        </p:nvGraphicFramePr>
        <p:xfrm>
          <a:off x="504825" y="5181600"/>
          <a:ext cx="368617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31840" imgH="711000" progId="Equation.DSMT4">
                  <p:embed/>
                </p:oleObj>
              </mc:Choice>
              <mc:Fallback>
                <p:oleObj name="Equation" r:id="rId13" imgW="20318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5181600"/>
                        <a:ext cx="3686175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76200" y="3223836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65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/>
          <p:cNvGrpSpPr/>
          <p:nvPr/>
        </p:nvGrpSpPr>
        <p:grpSpPr>
          <a:xfrm>
            <a:off x="439312" y="280506"/>
            <a:ext cx="1510015" cy="2080463"/>
            <a:chOff x="2438400" y="1205309"/>
            <a:chExt cx="1510015" cy="2080463"/>
          </a:xfrm>
        </p:grpSpPr>
        <p:sp>
          <p:nvSpPr>
            <p:cNvPr id="67" name="Title 1"/>
            <p:cNvSpPr txBox="1">
              <a:spLocks/>
            </p:cNvSpPr>
            <p:nvPr/>
          </p:nvSpPr>
          <p:spPr>
            <a:xfrm>
              <a:off x="2571312" y="2839496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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2438400" y="1649277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2438400" y="2756572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/>
            <p:cNvSpPr/>
            <p:nvPr/>
          </p:nvSpPr>
          <p:spPr>
            <a:xfrm>
              <a:off x="3078190" y="1591447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2799138" y="1649277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/>
            <p:cNvSpPr/>
            <p:nvPr/>
          </p:nvSpPr>
          <p:spPr>
            <a:xfrm rot="5400000">
              <a:off x="2569593" y="2094654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044820" y="1205309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866414" y="2020699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2209800" y="282522"/>
            <a:ext cx="1980670" cy="2080877"/>
            <a:chOff x="4419600" y="1219049"/>
            <a:chExt cx="1980670" cy="2080877"/>
          </a:xfrm>
        </p:grpSpPr>
        <p:cxnSp>
          <p:nvCxnSpPr>
            <p:cNvPr id="94" name="Straight Connector 93"/>
            <p:cNvCxnSpPr/>
            <p:nvPr/>
          </p:nvCxnSpPr>
          <p:spPr>
            <a:xfrm>
              <a:off x="4419600" y="1665774"/>
              <a:ext cx="198067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4419600" y="2773069"/>
              <a:ext cx="198067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/>
            <p:cNvSpPr/>
            <p:nvPr/>
          </p:nvSpPr>
          <p:spPr>
            <a:xfrm>
              <a:off x="5562600" y="1607944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5382958" y="166577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 rot="5400000">
              <a:off x="5153413" y="211115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574161" y="1221806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450234" y="2037196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690114" y="160015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99829" y="121904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21" name="Title 1"/>
            <p:cNvSpPr txBox="1">
              <a:spLocks/>
            </p:cNvSpPr>
            <p:nvPr/>
          </p:nvSpPr>
          <p:spPr>
            <a:xfrm>
              <a:off x="4820181" y="2853650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T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135534" y="2880661"/>
            <a:ext cx="2209800" cy="2110164"/>
            <a:chOff x="6858000" y="1204331"/>
            <a:chExt cx="2209800" cy="2110164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6858000" y="1648298"/>
              <a:ext cx="1996299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6858000" y="2755594"/>
              <a:ext cx="1996299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/>
            <p:cNvSpPr/>
            <p:nvPr/>
          </p:nvSpPr>
          <p:spPr>
            <a:xfrm>
              <a:off x="7513931" y="1590469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7232723" y="1648298"/>
              <a:ext cx="0" cy="1107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 rot="5400000">
              <a:off x="7003178" y="2093675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444953" y="1204331"/>
              <a:ext cx="639387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299999" y="2019721"/>
              <a:ext cx="6370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89" name="Straight Connector 88"/>
            <p:cNvCxnSpPr/>
            <p:nvPr/>
          </p:nvCxnSpPr>
          <p:spPr>
            <a:xfrm>
              <a:off x="8355047" y="1648298"/>
              <a:ext cx="0" cy="1107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/>
            <p:cNvSpPr/>
            <p:nvPr/>
          </p:nvSpPr>
          <p:spPr>
            <a:xfrm rot="5400000">
              <a:off x="8135438" y="2093675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432260" y="2019721"/>
              <a:ext cx="6355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2" name="Title 1"/>
            <p:cNvSpPr txBox="1">
              <a:spLocks/>
            </p:cNvSpPr>
            <p:nvPr/>
          </p:nvSpPr>
          <p:spPr>
            <a:xfrm>
              <a:off x="7177424" y="2868219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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419600" y="282388"/>
            <a:ext cx="1523676" cy="2090574"/>
            <a:chOff x="465058" y="1205309"/>
            <a:chExt cx="1523676" cy="2090574"/>
          </a:xfrm>
        </p:grpSpPr>
        <p:sp>
          <p:nvSpPr>
            <p:cNvPr id="56" name="Title 1"/>
            <p:cNvSpPr txBox="1">
              <a:spLocks/>
            </p:cNvSpPr>
            <p:nvPr/>
          </p:nvSpPr>
          <p:spPr>
            <a:xfrm>
              <a:off x="693334" y="2849607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r>
                <a:rPr lang="en-US"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465058" y="1652034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65058" y="2759329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484323" y="165203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 rot="5400000">
              <a:off x="1236157" y="209741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551600" y="2023456"/>
              <a:ext cx="4371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10142" y="158641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4963" y="120530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</p:grpSp>
      <p:graphicFrame>
        <p:nvGraphicFramePr>
          <p:cNvPr id="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869911"/>
              </p:ext>
            </p:extLst>
          </p:nvPr>
        </p:nvGraphicFramePr>
        <p:xfrm>
          <a:off x="6267880" y="749085"/>
          <a:ext cx="270986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558720" progId="Equation.DSMT4">
                  <p:embed/>
                </p:oleObj>
              </mc:Choice>
              <mc:Fallback>
                <p:oleObj name="Equation" r:id="rId3" imgW="15490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880" y="749085"/>
                        <a:ext cx="2709862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358725"/>
              </p:ext>
            </p:extLst>
          </p:nvPr>
        </p:nvGraphicFramePr>
        <p:xfrm>
          <a:off x="6373061" y="3289099"/>
          <a:ext cx="198120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711000" progId="Equation.DSMT4">
                  <p:embed/>
                </p:oleObj>
              </mc:Choice>
              <mc:Fallback>
                <p:oleObj name="Equation" r:id="rId5" imgW="10918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061" y="3289099"/>
                        <a:ext cx="1981200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50"/>
          <p:cNvGrpSpPr/>
          <p:nvPr/>
        </p:nvGrpSpPr>
        <p:grpSpPr>
          <a:xfrm>
            <a:off x="351798" y="2850819"/>
            <a:ext cx="1523676" cy="2090574"/>
            <a:chOff x="465058" y="1205309"/>
            <a:chExt cx="1523676" cy="2090574"/>
          </a:xfrm>
        </p:grpSpPr>
        <p:sp>
          <p:nvSpPr>
            <p:cNvPr id="52" name="Title 1"/>
            <p:cNvSpPr txBox="1">
              <a:spLocks/>
            </p:cNvSpPr>
            <p:nvPr/>
          </p:nvSpPr>
          <p:spPr>
            <a:xfrm>
              <a:off x="693334" y="2849607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r>
                <a:rPr lang="en-US"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465058" y="1652034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465058" y="2759329"/>
              <a:ext cx="146669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484323" y="1652034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 rot="5400000">
              <a:off x="1236157" y="2097411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51600" y="2023456"/>
              <a:ext cx="4371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10142" y="1586416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44963" y="1205309"/>
              <a:ext cx="65797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423821" y="2880661"/>
            <a:ext cx="1510015" cy="2080463"/>
            <a:chOff x="2438400" y="1205309"/>
            <a:chExt cx="1510015" cy="2080463"/>
          </a:xfrm>
        </p:grpSpPr>
        <p:sp>
          <p:nvSpPr>
            <p:cNvPr id="71" name="Title 1"/>
            <p:cNvSpPr txBox="1">
              <a:spLocks/>
            </p:cNvSpPr>
            <p:nvPr/>
          </p:nvSpPr>
          <p:spPr>
            <a:xfrm>
              <a:off x="2571312" y="2839496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1600" b="1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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2438400" y="1649277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2438400" y="2756572"/>
              <a:ext cx="1510015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/>
            <p:cNvSpPr/>
            <p:nvPr/>
          </p:nvSpPr>
          <p:spPr>
            <a:xfrm>
              <a:off x="3078190" y="1591447"/>
              <a:ext cx="457200" cy="138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2799138" y="1649277"/>
              <a:ext cx="0" cy="1107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 rot="5400000">
              <a:off x="2569593" y="2094654"/>
              <a:ext cx="457200" cy="1379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044820" y="1205309"/>
              <a:ext cx="674995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866414" y="2020699"/>
              <a:ext cx="798921" cy="3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747360"/>
              </p:ext>
            </p:extLst>
          </p:nvPr>
        </p:nvGraphicFramePr>
        <p:xfrm>
          <a:off x="3771507" y="914400"/>
          <a:ext cx="11382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400" imgH="228600" progId="Equation.DSMT4">
                  <p:embed/>
                </p:oleObj>
              </mc:Choice>
              <mc:Fallback>
                <p:oleObj name="Equation" r:id="rId7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507" y="914400"/>
                        <a:ext cx="113823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002213"/>
              </p:ext>
            </p:extLst>
          </p:nvPr>
        </p:nvGraphicFramePr>
        <p:xfrm>
          <a:off x="1506538" y="914400"/>
          <a:ext cx="11588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228600" progId="Equation.DSMT4">
                  <p:embed/>
                </p:oleObj>
              </mc:Choice>
              <mc:Fallback>
                <p:oleObj name="Equation" r:id="rId9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914400"/>
                        <a:ext cx="11588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8089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5986"/>
            <a:ext cx="6858000" cy="65563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6.7 ỨNG DỤNG CỦA MẠNG 4 CỰC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7010400" cy="3733800"/>
          </a:xfrm>
          <a:ln>
            <a:noFill/>
          </a:ln>
        </p:spPr>
        <p:txBody>
          <a:bodyPr>
            <a:normAutofit/>
          </a:bodyPr>
          <a:lstStyle/>
          <a:p>
            <a:pPr marL="514350" indent="-514350">
              <a:lnSpc>
                <a:spcPct val="130000"/>
              </a:lnSpc>
              <a:spcBef>
                <a:spcPts val="600"/>
              </a:spcBef>
              <a:buClrTx/>
              <a:buSzPct val="100000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Mạng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bốn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giảm</a:t>
            </a:r>
          </a:p>
          <a:p>
            <a:pPr marL="514350" indent="-514350">
              <a:lnSpc>
                <a:spcPct val="130000"/>
              </a:lnSpc>
              <a:spcBef>
                <a:spcPts val="600"/>
              </a:spcBef>
              <a:buClrTx/>
              <a:buSzPct val="100000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Mạng bốn cực phối hợp trở kháng</a:t>
            </a:r>
          </a:p>
          <a:p>
            <a:pPr marL="514350" indent="-514350">
              <a:lnSpc>
                <a:spcPct val="130000"/>
              </a:lnSpc>
              <a:spcBef>
                <a:spcPts val="600"/>
              </a:spcBef>
              <a:buClrTx/>
              <a:buSzPct val="100000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Mạch lọc tần số</a:t>
            </a:r>
          </a:p>
          <a:p>
            <a:pPr marL="514350" indent="-514350">
              <a:lnSpc>
                <a:spcPct val="130000"/>
              </a:lnSpc>
              <a:spcBef>
                <a:spcPts val="600"/>
              </a:spcBef>
              <a:buClrTx/>
              <a:buSzPct val="100000"/>
              <a:buAutoNum type="arabicPeriod"/>
            </a:pP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Mạch lọc thụ động LC loại k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30000"/>
              </a:lnSpc>
              <a:spcBef>
                <a:spcPts val="600"/>
              </a:spcBef>
              <a:buClrTx/>
              <a:buSzPct val="100000"/>
              <a:buFont typeface="Wingdings 2"/>
              <a:buAutoNum type="arabicPeriod"/>
            </a:pP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Mạch lọc thụ động LC loại m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30000"/>
              </a:lnSpc>
              <a:spcBef>
                <a:spcPts val="600"/>
              </a:spcBef>
              <a:buClrTx/>
              <a:buSzPct val="100000"/>
              <a:buFont typeface="Wingdings 2"/>
              <a:buAutoNum type="arabicPeriod"/>
            </a:pP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Bộ lọc thụ động LC đầy đủ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669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Mạng bốn cực suy giảm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828800"/>
          </a:xfrm>
        </p:spPr>
        <p:txBody>
          <a:bodyPr>
            <a:normAutofit/>
          </a:bodyPr>
          <a:lstStyle/>
          <a:p>
            <a:pPr algn="just">
              <a:buClrTx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bốn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chia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điện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nguồn.</a:t>
            </a:r>
          </a:p>
          <a:p>
            <a:pPr algn="just">
              <a:buClrTx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bốn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sóng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điện trở trong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953034"/>
              </p:ext>
            </p:extLst>
          </p:nvPr>
        </p:nvGraphicFramePr>
        <p:xfrm>
          <a:off x="2133600" y="2590800"/>
          <a:ext cx="36766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400" imgH="482400" progId="Equation.DSMT4">
                  <p:embed/>
                </p:oleObj>
              </mc:Choice>
              <mc:Fallback>
                <p:oleObj name="Equation" r:id="rId2" imgW="1625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90800"/>
                        <a:ext cx="3676650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365287"/>
              </p:ext>
            </p:extLst>
          </p:nvPr>
        </p:nvGraphicFramePr>
        <p:xfrm>
          <a:off x="698500" y="3740150"/>
          <a:ext cx="35655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266400" progId="Equation.DSMT4">
                  <p:embed/>
                </p:oleObj>
              </mc:Choice>
              <mc:Fallback>
                <p:oleObj name="Equation" r:id="rId4" imgW="15746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3740150"/>
                        <a:ext cx="3565525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555214"/>
              </p:ext>
            </p:extLst>
          </p:nvPr>
        </p:nvGraphicFramePr>
        <p:xfrm>
          <a:off x="4872038" y="3457575"/>
          <a:ext cx="37338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482400" progId="Equation.DSMT4">
                  <p:embed/>
                </p:oleObj>
              </mc:Choice>
              <mc:Fallback>
                <p:oleObj name="Equation" r:id="rId6" imgW="1650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3457575"/>
                        <a:ext cx="3733800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45720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đáp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g = a (b = 0)</a:t>
            </a:r>
          </a:p>
        </p:txBody>
      </p:sp>
      <p:graphicFrame>
        <p:nvGraphicFramePr>
          <p:cNvPr id="9" name="Object 17"/>
          <p:cNvGraphicFramePr>
            <a:graphicFrameLocks noChangeAspect="1"/>
          </p:cNvGraphicFramePr>
          <p:nvPr/>
        </p:nvGraphicFramePr>
        <p:xfrm>
          <a:off x="1066800" y="5695950"/>
          <a:ext cx="20685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28600" progId="Equation.DSMT4">
                  <p:embed/>
                </p:oleObj>
              </mc:Choice>
              <mc:Fallback>
                <p:oleObj name="Equation" r:id="rId8" imgW="91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695950"/>
                        <a:ext cx="206851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699657"/>
              </p:ext>
            </p:extLst>
          </p:nvPr>
        </p:nvGraphicFramePr>
        <p:xfrm>
          <a:off x="3952875" y="5638800"/>
          <a:ext cx="16684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228600" progId="Equation.DSMT4">
                  <p:embed/>
                </p:oleObj>
              </mc:Choice>
              <mc:Fallback>
                <p:oleObj name="Equation" r:id="rId10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638800"/>
                        <a:ext cx="16684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814838"/>
              </p:ext>
            </p:extLst>
          </p:nvPr>
        </p:nvGraphicFramePr>
        <p:xfrm>
          <a:off x="6238875" y="5391150"/>
          <a:ext cx="178117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31640" progId="Equation.DSMT4">
                  <p:embed/>
                </p:oleObj>
              </mc:Choice>
              <mc:Fallback>
                <p:oleObj name="Equation" r:id="rId12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5391150"/>
                        <a:ext cx="1781175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0637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4175"/>
            <a:ext cx="5257800" cy="606425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bốn cực suy giảm hình T:</a:t>
            </a:r>
          </a:p>
        </p:txBody>
      </p:sp>
      <p:pic>
        <p:nvPicPr>
          <p:cNvPr id="13517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2085975"/>
            <a:ext cx="25050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8"/>
          <p:cNvGraphicFramePr>
            <a:graphicFrameLocks noChangeAspect="1"/>
          </p:cNvGraphicFramePr>
          <p:nvPr/>
        </p:nvGraphicFramePr>
        <p:xfrm>
          <a:off x="6324600" y="1547813"/>
          <a:ext cx="22431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431640" progId="Equation.DSMT4">
                  <p:embed/>
                </p:oleObj>
              </mc:Choice>
              <mc:Fallback>
                <p:oleObj name="Equation" r:id="rId3" imgW="1054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547813"/>
                        <a:ext cx="2243137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324600" y="2462213"/>
          <a:ext cx="221456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482400" progId="Equation.DSMT4">
                  <p:embed/>
                </p:oleObj>
              </mc:Choice>
              <mc:Fallback>
                <p:oleObj name="Equation" r:id="rId5" imgW="106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462213"/>
                        <a:ext cx="2214563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6324600" y="3452813"/>
          <a:ext cx="1128713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760" imgH="431640" progId="Equation.DSMT4">
                  <p:embed/>
                </p:oleObj>
              </mc:Choice>
              <mc:Fallback>
                <p:oleObj name="Equation" r:id="rId7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452813"/>
                        <a:ext cx="1128713" cy="890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164146"/>
              </p:ext>
            </p:extLst>
          </p:nvPr>
        </p:nvGraphicFramePr>
        <p:xfrm>
          <a:off x="1303338" y="4953000"/>
          <a:ext cx="45958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8920" imgH="431640" progId="Equation.DSMT4">
                  <p:embed/>
                </p:oleObj>
              </mc:Choice>
              <mc:Fallback>
                <p:oleObj name="Equation" r:id="rId9" imgW="2158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4953000"/>
                        <a:ext cx="4595812" cy="9175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1601"/>
              </p:ext>
            </p:extLst>
          </p:nvPr>
        </p:nvGraphicFramePr>
        <p:xfrm>
          <a:off x="6310313" y="4956175"/>
          <a:ext cx="12334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880" imgH="393480" progId="Equation.DSMT4">
                  <p:embed/>
                </p:oleObj>
              </mc:Choice>
              <mc:Fallback>
                <p:oleObj name="Equation" r:id="rId11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3" y="4956175"/>
                        <a:ext cx="1233487" cy="812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200696"/>
              </p:ext>
            </p:extLst>
          </p:nvPr>
        </p:nvGraphicFramePr>
        <p:xfrm>
          <a:off x="827087" y="1752600"/>
          <a:ext cx="20685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7" y="1752600"/>
                        <a:ext cx="206851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98172"/>
              </p:ext>
            </p:extLst>
          </p:nvPr>
        </p:nvGraphicFramePr>
        <p:xfrm>
          <a:off x="769938" y="2454275"/>
          <a:ext cx="16668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36560" imgH="228600" progId="Equation.DSMT4">
                  <p:embed/>
                </p:oleObj>
              </mc:Choice>
              <mc:Fallback>
                <p:oleObj name="Equation" r:id="rId15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454275"/>
                        <a:ext cx="16668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922917"/>
              </p:ext>
            </p:extLst>
          </p:nvPr>
        </p:nvGraphicFramePr>
        <p:xfrm>
          <a:off x="769938" y="3062288"/>
          <a:ext cx="1781175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87320" imgH="431640" progId="Equation.DSMT4">
                  <p:embed/>
                </p:oleObj>
              </mc:Choice>
              <mc:Fallback>
                <p:oleObj name="Equation" r:id="rId17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3062288"/>
                        <a:ext cx="1781175" cy="976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9947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0999"/>
            <a:ext cx="5410200" cy="57943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bốn cực suy giảm hình </a:t>
            </a: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:</a:t>
            </a:r>
            <a:endParaRPr lang="en-US" sz="2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5029" name="Object 8"/>
          <p:cNvGraphicFramePr>
            <a:graphicFrameLocks noChangeAspect="1"/>
          </p:cNvGraphicFramePr>
          <p:nvPr/>
        </p:nvGraphicFramePr>
        <p:xfrm>
          <a:off x="6084887" y="1524000"/>
          <a:ext cx="229711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431640" progId="Equation.DSMT4">
                  <p:embed/>
                </p:oleObj>
              </mc:Choice>
              <mc:Fallback>
                <p:oleObj name="Equation" r:id="rId2" imgW="1079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7" y="1524000"/>
                        <a:ext cx="2297113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083300" y="2590800"/>
          <a:ext cx="10795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560" imgH="228600" progId="Equation.DSMT4">
                  <p:embed/>
                </p:oleObj>
              </mc:Choice>
              <mc:Fallback>
                <p:oleObj name="Equation" r:id="rId4" imgW="520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2590800"/>
                        <a:ext cx="10795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6096000" y="3276600"/>
          <a:ext cx="1836738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431640" progId="Equation.DSMT4">
                  <p:embed/>
                </p:oleObj>
              </mc:Choice>
              <mc:Fallback>
                <p:oleObj name="Equation" r:id="rId6" imgW="888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76600"/>
                        <a:ext cx="1836738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84357"/>
              </p:ext>
            </p:extLst>
          </p:nvPr>
        </p:nvGraphicFramePr>
        <p:xfrm>
          <a:off x="2043113" y="5257800"/>
          <a:ext cx="23796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440" imgH="431640" progId="Equation.DSMT4">
                  <p:embed/>
                </p:oleObj>
              </mc:Choice>
              <mc:Fallback>
                <p:oleObj name="Equation" r:id="rId8" imgW="1117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5257800"/>
                        <a:ext cx="2379662" cy="9175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717272"/>
              </p:ext>
            </p:extLst>
          </p:nvPr>
        </p:nvGraphicFramePr>
        <p:xfrm>
          <a:off x="4640263" y="5453063"/>
          <a:ext cx="1520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228600" progId="Equation.DSMT4">
                  <p:embed/>
                </p:oleObj>
              </mc:Choice>
              <mc:Fallback>
                <p:oleObj name="Equation" r:id="rId10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5453063"/>
                        <a:ext cx="1520825" cy="473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541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352800" y="2057400"/>
            <a:ext cx="22098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855365"/>
              </p:ext>
            </p:extLst>
          </p:nvPr>
        </p:nvGraphicFramePr>
        <p:xfrm>
          <a:off x="903287" y="1752600"/>
          <a:ext cx="20685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7" y="1752600"/>
                        <a:ext cx="206851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268769"/>
              </p:ext>
            </p:extLst>
          </p:nvPr>
        </p:nvGraphicFramePr>
        <p:xfrm>
          <a:off x="846138" y="2454275"/>
          <a:ext cx="16684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36560" imgH="228600" progId="Equation.DSMT4">
                  <p:embed/>
                </p:oleObj>
              </mc:Choice>
              <mc:Fallback>
                <p:oleObj name="Equation" r:id="rId15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2454275"/>
                        <a:ext cx="1668462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88718"/>
              </p:ext>
            </p:extLst>
          </p:nvPr>
        </p:nvGraphicFramePr>
        <p:xfrm>
          <a:off x="846138" y="3062288"/>
          <a:ext cx="1782762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87320" imgH="431640" progId="Equation.DSMT4">
                  <p:embed/>
                </p:oleObj>
              </mc:Choice>
              <mc:Fallback>
                <p:oleObj name="Equation" r:id="rId17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3062288"/>
                        <a:ext cx="1782762" cy="976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533399"/>
            <a:ext cx="8153400" cy="803275"/>
          </a:xfrm>
        </p:spPr>
        <p:txBody>
          <a:bodyPr>
            <a:noAutofit/>
          </a:bodyPr>
          <a:lstStyle/>
          <a:p>
            <a:pPr marL="1035050" indent="-1035050" algn="just"/>
            <a:r>
              <a:rPr lang="en-US" sz="2400" u="sng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400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dụ:</a:t>
            </a: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Thiết kế mạng suy giảm hình T và </a:t>
            </a: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 làm việc với nguồn có nội trở R</a:t>
            </a:r>
            <a:r>
              <a:rPr lang="en-US" sz="24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</a:t>
            </a: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600 và suy giảm 2,75 nep</a:t>
            </a:r>
            <a:endParaRPr lang="en-US" sz="2400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0739" y="1336675"/>
            <a:ext cx="7767461" cy="53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Giải: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  Z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0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R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600, a = 2,75nep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1525" y="2362199"/>
            <a:ext cx="25050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260670"/>
              </p:ext>
            </p:extLst>
          </p:nvPr>
        </p:nvGraphicFramePr>
        <p:xfrm>
          <a:off x="457200" y="4205895"/>
          <a:ext cx="4133850" cy="98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760" imgH="507960" progId="Equation.DSMT4">
                  <p:embed/>
                </p:oleObj>
              </mc:Choice>
              <mc:Fallback>
                <p:oleObj name="Equation" r:id="rId3" imgW="21207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05895"/>
                        <a:ext cx="4133850" cy="988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733062"/>
              </p:ext>
            </p:extLst>
          </p:nvPr>
        </p:nvGraphicFramePr>
        <p:xfrm>
          <a:off x="476699" y="5282845"/>
          <a:ext cx="2571301" cy="840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444240" progId="Equation.DSMT4">
                  <p:embed/>
                </p:oleObj>
              </mc:Choice>
              <mc:Fallback>
                <p:oleObj name="Equation" r:id="rId5" imgW="1358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699" y="5282845"/>
                        <a:ext cx="2571301" cy="840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261660"/>
              </p:ext>
            </p:extLst>
          </p:nvPr>
        </p:nvGraphicFramePr>
        <p:xfrm>
          <a:off x="4767262" y="4178608"/>
          <a:ext cx="3995738" cy="1002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19240" imgH="507960" progId="Equation.DSMT4">
                  <p:embed/>
                </p:oleObj>
              </mc:Choice>
              <mc:Fallback>
                <p:oleObj name="Equation" r:id="rId7" imgW="20192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2" y="4178608"/>
                        <a:ext cx="3995738" cy="1002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102273"/>
              </p:ext>
            </p:extLst>
          </p:nvPr>
        </p:nvGraphicFramePr>
        <p:xfrm>
          <a:off x="4876800" y="5464905"/>
          <a:ext cx="3559142" cy="488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54000" imgH="253800" progId="Equation.DSMT4">
                  <p:embed/>
                </p:oleObj>
              </mc:Choice>
              <mc:Fallback>
                <p:oleObj name="Equation" r:id="rId9" imgW="1854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464905"/>
                        <a:ext cx="3559142" cy="488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91200" y="2286000"/>
            <a:ext cx="22098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Action Button: Return 10">
            <a:hlinkClick r:id="rId12" action="ppaction://hlinksldjump" highlightClick="1"/>
          </p:cNvPr>
          <p:cNvSpPr/>
          <p:nvPr/>
        </p:nvSpPr>
        <p:spPr>
          <a:xfrm>
            <a:off x="8763000" y="6477000"/>
            <a:ext cx="381000" cy="381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30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639762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Mạng bốn cực phối hợp trở kháng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371600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bốn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ClrTx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385029" name="Object 2"/>
          <p:cNvGraphicFramePr>
            <a:graphicFrameLocks noChangeAspect="1"/>
          </p:cNvGraphicFramePr>
          <p:nvPr/>
        </p:nvGraphicFramePr>
        <p:xfrm>
          <a:off x="152400" y="2362200"/>
          <a:ext cx="2068512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82400" progId="Equation.DSMT4">
                  <p:embed/>
                </p:oleObj>
              </mc:Choice>
              <mc:Fallback>
                <p:oleObj name="Equation" r:id="rId2" imgW="914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362200"/>
                        <a:ext cx="2068512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209800" y="2590800"/>
          <a:ext cx="23574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266400" progId="Equation.DSMT4">
                  <p:embed/>
                </p:oleObj>
              </mc:Choice>
              <mc:Fallback>
                <p:oleObj name="Equation" r:id="rId4" imgW="10411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590800"/>
                        <a:ext cx="2357437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572000" y="2338387"/>
          <a:ext cx="24130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482400" progId="Equation.DSMT4">
                  <p:embed/>
                </p:oleObj>
              </mc:Choice>
              <mc:Fallback>
                <p:oleObj name="Equation" r:id="rId6" imgW="106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38387"/>
                        <a:ext cx="2413000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6969125" y="2262187"/>
          <a:ext cx="209867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482400" progId="Equation.DSMT4">
                  <p:embed/>
                </p:oleObj>
              </mc:Choice>
              <mc:Fallback>
                <p:oleObj name="Equation" r:id="rId8" imgW="927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25" y="2262187"/>
                        <a:ext cx="2098675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3429000"/>
            <a:ext cx="82296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hao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g = </a:t>
            </a:r>
            <a:r>
              <a:rPr kumimoji="0" lang="en-US" sz="24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jb</a:t>
            </a:r>
            <a:r>
              <a:rPr kumimoji="0" lang="en-US" sz="24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(a=0)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727073"/>
              </p:ext>
            </p:extLst>
          </p:nvPr>
        </p:nvGraphicFramePr>
        <p:xfrm>
          <a:off x="609600" y="4673649"/>
          <a:ext cx="3352800" cy="890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15840" imgH="482400" progId="Equation.DSMT4">
                  <p:embed/>
                </p:oleObj>
              </mc:Choice>
              <mc:Fallback>
                <p:oleObj name="Equation" r:id="rId10" imgW="1815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73649"/>
                        <a:ext cx="3352800" cy="8903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766279"/>
              </p:ext>
            </p:extLst>
          </p:nvPr>
        </p:nvGraphicFramePr>
        <p:xfrm>
          <a:off x="4651104" y="4724400"/>
          <a:ext cx="4176984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266400" progId="Equation.DSMT4">
                  <p:embed/>
                </p:oleObj>
              </mc:Choice>
              <mc:Fallback>
                <p:oleObj name="Equation" r:id="rId12" imgW="20826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104" y="4724400"/>
                        <a:ext cx="4176984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774895"/>
              </p:ext>
            </p:extLst>
          </p:nvPr>
        </p:nvGraphicFramePr>
        <p:xfrm>
          <a:off x="609600" y="5694974"/>
          <a:ext cx="3797300" cy="858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3360" imgH="482400" progId="Equation.DSMT4">
                  <p:embed/>
                </p:oleObj>
              </mc:Choice>
              <mc:Fallback>
                <p:oleObj name="Equation" r:id="rId14" imgW="2133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694974"/>
                        <a:ext cx="3797300" cy="8582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374075"/>
              </p:ext>
            </p:extLst>
          </p:nvPr>
        </p:nvGraphicFramePr>
        <p:xfrm>
          <a:off x="4965700" y="5584825"/>
          <a:ext cx="3492500" cy="919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28800" imgH="482400" progId="Equation.DSMT4">
                  <p:embed/>
                </p:oleObj>
              </mc:Choice>
              <mc:Fallback>
                <p:oleObj name="Equation" r:id="rId16" imgW="1828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5584825"/>
                        <a:ext cx="3492500" cy="9198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344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phối hợp trở kháng hình T</a:t>
            </a:r>
          </a:p>
        </p:txBody>
      </p:sp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143000"/>
            <a:ext cx="25050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752009"/>
              </p:ext>
            </p:extLst>
          </p:nvPr>
        </p:nvGraphicFramePr>
        <p:xfrm>
          <a:off x="228600" y="990600"/>
          <a:ext cx="19637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760" imgH="482400" progId="Equation.DSMT4">
                  <p:embed/>
                </p:oleObj>
              </mc:Choice>
              <mc:Fallback>
                <p:oleObj name="Equation" r:id="rId3" imgW="97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1963738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112568"/>
              </p:ext>
            </p:extLst>
          </p:nvPr>
        </p:nvGraphicFramePr>
        <p:xfrm>
          <a:off x="203200" y="1981200"/>
          <a:ext cx="22987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66400" progId="Equation.DSMT4">
                  <p:embed/>
                </p:oleObj>
              </mc:Choice>
              <mc:Fallback>
                <p:oleObj name="Equation" r:id="rId5" imgW="1143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1981200"/>
                        <a:ext cx="229870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688060"/>
              </p:ext>
            </p:extLst>
          </p:nvPr>
        </p:nvGraphicFramePr>
        <p:xfrm>
          <a:off x="203200" y="2590800"/>
          <a:ext cx="23463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68200" imgH="482400" progId="Equation.DSMT4">
                  <p:embed/>
                </p:oleObj>
              </mc:Choice>
              <mc:Fallback>
                <p:oleObj name="Equation" r:id="rId7" imgW="11682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2590800"/>
                        <a:ext cx="2346325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251012"/>
              </p:ext>
            </p:extLst>
          </p:nvPr>
        </p:nvGraphicFramePr>
        <p:xfrm>
          <a:off x="241300" y="3603625"/>
          <a:ext cx="19923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360" imgH="482400" progId="Equation.DSMT4">
                  <p:embed/>
                </p:oleObj>
              </mc:Choice>
              <mc:Fallback>
                <p:oleObj name="Equation" r:id="rId9" imgW="990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3603625"/>
                        <a:ext cx="1992313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5867400" y="1041400"/>
          <a:ext cx="145256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431640" progId="Equation.DSMT4">
                  <p:embed/>
                </p:oleObj>
              </mc:Choice>
              <mc:Fallback>
                <p:oleObj name="Equation" r:id="rId11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041400"/>
                        <a:ext cx="1452562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5867400" y="1878012"/>
          <a:ext cx="309086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36480" imgH="431640" progId="Equation.DSMT4">
                  <p:embed/>
                </p:oleObj>
              </mc:Choice>
              <mc:Fallback>
                <p:oleObj name="Equation" r:id="rId13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78012"/>
                        <a:ext cx="3090862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5867400" y="2641600"/>
          <a:ext cx="10953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45760" imgH="431640" progId="Equation.DSMT4">
                  <p:embed/>
                </p:oleObj>
              </mc:Choice>
              <mc:Fallback>
                <p:oleObj name="Equation" r:id="rId15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41600"/>
                        <a:ext cx="1095375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867400" y="3505200"/>
          <a:ext cx="15065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49160" imgH="431640" progId="Equation.DSMT4">
                  <p:embed/>
                </p:oleObj>
              </mc:Choice>
              <mc:Fallback>
                <p:oleObj name="Equation" r:id="rId17" imgW="749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05200"/>
                        <a:ext cx="150653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014304"/>
              </p:ext>
            </p:extLst>
          </p:nvPr>
        </p:nvGraphicFramePr>
        <p:xfrm>
          <a:off x="520700" y="4949825"/>
          <a:ext cx="273208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58640" imgH="533160" progId="Equation.DSMT4">
                  <p:embed/>
                </p:oleObj>
              </mc:Choice>
              <mc:Fallback>
                <p:oleObj name="Equation" r:id="rId19" imgW="13586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4949825"/>
                        <a:ext cx="2732088" cy="1069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725590"/>
              </p:ext>
            </p:extLst>
          </p:nvPr>
        </p:nvGraphicFramePr>
        <p:xfrm>
          <a:off x="3543300" y="4953000"/>
          <a:ext cx="276066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71600" imgH="533160" progId="Equation.DSMT4">
                  <p:embed/>
                </p:oleObj>
              </mc:Choice>
              <mc:Fallback>
                <p:oleObj name="Equation" r:id="rId21" imgW="1371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4953000"/>
                        <a:ext cx="2760663" cy="1069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856101"/>
              </p:ext>
            </p:extLst>
          </p:nvPr>
        </p:nvGraphicFramePr>
        <p:xfrm>
          <a:off x="6754813" y="5051425"/>
          <a:ext cx="19161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52200" imgH="444240" progId="Equation.DSMT4">
                  <p:embed/>
                </p:oleObj>
              </mc:Choice>
              <mc:Fallback>
                <p:oleObj name="Equation" r:id="rId23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4813" y="5051425"/>
                        <a:ext cx="1916112" cy="892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02357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phối hợp trở kháng hình </a:t>
            </a:r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</a:t>
            </a:r>
            <a:endParaRPr lang="en-US" sz="2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50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604648"/>
              </p:ext>
            </p:extLst>
          </p:nvPr>
        </p:nvGraphicFramePr>
        <p:xfrm>
          <a:off x="727075" y="914400"/>
          <a:ext cx="19637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482400" progId="Equation.DSMT4">
                  <p:embed/>
                </p:oleObj>
              </mc:Choice>
              <mc:Fallback>
                <p:oleObj name="Equation" r:id="rId2" imgW="97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914400"/>
                        <a:ext cx="1963738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853920"/>
              </p:ext>
            </p:extLst>
          </p:nvPr>
        </p:nvGraphicFramePr>
        <p:xfrm>
          <a:off x="701675" y="1905000"/>
          <a:ext cx="22987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66400" progId="Equation.DSMT4">
                  <p:embed/>
                </p:oleObj>
              </mc:Choice>
              <mc:Fallback>
                <p:oleObj name="Equation" r:id="rId4" imgW="1143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1905000"/>
                        <a:ext cx="229870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748119"/>
              </p:ext>
            </p:extLst>
          </p:nvPr>
        </p:nvGraphicFramePr>
        <p:xfrm>
          <a:off x="701675" y="2514600"/>
          <a:ext cx="23463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482400" progId="Equation.DSMT4">
                  <p:embed/>
                </p:oleObj>
              </mc:Choice>
              <mc:Fallback>
                <p:oleObj name="Equation" r:id="rId6" imgW="11682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514600"/>
                        <a:ext cx="2346325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209473"/>
              </p:ext>
            </p:extLst>
          </p:nvPr>
        </p:nvGraphicFramePr>
        <p:xfrm>
          <a:off x="739775" y="3527425"/>
          <a:ext cx="19923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482400" progId="Equation.DSMT4">
                  <p:embed/>
                </p:oleObj>
              </mc:Choice>
              <mc:Fallback>
                <p:oleObj name="Equation" r:id="rId8" imgW="990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527425"/>
                        <a:ext cx="1992313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197620"/>
              </p:ext>
            </p:extLst>
          </p:nvPr>
        </p:nvGraphicFramePr>
        <p:xfrm>
          <a:off x="6369050" y="1165225"/>
          <a:ext cx="15033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431640" progId="Equation.DSMT4">
                  <p:embed/>
                </p:oleObj>
              </mc:Choice>
              <mc:Fallback>
                <p:oleObj name="Equation" r:id="rId10" imgW="749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0" y="1165225"/>
                        <a:ext cx="1503363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950154"/>
              </p:ext>
            </p:extLst>
          </p:nvPr>
        </p:nvGraphicFramePr>
        <p:xfrm>
          <a:off x="6394450" y="2105025"/>
          <a:ext cx="10731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0" imgH="228600" progId="Equation.DSMT4">
                  <p:embed/>
                </p:oleObj>
              </mc:Choice>
              <mc:Fallback>
                <p:oleObj name="Equation" r:id="rId12" imgW="533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0" y="2105025"/>
                        <a:ext cx="1073150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027182"/>
              </p:ext>
            </p:extLst>
          </p:nvPr>
        </p:nvGraphicFramePr>
        <p:xfrm>
          <a:off x="6394450" y="2765425"/>
          <a:ext cx="23685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800" imgH="431640" progId="Equation.DSMT4">
                  <p:embed/>
                </p:oleObj>
              </mc:Choice>
              <mc:Fallback>
                <p:oleObj name="Equation" r:id="rId14" imgW="1180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0" y="2765425"/>
                        <a:ext cx="2368550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139052"/>
              </p:ext>
            </p:extLst>
          </p:nvPr>
        </p:nvGraphicFramePr>
        <p:xfrm>
          <a:off x="6381750" y="3629025"/>
          <a:ext cx="15319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60" imgH="431640" progId="Equation.DSMT4">
                  <p:embed/>
                </p:oleObj>
              </mc:Choice>
              <mc:Fallback>
                <p:oleObj name="Equation" r:id="rId16" imgW="76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3629025"/>
                        <a:ext cx="1531938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97842"/>
              </p:ext>
            </p:extLst>
          </p:nvPr>
        </p:nvGraphicFramePr>
        <p:xfrm>
          <a:off x="444500" y="4643438"/>
          <a:ext cx="2886075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34960" imgH="965160" progId="Equation.DSMT4">
                  <p:embed/>
                </p:oleObj>
              </mc:Choice>
              <mc:Fallback>
                <p:oleObj name="Equation" r:id="rId18" imgW="143496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4643438"/>
                        <a:ext cx="2886075" cy="19367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148203"/>
              </p:ext>
            </p:extLst>
          </p:nvPr>
        </p:nvGraphicFramePr>
        <p:xfrm>
          <a:off x="3592513" y="5334000"/>
          <a:ext cx="23002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3000" imgH="266400" progId="Equation.DSMT4">
                  <p:embed/>
                </p:oleObj>
              </mc:Choice>
              <mc:Fallback>
                <p:oleObj name="Equation" r:id="rId20" imgW="1143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5334000"/>
                        <a:ext cx="2300287" cy="5349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00208"/>
              </p:ext>
            </p:extLst>
          </p:nvPr>
        </p:nvGraphicFramePr>
        <p:xfrm>
          <a:off x="6246813" y="4772025"/>
          <a:ext cx="25781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82680" imgH="723600" progId="Equation.DSMT4">
                  <p:embed/>
                </p:oleObj>
              </mc:Choice>
              <mc:Fallback>
                <p:oleObj name="Equation" r:id="rId22" imgW="12826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4772025"/>
                        <a:ext cx="2578100" cy="1452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0541" name="Picture 13"/>
          <p:cNvPicPr>
            <a:picLocks noChangeAspect="1" noChangeArrowheads="1"/>
          </p:cNvPicPr>
          <p:nvPr/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3565992" y="1987550"/>
            <a:ext cx="22574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20233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7541" y="360364"/>
            <a:ext cx="8229600" cy="12684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u="sng">
                <a:latin typeface="Arial" panose="020B0604020202020204" pitchFamily="34" charset="0"/>
                <a:cs typeface="Arial" panose="020B0604020202020204" pitchFamily="34" charset="0"/>
              </a:rPr>
              <a:t>Ví dụ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Thiết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đặt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giữa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nguồn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nội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sz="2400" baseline="-250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5000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R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75 ;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điện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áp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vào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dịch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pha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nhau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một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góc b=45</a:t>
            </a:r>
            <a:r>
              <a:rPr lang="en-US" sz="2400" baseline="30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55592"/>
              </p:ext>
            </p:extLst>
          </p:nvPr>
        </p:nvGraphicFramePr>
        <p:xfrm>
          <a:off x="326413" y="1981200"/>
          <a:ext cx="3712187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838080" progId="Equation.DSMT4">
                  <p:embed/>
                </p:oleObj>
              </mc:Choice>
              <mc:Fallback>
                <p:oleObj name="Equation" r:id="rId2" imgW="248904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13" y="1981200"/>
                        <a:ext cx="3712187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ction Button: Return 10">
            <a:hlinkClick r:id="rId4" action="ppaction://hlinksldjump" highlightClick="1"/>
          </p:cNvPr>
          <p:cNvSpPr/>
          <p:nvPr/>
        </p:nvSpPr>
        <p:spPr>
          <a:xfrm>
            <a:off x="8763000" y="6477000"/>
            <a:ext cx="381000" cy="381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76525" y="4800600"/>
            <a:ext cx="25050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29375" y="1371600"/>
            <a:ext cx="22574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469706"/>
              </p:ext>
            </p:extLst>
          </p:nvPr>
        </p:nvGraphicFramePr>
        <p:xfrm>
          <a:off x="304800" y="3200400"/>
          <a:ext cx="32385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71520" imgH="838080" progId="Equation.DSMT4">
                  <p:embed/>
                </p:oleObj>
              </mc:Choice>
              <mc:Fallback>
                <p:oleObj name="Equation" r:id="rId7" imgW="21715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200400"/>
                        <a:ext cx="323850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499685"/>
              </p:ext>
            </p:extLst>
          </p:nvPr>
        </p:nvGraphicFramePr>
        <p:xfrm>
          <a:off x="304800" y="4495800"/>
          <a:ext cx="28225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92160" imgH="647640" progId="Equation.DSMT4">
                  <p:embed/>
                </p:oleObj>
              </mc:Choice>
              <mc:Fallback>
                <p:oleObj name="Equation" r:id="rId9" imgW="18921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95800"/>
                        <a:ext cx="28225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274650"/>
              </p:ext>
            </p:extLst>
          </p:nvPr>
        </p:nvGraphicFramePr>
        <p:xfrm>
          <a:off x="5181600" y="2971800"/>
          <a:ext cx="3414712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09680" imgH="863280" progId="Equation.DSMT4">
                  <p:embed/>
                </p:oleObj>
              </mc:Choice>
              <mc:Fallback>
                <p:oleObj name="Equation" r:id="rId11" imgW="22096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971800"/>
                        <a:ext cx="3414712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56892"/>
              </p:ext>
            </p:extLst>
          </p:nvPr>
        </p:nvGraphicFramePr>
        <p:xfrm>
          <a:off x="5181600" y="4267200"/>
          <a:ext cx="298291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30320" imgH="431640" progId="Equation.DSMT4">
                  <p:embed/>
                </p:oleObj>
              </mc:Choice>
              <mc:Fallback>
                <p:oleObj name="Equation" r:id="rId13" imgW="1930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267200"/>
                        <a:ext cx="2982912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164090"/>
              </p:ext>
            </p:extLst>
          </p:nvPr>
        </p:nvGraphicFramePr>
        <p:xfrm>
          <a:off x="5181600" y="4953000"/>
          <a:ext cx="347345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47840" imgH="863280" progId="Equation.DSMT4">
                  <p:embed/>
                </p:oleObj>
              </mc:Choice>
              <mc:Fallback>
                <p:oleObj name="Equation" r:id="rId15" imgW="224784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347345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ntent Placeholder 3"/>
          <p:cNvSpPr txBox="1">
            <a:spLocks/>
          </p:cNvSpPr>
          <p:nvPr/>
        </p:nvSpPr>
        <p:spPr>
          <a:xfrm>
            <a:off x="497541" y="1520825"/>
            <a:ext cx="1026459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n-US" sz="2400" u="sng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Giải: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6675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1224181"/>
          </a:xfr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Mạch lọc tần số</a:t>
            </a:r>
            <a:b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Khái niệm: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8982"/>
            <a:ext cx="7924800" cy="2133600"/>
          </a:xfrm>
        </p:spPr>
        <p:txBody>
          <a:bodyPr>
            <a:normAutofit/>
          </a:bodyPr>
          <a:lstStyle/>
          <a:p>
            <a:pPr marL="342900" indent="-342900" algn="just">
              <a:buClrTx/>
              <a:buFont typeface="Wingdings" panose="05000000000000000000" pitchFamily="2" charset="2"/>
              <a:buChar char="v"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tần số là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bốn cực có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lựa chọn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số, nó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truyền qua dễ dàng các tín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nằm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đó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thông,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chặn các tín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khác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spcBef>
                <a:spcPts val="1200"/>
              </a:spcBef>
              <a:buClrTx/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Với mạch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thì hệ số suy giảm a(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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550988" y="3662582"/>
            <a:ext cx="4697412" cy="942975"/>
            <a:chOff x="1550988" y="3276600"/>
            <a:chExt cx="4697412" cy="942975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6491823"/>
                </p:ext>
              </p:extLst>
            </p:nvPr>
          </p:nvGraphicFramePr>
          <p:xfrm>
            <a:off x="1550988" y="3302000"/>
            <a:ext cx="1479550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36560" imgH="457200" progId="Equation.DSMT4">
                    <p:embed/>
                  </p:oleObj>
                </mc:Choice>
                <mc:Fallback>
                  <p:oleObj name="Equation" r:id="rId2" imgW="736560" imgH="457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0988" y="3302000"/>
                          <a:ext cx="1479550" cy="917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E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3048000" y="3276600"/>
              <a:ext cx="3200400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trong dải thông </a:t>
              </a:r>
            </a:p>
            <a:p>
              <a:pPr>
                <a:spcAft>
                  <a:spcPts val="600"/>
                </a:spcAft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trong dải chắn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42149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72400" cy="685800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Phân loại mạch lọc:</a:t>
            </a:r>
          </a:p>
        </p:txBody>
      </p:sp>
      <p:sp>
        <p:nvSpPr>
          <p:cNvPr id="76" name="Rectangle 7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3" name="Group 82"/>
          <p:cNvGrpSpPr/>
          <p:nvPr/>
        </p:nvGrpSpPr>
        <p:grpSpPr>
          <a:xfrm>
            <a:off x="762000" y="1524000"/>
            <a:ext cx="3140075" cy="1319530"/>
            <a:chOff x="838200" y="1060450"/>
            <a:chExt cx="3140075" cy="1319530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838200" y="1060450"/>
              <a:ext cx="3140075" cy="1319530"/>
              <a:chOff x="2244" y="11910"/>
              <a:chExt cx="3084" cy="1338"/>
            </a:xfrm>
          </p:grpSpPr>
          <p:cxnSp>
            <p:nvCxnSpPr>
              <p:cNvPr id="6" name="Line 4"/>
              <p:cNvCxnSpPr/>
              <p:nvPr/>
            </p:nvCxnSpPr>
            <p:spPr bwMode="auto">
              <a:xfrm>
                <a:off x="3456" y="12384"/>
                <a:ext cx="17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Text Box 5"/>
              <p:cNvSpPr txBox="1">
                <a:spLocks noChangeArrowheads="1"/>
              </p:cNvSpPr>
              <p:nvPr/>
            </p:nvSpPr>
            <p:spPr bwMode="auto">
              <a:xfrm>
                <a:off x="2393" y="11910"/>
                <a:ext cx="2646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Dải thông        </a:t>
                </a:r>
                <a:r>
                  <a:rPr lang="en-US" sz="1800" b="1">
                    <a:solidFill>
                      <a:srgbClr val="C00000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Dải chắn</a:t>
                </a:r>
                <a:endParaRPr lang="en-US" sz="1100" b="1">
                  <a:solidFill>
                    <a:srgbClr val="C00000"/>
                  </a:solidFill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2244" y="12483"/>
                <a:ext cx="3084" cy="7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0	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r>
                  <a:rPr lang="en-US" sz="1800" b="1" baseline="-25000">
                    <a:effectLst/>
                    <a:latin typeface="Times New Roman"/>
                    <a:ea typeface="Calibri"/>
                    <a:cs typeface="Times New Roman"/>
                  </a:rPr>
                  <a:t>c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	         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342900" marR="0" indent="-34290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v"/>
                </a:pPr>
                <a:r>
                  <a:rPr lang="en-US" sz="2400">
                    <a:effectLst/>
                    <a:latin typeface="Times New Roman"/>
                    <a:ea typeface="Calibri"/>
                    <a:cs typeface="Times New Roman"/>
                  </a:rPr>
                  <a:t>Lọc thông thấp</a:t>
                </a:r>
                <a:endParaRPr lang="en-US" sz="24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9" name="Line 7"/>
              <p:cNvCxnSpPr/>
              <p:nvPr/>
            </p:nvCxnSpPr>
            <p:spPr bwMode="auto">
              <a:xfrm>
                <a:off x="2304" y="12384"/>
                <a:ext cx="115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0" name="Group 9"/>
              <p:cNvGrpSpPr>
                <a:grpSpLocks/>
              </p:cNvGrpSpPr>
              <p:nvPr/>
            </p:nvGrpSpPr>
            <p:grpSpPr bwMode="auto">
              <a:xfrm>
                <a:off x="3471" y="12324"/>
                <a:ext cx="1440" cy="144"/>
                <a:chOff x="3456" y="12384"/>
                <a:chExt cx="1440" cy="144"/>
              </a:xfrm>
            </p:grpSpPr>
            <p:cxnSp>
              <p:nvCxnSpPr>
                <p:cNvPr id="11" name="Line 9"/>
                <p:cNvCxnSpPr/>
                <p:nvPr/>
              </p:nvCxnSpPr>
              <p:spPr bwMode="auto">
                <a:xfrm flipH="1">
                  <a:off x="3456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" name="Line 10"/>
                <p:cNvCxnSpPr/>
                <p:nvPr/>
              </p:nvCxnSpPr>
              <p:spPr bwMode="auto">
                <a:xfrm flipH="1">
                  <a:off x="3600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" name="Line 11"/>
                <p:cNvCxnSpPr/>
                <p:nvPr/>
              </p:nvCxnSpPr>
              <p:spPr bwMode="auto">
                <a:xfrm flipH="1">
                  <a:off x="3744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" name="Line 12"/>
                <p:cNvCxnSpPr/>
                <p:nvPr/>
              </p:nvCxnSpPr>
              <p:spPr bwMode="auto">
                <a:xfrm flipH="1">
                  <a:off x="3888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" name="Line 13"/>
                <p:cNvCxnSpPr/>
                <p:nvPr/>
              </p:nvCxnSpPr>
              <p:spPr bwMode="auto">
                <a:xfrm flipH="1">
                  <a:off x="4032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" name="Line 14"/>
                <p:cNvCxnSpPr/>
                <p:nvPr/>
              </p:nvCxnSpPr>
              <p:spPr bwMode="auto">
                <a:xfrm flipH="1">
                  <a:off x="4176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" name="Line 15"/>
                <p:cNvCxnSpPr/>
                <p:nvPr/>
              </p:nvCxnSpPr>
              <p:spPr bwMode="auto">
                <a:xfrm flipH="1">
                  <a:off x="4320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" name="Line 16"/>
                <p:cNvCxnSpPr/>
                <p:nvPr/>
              </p:nvCxnSpPr>
              <p:spPr bwMode="auto">
                <a:xfrm flipH="1">
                  <a:off x="4464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" name="Line 17"/>
                <p:cNvCxnSpPr/>
                <p:nvPr/>
              </p:nvCxnSpPr>
              <p:spPr bwMode="auto">
                <a:xfrm flipH="1">
                  <a:off x="4608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" name="Line 18"/>
                <p:cNvCxnSpPr/>
                <p:nvPr/>
              </p:nvCxnSpPr>
              <p:spPr bwMode="auto">
                <a:xfrm flipH="1">
                  <a:off x="4752" y="1238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77" name="Rectangle 76"/>
            <p:cNvSpPr/>
            <p:nvPr/>
          </p:nvSpPr>
          <p:spPr>
            <a:xfrm>
              <a:off x="2057400" y="1384210"/>
              <a:ext cx="1617079" cy="32089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557395" y="1524000"/>
            <a:ext cx="3977005" cy="1379855"/>
            <a:chOff x="4267465" y="1060450"/>
            <a:chExt cx="3977005" cy="1379855"/>
          </a:xfrm>
        </p:grpSpPr>
        <p:grpSp>
          <p:nvGrpSpPr>
            <p:cNvPr id="36" name="Group 35"/>
            <p:cNvGrpSpPr>
              <a:grpSpLocks/>
            </p:cNvGrpSpPr>
            <p:nvPr/>
          </p:nvGrpSpPr>
          <p:grpSpPr bwMode="auto">
            <a:xfrm>
              <a:off x="4267465" y="1060450"/>
              <a:ext cx="3977005" cy="1379855"/>
              <a:chOff x="6350" y="11952"/>
              <a:chExt cx="3744" cy="1338"/>
            </a:xfrm>
          </p:grpSpPr>
          <p:cxnSp>
            <p:nvCxnSpPr>
              <p:cNvPr id="37" name="Line 35"/>
              <p:cNvCxnSpPr/>
              <p:nvPr/>
            </p:nvCxnSpPr>
            <p:spPr bwMode="auto">
              <a:xfrm>
                <a:off x="8928" y="12426"/>
                <a:ext cx="115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oval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8" name="Text Box 36"/>
              <p:cNvSpPr txBox="1">
                <a:spLocks noChangeArrowheads="1"/>
              </p:cNvSpPr>
              <p:nvPr/>
            </p:nvSpPr>
            <p:spPr bwMode="auto">
              <a:xfrm>
                <a:off x="6381" y="11952"/>
                <a:ext cx="3699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solidFill>
                      <a:srgbClr val="C00000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Dải chắn   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Dải thông      </a:t>
                </a:r>
                <a:r>
                  <a:rPr lang="en-US" sz="1800" b="1">
                    <a:solidFill>
                      <a:srgbClr val="C00000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Dải chắn</a:t>
                </a:r>
                <a:endParaRPr lang="en-US" sz="1100" b="1">
                  <a:solidFill>
                    <a:srgbClr val="C00000"/>
                  </a:solidFill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39" name="Text Box 37"/>
              <p:cNvSpPr txBox="1">
                <a:spLocks noChangeArrowheads="1"/>
              </p:cNvSpPr>
              <p:nvPr/>
            </p:nvSpPr>
            <p:spPr bwMode="auto">
              <a:xfrm>
                <a:off x="6350" y="12525"/>
                <a:ext cx="3744" cy="7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0	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r>
                  <a:rPr lang="en-US" sz="1800" b="1" baseline="-25000">
                    <a:effectLst/>
                    <a:latin typeface="Times New Roman"/>
                    <a:ea typeface="Calibri"/>
                    <a:cs typeface="Times New Roman"/>
                  </a:rPr>
                  <a:t>c1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          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r>
                  <a:rPr lang="en-US" sz="1800" b="1" baseline="-25000">
                    <a:effectLst/>
                    <a:latin typeface="Times New Roman"/>
                    <a:ea typeface="Calibri"/>
                    <a:cs typeface="Times New Roman"/>
                  </a:rPr>
                  <a:t>c2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              </a:t>
                </a:r>
                <a:endParaRPr lang="en-US" b="1">
                  <a:latin typeface="Times New Roman"/>
                  <a:ea typeface="Calibri"/>
                  <a:cs typeface="Times New Roman"/>
                  <a:sym typeface="Symbol"/>
                </a:endParaRPr>
              </a:p>
              <a:p>
                <a:pPr marL="342900" marR="0" indent="6350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v"/>
                  <a:tabLst>
                    <a:tab pos="520700" algn="l"/>
                    <a:tab pos="977900" algn="l"/>
                  </a:tabLst>
                </a:pPr>
                <a:r>
                  <a:rPr lang="en-US" sz="2400">
                    <a:effectLst/>
                    <a:latin typeface="Times New Roman"/>
                    <a:ea typeface="Calibri"/>
                    <a:cs typeface="Times New Roman"/>
                  </a:rPr>
                  <a:t>Lọc thông dải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	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40" name="Line 38"/>
              <p:cNvCxnSpPr/>
              <p:nvPr/>
            </p:nvCxnSpPr>
            <p:spPr bwMode="auto">
              <a:xfrm>
                <a:off x="6396" y="12426"/>
                <a:ext cx="9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1" name="Group 40"/>
              <p:cNvGrpSpPr>
                <a:grpSpLocks/>
              </p:cNvGrpSpPr>
              <p:nvPr/>
            </p:nvGrpSpPr>
            <p:grpSpPr bwMode="auto">
              <a:xfrm>
                <a:off x="6411" y="12366"/>
                <a:ext cx="864" cy="144"/>
                <a:chOff x="7563" y="12366"/>
                <a:chExt cx="864" cy="144"/>
              </a:xfrm>
            </p:grpSpPr>
            <p:cxnSp>
              <p:nvCxnSpPr>
                <p:cNvPr id="50" name="Line 40"/>
                <p:cNvCxnSpPr/>
                <p:nvPr/>
              </p:nvCxnSpPr>
              <p:spPr bwMode="auto">
                <a:xfrm flipH="1">
                  <a:off x="756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" name="Line 41"/>
                <p:cNvCxnSpPr/>
                <p:nvPr/>
              </p:nvCxnSpPr>
              <p:spPr bwMode="auto">
                <a:xfrm flipH="1">
                  <a:off x="7707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2" name="Line 42"/>
                <p:cNvCxnSpPr/>
                <p:nvPr/>
              </p:nvCxnSpPr>
              <p:spPr bwMode="auto">
                <a:xfrm flipH="1">
                  <a:off x="7851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3" name="Line 43"/>
                <p:cNvCxnSpPr/>
                <p:nvPr/>
              </p:nvCxnSpPr>
              <p:spPr bwMode="auto">
                <a:xfrm flipH="1">
                  <a:off x="7995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" name="Line 44"/>
                <p:cNvCxnSpPr/>
                <p:nvPr/>
              </p:nvCxnSpPr>
              <p:spPr bwMode="auto">
                <a:xfrm flipH="1">
                  <a:off x="8139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5" name="Line 45"/>
                <p:cNvCxnSpPr/>
                <p:nvPr/>
              </p:nvCxnSpPr>
              <p:spPr bwMode="auto">
                <a:xfrm flipH="1">
                  <a:off x="828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42" name="Group 41"/>
              <p:cNvGrpSpPr>
                <a:grpSpLocks/>
              </p:cNvGrpSpPr>
              <p:nvPr/>
            </p:nvGrpSpPr>
            <p:grpSpPr bwMode="auto">
              <a:xfrm>
                <a:off x="9018" y="12360"/>
                <a:ext cx="864" cy="144"/>
                <a:chOff x="7563" y="12366"/>
                <a:chExt cx="864" cy="144"/>
              </a:xfrm>
            </p:grpSpPr>
            <p:cxnSp>
              <p:nvCxnSpPr>
                <p:cNvPr id="44" name="Line 47"/>
                <p:cNvCxnSpPr/>
                <p:nvPr/>
              </p:nvCxnSpPr>
              <p:spPr bwMode="auto">
                <a:xfrm flipH="1">
                  <a:off x="756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5" name="Line 48"/>
                <p:cNvCxnSpPr/>
                <p:nvPr/>
              </p:nvCxnSpPr>
              <p:spPr bwMode="auto">
                <a:xfrm flipH="1">
                  <a:off x="7707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6" name="Line 49"/>
                <p:cNvCxnSpPr/>
                <p:nvPr/>
              </p:nvCxnSpPr>
              <p:spPr bwMode="auto">
                <a:xfrm flipH="1">
                  <a:off x="7851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7" name="Line 50"/>
                <p:cNvCxnSpPr/>
                <p:nvPr/>
              </p:nvCxnSpPr>
              <p:spPr bwMode="auto">
                <a:xfrm flipH="1">
                  <a:off x="7995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8" name="Line 51"/>
                <p:cNvCxnSpPr/>
                <p:nvPr/>
              </p:nvCxnSpPr>
              <p:spPr bwMode="auto">
                <a:xfrm flipH="1">
                  <a:off x="8139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9" name="Line 52"/>
                <p:cNvCxnSpPr/>
                <p:nvPr/>
              </p:nvCxnSpPr>
              <p:spPr bwMode="auto">
                <a:xfrm flipH="1">
                  <a:off x="828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43" name="Line 53"/>
              <p:cNvCxnSpPr/>
              <p:nvPr/>
            </p:nvCxnSpPr>
            <p:spPr bwMode="auto">
              <a:xfrm>
                <a:off x="7344" y="12414"/>
                <a:ext cx="158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8" name="Rectangle 77"/>
            <p:cNvSpPr/>
            <p:nvPr/>
          </p:nvSpPr>
          <p:spPr>
            <a:xfrm>
              <a:off x="4277622" y="1366109"/>
              <a:ext cx="1282645" cy="32089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796670" y="1376457"/>
              <a:ext cx="1282645" cy="32089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872490" y="4097655"/>
            <a:ext cx="2832100" cy="1388745"/>
            <a:chOff x="872490" y="3827145"/>
            <a:chExt cx="2832100" cy="1388745"/>
          </a:xfrm>
        </p:grpSpPr>
        <p:grpSp>
          <p:nvGrpSpPr>
            <p:cNvPr id="22" name="Group 21"/>
            <p:cNvGrpSpPr>
              <a:grpSpLocks/>
            </p:cNvGrpSpPr>
            <p:nvPr/>
          </p:nvGrpSpPr>
          <p:grpSpPr bwMode="auto">
            <a:xfrm>
              <a:off x="872490" y="3827145"/>
              <a:ext cx="2832100" cy="1388745"/>
              <a:chOff x="6996" y="11853"/>
              <a:chExt cx="3084" cy="1395"/>
            </a:xfrm>
          </p:grpSpPr>
          <p:cxnSp>
            <p:nvCxnSpPr>
              <p:cNvPr id="23" name="Line 21"/>
              <p:cNvCxnSpPr/>
              <p:nvPr/>
            </p:nvCxnSpPr>
            <p:spPr bwMode="auto">
              <a:xfrm>
                <a:off x="8208" y="12402"/>
                <a:ext cx="17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lg" len="med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" name="Text Box 22"/>
              <p:cNvSpPr txBox="1">
                <a:spLocks noChangeArrowheads="1"/>
              </p:cNvSpPr>
              <p:nvPr/>
            </p:nvSpPr>
            <p:spPr bwMode="auto">
              <a:xfrm>
                <a:off x="7155" y="11853"/>
                <a:ext cx="2637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solidFill>
                      <a:srgbClr val="C00000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  Dải chắn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Dải thông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25" name="Text Box 23"/>
              <p:cNvSpPr txBox="1">
                <a:spLocks noChangeArrowheads="1"/>
              </p:cNvSpPr>
              <p:nvPr/>
            </p:nvSpPr>
            <p:spPr bwMode="auto">
              <a:xfrm>
                <a:off x="6996" y="12501"/>
                <a:ext cx="3084" cy="7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0	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r>
                  <a:rPr lang="en-US" sz="1800" b="1" baseline="-25000">
                    <a:effectLst/>
                    <a:latin typeface="Times New Roman"/>
                    <a:ea typeface="Calibri"/>
                    <a:cs typeface="Times New Roman"/>
                  </a:rPr>
                  <a:t>c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	    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342900" marR="0" indent="-342900" algn="ctr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v"/>
                </a:pPr>
                <a:r>
                  <a:rPr lang="en-US" sz="2400" kern="0">
                    <a:effectLst/>
                    <a:latin typeface="Times New Roman"/>
                    <a:ea typeface="Times New Roman"/>
                    <a:cs typeface="Times New Roman"/>
                  </a:rPr>
                  <a:t>Lọc thông cao</a:t>
                </a:r>
                <a:endParaRPr lang="en-US" sz="2400" kern="0">
                  <a:effectLst/>
                  <a:latin typeface="VNarial"/>
                  <a:ea typeface="Times New Roman"/>
                  <a:cs typeface="Times New Roman"/>
                </a:endParaRPr>
              </a:p>
            </p:txBody>
          </p:sp>
          <p:cxnSp>
            <p:nvCxnSpPr>
              <p:cNvPr id="26" name="Line 24"/>
              <p:cNvCxnSpPr/>
              <p:nvPr/>
            </p:nvCxnSpPr>
            <p:spPr bwMode="auto">
              <a:xfrm>
                <a:off x="7056" y="12402"/>
                <a:ext cx="115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7" name="Group 26"/>
              <p:cNvGrpSpPr>
                <a:grpSpLocks/>
              </p:cNvGrpSpPr>
              <p:nvPr/>
            </p:nvGrpSpPr>
            <p:grpSpPr bwMode="auto">
              <a:xfrm>
                <a:off x="7056" y="12354"/>
                <a:ext cx="1152" cy="144"/>
                <a:chOff x="7056" y="12354"/>
                <a:chExt cx="1152" cy="144"/>
              </a:xfrm>
            </p:grpSpPr>
            <p:cxnSp>
              <p:nvCxnSpPr>
                <p:cNvPr id="28" name="Line 26"/>
                <p:cNvCxnSpPr/>
                <p:nvPr/>
              </p:nvCxnSpPr>
              <p:spPr bwMode="auto">
                <a:xfrm flipH="1">
                  <a:off x="7056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" name="Line 27"/>
                <p:cNvCxnSpPr/>
                <p:nvPr/>
              </p:nvCxnSpPr>
              <p:spPr bwMode="auto">
                <a:xfrm flipH="1">
                  <a:off x="7200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" name="Line 28"/>
                <p:cNvCxnSpPr/>
                <p:nvPr/>
              </p:nvCxnSpPr>
              <p:spPr bwMode="auto">
                <a:xfrm flipH="1">
                  <a:off x="7344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" name="Line 29"/>
                <p:cNvCxnSpPr/>
                <p:nvPr/>
              </p:nvCxnSpPr>
              <p:spPr bwMode="auto">
                <a:xfrm flipH="1">
                  <a:off x="7488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2" name="Line 30"/>
                <p:cNvCxnSpPr/>
                <p:nvPr/>
              </p:nvCxnSpPr>
              <p:spPr bwMode="auto">
                <a:xfrm flipH="1">
                  <a:off x="7632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" name="Line 31"/>
                <p:cNvCxnSpPr/>
                <p:nvPr/>
              </p:nvCxnSpPr>
              <p:spPr bwMode="auto">
                <a:xfrm flipH="1">
                  <a:off x="7776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4" name="Line 32"/>
                <p:cNvCxnSpPr/>
                <p:nvPr/>
              </p:nvCxnSpPr>
              <p:spPr bwMode="auto">
                <a:xfrm flipH="1">
                  <a:off x="7920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" name="Line 33"/>
                <p:cNvCxnSpPr/>
                <p:nvPr/>
              </p:nvCxnSpPr>
              <p:spPr bwMode="auto">
                <a:xfrm flipH="1">
                  <a:off x="8064" y="12354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80" name="Rectangle 79"/>
            <p:cNvSpPr/>
            <p:nvPr/>
          </p:nvSpPr>
          <p:spPr>
            <a:xfrm>
              <a:off x="899292" y="4189488"/>
              <a:ext cx="1172946" cy="32089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4648200" y="4080510"/>
            <a:ext cx="3668457" cy="1405890"/>
            <a:chOff x="4252595" y="3810000"/>
            <a:chExt cx="3371850" cy="1397000"/>
          </a:xfrm>
        </p:grpSpPr>
        <p:grpSp>
          <p:nvGrpSpPr>
            <p:cNvPr id="56" name="Group 55"/>
            <p:cNvGrpSpPr>
              <a:grpSpLocks/>
            </p:cNvGrpSpPr>
            <p:nvPr/>
          </p:nvGrpSpPr>
          <p:grpSpPr bwMode="auto">
            <a:xfrm>
              <a:off x="4252595" y="3810000"/>
              <a:ext cx="3371850" cy="1397000"/>
              <a:chOff x="6336" y="13461"/>
              <a:chExt cx="3744" cy="1338"/>
            </a:xfrm>
          </p:grpSpPr>
          <p:cxnSp>
            <p:nvCxnSpPr>
              <p:cNvPr id="57" name="Line 55"/>
              <p:cNvCxnSpPr/>
              <p:nvPr/>
            </p:nvCxnSpPr>
            <p:spPr bwMode="auto">
              <a:xfrm>
                <a:off x="8928" y="13935"/>
                <a:ext cx="115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oval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8" name="Text Box 56"/>
              <p:cNvSpPr txBox="1">
                <a:spLocks noChangeArrowheads="1"/>
              </p:cNvSpPr>
              <p:nvPr/>
            </p:nvSpPr>
            <p:spPr bwMode="auto">
              <a:xfrm>
                <a:off x="6381" y="13461"/>
                <a:ext cx="3699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Dải thông     </a:t>
                </a:r>
                <a:r>
                  <a:rPr lang="en-US" sz="1800" b="1">
                    <a:solidFill>
                      <a:srgbClr val="C00000"/>
                    </a:solidFill>
                    <a:effectLst/>
                    <a:latin typeface="Times New Roman"/>
                    <a:ea typeface="Calibri"/>
                    <a:cs typeface="Times New Roman"/>
                  </a:rPr>
                  <a:t>Dải chắn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Dải thông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59" name="Text Box 57"/>
              <p:cNvSpPr txBox="1">
                <a:spLocks noChangeArrowheads="1"/>
              </p:cNvSpPr>
              <p:nvPr/>
            </p:nvSpPr>
            <p:spPr bwMode="auto">
              <a:xfrm>
                <a:off x="6336" y="14034"/>
                <a:ext cx="3744" cy="7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0</a:t>
                </a:r>
                <a:r>
                  <a:rPr lang="en-US" b="1">
                    <a:latin typeface="Times New Roman"/>
                    <a:ea typeface="Calibri"/>
                    <a:cs typeface="Times New Roman"/>
                  </a:rPr>
                  <a:t>	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r>
                  <a:rPr lang="en-US" sz="1800" b="1" baseline="-25000">
                    <a:effectLst/>
                    <a:latin typeface="Times New Roman"/>
                    <a:ea typeface="Calibri"/>
                    <a:cs typeface="Times New Roman"/>
                  </a:rPr>
                  <a:t>c1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           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r>
                  <a:rPr lang="en-US" sz="1800" b="1" baseline="-25000">
                    <a:effectLst/>
                    <a:latin typeface="Times New Roman"/>
                    <a:ea typeface="Calibri"/>
                    <a:cs typeface="Times New Roman"/>
                  </a:rPr>
                  <a:t>c2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            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  <a:sym typeface="Symbol"/>
                  </a:rPr>
                  <a:t>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  <a:p>
                <a:pPr marL="571500" marR="0" indent="-28575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v"/>
                </a:pPr>
                <a:r>
                  <a:rPr lang="en-US" sz="2400">
                    <a:effectLst/>
                    <a:latin typeface="Times New Roman"/>
                    <a:ea typeface="Calibri"/>
                    <a:cs typeface="Times New Roman"/>
                  </a:rPr>
                  <a:t> Lọc chắn dải</a:t>
                </a:r>
                <a:r>
                  <a:rPr lang="en-US" sz="1800" b="1">
                    <a:effectLst/>
                    <a:latin typeface="Times New Roman"/>
                    <a:ea typeface="Calibri"/>
                    <a:cs typeface="Times New Roman"/>
                  </a:rPr>
                  <a:t>	</a:t>
                </a:r>
                <a:endParaRPr lang="en-US" sz="1100" b="1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60" name="Line 58"/>
              <p:cNvCxnSpPr/>
              <p:nvPr/>
            </p:nvCxnSpPr>
            <p:spPr bwMode="auto">
              <a:xfrm flipV="1">
                <a:off x="6396" y="13923"/>
                <a:ext cx="1167" cy="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1" name="Group 60"/>
              <p:cNvGrpSpPr>
                <a:grpSpLocks/>
              </p:cNvGrpSpPr>
              <p:nvPr/>
            </p:nvGrpSpPr>
            <p:grpSpPr bwMode="auto">
              <a:xfrm>
                <a:off x="7428" y="13869"/>
                <a:ext cx="864" cy="144"/>
                <a:chOff x="7563" y="12366"/>
                <a:chExt cx="864" cy="144"/>
              </a:xfrm>
            </p:grpSpPr>
            <p:cxnSp>
              <p:nvCxnSpPr>
                <p:cNvPr id="70" name="Line 60"/>
                <p:cNvCxnSpPr/>
                <p:nvPr/>
              </p:nvCxnSpPr>
              <p:spPr bwMode="auto">
                <a:xfrm flipH="1">
                  <a:off x="756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" name="Line 61"/>
                <p:cNvCxnSpPr/>
                <p:nvPr/>
              </p:nvCxnSpPr>
              <p:spPr bwMode="auto">
                <a:xfrm flipH="1">
                  <a:off x="7707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" name="Line 62"/>
                <p:cNvCxnSpPr/>
                <p:nvPr/>
              </p:nvCxnSpPr>
              <p:spPr bwMode="auto">
                <a:xfrm flipH="1">
                  <a:off x="7851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3" name="Line 63"/>
                <p:cNvCxnSpPr/>
                <p:nvPr/>
              </p:nvCxnSpPr>
              <p:spPr bwMode="auto">
                <a:xfrm flipH="1">
                  <a:off x="7995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4" name="Line 64"/>
                <p:cNvCxnSpPr/>
                <p:nvPr/>
              </p:nvCxnSpPr>
              <p:spPr bwMode="auto">
                <a:xfrm flipH="1">
                  <a:off x="8139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5" name="Line 65"/>
                <p:cNvCxnSpPr/>
                <p:nvPr/>
              </p:nvCxnSpPr>
              <p:spPr bwMode="auto">
                <a:xfrm flipH="1">
                  <a:off x="828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62" name="Line 66"/>
              <p:cNvCxnSpPr/>
              <p:nvPr/>
            </p:nvCxnSpPr>
            <p:spPr bwMode="auto">
              <a:xfrm>
                <a:off x="7344" y="13923"/>
                <a:ext cx="15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3" name="Group 62"/>
              <p:cNvGrpSpPr>
                <a:grpSpLocks/>
              </p:cNvGrpSpPr>
              <p:nvPr/>
            </p:nvGrpSpPr>
            <p:grpSpPr bwMode="auto">
              <a:xfrm>
                <a:off x="8004" y="13869"/>
                <a:ext cx="864" cy="144"/>
                <a:chOff x="7563" y="12366"/>
                <a:chExt cx="864" cy="144"/>
              </a:xfrm>
            </p:grpSpPr>
            <p:cxnSp>
              <p:nvCxnSpPr>
                <p:cNvPr id="64" name="Line 68"/>
                <p:cNvCxnSpPr/>
                <p:nvPr/>
              </p:nvCxnSpPr>
              <p:spPr bwMode="auto">
                <a:xfrm flipH="1">
                  <a:off x="756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5" name="Line 69"/>
                <p:cNvCxnSpPr/>
                <p:nvPr/>
              </p:nvCxnSpPr>
              <p:spPr bwMode="auto">
                <a:xfrm flipH="1">
                  <a:off x="7707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6" name="Line 70"/>
                <p:cNvCxnSpPr/>
                <p:nvPr/>
              </p:nvCxnSpPr>
              <p:spPr bwMode="auto">
                <a:xfrm flipH="1">
                  <a:off x="7851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7" name="Line 71"/>
                <p:cNvCxnSpPr/>
                <p:nvPr/>
              </p:nvCxnSpPr>
              <p:spPr bwMode="auto">
                <a:xfrm flipH="1">
                  <a:off x="7995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8" name="Line 72"/>
                <p:cNvCxnSpPr/>
                <p:nvPr/>
              </p:nvCxnSpPr>
              <p:spPr bwMode="auto">
                <a:xfrm flipH="1">
                  <a:off x="8139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9" name="Line 73"/>
                <p:cNvCxnSpPr/>
                <p:nvPr/>
              </p:nvCxnSpPr>
              <p:spPr bwMode="auto">
                <a:xfrm flipH="1">
                  <a:off x="8283" y="1236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81" name="Rectangle 80"/>
            <p:cNvSpPr/>
            <p:nvPr/>
          </p:nvSpPr>
          <p:spPr>
            <a:xfrm>
              <a:off x="5194355" y="4131927"/>
              <a:ext cx="1392598" cy="32089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22124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09574" y="457200"/>
            <a:ext cx="84296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Chúng ta chỉ xét mạch lọc thụ động LC, có cấu trúc hình cái thang, với giả thiết mạch lọc được phối hợp trở kháng ở 2 phía.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Mạch lọc hình cái thang có thể phân tích thành: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 , 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T, 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409575" y="2162059"/>
            <a:ext cx="8277225" cy="1380606"/>
            <a:chOff x="409575" y="2162059"/>
            <a:chExt cx="8277225" cy="1380606"/>
          </a:xfrm>
        </p:grpSpPr>
        <p:cxnSp>
          <p:nvCxnSpPr>
            <p:cNvPr id="68" name="Line 3"/>
            <p:cNvCxnSpPr>
              <a:cxnSpLocks noChangeShapeType="1"/>
            </p:cNvCxnSpPr>
            <p:nvPr/>
          </p:nvCxnSpPr>
          <p:spPr bwMode="auto">
            <a:xfrm>
              <a:off x="1937505" y="2542226"/>
              <a:ext cx="33798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Line 4"/>
            <p:cNvCxnSpPr>
              <a:cxnSpLocks noChangeShapeType="1"/>
            </p:cNvCxnSpPr>
            <p:nvPr/>
          </p:nvCxnSpPr>
          <p:spPr bwMode="auto">
            <a:xfrm>
              <a:off x="1937505" y="3542665"/>
              <a:ext cx="33798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Line 5"/>
            <p:cNvCxnSpPr>
              <a:cxnSpLocks noChangeShapeType="1"/>
            </p:cNvCxnSpPr>
            <p:nvPr/>
          </p:nvCxnSpPr>
          <p:spPr bwMode="auto">
            <a:xfrm>
              <a:off x="6367681" y="2542226"/>
              <a:ext cx="12999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Line 6"/>
            <p:cNvCxnSpPr>
              <a:cxnSpLocks noChangeShapeType="1"/>
            </p:cNvCxnSpPr>
            <p:nvPr/>
          </p:nvCxnSpPr>
          <p:spPr bwMode="auto">
            <a:xfrm>
              <a:off x="6367681" y="3542665"/>
              <a:ext cx="12999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Line 8"/>
            <p:cNvCxnSpPr>
              <a:cxnSpLocks noChangeShapeType="1"/>
            </p:cNvCxnSpPr>
            <p:nvPr/>
          </p:nvCxnSpPr>
          <p:spPr bwMode="auto">
            <a:xfrm>
              <a:off x="2447079" y="2532222"/>
              <a:ext cx="0" cy="10004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2384681" y="2852362"/>
              <a:ext cx="156173" cy="3751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 rot="16200000">
              <a:off x="2850425" y="2339732"/>
              <a:ext cx="150240" cy="3899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Line 11"/>
            <p:cNvCxnSpPr>
              <a:cxnSpLocks noChangeShapeType="1"/>
            </p:cNvCxnSpPr>
            <p:nvPr/>
          </p:nvCxnSpPr>
          <p:spPr bwMode="auto">
            <a:xfrm>
              <a:off x="3372631" y="2532222"/>
              <a:ext cx="0" cy="10004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3310235" y="2852362"/>
              <a:ext cx="156173" cy="3751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 rot="16200000">
              <a:off x="3796777" y="2339732"/>
              <a:ext cx="150240" cy="3899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Line 14"/>
            <p:cNvCxnSpPr>
              <a:cxnSpLocks noChangeShapeType="1"/>
            </p:cNvCxnSpPr>
            <p:nvPr/>
          </p:nvCxnSpPr>
          <p:spPr bwMode="auto">
            <a:xfrm>
              <a:off x="4339783" y="2532222"/>
              <a:ext cx="0" cy="10004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4266987" y="2852362"/>
              <a:ext cx="156173" cy="3751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 rot="16200000">
              <a:off x="4753530" y="2339732"/>
              <a:ext cx="150240" cy="3899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Line 17"/>
            <p:cNvCxnSpPr>
              <a:cxnSpLocks noChangeShapeType="1"/>
            </p:cNvCxnSpPr>
            <p:nvPr/>
          </p:nvCxnSpPr>
          <p:spPr bwMode="auto">
            <a:xfrm>
              <a:off x="5338132" y="2542226"/>
              <a:ext cx="1143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Line 18"/>
            <p:cNvCxnSpPr>
              <a:cxnSpLocks noChangeShapeType="1"/>
            </p:cNvCxnSpPr>
            <p:nvPr/>
          </p:nvCxnSpPr>
          <p:spPr bwMode="auto">
            <a:xfrm>
              <a:off x="5338132" y="3542665"/>
              <a:ext cx="11536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Line 19"/>
            <p:cNvCxnSpPr>
              <a:cxnSpLocks noChangeShapeType="1"/>
            </p:cNvCxnSpPr>
            <p:nvPr/>
          </p:nvCxnSpPr>
          <p:spPr bwMode="auto">
            <a:xfrm>
              <a:off x="7210038" y="2532222"/>
              <a:ext cx="0" cy="10004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7137242" y="2852362"/>
              <a:ext cx="156173" cy="3751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 rot="16200000">
              <a:off x="6739829" y="2329728"/>
              <a:ext cx="150240" cy="3899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 Box 22"/>
            <p:cNvSpPr txBox="1">
              <a:spLocks noChangeArrowheads="1"/>
            </p:cNvSpPr>
            <p:nvPr/>
          </p:nvSpPr>
          <p:spPr bwMode="auto">
            <a:xfrm>
              <a:off x="6679666" y="2912388"/>
              <a:ext cx="379762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Box 23"/>
            <p:cNvSpPr txBox="1">
              <a:spLocks noChangeArrowheads="1"/>
            </p:cNvSpPr>
            <p:nvPr/>
          </p:nvSpPr>
          <p:spPr bwMode="auto">
            <a:xfrm>
              <a:off x="6620648" y="2162059"/>
              <a:ext cx="577354" cy="2299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88" name="Text Box 24"/>
            <p:cNvSpPr txBox="1">
              <a:spLocks noChangeArrowheads="1"/>
            </p:cNvSpPr>
            <p:nvPr/>
          </p:nvSpPr>
          <p:spPr bwMode="auto">
            <a:xfrm>
              <a:off x="1958012" y="2912388"/>
              <a:ext cx="390451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 Box 25"/>
            <p:cNvSpPr txBox="1">
              <a:spLocks noChangeArrowheads="1"/>
            </p:cNvSpPr>
            <p:nvPr/>
          </p:nvSpPr>
          <p:spPr bwMode="auto">
            <a:xfrm>
              <a:off x="2842258" y="2162059"/>
              <a:ext cx="324984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 Box 26"/>
            <p:cNvSpPr txBox="1">
              <a:spLocks noChangeArrowheads="1"/>
            </p:cNvSpPr>
            <p:nvPr/>
          </p:nvSpPr>
          <p:spPr bwMode="auto">
            <a:xfrm>
              <a:off x="3788610" y="2162059"/>
              <a:ext cx="324984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Box 27"/>
            <p:cNvSpPr txBox="1">
              <a:spLocks noChangeArrowheads="1"/>
            </p:cNvSpPr>
            <p:nvPr/>
          </p:nvSpPr>
          <p:spPr bwMode="auto">
            <a:xfrm>
              <a:off x="4755762" y="2162059"/>
              <a:ext cx="324984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 Box 28"/>
            <p:cNvSpPr txBox="1">
              <a:spLocks noChangeArrowheads="1"/>
            </p:cNvSpPr>
            <p:nvPr/>
          </p:nvSpPr>
          <p:spPr bwMode="auto">
            <a:xfrm>
              <a:off x="2800370" y="2912388"/>
              <a:ext cx="390451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 Box 29"/>
            <p:cNvSpPr txBox="1">
              <a:spLocks noChangeArrowheads="1"/>
            </p:cNvSpPr>
            <p:nvPr/>
          </p:nvSpPr>
          <p:spPr bwMode="auto">
            <a:xfrm>
              <a:off x="3861407" y="2912388"/>
              <a:ext cx="286166" cy="25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Freeform 104"/>
            <p:cNvSpPr>
              <a:spLocks/>
            </p:cNvSpPr>
            <p:nvPr/>
          </p:nvSpPr>
          <p:spPr bwMode="auto">
            <a:xfrm>
              <a:off x="7667616" y="2542226"/>
              <a:ext cx="519974" cy="1000439"/>
            </a:xfrm>
            <a:custGeom>
              <a:avLst/>
              <a:gdLst>
                <a:gd name="T0" fmla="*/ 0 w 864"/>
                <a:gd name="T1" fmla="*/ 0 h 1152"/>
                <a:gd name="T2" fmla="*/ 864 w 864"/>
                <a:gd name="T3" fmla="*/ 0 h 1152"/>
                <a:gd name="T4" fmla="*/ 864 w 864"/>
                <a:gd name="T5" fmla="*/ 1152 h 1152"/>
                <a:gd name="T6" fmla="*/ 0 w 864"/>
                <a:gd name="T7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4" h="1152">
                  <a:moveTo>
                    <a:pt x="0" y="0"/>
                  </a:moveTo>
                  <a:lnTo>
                    <a:pt x="864" y="0"/>
                  </a:lnTo>
                  <a:lnTo>
                    <a:pt x="864" y="1152"/>
                  </a:lnTo>
                  <a:lnTo>
                    <a:pt x="0" y="115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 rot="5400000">
              <a:off x="8000007" y="2945687"/>
              <a:ext cx="375165" cy="15617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Text Box 34"/>
            <p:cNvSpPr txBox="1">
              <a:spLocks noChangeArrowheads="1"/>
            </p:cNvSpPr>
            <p:nvPr/>
          </p:nvSpPr>
          <p:spPr bwMode="auto">
            <a:xfrm>
              <a:off x="8317583" y="2886127"/>
              <a:ext cx="369217" cy="2396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Freeform 95"/>
            <p:cNvSpPr>
              <a:spLocks/>
            </p:cNvSpPr>
            <p:nvPr/>
          </p:nvSpPr>
          <p:spPr bwMode="auto">
            <a:xfrm>
              <a:off x="1028849" y="2541601"/>
              <a:ext cx="909955" cy="1000438"/>
            </a:xfrm>
            <a:custGeom>
              <a:avLst/>
              <a:gdLst>
                <a:gd name="T0" fmla="*/ 864 w 864"/>
                <a:gd name="T1" fmla="*/ 0 h 1152"/>
                <a:gd name="T2" fmla="*/ 0 w 864"/>
                <a:gd name="T3" fmla="*/ 0 h 1152"/>
                <a:gd name="T4" fmla="*/ 0 w 864"/>
                <a:gd name="T5" fmla="*/ 1152 h 1152"/>
                <a:gd name="T6" fmla="*/ 864 w 864"/>
                <a:gd name="T7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4" h="1152">
                  <a:moveTo>
                    <a:pt x="864" y="0"/>
                  </a:moveTo>
                  <a:lnTo>
                    <a:pt x="0" y="0"/>
                  </a:lnTo>
                  <a:lnTo>
                    <a:pt x="0" y="1152"/>
                  </a:lnTo>
                  <a:lnTo>
                    <a:pt x="864" y="115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1305086" y="2463441"/>
              <a:ext cx="389981" cy="150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8" name="Group 97"/>
            <p:cNvGrpSpPr>
              <a:grpSpLocks/>
            </p:cNvGrpSpPr>
            <p:nvPr/>
          </p:nvGrpSpPr>
          <p:grpSpPr bwMode="auto">
            <a:xfrm>
              <a:off x="866357" y="2885501"/>
              <a:ext cx="324984" cy="312637"/>
              <a:chOff x="1884" y="2304"/>
              <a:chExt cx="360" cy="360"/>
            </a:xfrm>
          </p:grpSpPr>
          <p:sp>
            <p:nvSpPr>
              <p:cNvPr id="101" name="Oval 100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2" name="Line 40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" name="Line 41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" name="Line 42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9" name="Text Box 43"/>
            <p:cNvSpPr txBox="1">
              <a:spLocks noChangeArrowheads="1"/>
            </p:cNvSpPr>
            <p:nvPr/>
          </p:nvSpPr>
          <p:spPr bwMode="auto">
            <a:xfrm>
              <a:off x="1296058" y="2182068"/>
              <a:ext cx="454977" cy="230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 Box 43"/>
            <p:cNvSpPr txBox="1">
              <a:spLocks noChangeArrowheads="1"/>
            </p:cNvSpPr>
            <p:nvPr/>
          </p:nvSpPr>
          <p:spPr bwMode="auto">
            <a:xfrm>
              <a:off x="409575" y="2881773"/>
              <a:ext cx="454977" cy="230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10743"/>
                </p:ext>
              </p:extLst>
            </p:nvPr>
          </p:nvGraphicFramePr>
          <p:xfrm>
            <a:off x="512551" y="2860263"/>
            <a:ext cx="271057" cy="312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203040" progId="Equation.DSMT4">
                    <p:embed/>
                  </p:oleObj>
                </mc:Choice>
                <mc:Fallback>
                  <p:oleObj name="Equation" r:id="rId2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12551" y="2860263"/>
                          <a:ext cx="271057" cy="3128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0" name="Group 109"/>
          <p:cNvGrpSpPr/>
          <p:nvPr/>
        </p:nvGrpSpPr>
        <p:grpSpPr>
          <a:xfrm>
            <a:off x="609600" y="4323271"/>
            <a:ext cx="8107595" cy="1848929"/>
            <a:chOff x="597639" y="4248181"/>
            <a:chExt cx="8107595" cy="1848929"/>
          </a:xfrm>
        </p:grpSpPr>
        <p:cxnSp>
          <p:nvCxnSpPr>
            <p:cNvPr id="168" name="Line 46"/>
            <p:cNvCxnSpPr>
              <a:cxnSpLocks noChangeShapeType="1"/>
            </p:cNvCxnSpPr>
            <p:nvPr/>
          </p:nvCxnSpPr>
          <p:spPr bwMode="auto">
            <a:xfrm>
              <a:off x="1907115" y="4625879"/>
              <a:ext cx="38518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9" name="Line 48"/>
            <p:cNvCxnSpPr>
              <a:cxnSpLocks noChangeShapeType="1"/>
            </p:cNvCxnSpPr>
            <p:nvPr/>
          </p:nvCxnSpPr>
          <p:spPr bwMode="auto">
            <a:xfrm>
              <a:off x="6455182" y="4625879"/>
              <a:ext cx="14718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" name="Line 52"/>
            <p:cNvCxnSpPr>
              <a:cxnSpLocks noChangeShapeType="1"/>
            </p:cNvCxnSpPr>
            <p:nvPr/>
          </p:nvCxnSpPr>
          <p:spPr bwMode="auto">
            <a:xfrm>
              <a:off x="2551160" y="4625879"/>
              <a:ext cx="0" cy="1002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1" name="Rectangle 170"/>
            <p:cNvSpPr>
              <a:spLocks noChangeArrowheads="1"/>
            </p:cNvSpPr>
            <p:nvPr/>
          </p:nvSpPr>
          <p:spPr bwMode="auto">
            <a:xfrm rot="16200000">
              <a:off x="2861253" y="4443002"/>
              <a:ext cx="150492" cy="375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Rectangle 171"/>
            <p:cNvSpPr>
              <a:spLocks noChangeArrowheads="1"/>
            </p:cNvSpPr>
            <p:nvPr/>
          </p:nvSpPr>
          <p:spPr bwMode="auto">
            <a:xfrm rot="16200000">
              <a:off x="3727931" y="4435051"/>
              <a:ext cx="150492" cy="375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3" name="Line 56"/>
            <p:cNvCxnSpPr>
              <a:cxnSpLocks noChangeShapeType="1"/>
            </p:cNvCxnSpPr>
            <p:nvPr/>
          </p:nvCxnSpPr>
          <p:spPr bwMode="auto">
            <a:xfrm>
              <a:off x="4197051" y="4625879"/>
              <a:ext cx="0" cy="1002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 rot="16200000">
              <a:off x="4475340" y="4435051"/>
              <a:ext cx="150492" cy="375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5" name="Line 59"/>
            <p:cNvCxnSpPr>
              <a:cxnSpLocks noChangeShapeType="1"/>
            </p:cNvCxnSpPr>
            <p:nvPr/>
          </p:nvCxnSpPr>
          <p:spPr bwMode="auto">
            <a:xfrm>
              <a:off x="5763431" y="4625879"/>
              <a:ext cx="6889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6" name="Line 61"/>
            <p:cNvCxnSpPr>
              <a:cxnSpLocks noChangeShapeType="1"/>
            </p:cNvCxnSpPr>
            <p:nvPr/>
          </p:nvCxnSpPr>
          <p:spPr bwMode="auto">
            <a:xfrm>
              <a:off x="7266201" y="4625879"/>
              <a:ext cx="0" cy="1002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 rot="16200000">
              <a:off x="6812983" y="4435051"/>
              <a:ext cx="150492" cy="375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Rectangle 177"/>
            <p:cNvSpPr>
              <a:spLocks noChangeArrowheads="1"/>
            </p:cNvSpPr>
            <p:nvPr/>
          </p:nvSpPr>
          <p:spPr bwMode="auto">
            <a:xfrm rot="16200000">
              <a:off x="5230701" y="4435051"/>
              <a:ext cx="150492" cy="375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9" name="Line 65"/>
            <p:cNvCxnSpPr>
              <a:cxnSpLocks noChangeShapeType="1"/>
            </p:cNvCxnSpPr>
            <p:nvPr/>
          </p:nvCxnSpPr>
          <p:spPr bwMode="auto">
            <a:xfrm>
              <a:off x="5652115" y="4625879"/>
              <a:ext cx="0" cy="1002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2487550" y="4943931"/>
              <a:ext cx="150489" cy="3757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Text Box 68"/>
            <p:cNvSpPr txBox="1">
              <a:spLocks noChangeArrowheads="1"/>
            </p:cNvSpPr>
            <p:nvPr/>
          </p:nvSpPr>
          <p:spPr bwMode="auto">
            <a:xfrm>
              <a:off x="2667000" y="4252167"/>
              <a:ext cx="532728" cy="233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82" name="Text Box 69"/>
            <p:cNvSpPr txBox="1">
              <a:spLocks noChangeArrowheads="1"/>
            </p:cNvSpPr>
            <p:nvPr/>
          </p:nvSpPr>
          <p:spPr bwMode="auto">
            <a:xfrm>
              <a:off x="3501872" y="4252167"/>
              <a:ext cx="532728" cy="233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83" name="Text Box 70"/>
            <p:cNvSpPr txBox="1">
              <a:spLocks noChangeArrowheads="1"/>
            </p:cNvSpPr>
            <p:nvPr/>
          </p:nvSpPr>
          <p:spPr bwMode="auto">
            <a:xfrm>
              <a:off x="4265184" y="4252167"/>
              <a:ext cx="532728" cy="233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4133441" y="4943931"/>
              <a:ext cx="150489" cy="3757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Text Box 73"/>
            <p:cNvSpPr txBox="1">
              <a:spLocks noChangeArrowheads="1"/>
            </p:cNvSpPr>
            <p:nvPr/>
          </p:nvSpPr>
          <p:spPr bwMode="auto">
            <a:xfrm>
              <a:off x="6618729" y="4252167"/>
              <a:ext cx="532728" cy="233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186" name="Text Box 74"/>
            <p:cNvSpPr txBox="1">
              <a:spLocks noChangeArrowheads="1"/>
            </p:cNvSpPr>
            <p:nvPr/>
          </p:nvSpPr>
          <p:spPr bwMode="auto">
            <a:xfrm>
              <a:off x="5020545" y="4252167"/>
              <a:ext cx="532728" cy="233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</a:p>
          </p:txBody>
        </p:sp>
        <p:cxnSp>
          <p:nvCxnSpPr>
            <p:cNvPr id="187" name="Line 76"/>
            <p:cNvCxnSpPr>
              <a:cxnSpLocks noChangeShapeType="1"/>
            </p:cNvCxnSpPr>
            <p:nvPr/>
          </p:nvCxnSpPr>
          <p:spPr bwMode="auto">
            <a:xfrm>
              <a:off x="3362179" y="4343400"/>
              <a:ext cx="0" cy="1753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8" name="Line 77"/>
            <p:cNvCxnSpPr>
              <a:cxnSpLocks noChangeShapeType="1"/>
            </p:cNvCxnSpPr>
            <p:nvPr/>
          </p:nvCxnSpPr>
          <p:spPr bwMode="auto">
            <a:xfrm>
              <a:off x="2034334" y="4343400"/>
              <a:ext cx="0" cy="1753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9" name="Line 78"/>
            <p:cNvCxnSpPr>
              <a:cxnSpLocks noChangeShapeType="1"/>
            </p:cNvCxnSpPr>
            <p:nvPr/>
          </p:nvCxnSpPr>
          <p:spPr bwMode="auto">
            <a:xfrm>
              <a:off x="4944460" y="4343400"/>
              <a:ext cx="0" cy="1753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0" name="Line 79"/>
            <p:cNvCxnSpPr>
              <a:cxnSpLocks noChangeShapeType="1"/>
            </p:cNvCxnSpPr>
            <p:nvPr/>
          </p:nvCxnSpPr>
          <p:spPr bwMode="auto">
            <a:xfrm>
              <a:off x="6542645" y="4343400"/>
              <a:ext cx="0" cy="1753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1" name="Line 80"/>
            <p:cNvCxnSpPr>
              <a:cxnSpLocks noChangeShapeType="1"/>
            </p:cNvCxnSpPr>
            <p:nvPr/>
          </p:nvCxnSpPr>
          <p:spPr bwMode="auto">
            <a:xfrm>
              <a:off x="7830734" y="4343400"/>
              <a:ext cx="0" cy="1752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92" name="Rectangle 191"/>
            <p:cNvSpPr>
              <a:spLocks noChangeArrowheads="1"/>
            </p:cNvSpPr>
            <p:nvPr/>
          </p:nvSpPr>
          <p:spPr bwMode="auto">
            <a:xfrm>
              <a:off x="7202592" y="4943931"/>
              <a:ext cx="150489" cy="3757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/>
            <p:cNvSpPr>
              <a:spLocks noChangeArrowheads="1"/>
            </p:cNvSpPr>
            <p:nvPr/>
          </p:nvSpPr>
          <p:spPr bwMode="auto">
            <a:xfrm>
              <a:off x="5564651" y="4943931"/>
              <a:ext cx="150489" cy="3757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Text Box 67"/>
            <p:cNvSpPr txBox="1">
              <a:spLocks noChangeArrowheads="1"/>
            </p:cNvSpPr>
            <p:nvPr/>
          </p:nvSpPr>
          <p:spPr bwMode="auto">
            <a:xfrm>
              <a:off x="2062612" y="4999590"/>
              <a:ext cx="375788" cy="2505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Text Box 71"/>
            <p:cNvSpPr txBox="1">
              <a:spLocks noChangeArrowheads="1"/>
            </p:cNvSpPr>
            <p:nvPr/>
          </p:nvSpPr>
          <p:spPr bwMode="auto">
            <a:xfrm>
              <a:off x="3680225" y="4999590"/>
              <a:ext cx="375788" cy="2505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Text Box 72"/>
            <p:cNvSpPr txBox="1">
              <a:spLocks noChangeArrowheads="1"/>
            </p:cNvSpPr>
            <p:nvPr/>
          </p:nvSpPr>
          <p:spPr bwMode="auto">
            <a:xfrm>
              <a:off x="6749376" y="4999590"/>
              <a:ext cx="375788" cy="2505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Text Box 75"/>
            <p:cNvSpPr txBox="1">
              <a:spLocks noChangeArrowheads="1"/>
            </p:cNvSpPr>
            <p:nvPr/>
          </p:nvSpPr>
          <p:spPr bwMode="auto">
            <a:xfrm>
              <a:off x="5135289" y="4999590"/>
              <a:ext cx="375788" cy="2505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Text Box 84"/>
            <p:cNvSpPr txBox="1">
              <a:spLocks noChangeArrowheads="1"/>
            </p:cNvSpPr>
            <p:nvPr/>
          </p:nvSpPr>
          <p:spPr bwMode="auto">
            <a:xfrm>
              <a:off x="2582964" y="5773210"/>
              <a:ext cx="250526" cy="2818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b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</a:t>
              </a:r>
              <a:endParaRPr lang="en-US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Text Box 85"/>
            <p:cNvSpPr txBox="1">
              <a:spLocks noChangeArrowheads="1"/>
            </p:cNvSpPr>
            <p:nvPr/>
          </p:nvSpPr>
          <p:spPr bwMode="auto">
            <a:xfrm>
              <a:off x="7154884" y="5765250"/>
              <a:ext cx="250526" cy="2818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b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</a:t>
              </a:r>
              <a:endParaRPr lang="en-US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Text Box 86"/>
            <p:cNvSpPr txBox="1">
              <a:spLocks noChangeArrowheads="1"/>
            </p:cNvSpPr>
            <p:nvPr/>
          </p:nvSpPr>
          <p:spPr bwMode="auto">
            <a:xfrm>
              <a:off x="4101637" y="5725502"/>
              <a:ext cx="250526" cy="2818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sz="2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201" name="Line 81"/>
            <p:cNvCxnSpPr>
              <a:cxnSpLocks noChangeShapeType="1"/>
            </p:cNvCxnSpPr>
            <p:nvPr/>
          </p:nvCxnSpPr>
          <p:spPr bwMode="auto">
            <a:xfrm>
              <a:off x="2074090" y="6096000"/>
              <a:ext cx="12526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2" name="Line 82"/>
            <p:cNvCxnSpPr>
              <a:cxnSpLocks noChangeShapeType="1"/>
            </p:cNvCxnSpPr>
            <p:nvPr/>
          </p:nvCxnSpPr>
          <p:spPr bwMode="auto">
            <a:xfrm>
              <a:off x="3409886" y="6096000"/>
              <a:ext cx="15031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3" name="Line 83"/>
            <p:cNvCxnSpPr>
              <a:cxnSpLocks noChangeShapeType="1"/>
            </p:cNvCxnSpPr>
            <p:nvPr/>
          </p:nvCxnSpPr>
          <p:spPr bwMode="auto">
            <a:xfrm>
              <a:off x="6558547" y="6056244"/>
              <a:ext cx="12526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4" name="Line 60"/>
            <p:cNvCxnSpPr>
              <a:cxnSpLocks noChangeShapeType="1"/>
            </p:cNvCxnSpPr>
            <p:nvPr/>
          </p:nvCxnSpPr>
          <p:spPr bwMode="auto">
            <a:xfrm>
              <a:off x="5636212" y="5627743"/>
              <a:ext cx="8142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5" name="Group 204"/>
            <p:cNvGrpSpPr>
              <a:grpSpLocks/>
            </p:cNvGrpSpPr>
            <p:nvPr/>
          </p:nvGrpSpPr>
          <p:grpSpPr bwMode="auto">
            <a:xfrm>
              <a:off x="658782" y="4248181"/>
              <a:ext cx="1283944" cy="1390093"/>
              <a:chOff x="1584" y="8446"/>
              <a:chExt cx="1476" cy="1598"/>
            </a:xfrm>
          </p:grpSpPr>
          <p:sp>
            <p:nvSpPr>
              <p:cNvPr id="212" name="Freeform 211"/>
              <p:cNvSpPr>
                <a:spLocks/>
              </p:cNvSpPr>
              <p:nvPr/>
            </p:nvSpPr>
            <p:spPr bwMode="auto">
              <a:xfrm>
                <a:off x="2052" y="8892"/>
                <a:ext cx="1008" cy="1152"/>
              </a:xfrm>
              <a:custGeom>
                <a:avLst/>
                <a:gdLst>
                  <a:gd name="T0" fmla="*/ 864 w 864"/>
                  <a:gd name="T1" fmla="*/ 0 h 1152"/>
                  <a:gd name="T2" fmla="*/ 0 w 864"/>
                  <a:gd name="T3" fmla="*/ 0 h 1152"/>
                  <a:gd name="T4" fmla="*/ 0 w 864"/>
                  <a:gd name="T5" fmla="*/ 1152 h 1152"/>
                  <a:gd name="T6" fmla="*/ 864 w 864"/>
                  <a:gd name="T7" fmla="*/ 1152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1152">
                    <a:moveTo>
                      <a:pt x="864" y="0"/>
                    </a:moveTo>
                    <a:lnTo>
                      <a:pt x="0" y="0"/>
                    </a:lnTo>
                    <a:lnTo>
                      <a:pt x="0" y="1152"/>
                    </a:lnTo>
                    <a:lnTo>
                      <a:pt x="864" y="1152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Rectangle 212"/>
              <p:cNvSpPr>
                <a:spLocks noChangeArrowheads="1"/>
              </p:cNvSpPr>
              <p:nvPr/>
            </p:nvSpPr>
            <p:spPr bwMode="auto">
              <a:xfrm>
                <a:off x="2358" y="8802"/>
                <a:ext cx="432" cy="17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4" name="Group 213"/>
              <p:cNvGrpSpPr>
                <a:grpSpLocks/>
              </p:cNvGrpSpPr>
              <p:nvPr/>
            </p:nvGrpSpPr>
            <p:grpSpPr bwMode="auto">
              <a:xfrm>
                <a:off x="1872" y="9288"/>
                <a:ext cx="360" cy="360"/>
                <a:chOff x="1884" y="2304"/>
                <a:chExt cx="360" cy="360"/>
              </a:xfrm>
            </p:grpSpPr>
            <p:sp>
              <p:nvSpPr>
                <p:cNvPr id="217" name="Oval 216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18" name="Line 92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9" name="Line 93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0" name="Line 94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15" name="Text Box 95"/>
              <p:cNvSpPr txBox="1">
                <a:spLocks noChangeArrowheads="1"/>
              </p:cNvSpPr>
              <p:nvPr/>
            </p:nvSpPr>
            <p:spPr bwMode="auto">
              <a:xfrm>
                <a:off x="2448" y="8446"/>
                <a:ext cx="425" cy="3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  <a:endPara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6" name="Text Box 96"/>
              <p:cNvSpPr txBox="1">
                <a:spLocks noChangeArrowheads="1"/>
              </p:cNvSpPr>
              <p:nvPr/>
            </p:nvSpPr>
            <p:spPr bwMode="auto">
              <a:xfrm>
                <a:off x="1584" y="9335"/>
                <a:ext cx="220" cy="27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endPara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6" name="Group 205"/>
            <p:cNvGrpSpPr>
              <a:grpSpLocks/>
            </p:cNvGrpSpPr>
            <p:nvPr/>
          </p:nvGrpSpPr>
          <p:grpSpPr bwMode="auto">
            <a:xfrm>
              <a:off x="7735317" y="4625879"/>
              <a:ext cx="969917" cy="1002120"/>
              <a:chOff x="10116" y="5623"/>
              <a:chExt cx="1115" cy="1152"/>
            </a:xfrm>
          </p:grpSpPr>
          <p:sp>
            <p:nvSpPr>
              <p:cNvPr id="209" name="Freeform 208"/>
              <p:cNvSpPr>
                <a:spLocks/>
              </p:cNvSpPr>
              <p:nvPr/>
            </p:nvSpPr>
            <p:spPr bwMode="auto">
              <a:xfrm>
                <a:off x="10116" y="5623"/>
                <a:ext cx="576" cy="1152"/>
              </a:xfrm>
              <a:custGeom>
                <a:avLst/>
                <a:gdLst>
                  <a:gd name="T0" fmla="*/ 0 w 864"/>
                  <a:gd name="T1" fmla="*/ 0 h 1152"/>
                  <a:gd name="T2" fmla="*/ 864 w 864"/>
                  <a:gd name="T3" fmla="*/ 0 h 1152"/>
                  <a:gd name="T4" fmla="*/ 864 w 864"/>
                  <a:gd name="T5" fmla="*/ 1152 h 1152"/>
                  <a:gd name="T6" fmla="*/ 0 w 864"/>
                  <a:gd name="T7" fmla="*/ 1152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4" h="1152">
                    <a:moveTo>
                      <a:pt x="0" y="0"/>
                    </a:moveTo>
                    <a:lnTo>
                      <a:pt x="864" y="0"/>
                    </a:lnTo>
                    <a:lnTo>
                      <a:pt x="864" y="1152"/>
                    </a:lnTo>
                    <a:lnTo>
                      <a:pt x="0" y="1152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" name="Rectangle 209"/>
              <p:cNvSpPr>
                <a:spLocks noChangeArrowheads="1"/>
              </p:cNvSpPr>
              <p:nvPr/>
            </p:nvSpPr>
            <p:spPr bwMode="auto">
              <a:xfrm rot="5400000">
                <a:off x="10476" y="6091"/>
                <a:ext cx="432" cy="17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" name="Text Box 100"/>
              <p:cNvSpPr txBox="1">
                <a:spLocks noChangeArrowheads="1"/>
              </p:cNvSpPr>
              <p:nvPr/>
            </p:nvSpPr>
            <p:spPr bwMode="auto">
              <a:xfrm>
                <a:off x="10836" y="6019"/>
                <a:ext cx="395" cy="37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  <a:endParaRPr lang="en-US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07" name="Line 47"/>
            <p:cNvCxnSpPr>
              <a:cxnSpLocks noChangeShapeType="1"/>
            </p:cNvCxnSpPr>
            <p:nvPr/>
          </p:nvCxnSpPr>
          <p:spPr bwMode="auto">
            <a:xfrm>
              <a:off x="1907115" y="5627743"/>
              <a:ext cx="38518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8" name="Line 49"/>
            <p:cNvCxnSpPr>
              <a:cxnSpLocks noChangeShapeType="1"/>
            </p:cNvCxnSpPr>
            <p:nvPr/>
          </p:nvCxnSpPr>
          <p:spPr bwMode="auto">
            <a:xfrm>
              <a:off x="6455182" y="5627743"/>
              <a:ext cx="14718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22" name="Object 2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700600"/>
                </p:ext>
              </p:extLst>
            </p:nvPr>
          </p:nvGraphicFramePr>
          <p:xfrm>
            <a:off x="597639" y="4936049"/>
            <a:ext cx="271057" cy="312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203040" progId="Equation.DSMT4">
                    <p:embed/>
                  </p:oleObj>
                </mc:Choice>
                <mc:Fallback>
                  <p:oleObj name="Equation" r:id="rId4" imgW="1648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7639" y="4936049"/>
                          <a:ext cx="271057" cy="3128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4" name="Object 2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810878"/>
              </p:ext>
            </p:extLst>
          </p:nvPr>
        </p:nvGraphicFramePr>
        <p:xfrm>
          <a:off x="4514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77480" progId="Equation.DSMT4">
                  <p:embed/>
                </p:oleObj>
              </mc:Choice>
              <mc:Fallback>
                <p:oleObj name="Equation" r:id="rId6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14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Down Arrow 224"/>
          <p:cNvSpPr/>
          <p:nvPr/>
        </p:nvSpPr>
        <p:spPr>
          <a:xfrm>
            <a:off x="4208685" y="3733800"/>
            <a:ext cx="961938" cy="38100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061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50473" y="243806"/>
            <a:ext cx="2702327" cy="2194594"/>
            <a:chOff x="1371600" y="346917"/>
            <a:chExt cx="2702327" cy="2194594"/>
          </a:xfrm>
        </p:grpSpPr>
        <p:grpSp>
          <p:nvGrpSpPr>
            <p:cNvPr id="2" name="Group 1"/>
            <p:cNvGrpSpPr/>
            <p:nvPr/>
          </p:nvGrpSpPr>
          <p:grpSpPr>
            <a:xfrm>
              <a:off x="1371600" y="346917"/>
              <a:ext cx="2702327" cy="1901505"/>
              <a:chOff x="1295400" y="1832295"/>
              <a:chExt cx="2702327" cy="1901505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1295400" y="1832295"/>
                <a:ext cx="2702327" cy="1901505"/>
                <a:chOff x="5599277" y="1451295"/>
                <a:chExt cx="2702327" cy="1901505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5719665" y="1451295"/>
                  <a:ext cx="2326721" cy="1708035"/>
                  <a:chOff x="762000" y="1492365"/>
                  <a:chExt cx="2326721" cy="1708035"/>
                </a:xfrm>
              </p:grpSpPr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762000" y="1981200"/>
                    <a:ext cx="2250521" cy="0"/>
                  </a:xfrm>
                  <a:prstGeom prst="line">
                    <a:avLst/>
                  </a:prstGeom>
                  <a:ln>
                    <a:headEnd type="oval"/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/>
                  <p:cNvCxnSpPr>
                    <a:endCxn id="21" idx="1"/>
                  </p:cNvCxnSpPr>
                  <p:nvPr/>
                </p:nvCxnSpPr>
                <p:spPr>
                  <a:xfrm flipV="1">
                    <a:off x="762000" y="3163038"/>
                    <a:ext cx="2326721" cy="37362"/>
                  </a:xfrm>
                  <a:prstGeom prst="line">
                    <a:avLst/>
                  </a:prstGeom>
                  <a:ln>
                    <a:headEnd type="oval"/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Rectangle 29"/>
                  <p:cNvSpPr/>
                  <p:nvPr/>
                </p:nvSpPr>
                <p:spPr>
                  <a:xfrm>
                    <a:off x="1104900" y="1917526"/>
                    <a:ext cx="609600" cy="1524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134122" y="1981200"/>
                    <a:ext cx="0" cy="1219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Rectangle 32"/>
                  <p:cNvSpPr/>
                  <p:nvPr/>
                </p:nvSpPr>
                <p:spPr>
                  <a:xfrm rot="5400000">
                    <a:off x="1828278" y="2524434"/>
                    <a:ext cx="609600" cy="1524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1257300" y="1492365"/>
                    <a:ext cx="66527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Z</a:t>
                    </a:r>
                    <a:r>
                      <a:rPr lang="en-US" sz="20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/2</a:t>
                    </a: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1529128" y="2442435"/>
                    <a:ext cx="55682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2Z</a:t>
                    </a:r>
                    <a:r>
                      <a:rPr lang="en-US" sz="20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</p:grpSp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5943600" y="2143382"/>
                  <a:ext cx="6096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/>
                <p:cNvSpPr txBox="1"/>
                <p:nvPr/>
              </p:nvSpPr>
              <p:spPr>
                <a:xfrm>
                  <a:off x="5599277" y="1891687"/>
                  <a:ext cx="25521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5599277" y="2737948"/>
                  <a:ext cx="25521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7970186" y="1752600"/>
                  <a:ext cx="25521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8046386" y="2891135"/>
                  <a:ext cx="25521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-</a:t>
                  </a:r>
                </a:p>
              </p:txBody>
            </p:sp>
            <p:graphicFrame>
              <p:nvGraphicFramePr>
                <p:cNvPr id="22" name="Object 2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7012436"/>
                    </p:ext>
                  </p:extLst>
                </p:nvPr>
              </p:nvGraphicFramePr>
              <p:xfrm>
                <a:off x="5746915" y="2429132"/>
                <a:ext cx="322262" cy="4000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" imgW="203040" imgH="253800" progId="Equation.DSMT4">
                        <p:embed/>
                      </p:oleObj>
                    </mc:Choice>
                    <mc:Fallback>
                      <p:oleObj name="Equation" r:id="rId3" imgW="203040" imgH="253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746915" y="2429132"/>
                              <a:ext cx="322262" cy="4000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Object 2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898878197"/>
                    </p:ext>
                  </p:extLst>
                </p:nvPr>
              </p:nvGraphicFramePr>
              <p:xfrm>
                <a:off x="7848600" y="2394994"/>
                <a:ext cx="341313" cy="4000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5" imgW="215640" imgH="253800" progId="Equation.DSMT4">
                        <p:embed/>
                      </p:oleObj>
                    </mc:Choice>
                    <mc:Fallback>
                      <p:oleObj name="Equation" r:id="rId5" imgW="215640" imgH="253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848600" y="2394994"/>
                              <a:ext cx="341313" cy="4000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" name="Object 2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89701105"/>
                    </p:ext>
                  </p:extLst>
                </p:nvPr>
              </p:nvGraphicFramePr>
              <p:xfrm>
                <a:off x="6155152" y="2148093"/>
                <a:ext cx="239712" cy="4016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7" imgW="152280" imgH="253800" progId="Equation.DSMT4">
                        <p:embed/>
                      </p:oleObj>
                    </mc:Choice>
                    <mc:Fallback>
                      <p:oleObj name="Equation" r:id="rId7" imgW="152280" imgH="253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55152" y="2148093"/>
                              <a:ext cx="239712" cy="4016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" name="Object 2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51576805"/>
                    </p:ext>
                  </p:extLst>
                </p:nvPr>
              </p:nvGraphicFramePr>
              <p:xfrm>
                <a:off x="7234804" y="1485378"/>
                <a:ext cx="420688" cy="4016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9" imgW="266400" imgH="253800" progId="Equation.DSMT4">
                        <p:embed/>
                      </p:oleObj>
                    </mc:Choice>
                    <mc:Fallback>
                      <p:oleObj name="Equation" r:id="rId9" imgW="266400" imgH="253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234804" y="1485378"/>
                              <a:ext cx="420688" cy="40163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3" name="Straight Arrow Connector 2"/>
              <p:cNvCxnSpPr/>
              <p:nvPr/>
            </p:nvCxnSpPr>
            <p:spPr>
              <a:xfrm>
                <a:off x="2985822" y="2321130"/>
                <a:ext cx="4572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itle 1"/>
            <p:cNvSpPr txBox="1">
              <a:spLocks/>
            </p:cNvSpPr>
            <p:nvPr/>
          </p:nvSpPr>
          <p:spPr>
            <a:xfrm>
              <a:off x="2259116" y="2095235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755873" y="201689"/>
            <a:ext cx="2626127" cy="2236711"/>
            <a:chOff x="5755873" y="304800"/>
            <a:chExt cx="2626127" cy="2236711"/>
          </a:xfrm>
        </p:grpSpPr>
        <p:grpSp>
          <p:nvGrpSpPr>
            <p:cNvPr id="42" name="Group 41"/>
            <p:cNvGrpSpPr/>
            <p:nvPr/>
          </p:nvGrpSpPr>
          <p:grpSpPr>
            <a:xfrm>
              <a:off x="5755873" y="304800"/>
              <a:ext cx="2626127" cy="1901505"/>
              <a:chOff x="6060673" y="228600"/>
              <a:chExt cx="2626127" cy="1901505"/>
            </a:xfrm>
          </p:grpSpPr>
          <p:cxnSp>
            <p:nvCxnSpPr>
              <p:cNvPr id="43" name="Straight Connector 42"/>
              <p:cNvCxnSpPr/>
              <p:nvPr/>
            </p:nvCxnSpPr>
            <p:spPr>
              <a:xfrm>
                <a:off x="6181061" y="717435"/>
                <a:ext cx="2052735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181061" y="1936635"/>
                <a:ext cx="2052735" cy="0"/>
              </a:xfrm>
              <a:prstGeom prst="line">
                <a:avLst/>
              </a:prstGeom>
              <a:ln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/>
              <p:cNvSpPr/>
              <p:nvPr/>
            </p:nvSpPr>
            <p:spPr>
              <a:xfrm>
                <a:off x="7300403" y="653761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/>
              <p:cNvCxnSpPr/>
              <p:nvPr/>
            </p:nvCxnSpPr>
            <p:spPr>
              <a:xfrm>
                <a:off x="7052317" y="717435"/>
                <a:ext cx="0" cy="1219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Rectangle 52"/>
              <p:cNvSpPr/>
              <p:nvPr/>
            </p:nvSpPr>
            <p:spPr>
              <a:xfrm rot="5400000">
                <a:off x="6746473" y="1260669"/>
                <a:ext cx="609600" cy="152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356073" y="228600"/>
                <a:ext cx="6652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126638" y="1200090"/>
                <a:ext cx="556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2Z</a:t>
                </a:r>
                <a:r>
                  <a:rPr lang="en-US" sz="20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56" name="Straight Arrow Connector 55"/>
              <p:cNvCxnSpPr/>
              <p:nvPr/>
            </p:nvCxnSpPr>
            <p:spPr>
              <a:xfrm>
                <a:off x="6365473" y="787052"/>
                <a:ext cx="45126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6060673" y="668992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6060673" y="1515253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8431582" y="529905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8431582" y="1668440"/>
                <a:ext cx="25521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</a:p>
            </p:txBody>
          </p:sp>
          <p:graphicFrame>
            <p:nvGraphicFramePr>
              <p:cNvPr id="61" name="Object 6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8336180"/>
                  </p:ext>
                </p:extLst>
              </p:nvPr>
            </p:nvGraphicFramePr>
            <p:xfrm>
              <a:off x="6060673" y="1206437"/>
              <a:ext cx="322262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03040" imgH="253800" progId="Equation.DSMT4">
                      <p:embed/>
                    </p:oleObj>
                  </mc:Choice>
                  <mc:Fallback>
                    <p:oleObj name="Equation" r:id="rId11" imgW="2030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6060673" y="1206437"/>
                            <a:ext cx="322262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" name="Object 6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8273154"/>
                  </p:ext>
                </p:extLst>
              </p:nvPr>
            </p:nvGraphicFramePr>
            <p:xfrm>
              <a:off x="8309996" y="1172299"/>
              <a:ext cx="341313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15640" imgH="253800" progId="Equation.DSMT4">
                      <p:embed/>
                    </p:oleObj>
                  </mc:Choice>
                  <mc:Fallback>
                    <p:oleObj name="Equation" r:id="rId12" imgW="2156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309996" y="1172299"/>
                            <a:ext cx="341313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Object 6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6177694"/>
                  </p:ext>
                </p:extLst>
              </p:nvPr>
            </p:nvGraphicFramePr>
            <p:xfrm>
              <a:off x="6517873" y="791763"/>
              <a:ext cx="239712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52280" imgH="253800" progId="Equation.DSMT4">
                      <p:embed/>
                    </p:oleObj>
                  </mc:Choice>
                  <mc:Fallback>
                    <p:oleObj name="Equation" r:id="rId13" imgW="1522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6517873" y="791763"/>
                            <a:ext cx="239712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Object 6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4400129"/>
                  </p:ext>
                </p:extLst>
              </p:nvPr>
            </p:nvGraphicFramePr>
            <p:xfrm>
              <a:off x="7540625" y="919163"/>
              <a:ext cx="420688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66400" imgH="253800" progId="Equation.DSMT4">
                      <p:embed/>
                    </p:oleObj>
                  </mc:Choice>
                  <mc:Fallback>
                    <p:oleObj name="Equation" r:id="rId14" imgW="26640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7540625" y="919163"/>
                            <a:ext cx="420688" cy="4016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6" name="Straight Arrow Connector 65"/>
              <p:cNvCxnSpPr/>
              <p:nvPr/>
            </p:nvCxnSpPr>
            <p:spPr>
              <a:xfrm>
                <a:off x="7467600" y="914400"/>
                <a:ext cx="4572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itle 1"/>
            <p:cNvSpPr txBox="1">
              <a:spLocks/>
            </p:cNvSpPr>
            <p:nvPr/>
          </p:nvSpPr>
          <p:spPr>
            <a:xfrm>
              <a:off x="6436094" y="2095235"/>
              <a:ext cx="1260106" cy="446276"/>
            </a:xfrm>
            <a:prstGeom prst="rect">
              <a:avLst/>
            </a:prstGeom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Hình 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  <a:sym typeface="Symbol"/>
                </a:rPr>
                <a:t></a:t>
              </a:r>
              <a:r>
                <a:rPr lang="en-US"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</p:grp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836338"/>
              </p:ext>
            </p:extLst>
          </p:nvPr>
        </p:nvGraphicFramePr>
        <p:xfrm>
          <a:off x="593323" y="2438401"/>
          <a:ext cx="2428059" cy="1600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3880" imgH="977760" progId="Equation.DSMT4">
                  <p:embed/>
                </p:oleObj>
              </mc:Choice>
              <mc:Fallback>
                <p:oleObj name="Equation" r:id="rId16" imgW="1523880" imgH="977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323" y="2438401"/>
                        <a:ext cx="2428059" cy="160062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363101"/>
              </p:ext>
            </p:extLst>
          </p:nvPr>
        </p:nvGraphicFramePr>
        <p:xfrm>
          <a:off x="5815012" y="2471738"/>
          <a:ext cx="2795588" cy="155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63560" imgH="927000" progId="Equation.DSMT4">
                  <p:embed/>
                </p:oleObj>
              </mc:Choice>
              <mc:Fallback>
                <p:oleObj name="Equation" r:id="rId18" imgW="1663560" imgH="927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2" y="2471738"/>
                        <a:ext cx="2795588" cy="15546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422"/>
              </p:ext>
            </p:extLst>
          </p:nvPr>
        </p:nvGraphicFramePr>
        <p:xfrm>
          <a:off x="650473" y="4724400"/>
          <a:ext cx="19573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5160" imgH="558720" progId="Equation.DSMT4">
                  <p:embed/>
                </p:oleObj>
              </mc:Choice>
              <mc:Fallback>
                <p:oleObj name="Equation" r:id="rId20" imgW="965160" imgH="5587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473" y="4724400"/>
                        <a:ext cx="1957387" cy="11493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601039"/>
              </p:ext>
            </p:extLst>
          </p:nvPr>
        </p:nvGraphicFramePr>
        <p:xfrm>
          <a:off x="6056313" y="4267200"/>
          <a:ext cx="229235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30040" imgH="990360" progId="Equation.DSMT4">
                  <p:embed/>
                </p:oleObj>
              </mc:Choice>
              <mc:Fallback>
                <p:oleObj name="Equation" r:id="rId22" imgW="113004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4267200"/>
                        <a:ext cx="229235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2860675" y="4267200"/>
            <a:ext cx="2625725" cy="2038350"/>
            <a:chOff x="2860675" y="4267200"/>
            <a:chExt cx="2625725" cy="2038350"/>
          </a:xfrm>
        </p:grpSpPr>
        <p:graphicFrame>
          <p:nvGraphicFramePr>
            <p:cNvPr id="71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8712953"/>
                </p:ext>
              </p:extLst>
            </p:nvPr>
          </p:nvGraphicFramePr>
          <p:xfrm>
            <a:off x="2860675" y="4267200"/>
            <a:ext cx="2625725" cy="2038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95280" imgH="990360" progId="Equation.DSMT4">
                    <p:embed/>
                  </p:oleObj>
                </mc:Choice>
                <mc:Fallback>
                  <p:oleObj name="Equation" r:id="rId24" imgW="1295280" imgH="990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0675" y="4267200"/>
                          <a:ext cx="2625725" cy="2038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3779325" y="4788725"/>
              <a:ext cx="22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endParaRPr lang="en-US" sz="12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786250" y="5807126"/>
              <a:ext cx="22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Arial" pitchFamily="34" charset="0"/>
                  <a:cs typeface="Arial" pitchFamily="34" charset="0"/>
                  <a:sym typeface="Symbol"/>
                </a:rPr>
                <a:t>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9738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711200"/>
            <a:ext cx="686844" cy="585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14594"/>
            <a:ext cx="8229600" cy="11430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kháng sóng, </a:t>
            </a: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số truyền đạt sóng của mạng bốn cực hình 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 </a:t>
            </a: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và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419225"/>
            <a:ext cx="20288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052114"/>
              </p:ext>
            </p:extLst>
          </p:nvPr>
        </p:nvGraphicFramePr>
        <p:xfrm>
          <a:off x="381000" y="3336925"/>
          <a:ext cx="39385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533160" progId="Equation.DSMT4">
                  <p:embed/>
                </p:oleObj>
              </mc:Choice>
              <mc:Fallback>
                <p:oleObj name="Equation" r:id="rId4" imgW="2082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36925"/>
                        <a:ext cx="393858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937699"/>
              </p:ext>
            </p:extLst>
          </p:nvPr>
        </p:nvGraphicFramePr>
        <p:xfrm>
          <a:off x="381000" y="4495800"/>
          <a:ext cx="3338512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711000" progId="Equation.DSMT4">
                  <p:embed/>
                </p:oleObj>
              </mc:Choice>
              <mc:Fallback>
                <p:oleObj name="Equation" r:id="rId6" imgW="1765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95800"/>
                        <a:ext cx="3338512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258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38925" y="1371600"/>
            <a:ext cx="197167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851949"/>
              </p:ext>
            </p:extLst>
          </p:nvPr>
        </p:nvGraphicFramePr>
        <p:xfrm>
          <a:off x="4145484" y="1649412"/>
          <a:ext cx="13033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241200" progId="Equation.DSMT4">
                  <p:embed/>
                </p:oleObj>
              </mc:Choice>
              <mc:Fallback>
                <p:oleObj name="Equation" r:id="rId9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484" y="1649412"/>
                        <a:ext cx="130333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651793"/>
              </p:ext>
            </p:extLst>
          </p:nvPr>
        </p:nvGraphicFramePr>
        <p:xfrm>
          <a:off x="4145484" y="2286000"/>
          <a:ext cx="13033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7640" imgH="241200" progId="Equation.DSMT4">
                  <p:embed/>
                </p:oleObj>
              </mc:Choice>
              <mc:Fallback>
                <p:oleObj name="Equation" r:id="rId11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484" y="2286000"/>
                        <a:ext cx="130333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511410"/>
              </p:ext>
            </p:extLst>
          </p:nvPr>
        </p:nvGraphicFramePr>
        <p:xfrm>
          <a:off x="4876800" y="3276600"/>
          <a:ext cx="3338512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65080" imgH="711000" progId="Equation.DSMT4">
                  <p:embed/>
                </p:oleObj>
              </mc:Choice>
              <mc:Fallback>
                <p:oleObj name="Equation" r:id="rId13" imgW="1765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76600"/>
                        <a:ext cx="3338512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420746"/>
              </p:ext>
            </p:extLst>
          </p:nvPr>
        </p:nvGraphicFramePr>
        <p:xfrm>
          <a:off x="4876800" y="4800600"/>
          <a:ext cx="39385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82600" imgH="533160" progId="Equation.DSMT4">
                  <p:embed/>
                </p:oleObj>
              </mc:Choice>
              <mc:Fallback>
                <p:oleObj name="Equation" r:id="rId15" imgW="2082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800600"/>
                        <a:ext cx="393858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91161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199"/>
            <a:ext cx="7924800" cy="1066799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kháng sóng, </a:t>
            </a: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số truyền đạt sóng của mạng bốn cực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 </a:t>
            </a: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và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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5029" name="Object 13"/>
          <p:cNvGraphicFramePr>
            <a:graphicFrameLocks noChangeAspect="1"/>
          </p:cNvGraphicFramePr>
          <p:nvPr/>
        </p:nvGraphicFramePr>
        <p:xfrm>
          <a:off x="228600" y="3325668"/>
          <a:ext cx="4067867" cy="941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533160" progId="Equation.DSMT4">
                  <p:embed/>
                </p:oleObj>
              </mc:Choice>
              <mc:Fallback>
                <p:oleObj name="Equation" r:id="rId2" imgW="2298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25668"/>
                        <a:ext cx="4067867" cy="941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228600" y="4419601"/>
          <a:ext cx="3460201" cy="853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482400" progId="Equation.DSMT4">
                  <p:embed/>
                </p:oleObj>
              </mc:Choice>
              <mc:Fallback>
                <p:oleObj name="Equation" r:id="rId4" imgW="1955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19601"/>
                        <a:ext cx="3460201" cy="853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228600" y="5410201"/>
          <a:ext cx="4221529" cy="941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533160" progId="Equation.DSMT4">
                  <p:embed/>
                </p:oleObj>
              </mc:Choice>
              <mc:Fallback>
                <p:oleObj name="Equation" r:id="rId6" imgW="23875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10201"/>
                        <a:ext cx="4221529" cy="941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12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2000" y="1600200"/>
            <a:ext cx="23431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3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86525" y="1600200"/>
            <a:ext cx="227647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5029200" y="3162300"/>
          <a:ext cx="4023164" cy="1322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73040" imgH="749160" progId="Equation.DSMT4">
                  <p:embed/>
                </p:oleObj>
              </mc:Choice>
              <mc:Fallback>
                <p:oleObj name="Equation" r:id="rId10" imgW="227304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62300"/>
                        <a:ext cx="4023164" cy="1322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7217858" y="4722812"/>
          <a:ext cx="1392742" cy="403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228600" progId="Equation.DSMT4">
                  <p:embed/>
                </p:oleObj>
              </mc:Choice>
              <mc:Fallback>
                <p:oleObj name="Equation" r:id="rId12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7858" y="4722812"/>
                        <a:ext cx="1392742" cy="403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7209921" y="5334000"/>
          <a:ext cx="1392741" cy="403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87320" imgH="228600" progId="Equation.DSMT4">
                  <p:embed/>
                </p:oleObj>
              </mc:Choice>
              <mc:Fallback>
                <p:oleObj name="Equation" r:id="rId14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9921" y="5334000"/>
                        <a:ext cx="1392741" cy="403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3613151" y="1295400"/>
          <a:ext cx="201771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02960" imgH="241200" progId="Equation.DSMT4">
                  <p:embed/>
                </p:oleObj>
              </mc:Choice>
              <mc:Fallback>
                <p:oleObj name="Equation" r:id="rId16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1" y="1295400"/>
                        <a:ext cx="201771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3638551" y="1828801"/>
          <a:ext cx="199231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90360" imgH="241200" progId="Equation.DSMT4">
                  <p:embed/>
                </p:oleObj>
              </mc:Choice>
              <mc:Fallback>
                <p:oleObj name="Equation" r:id="rId18" imgW="990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1" y="1828801"/>
                        <a:ext cx="199231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>
            <a:graphicFrameLocks noChangeAspect="1"/>
          </p:cNvGraphicFramePr>
          <p:nvPr/>
        </p:nvGraphicFramePr>
        <p:xfrm>
          <a:off x="3429000" y="2236788"/>
          <a:ext cx="28114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6800" imgH="393480" progId="Equation.DSMT4">
                  <p:embed/>
                </p:oleObj>
              </mc:Choice>
              <mc:Fallback>
                <p:oleObj name="Equation" r:id="rId20" imgW="1396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36788"/>
                        <a:ext cx="28114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4613493" y="5082996"/>
          <a:ext cx="1863507" cy="1546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54080" imgH="876240" progId="Equation.DSMT4">
                  <p:embed/>
                </p:oleObj>
              </mc:Choice>
              <mc:Fallback>
                <p:oleObj name="Equation" r:id="rId22" imgW="105408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493" y="5082996"/>
                        <a:ext cx="1863507" cy="1546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1"/>
          <p:cNvGraphicFramePr>
            <a:graphicFrameLocks noChangeAspect="1"/>
          </p:cNvGraphicFramePr>
          <p:nvPr/>
        </p:nvGraphicFramePr>
        <p:xfrm>
          <a:off x="7239000" y="5942013"/>
          <a:ext cx="1303338" cy="40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36560" imgH="228600" progId="Equation.DSMT4">
                  <p:embed/>
                </p:oleObj>
              </mc:Choice>
              <mc:Fallback>
                <p:oleObj name="Equation" r:id="rId24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942013"/>
                        <a:ext cx="1303338" cy="40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3"/>
          <p:cNvGraphicFramePr>
            <a:graphicFrameLocks noChangeAspect="1"/>
          </p:cNvGraphicFramePr>
          <p:nvPr/>
        </p:nvGraphicFramePr>
        <p:xfrm>
          <a:off x="3948113" y="4459288"/>
          <a:ext cx="15049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50680" imgH="228600" progId="Equation.DSMT4">
                  <p:embed/>
                </p:oleObj>
              </mc:Choice>
              <mc:Fallback>
                <p:oleObj name="Equation" r:id="rId26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3" y="4459288"/>
                        <a:ext cx="1504950" cy="4048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9079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8740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kiện dải thông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371600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a = 0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thông,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a =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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trong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chắn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5029" name="Object 7"/>
          <p:cNvGraphicFramePr>
            <a:graphicFrameLocks noChangeAspect="1"/>
          </p:cNvGraphicFramePr>
          <p:nvPr/>
        </p:nvGraphicFramePr>
        <p:xfrm>
          <a:off x="2665413" y="2735262"/>
          <a:ext cx="319881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457200" progId="Equation.DSMT4">
                  <p:embed/>
                </p:oleObj>
              </mc:Choice>
              <mc:Fallback>
                <p:oleObj name="Equation" r:id="rId2" imgW="1358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2735262"/>
                        <a:ext cx="3198812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81000" y="4810780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Action Button: Return 5">
            <a:hlinkClick r:id="rId4" action="ppaction://hlinksldjump" highlightClick="1"/>
          </p:cNvPr>
          <p:cNvSpPr/>
          <p:nvPr/>
        </p:nvSpPr>
        <p:spPr>
          <a:xfrm>
            <a:off x="8763000" y="6477000"/>
            <a:ext cx="381000" cy="381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72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6362"/>
            <a:ext cx="7772400" cy="808038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4. </a:t>
            </a:r>
            <a:r>
              <a:rPr lang="vi-VN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Mạch </a:t>
            </a:r>
            <a:r>
              <a:rPr lang="en-US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</a:t>
            </a:r>
            <a:r>
              <a:rPr lang="vi-VN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ọc </a:t>
            </a:r>
            <a:r>
              <a:rPr lang="en-US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vi-VN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hụ </a:t>
            </a:r>
            <a:r>
              <a:rPr lang="en-US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đ</a:t>
            </a:r>
            <a:r>
              <a:rPr lang="vi-VN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ộng LC </a:t>
            </a:r>
            <a:r>
              <a:rPr lang="en-US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</a:t>
            </a:r>
            <a:r>
              <a:rPr lang="vi-VN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oại </a:t>
            </a:r>
            <a:r>
              <a:rPr lang="en-US" sz="3200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</a:t>
            </a:r>
            <a:endParaRPr lang="en-US" sz="3200" b="1">
              <a:solidFill>
                <a:schemeClr val="tx1"/>
              </a:solidFill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491932"/>
              </p:ext>
            </p:extLst>
          </p:nvPr>
        </p:nvGraphicFramePr>
        <p:xfrm>
          <a:off x="1006929" y="1871663"/>
          <a:ext cx="146526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241200" progId="Equation.DSMT4">
                  <p:embed/>
                </p:oleObj>
              </mc:Choice>
              <mc:Fallback>
                <p:oleObj name="Equation" r:id="rId2" imgW="622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929" y="1871663"/>
                        <a:ext cx="1465263" cy="5667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" y="1120775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Trở kháng trên các nhánh ngang, dọc thỏa mãn:</a:t>
            </a:r>
          </a:p>
        </p:txBody>
      </p:sp>
      <p:graphicFrame>
        <p:nvGraphicFramePr>
          <p:cNvPr id="385029" name="Object 3"/>
          <p:cNvGraphicFramePr>
            <a:graphicFrameLocks noChangeAspect="1"/>
          </p:cNvGraphicFramePr>
          <p:nvPr/>
        </p:nvGraphicFramePr>
        <p:xfrm>
          <a:off x="1014412" y="2720975"/>
          <a:ext cx="1728788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876240" progId="Equation.DSMT4">
                  <p:embed/>
                </p:oleObj>
              </mc:Choice>
              <mc:Fallback>
                <p:oleObj name="Equation" r:id="rId4" imgW="97776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2" y="2720975"/>
                        <a:ext cx="1728788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205247"/>
              </p:ext>
            </p:extLst>
          </p:nvPr>
        </p:nvGraphicFramePr>
        <p:xfrm>
          <a:off x="4283075" y="3200400"/>
          <a:ext cx="15843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03040" progId="Equation.DSMT4">
                  <p:embed/>
                </p:oleObj>
              </mc:Choice>
              <mc:Fallback>
                <p:oleObj name="Equation" r:id="rId6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3200400"/>
                        <a:ext cx="15843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" y="3200400"/>
            <a:ext cx="68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/>
              <a:t>Vì</a:t>
            </a:r>
            <a:r>
              <a:rPr lang="en-US" sz="2800"/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3200400"/>
            <a:ext cx="144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thỏa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" y="4429780"/>
            <a:ext cx="144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828800" y="4419600"/>
          <a:ext cx="1257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431640" progId="Equation.DSMT4">
                  <p:embed/>
                </p:oleObj>
              </mc:Choice>
              <mc:Fallback>
                <p:oleObj name="Equation" r:id="rId8" imgW="711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19600"/>
                        <a:ext cx="12573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3581400" y="4419600"/>
            <a:ext cx="1447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Hay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504997"/>
              </p:ext>
            </p:extLst>
          </p:nvPr>
        </p:nvGraphicFramePr>
        <p:xfrm>
          <a:off x="4576763" y="4343400"/>
          <a:ext cx="15255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431640" progId="Equation.DSMT4">
                  <p:embed/>
                </p:oleObj>
              </mc:Choice>
              <mc:Fallback>
                <p:oleObj name="Equation" r:id="rId10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4343400"/>
                        <a:ext cx="1525587" cy="7620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2938793" y="1914810"/>
            <a:ext cx="2857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– hằng số dương</a:t>
            </a:r>
          </a:p>
        </p:txBody>
      </p:sp>
    </p:spTree>
    <p:extLst>
      <p:ext uri="{BB962C8B-B14F-4D97-AF65-F5344CB8AC3E}">
        <p14:creationId xmlns:p14="http://schemas.microsoft.com/office/powerpoint/2010/main" val="807643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</a:rPr>
              <a:t>Lọc</a:t>
            </a:r>
            <a:r>
              <a:rPr lang="en-US" sz="2800" b="1">
                <a:solidFill>
                  <a:schemeClr val="tx1"/>
                </a:solidFill>
              </a:rPr>
              <a:t> thông thấp loại k</a:t>
            </a:r>
          </a:p>
        </p:txBody>
      </p:sp>
      <p:pic>
        <p:nvPicPr>
          <p:cNvPr id="158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914400"/>
            <a:ext cx="20193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981075"/>
            <a:ext cx="175260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838200"/>
            <a:ext cx="3657600" cy="280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6"/>
          <p:cNvGraphicFramePr>
            <a:graphicFrameLocks noChangeAspect="1"/>
          </p:cNvGraphicFramePr>
          <p:nvPr/>
        </p:nvGraphicFramePr>
        <p:xfrm>
          <a:off x="107950" y="3657600"/>
          <a:ext cx="37020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431640" progId="Equation.DSMT4">
                  <p:embed/>
                </p:oleObj>
              </mc:Choice>
              <mc:Fallback>
                <p:oleObj name="Equation" r:id="rId5" imgW="2095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3657600"/>
                        <a:ext cx="37020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7924800" y="968375"/>
          <a:ext cx="10779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228600" progId="Equation.DSMT4">
                  <p:embed/>
                </p:oleObj>
              </mc:Choice>
              <mc:Fallback>
                <p:oleObj name="Equation" r:id="rId7" imgW="609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968375"/>
                        <a:ext cx="10779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7924800" y="1447800"/>
          <a:ext cx="11684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60240" imgH="419040" progId="Equation.DSMT4">
                  <p:embed/>
                </p:oleObj>
              </mc:Choice>
              <mc:Fallback>
                <p:oleObj name="Equation" r:id="rId9" imgW="660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447800"/>
                        <a:ext cx="11684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3962400" y="3657600"/>
          <a:ext cx="152558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419040" progId="Equation.DSMT4">
                  <p:embed/>
                </p:oleObj>
              </mc:Choice>
              <mc:Fallback>
                <p:oleObj name="Equation" r:id="rId11" imgW="863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657600"/>
                        <a:ext cx="1525587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5776912" y="2743200"/>
          <a:ext cx="12334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98400" imgH="419040" progId="Equation.DSMT4">
                  <p:embed/>
                </p:oleObj>
              </mc:Choice>
              <mc:Fallback>
                <p:oleObj name="Equation" r:id="rId13" imgW="698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2" y="2743200"/>
                        <a:ext cx="12334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7162800" y="2891135"/>
            <a:ext cx="1828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133350" y="4468812"/>
          <a:ext cx="588645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27120" imgH="533160" progId="Equation.DSMT4">
                  <p:embed/>
                </p:oleObj>
              </mc:Choice>
              <mc:Fallback>
                <p:oleObj name="Equation" r:id="rId15" imgW="33271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" y="4468812"/>
                        <a:ext cx="588645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161925" y="5427663"/>
          <a:ext cx="3190875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03240" imgH="723600" progId="Equation.DSMT4">
                  <p:embed/>
                </p:oleObj>
              </mc:Choice>
              <mc:Fallback>
                <p:oleObj name="Equation" r:id="rId17" imgW="180324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5427663"/>
                        <a:ext cx="3190875" cy="127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5791200" y="3505200"/>
          <a:ext cx="10556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96880" imgH="444240" progId="Equation.DSMT4">
                  <p:embed/>
                </p:oleObj>
              </mc:Choice>
              <mc:Fallback>
                <p:oleObj name="Equation" r:id="rId19" imgW="596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505200"/>
                        <a:ext cx="105568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/>
        </p:nvGraphicFramePr>
        <p:xfrm>
          <a:off x="5387975" y="5181600"/>
          <a:ext cx="29178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50960" imgH="876240" progId="Equation.DSMT4">
                  <p:embed/>
                </p:oleObj>
              </mc:Choice>
              <mc:Fallback>
                <p:oleObj name="Equation" r:id="rId21" imgW="165096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5181600"/>
                        <a:ext cx="2917825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75666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thông cao loại k</a:t>
            </a:r>
          </a:p>
        </p:txBody>
      </p:sp>
      <p:graphicFrame>
        <p:nvGraphicFramePr>
          <p:cNvPr id="385029" name="Object 6"/>
          <p:cNvGraphicFramePr>
            <a:graphicFrameLocks noChangeAspect="1"/>
          </p:cNvGraphicFramePr>
          <p:nvPr/>
        </p:nvGraphicFramePr>
        <p:xfrm>
          <a:off x="152400" y="3657600"/>
          <a:ext cx="38592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431640" progId="Equation.DSMT4">
                  <p:embed/>
                </p:oleObj>
              </mc:Choice>
              <mc:Fallback>
                <p:oleObj name="Equation" r:id="rId2" imgW="2184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657600"/>
                        <a:ext cx="385921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7772400" y="914400"/>
          <a:ext cx="11445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419040" progId="Equation.DSMT4">
                  <p:embed/>
                </p:oleObj>
              </mc:Choice>
              <mc:Fallback>
                <p:oleObj name="Equation" r:id="rId4" imgW="647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914400"/>
                        <a:ext cx="11445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7815263" y="1676400"/>
          <a:ext cx="11001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28600" progId="Equation.DSMT4">
                  <p:embed/>
                </p:oleObj>
              </mc:Choice>
              <mc:Fallback>
                <p:oleObj name="Equation" r:id="rId6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63" y="1676400"/>
                        <a:ext cx="11001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4140200" y="3657600"/>
          <a:ext cx="17272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419040" progId="Equation.DSMT4">
                  <p:embed/>
                </p:oleObj>
              </mc:Choice>
              <mc:Fallback>
                <p:oleObj name="Equation" r:id="rId8" imgW="977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657600"/>
                        <a:ext cx="17272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6099175" y="2613025"/>
          <a:ext cx="13684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419040" progId="Equation.DSMT4">
                  <p:embed/>
                </p:oleObj>
              </mc:Choice>
              <mc:Fallback>
                <p:oleObj name="Equation" r:id="rId10" imgW="774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2613025"/>
                        <a:ext cx="13684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7543800" y="2738735"/>
            <a:ext cx="1524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9751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2614" y="914400"/>
            <a:ext cx="378738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9752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71900" y="838200"/>
            <a:ext cx="20193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9753" name="Picture 9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791200" y="990600"/>
            <a:ext cx="18002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128588" y="4495800"/>
          <a:ext cx="6043612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16040" imgH="533160" progId="Equation.DSMT4">
                  <p:embed/>
                </p:oleObj>
              </mc:Choice>
              <mc:Fallback>
                <p:oleObj name="Equation" r:id="rId15" imgW="34160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8" y="4495800"/>
                        <a:ext cx="6043612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161925" y="5438775"/>
          <a:ext cx="3190875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03240" imgH="711000" progId="Equation.DSMT4">
                  <p:embed/>
                </p:oleObj>
              </mc:Choice>
              <mc:Fallback>
                <p:oleObj name="Equation" r:id="rId17" imgW="18032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5438775"/>
                        <a:ext cx="3190875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6259513" y="3352800"/>
          <a:ext cx="10556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96880" imgH="444240" progId="Equation.DSMT4">
                  <p:embed/>
                </p:oleObj>
              </mc:Choice>
              <mc:Fallback>
                <p:oleObj name="Equation" r:id="rId19" imgW="596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9513" y="3352800"/>
                        <a:ext cx="105568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540375" y="5105400"/>
          <a:ext cx="291782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50960" imgH="914400" progId="Equation.DSMT4">
                  <p:embed/>
                </p:oleObj>
              </mc:Choice>
              <mc:Fallback>
                <p:oleObj name="Equation" r:id="rId21" imgW="165096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75" y="5105400"/>
                        <a:ext cx="2917825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19532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thông dải loại k</a:t>
            </a:r>
          </a:p>
        </p:txBody>
      </p:sp>
      <p:graphicFrame>
        <p:nvGraphicFramePr>
          <p:cNvPr id="385029" name="Object 6"/>
          <p:cNvGraphicFramePr>
            <a:graphicFrameLocks noChangeAspect="1"/>
          </p:cNvGraphicFramePr>
          <p:nvPr/>
        </p:nvGraphicFramePr>
        <p:xfrm>
          <a:off x="152400" y="4876800"/>
          <a:ext cx="34099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698400" progId="Equation.DSMT4">
                  <p:embed/>
                </p:oleObj>
              </mc:Choice>
              <mc:Fallback>
                <p:oleObj name="Equation" r:id="rId2" imgW="19303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876800"/>
                        <a:ext cx="340995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6705600" y="1204912"/>
          <a:ext cx="215423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82400" progId="Equation.DSMT4">
                  <p:embed/>
                </p:oleObj>
              </mc:Choice>
              <mc:Fallback>
                <p:oleObj name="Equation" r:id="rId4" imgW="1218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204912"/>
                        <a:ext cx="2154238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6705600" y="2097088"/>
          <a:ext cx="2290763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660240" progId="Equation.DSMT4">
                  <p:embed/>
                </p:oleObj>
              </mc:Choice>
              <mc:Fallback>
                <p:oleObj name="Equation" r:id="rId6" imgW="12952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097088"/>
                        <a:ext cx="2290763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4495800" y="5029200"/>
          <a:ext cx="13017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228600" progId="Equation.DSMT4">
                  <p:embed/>
                </p:oleObj>
              </mc:Choice>
              <mc:Fallback>
                <p:oleObj name="Equation" r:id="rId8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029200"/>
                        <a:ext cx="13017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228600" y="6019800"/>
          <a:ext cx="1412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431640" progId="Equation.DSMT4">
                  <p:embed/>
                </p:oleObj>
              </mc:Choice>
              <mc:Fallback>
                <p:oleObj name="Equation" r:id="rId10" imgW="79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19800"/>
                        <a:ext cx="14128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7162800" y="5410200"/>
            <a:ext cx="1676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07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1219200"/>
            <a:ext cx="436012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0776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248150" y="838200"/>
            <a:ext cx="23812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0777" name="Picture 9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333875" y="2409825"/>
            <a:ext cx="22955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457200" y="4124980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thỏa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828800" y="3758532"/>
          <a:ext cx="2373312" cy="1346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73120" imgH="838080" progId="Equation.DSMT4">
                  <p:embed/>
                </p:oleObj>
              </mc:Choice>
              <mc:Fallback>
                <p:oleObj name="Equation" r:id="rId15" imgW="14731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758532"/>
                        <a:ext cx="2373312" cy="1346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4343400" y="4114800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5761038" y="4038600"/>
          <a:ext cx="21272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20480" imgH="457200" progId="Equation.DSMT4">
                  <p:embed/>
                </p:oleObj>
              </mc:Choice>
              <mc:Fallback>
                <p:oleObj name="Equation" r:id="rId17" imgW="1320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038" y="4038600"/>
                        <a:ext cx="21272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362200" y="6019800"/>
          <a:ext cx="808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" imgH="431640" progId="Equation.DSMT4">
                  <p:embed/>
                </p:oleObj>
              </mc:Choice>
              <mc:Fallback>
                <p:oleObj name="Equation" r:id="rId19" imgW="457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019800"/>
                        <a:ext cx="8080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4495800" y="5486400"/>
          <a:ext cx="25812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60160" imgH="304560" progId="Equation.DSMT4">
                  <p:embed/>
                </p:oleObj>
              </mc:Choice>
              <mc:Fallback>
                <p:oleObj name="Equation" r:id="rId21" imgW="14601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486400"/>
                        <a:ext cx="25812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/>
        </p:nvGraphicFramePr>
        <p:xfrm>
          <a:off x="6323013" y="4984750"/>
          <a:ext cx="11445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47640" imgH="241200" progId="Equation.DSMT4">
                  <p:embed/>
                </p:oleObj>
              </mc:Choice>
              <mc:Fallback>
                <p:oleObj name="Equation" r:id="rId23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4984750"/>
                        <a:ext cx="11445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4572000" y="5943600"/>
          <a:ext cx="36353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57400" imgH="457200" progId="Equation.DSMT4">
                  <p:embed/>
                </p:oleObj>
              </mc:Choice>
              <mc:Fallback>
                <p:oleObj name="Equation" r:id="rId25" imgW="2057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943600"/>
                        <a:ext cx="363537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34886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chắn dải loại k</a:t>
            </a:r>
          </a:p>
        </p:txBody>
      </p:sp>
      <p:graphicFrame>
        <p:nvGraphicFramePr>
          <p:cNvPr id="385029" name="Object 6"/>
          <p:cNvGraphicFramePr>
            <a:graphicFrameLocks noChangeAspect="1"/>
          </p:cNvGraphicFramePr>
          <p:nvPr/>
        </p:nvGraphicFramePr>
        <p:xfrm>
          <a:off x="119063" y="4953000"/>
          <a:ext cx="347662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507960" progId="Equation.DSMT4">
                  <p:embed/>
                </p:oleObj>
              </mc:Choice>
              <mc:Fallback>
                <p:oleObj name="Equation" r:id="rId2" imgW="19684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3" y="4953000"/>
                        <a:ext cx="347662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6629400" y="1981200"/>
          <a:ext cx="224313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82400" progId="Equation.DSMT4">
                  <p:embed/>
                </p:oleObj>
              </mc:Choice>
              <mc:Fallback>
                <p:oleObj name="Equation" r:id="rId4" imgW="1269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981200"/>
                        <a:ext cx="2243138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6673850" y="762000"/>
          <a:ext cx="2201863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660240" progId="Equation.DSMT4">
                  <p:embed/>
                </p:oleObj>
              </mc:Choice>
              <mc:Fallback>
                <p:oleObj name="Equation" r:id="rId6" imgW="12445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0" y="762000"/>
                        <a:ext cx="2201863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4038600" y="5029200"/>
          <a:ext cx="267176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280" imgH="228600" progId="Equation.DSMT4">
                  <p:embed/>
                </p:oleObj>
              </mc:Choice>
              <mc:Fallback>
                <p:oleObj name="Equation" r:id="rId8" imgW="1511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029200"/>
                        <a:ext cx="267176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304800" y="5867400"/>
          <a:ext cx="1412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431640" progId="Equation.DSMT4">
                  <p:embed/>
                </p:oleObj>
              </mc:Choice>
              <mc:Fallback>
                <p:oleObj name="Equation" r:id="rId10" imgW="79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867400"/>
                        <a:ext cx="14128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0" y="3429000"/>
            <a:ext cx="22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cắt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124980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thỏa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828800" y="3758532"/>
          <a:ext cx="2373312" cy="1346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73120" imgH="838080" progId="Equation.DSMT4">
                  <p:embed/>
                </p:oleObj>
              </mc:Choice>
              <mc:Fallback>
                <p:oleObj name="Equation" r:id="rId12" imgW="14731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758532"/>
                        <a:ext cx="2373312" cy="1346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4343400" y="4114800"/>
            <a:ext cx="152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5761038" y="4038600"/>
          <a:ext cx="21272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480" imgH="457200" progId="Equation.DSMT4">
                  <p:embed/>
                </p:oleObj>
              </mc:Choice>
              <mc:Fallback>
                <p:oleObj name="Equation" r:id="rId14" imgW="1320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038" y="4038600"/>
                        <a:ext cx="21272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057400" y="5867400"/>
          <a:ext cx="808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57200" imgH="431640" progId="Equation.DSMT4">
                  <p:embed/>
                </p:oleObj>
              </mc:Choice>
              <mc:Fallback>
                <p:oleObj name="Equation" r:id="rId16" imgW="457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867400"/>
                        <a:ext cx="8080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5375275" y="5486400"/>
          <a:ext cx="26701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11280" imgH="304560" progId="Equation.DSMT4">
                  <p:embed/>
                </p:oleObj>
              </mc:Choice>
              <mc:Fallback>
                <p:oleObj name="Equation" r:id="rId18" imgW="1511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5486400"/>
                        <a:ext cx="26701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/>
        </p:nvGraphicFramePr>
        <p:xfrm>
          <a:off x="7237413" y="4984750"/>
          <a:ext cx="11445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47640" imgH="241200" progId="Equation.DSMT4">
                  <p:embed/>
                </p:oleObj>
              </mc:Choice>
              <mc:Fallback>
                <p:oleObj name="Equation" r:id="rId20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4984750"/>
                        <a:ext cx="11445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4090988" y="6053137"/>
          <a:ext cx="383698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71520" imgH="457200" progId="Equation.DSMT4">
                  <p:embed/>
                </p:oleObj>
              </mc:Choice>
              <mc:Fallback>
                <p:oleObj name="Equation" r:id="rId22" imgW="2171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6053137"/>
                        <a:ext cx="3836987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1805" name="Picture 13"/>
          <p:cNvPicPr>
            <a:picLocks noChangeAspect="1" noChangeArrowheads="1"/>
          </p:cNvPicPr>
          <p:nvPr/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304800" y="1219200"/>
            <a:ext cx="355739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1806" name="Picture 14"/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4114800" y="838200"/>
            <a:ext cx="23336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1807" name="Picture 15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4191000" y="2343150"/>
            <a:ext cx="218122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4065588" y="5421313"/>
          <a:ext cx="10541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96880" imgH="419040" progId="Equation.DSMT4">
                  <p:embed/>
                </p:oleObj>
              </mc:Choice>
              <mc:Fallback>
                <p:oleObj name="Equation" r:id="rId27" imgW="596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8" y="5421313"/>
                        <a:ext cx="10541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38792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9144000" cy="7159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chất của mạch lọc thông thấp loại k</a:t>
            </a:r>
          </a:p>
        </p:txBody>
      </p:sp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76200" y="1143000"/>
          <a:ext cx="18192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495000" progId="Equation.DSMT4">
                  <p:embed/>
                </p:oleObj>
              </mc:Choice>
              <mc:Fallback>
                <p:oleObj name="Equation" r:id="rId2" imgW="10285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181927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6200" y="2057400"/>
          <a:ext cx="1617662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685800" progId="Equation.DSMT4">
                  <p:embed/>
                </p:oleObj>
              </mc:Choice>
              <mc:Fallback>
                <p:oleObj name="Equation" r:id="rId4" imgW="914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057400"/>
                        <a:ext cx="1617662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282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81200" y="838200"/>
            <a:ext cx="3352800" cy="2598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553200" y="838200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thông: 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5638800" y="1044575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228600" progId="Equation.DSMT4">
                  <p:embed/>
                </p:oleObj>
              </mc:Choice>
              <mc:Fallback>
                <p:oleObj name="Equation" r:id="rId7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044575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53200" y="1683603"/>
            <a:ext cx="251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buFontTx/>
              <a:buChar char="-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5614988" y="1730375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240" imgH="228600" progId="Equation.DSMT4">
                  <p:embed/>
                </p:oleObj>
              </mc:Choice>
              <mc:Fallback>
                <p:oleObj name="Equation" r:id="rId9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1730375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562600" y="2819400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76200" y="3352800"/>
          <a:ext cx="1616075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850680" progId="Equation.DSMT4">
                  <p:embed/>
                </p:oleObj>
              </mc:Choice>
              <mc:Fallback>
                <p:oleObj name="Equation" r:id="rId11" imgW="91440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352800"/>
                        <a:ext cx="1616075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2286000" y="3505200"/>
          <a:ext cx="7858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4240" imgH="228600" progId="Equation.DSMT4">
                  <p:embed/>
                </p:oleObj>
              </mc:Choice>
              <mc:Fallback>
                <p:oleObj name="Equation" r:id="rId1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0"/>
                        <a:ext cx="7858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4"/>
          <p:cNvGraphicFramePr>
            <a:graphicFrameLocks noChangeAspect="1"/>
          </p:cNvGraphicFramePr>
          <p:nvPr/>
        </p:nvGraphicFramePr>
        <p:xfrm>
          <a:off x="4233862" y="3429000"/>
          <a:ext cx="4757738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92080" imgH="850680" progId="Equation.DSMT4">
                  <p:embed/>
                </p:oleObj>
              </mc:Choice>
              <mc:Fallback>
                <p:oleObj name="Equation" r:id="rId14" imgW="26920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2" y="3429000"/>
                        <a:ext cx="4757738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3200400" y="3505200"/>
          <a:ext cx="62865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320" imgH="177480" progId="Equation.DSMT4">
                  <p:embed/>
                </p:oleObj>
              </mc:Choice>
              <mc:Fallback>
                <p:oleObj name="Equation" r:id="rId16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05200"/>
                        <a:ext cx="62865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3176588" y="3832225"/>
          <a:ext cx="7858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240" imgH="203040" progId="Equation.DSMT4">
                  <p:embed/>
                </p:oleObj>
              </mc:Choice>
              <mc:Fallback>
                <p:oleObj name="Equation" r:id="rId18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3832225"/>
                        <a:ext cx="7858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2012950" y="4191000"/>
          <a:ext cx="21780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31560" imgH="253800" progId="Equation.DSMT4">
                  <p:embed/>
                </p:oleObj>
              </mc:Choice>
              <mc:Fallback>
                <p:oleObj name="Equation" r:id="rId20" imgW="1231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4191000"/>
                        <a:ext cx="21780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2290762" y="4800600"/>
          <a:ext cx="7858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44240" imgH="228600" progId="Equation.DSMT4">
                  <p:embed/>
                </p:oleObj>
              </mc:Choice>
              <mc:Fallback>
                <p:oleObj name="Equation" r:id="rId22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2" y="4800600"/>
                        <a:ext cx="7858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3217863" y="4800600"/>
          <a:ext cx="6492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68280" imgH="177480" progId="Equation.DSMT4">
                  <p:embed/>
                </p:oleObj>
              </mc:Choice>
              <mc:Fallback>
                <p:oleObj name="Equation" r:id="rId24" imgW="368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4800600"/>
                        <a:ext cx="6492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/>
          <p:cNvGraphicFramePr>
            <a:graphicFrameLocks noChangeAspect="1"/>
          </p:cNvGraphicFramePr>
          <p:nvPr/>
        </p:nvGraphicFramePr>
        <p:xfrm>
          <a:off x="3260725" y="5191125"/>
          <a:ext cx="67468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80880" imgH="164880" progId="Equation.DSMT4">
                  <p:embed/>
                </p:oleObj>
              </mc:Choice>
              <mc:Fallback>
                <p:oleObj name="Equation" r:id="rId26" imgW="380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5191125"/>
                        <a:ext cx="674688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3"/>
          <p:cNvGraphicFramePr>
            <a:graphicFrameLocks noChangeAspect="1"/>
          </p:cNvGraphicFramePr>
          <p:nvPr/>
        </p:nvGraphicFramePr>
        <p:xfrm>
          <a:off x="2982913" y="5410200"/>
          <a:ext cx="10556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96880" imgH="203040" progId="Equation.DSMT4">
                  <p:embed/>
                </p:oleObj>
              </mc:Choice>
              <mc:Fallback>
                <p:oleObj name="Equation" r:id="rId28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5410200"/>
                        <a:ext cx="10556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4327525" y="4953000"/>
          <a:ext cx="4511675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552400" imgH="914400" progId="Equation.DSMT4">
                  <p:embed/>
                </p:oleObj>
              </mc:Choice>
              <mc:Fallback>
                <p:oleObj name="Equation" r:id="rId30" imgW="25524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4953000"/>
                        <a:ext cx="4511675" cy="161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2839" name="Picture 23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85725" y="5257800"/>
            <a:ext cx="25050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38586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9144000" cy="7159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chất của mạch lọc thông cao loại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838200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thông: 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5638800" y="914400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240" imgH="228600" progId="Equation.DSMT4">
                  <p:embed/>
                </p:oleObj>
              </mc:Choice>
              <mc:Fallback>
                <p:oleObj name="Equation" r:id="rId2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914400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53200" y="1683603"/>
            <a:ext cx="251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buFontTx/>
              <a:buChar char="-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>
              <a:buFontTx/>
              <a:buChar char="-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5614988" y="1730375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28600" progId="Equation.DSMT4">
                  <p:embed/>
                </p:oleObj>
              </mc:Choice>
              <mc:Fallback>
                <p:oleObj name="Equation" r:id="rId4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1730375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562600" y="2819400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2185987" y="3505200"/>
          <a:ext cx="7858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240" imgH="228600" progId="Equation.DSMT4">
                  <p:embed/>
                </p:oleObj>
              </mc:Choice>
              <mc:Fallback>
                <p:oleObj name="Equation" r:id="rId6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7" y="3505200"/>
                        <a:ext cx="7858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4"/>
          <p:cNvGraphicFramePr>
            <a:graphicFrameLocks noChangeAspect="1"/>
          </p:cNvGraphicFramePr>
          <p:nvPr/>
        </p:nvGraphicFramePr>
        <p:xfrm>
          <a:off x="4233863" y="3373438"/>
          <a:ext cx="4757737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92080" imgH="914400" progId="Equation.DSMT4">
                  <p:embed/>
                </p:oleObj>
              </mc:Choice>
              <mc:Fallback>
                <p:oleObj name="Equation" r:id="rId8" imgW="26920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3" y="3373438"/>
                        <a:ext cx="4757737" cy="161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3048000" y="3527424"/>
          <a:ext cx="62865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177480" progId="Equation.DSMT4">
                  <p:embed/>
                </p:oleObj>
              </mc:Choice>
              <mc:Fallback>
                <p:oleObj name="Equation" r:id="rId10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27424"/>
                        <a:ext cx="62865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3024188" y="3908424"/>
          <a:ext cx="7858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240" imgH="203040" progId="Equation.DSMT4">
                  <p:embed/>
                </p:oleObj>
              </mc:Choice>
              <mc:Fallback>
                <p:oleObj name="Equation" r:id="rId12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3908424"/>
                        <a:ext cx="7858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2241550" y="4321174"/>
          <a:ext cx="21780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253800" progId="Equation.DSMT4">
                  <p:embed/>
                </p:oleObj>
              </mc:Choice>
              <mc:Fallback>
                <p:oleObj name="Equation" r:id="rId14" imgW="1231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4321174"/>
                        <a:ext cx="21780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2362200" y="4800600"/>
          <a:ext cx="7858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240" imgH="228600" progId="Equation.DSMT4">
                  <p:embed/>
                </p:oleObj>
              </mc:Choice>
              <mc:Fallback>
                <p:oleObj name="Equation" r:id="rId16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00600"/>
                        <a:ext cx="7858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3255963" y="4846637"/>
          <a:ext cx="80645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177480" progId="Equation.DSMT4">
                  <p:embed/>
                </p:oleObj>
              </mc:Choice>
              <mc:Fallback>
                <p:oleObj name="Equation" r:id="rId18" imgW="457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4846637"/>
                        <a:ext cx="80645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/>
          <p:cNvGraphicFramePr>
            <a:graphicFrameLocks noChangeAspect="1"/>
          </p:cNvGraphicFramePr>
          <p:nvPr/>
        </p:nvGraphicFramePr>
        <p:xfrm>
          <a:off x="3332163" y="5237162"/>
          <a:ext cx="67468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80880" imgH="164880" progId="Equation.DSMT4">
                  <p:embed/>
                </p:oleObj>
              </mc:Choice>
              <mc:Fallback>
                <p:oleObj name="Equation" r:id="rId20" imgW="380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5237162"/>
                        <a:ext cx="674688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3"/>
          <p:cNvGraphicFramePr>
            <a:graphicFrameLocks noChangeAspect="1"/>
          </p:cNvGraphicFramePr>
          <p:nvPr/>
        </p:nvGraphicFramePr>
        <p:xfrm>
          <a:off x="2978151" y="5661025"/>
          <a:ext cx="10556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203040" progId="Equation.DSMT4">
                  <p:embed/>
                </p:oleObj>
              </mc:Choice>
              <mc:Fallback>
                <p:oleObj name="Equation" r:id="rId22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1" y="5661025"/>
                        <a:ext cx="10556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4114800" y="4956175"/>
          <a:ext cx="45116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52400" imgH="990360" progId="Equation.DSMT4">
                  <p:embed/>
                </p:oleObj>
              </mc:Choice>
              <mc:Fallback>
                <p:oleObj name="Equation" r:id="rId24" imgW="255240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56175"/>
                        <a:ext cx="4511675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57" name="Picture 17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1905000" y="838200"/>
            <a:ext cx="35941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13"/>
          <p:cNvGraphicFramePr>
            <a:graphicFrameLocks noChangeAspect="1"/>
          </p:cNvGraphicFramePr>
          <p:nvPr/>
        </p:nvGraphicFramePr>
        <p:xfrm>
          <a:off x="84138" y="990600"/>
          <a:ext cx="1820862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28520" imgH="457200" progId="Equation.DSMT4">
                  <p:embed/>
                </p:oleObj>
              </mc:Choice>
              <mc:Fallback>
                <p:oleObj name="Equation" r:id="rId27" imgW="1028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8" y="990600"/>
                        <a:ext cx="1820862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9"/>
          <p:cNvGraphicFramePr>
            <a:graphicFrameLocks noChangeAspect="1"/>
          </p:cNvGraphicFramePr>
          <p:nvPr/>
        </p:nvGraphicFramePr>
        <p:xfrm>
          <a:off x="76200" y="2057400"/>
          <a:ext cx="16176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914400" imgH="647640" progId="Equation.DSMT4">
                  <p:embed/>
                </p:oleObj>
              </mc:Choice>
              <mc:Fallback>
                <p:oleObj name="Equation" r:id="rId29" imgW="91440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057400"/>
                        <a:ext cx="16176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136525" y="3322637"/>
          <a:ext cx="161607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914400" imgH="914400" progId="Equation.DSMT4">
                  <p:embed/>
                </p:oleObj>
              </mc:Choice>
              <mc:Fallback>
                <p:oleObj name="Equation" r:id="rId31" imgW="9144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" y="3322637"/>
                        <a:ext cx="1616075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61" name="Picture 21"/>
          <p:cNvPicPr>
            <a:picLocks noChangeAspect="1" noChangeArrowheads="1"/>
          </p:cNvPicPr>
          <p:nvPr/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0" y="4914900"/>
            <a:ext cx="23717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48595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7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362200"/>
            <a:ext cx="29146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610600" cy="56356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chất của mạch lọc thông dải loại k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953000" y="914400"/>
          <a:ext cx="39274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482400" progId="Equation.DSMT4">
                  <p:embed/>
                </p:oleObj>
              </mc:Choice>
              <mc:Fallback>
                <p:oleObj name="Equation" r:id="rId3" imgW="2222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914400"/>
                        <a:ext cx="392747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913313" y="1905000"/>
          <a:ext cx="4154487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49360" imgH="660240" progId="Equation.DSMT4">
                  <p:embed/>
                </p:oleObj>
              </mc:Choice>
              <mc:Fallback>
                <p:oleObj name="Equation" r:id="rId5" imgW="23493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313" y="1905000"/>
                        <a:ext cx="4154487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200" y="914400"/>
            <a:ext cx="23812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657475" y="962025"/>
            <a:ext cx="22955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869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2438400"/>
            <a:ext cx="25431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871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371600" y="4572000"/>
            <a:ext cx="352425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13"/>
          <p:cNvGraphicFramePr>
            <a:graphicFrameLocks noChangeAspect="1"/>
          </p:cNvGraphicFramePr>
          <p:nvPr/>
        </p:nvGraphicFramePr>
        <p:xfrm>
          <a:off x="5638800" y="3276600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240" imgH="228600" progId="Equation.DSMT4">
                  <p:embed/>
                </p:oleObj>
              </mc:Choice>
              <mc:Fallback>
                <p:oleObj name="Equation" r:id="rId11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276600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3200400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114800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giống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thông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5638800" y="5029200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4240" imgH="228600" progId="Equation.DSMT4">
                  <p:embed/>
                </p:oleObj>
              </mc:Choice>
              <mc:Fallback>
                <p:oleObj name="Equation" r:id="rId1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029200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77000" y="495300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5410200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5000" y="5867400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giống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thông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4376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7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362200"/>
            <a:ext cx="290512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86800" cy="56356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chất của mạch lọc chắn dải loại k</a:t>
            </a:r>
          </a:p>
        </p:txBody>
      </p:sp>
      <p:graphicFrame>
        <p:nvGraphicFramePr>
          <p:cNvPr id="385029" name="Object 13"/>
          <p:cNvGraphicFramePr>
            <a:graphicFrameLocks noChangeAspect="1"/>
          </p:cNvGraphicFramePr>
          <p:nvPr/>
        </p:nvGraphicFramePr>
        <p:xfrm>
          <a:off x="5638800" y="3276600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240" imgH="228600" progId="Equation.DSMT4">
                  <p:embed/>
                </p:oleObj>
              </mc:Choice>
              <mc:Fallback>
                <p:oleObj name="Equation" r:id="rId3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276600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77000" y="320040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657600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2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5000" y="4114800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giống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thông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5638800" y="5029200"/>
          <a:ext cx="7858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240" imgH="228600" progId="Equation.DSMT4">
                  <p:embed/>
                </p:oleObj>
              </mc:Choice>
              <mc:Fallback>
                <p:oleObj name="Equation" r:id="rId5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029200"/>
                        <a:ext cx="7858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77000" y="495300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7000" y="541020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5867400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giống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thông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/>
        </p:nvGraphicFramePr>
        <p:xfrm>
          <a:off x="4951413" y="1981200"/>
          <a:ext cx="4040187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0" imgH="482400" progId="Equation.DSMT4">
                  <p:embed/>
                </p:oleObj>
              </mc:Choice>
              <mc:Fallback>
                <p:oleObj name="Equation" r:id="rId7" imgW="2286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1981200"/>
                        <a:ext cx="4040187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/>
        </p:nvGraphicFramePr>
        <p:xfrm>
          <a:off x="4953000" y="762000"/>
          <a:ext cx="404495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0" imgH="660240" progId="Equation.DSMT4">
                  <p:embed/>
                </p:oleObj>
              </mc:Choice>
              <mc:Fallback>
                <p:oleObj name="Equation" r:id="rId9" imgW="22860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762000"/>
                        <a:ext cx="404495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6200" y="762000"/>
            <a:ext cx="23336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1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438400" y="819150"/>
            <a:ext cx="2181225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5896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8575" y="2362200"/>
            <a:ext cx="24860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5898" name="Picture 10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52475" y="4724400"/>
            <a:ext cx="41243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37796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7772400" cy="56356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Nhược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điểm của m</a:t>
            </a:r>
            <a:r>
              <a:rPr lang="vi-VN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ạch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vi-VN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ọc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vi-VN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oại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2667000"/>
          </a:xfrm>
        </p:spPr>
        <p:txBody>
          <a:bodyPr>
            <a:normAutofit/>
          </a:bodyPr>
          <a:lstStyle/>
          <a:p>
            <a:r>
              <a:rPr lang="en-US" sz="2400" b="1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sóng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(T,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k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thông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số, làm cho việc phối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kháng giữa bộ lọc với nguồn và tải trở nên khó khăn-&gt; ảnh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Hệ số suy giảm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loại k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tăng chậm trong dải chắn.</a:t>
            </a:r>
          </a:p>
        </p:txBody>
      </p:sp>
      <p:sp>
        <p:nvSpPr>
          <p:cNvPr id="4" name="Action Button: Return 3">
            <a:hlinkClick r:id="rId2" action="ppaction://hlinksldjump" highlightClick="1"/>
          </p:cNvPr>
          <p:cNvSpPr/>
          <p:nvPr/>
        </p:nvSpPr>
        <p:spPr>
          <a:xfrm>
            <a:off x="8763000" y="6477000"/>
            <a:ext cx="381000" cy="381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907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Mạch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ọc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hụ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ộng LC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oại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khắc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2 nhược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chính của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k.</a:t>
            </a:r>
          </a:p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k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song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song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song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song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mắt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T);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nạp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song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song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song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song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mắt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sóng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39752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27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24100" y="3886200"/>
            <a:ext cx="27813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nối tiếp – mắt lọc T</a:t>
            </a:r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914400"/>
            <a:ext cx="18573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09600" y="23622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/>
              <a:t>Mắt</a:t>
            </a:r>
            <a:r>
              <a:rPr lang="en-US" sz="2400"/>
              <a:t> </a:t>
            </a:r>
            <a:r>
              <a:rPr lang="en-US" sz="2400" err="1"/>
              <a:t>lọc</a:t>
            </a:r>
            <a:r>
              <a:rPr lang="en-US" sz="2400"/>
              <a:t> </a:t>
            </a:r>
            <a:r>
              <a:rPr lang="en-US" sz="2400" err="1"/>
              <a:t>loại</a:t>
            </a:r>
            <a:r>
              <a:rPr lang="en-US" sz="2400"/>
              <a:t> k</a:t>
            </a:r>
          </a:p>
        </p:txBody>
      </p:sp>
      <p:pic>
        <p:nvPicPr>
          <p:cNvPr id="16691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838200"/>
            <a:ext cx="188595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590800" y="2209800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/>
              <a:t>Một</a:t>
            </a:r>
            <a:r>
              <a:rPr lang="en-US" sz="2400"/>
              <a:t> </a:t>
            </a:r>
            <a:r>
              <a:rPr lang="en-US" sz="2400" err="1"/>
              <a:t>phần</a:t>
            </a:r>
            <a:r>
              <a:rPr lang="en-US" sz="2400"/>
              <a:t> </a:t>
            </a:r>
            <a:r>
              <a:rPr lang="en-US" sz="2400" err="1"/>
              <a:t>trở</a:t>
            </a:r>
            <a:r>
              <a:rPr lang="en-US" sz="2400"/>
              <a:t> </a:t>
            </a:r>
            <a:r>
              <a:rPr lang="en-US" sz="2400" err="1"/>
              <a:t>kháng</a:t>
            </a:r>
            <a:r>
              <a:rPr lang="en-US" sz="2400"/>
              <a:t>  </a:t>
            </a:r>
            <a:r>
              <a:rPr lang="en-US" sz="2400" err="1"/>
              <a:t>đã</a:t>
            </a:r>
            <a:r>
              <a:rPr lang="en-US" sz="2400"/>
              <a:t> </a:t>
            </a:r>
            <a:r>
              <a:rPr lang="en-US" sz="2400" err="1"/>
              <a:t>được</a:t>
            </a:r>
            <a:r>
              <a:rPr lang="en-US" sz="2400"/>
              <a:t> </a:t>
            </a:r>
            <a:r>
              <a:rPr lang="en-US" sz="2400" err="1"/>
              <a:t>chuyển</a:t>
            </a:r>
            <a:r>
              <a:rPr lang="en-US" sz="2400"/>
              <a:t> </a:t>
            </a:r>
          </a:p>
        </p:txBody>
      </p:sp>
      <p:graphicFrame>
        <p:nvGraphicFramePr>
          <p:cNvPr id="385029" name="Object 13"/>
          <p:cNvGraphicFramePr>
            <a:graphicFrameLocks noChangeAspect="1"/>
          </p:cNvGraphicFramePr>
          <p:nvPr/>
        </p:nvGraphicFramePr>
        <p:xfrm>
          <a:off x="5029200" y="838200"/>
          <a:ext cx="379730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45960" imgH="685800" progId="Equation.DSMT4">
                  <p:embed/>
                </p:oleObj>
              </mc:Choice>
              <mc:Fallback>
                <p:oleObj name="Equation" r:id="rId6" imgW="21459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838200"/>
                        <a:ext cx="379730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19800" y="21336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/>
              <a:t>Giữ</a:t>
            </a:r>
            <a:r>
              <a:rPr lang="en-US" sz="2400"/>
              <a:t> </a:t>
            </a:r>
            <a:r>
              <a:rPr lang="en-US" sz="2400" err="1"/>
              <a:t>nguyên</a:t>
            </a:r>
            <a:r>
              <a:rPr lang="en-US" sz="2400"/>
              <a:t>  </a:t>
            </a:r>
            <a:r>
              <a:rPr lang="en-US" sz="2400" err="1"/>
              <a:t>trở</a:t>
            </a:r>
            <a:r>
              <a:rPr lang="en-US" sz="2400"/>
              <a:t> </a:t>
            </a:r>
            <a:r>
              <a:rPr lang="en-US" sz="2400" err="1"/>
              <a:t>kháng</a:t>
            </a:r>
            <a:r>
              <a:rPr lang="en-US" sz="2400"/>
              <a:t> </a:t>
            </a:r>
            <a:r>
              <a:rPr lang="en-US" sz="2400" err="1"/>
              <a:t>đặc</a:t>
            </a:r>
            <a:r>
              <a:rPr lang="en-US" sz="2400"/>
              <a:t> </a:t>
            </a:r>
            <a:r>
              <a:rPr lang="en-US" sz="2400" err="1"/>
              <a:t>tính</a:t>
            </a:r>
            <a:r>
              <a:rPr lang="en-US" sz="2400"/>
              <a:t> </a:t>
            </a:r>
            <a:r>
              <a:rPr lang="en-US" sz="2400" b="1" i="1"/>
              <a:t>z</a:t>
            </a:r>
            <a:r>
              <a:rPr lang="en-US" sz="2400" b="1" i="1" baseline="-25000"/>
              <a:t>0T</a:t>
            </a:r>
            <a:endParaRPr lang="en-US" sz="2400" b="1" i="1"/>
          </a:p>
        </p:txBody>
      </p:sp>
      <p:graphicFrame>
        <p:nvGraphicFramePr>
          <p:cNvPr id="3" name="Object 13"/>
          <p:cNvGraphicFramePr>
            <a:graphicFrameLocks noChangeAspect="1"/>
          </p:cNvGraphicFramePr>
          <p:nvPr/>
        </p:nvGraphicFramePr>
        <p:xfrm>
          <a:off x="152400" y="2895600"/>
          <a:ext cx="238283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482400" progId="Equation.DSMT4">
                  <p:embed/>
                </p:oleObj>
              </mc:Choice>
              <mc:Fallback>
                <p:oleObj name="Equation" r:id="rId8" imgW="1346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895600"/>
                        <a:ext cx="238283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1000" y="624393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/>
              <a:t>Mắt</a:t>
            </a:r>
            <a:r>
              <a:rPr lang="en-US" sz="2400"/>
              <a:t> </a:t>
            </a:r>
            <a:r>
              <a:rPr lang="en-US" sz="2400" err="1"/>
              <a:t>lọc</a:t>
            </a:r>
            <a:r>
              <a:rPr lang="en-US" sz="2400"/>
              <a:t> </a:t>
            </a:r>
            <a:r>
              <a:rPr lang="en-US" sz="2400" err="1"/>
              <a:t>loại</a:t>
            </a:r>
            <a:r>
              <a:rPr lang="en-US" sz="2400"/>
              <a:t> m</a:t>
            </a:r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6165945" y="2971800"/>
          <a:ext cx="2749455" cy="426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080" imgH="241200" progId="Equation.DSMT4">
                  <p:embed/>
                </p:oleObj>
              </mc:Choice>
              <mc:Fallback>
                <p:oleObj name="Equation" r:id="rId10" imgW="1549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945" y="2971800"/>
                        <a:ext cx="2749455" cy="426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5334000" y="3381375"/>
          <a:ext cx="3701954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27200" imgH="711000" progId="Equation.DSMT4">
                  <p:embed/>
                </p:oleObj>
              </mc:Choice>
              <mc:Fallback>
                <p:oleObj name="Equation" r:id="rId12" imgW="25272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381375"/>
                        <a:ext cx="3701954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6013450" y="4419600"/>
          <a:ext cx="290195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507960" progId="Equation.DSMT4">
                  <p:embed/>
                </p:oleObj>
              </mc:Choice>
              <mc:Fallback>
                <p:oleObj name="Equation" r:id="rId14" imgW="19810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4419600"/>
                        <a:ext cx="290195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5152884" y="5334000"/>
          <a:ext cx="3533916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76160" imgH="507960" progId="Equation.DSMT4">
                  <p:embed/>
                </p:oleObj>
              </mc:Choice>
              <mc:Fallback>
                <p:oleObj name="Equation" r:id="rId16" imgW="1676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884" y="5334000"/>
                        <a:ext cx="3533916" cy="1066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6920" name="Picture 8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1000" y="3886200"/>
            <a:ext cx="196215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176931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song song – mắt lọc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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22860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/>
              <a:t>Mắt</a:t>
            </a:r>
            <a:r>
              <a:rPr lang="en-US" sz="2400"/>
              <a:t> </a:t>
            </a:r>
            <a:r>
              <a:rPr lang="en-US" sz="2400" err="1"/>
              <a:t>lọc</a:t>
            </a:r>
            <a:r>
              <a:rPr lang="en-US" sz="2400"/>
              <a:t> </a:t>
            </a:r>
            <a:r>
              <a:rPr lang="en-US" sz="2400" err="1"/>
              <a:t>loại</a:t>
            </a:r>
            <a:r>
              <a:rPr lang="en-US" sz="2400"/>
              <a:t>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2209800"/>
            <a:ext cx="251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/>
              <a:t>Một</a:t>
            </a:r>
            <a:r>
              <a:rPr lang="en-US" sz="2400"/>
              <a:t> </a:t>
            </a:r>
            <a:r>
              <a:rPr lang="en-US" sz="2400" err="1"/>
              <a:t>phần</a:t>
            </a:r>
            <a:r>
              <a:rPr lang="en-US" sz="2400"/>
              <a:t> </a:t>
            </a:r>
            <a:r>
              <a:rPr lang="en-US" sz="2400" err="1"/>
              <a:t>dẫn</a:t>
            </a:r>
            <a:r>
              <a:rPr lang="en-US" sz="2400"/>
              <a:t> </a:t>
            </a:r>
            <a:r>
              <a:rPr lang="en-US" sz="2400" err="1"/>
              <a:t>nạp</a:t>
            </a:r>
            <a:r>
              <a:rPr lang="en-US" sz="2400"/>
              <a:t>  </a:t>
            </a:r>
            <a:r>
              <a:rPr lang="en-US" sz="2400" err="1"/>
              <a:t>đã</a:t>
            </a:r>
            <a:r>
              <a:rPr lang="en-US" sz="2400"/>
              <a:t> </a:t>
            </a:r>
            <a:r>
              <a:rPr lang="en-US" sz="2400" err="1"/>
              <a:t>được</a:t>
            </a:r>
            <a:r>
              <a:rPr lang="en-US" sz="2400"/>
              <a:t> </a:t>
            </a:r>
            <a:r>
              <a:rPr lang="en-US" sz="2400" err="1"/>
              <a:t>chuyển</a:t>
            </a:r>
            <a:r>
              <a:rPr lang="en-US" sz="240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057400"/>
            <a:ext cx="251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err="1"/>
              <a:t>Giữ</a:t>
            </a:r>
            <a:r>
              <a:rPr lang="en-US" sz="2400"/>
              <a:t> </a:t>
            </a:r>
            <a:r>
              <a:rPr lang="en-US" sz="2400" err="1"/>
              <a:t>nguyên</a:t>
            </a:r>
            <a:r>
              <a:rPr lang="en-US" sz="2400"/>
              <a:t>  </a:t>
            </a:r>
            <a:r>
              <a:rPr lang="en-US" sz="2400" err="1"/>
              <a:t>trở</a:t>
            </a:r>
            <a:r>
              <a:rPr lang="en-US" sz="2400"/>
              <a:t> </a:t>
            </a:r>
            <a:r>
              <a:rPr lang="en-US" sz="2400" err="1"/>
              <a:t>kháng</a:t>
            </a:r>
            <a:r>
              <a:rPr lang="en-US" sz="2400"/>
              <a:t> </a:t>
            </a:r>
            <a:r>
              <a:rPr lang="en-US" sz="2400" err="1"/>
              <a:t>đặc</a:t>
            </a:r>
            <a:r>
              <a:rPr lang="en-US" sz="2400"/>
              <a:t> </a:t>
            </a:r>
            <a:r>
              <a:rPr lang="en-US" sz="2400" err="1"/>
              <a:t>tính</a:t>
            </a:r>
            <a:r>
              <a:rPr lang="en-US" sz="2400"/>
              <a:t> </a:t>
            </a:r>
            <a:r>
              <a:rPr lang="en-US" sz="2400" b="1" i="1"/>
              <a:t>z</a:t>
            </a:r>
            <a:r>
              <a:rPr lang="en-US" sz="2400" b="1" i="1" baseline="-25000"/>
              <a:t>0</a:t>
            </a:r>
            <a:r>
              <a:rPr lang="en-US" sz="2400" b="1" i="1" baseline="-25000">
                <a:sym typeface="Symbol"/>
              </a:rPr>
              <a:t></a:t>
            </a:r>
            <a:endParaRPr lang="en-US" sz="2400" b="1" i="1"/>
          </a:p>
        </p:txBody>
      </p:sp>
      <p:graphicFrame>
        <p:nvGraphicFramePr>
          <p:cNvPr id="3" name="Object 13"/>
          <p:cNvGraphicFramePr>
            <a:graphicFrameLocks noChangeAspect="1"/>
          </p:cNvGraphicFramePr>
          <p:nvPr/>
        </p:nvGraphicFramePr>
        <p:xfrm>
          <a:off x="76200" y="2743200"/>
          <a:ext cx="265271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622080" progId="Equation.DSMT4">
                  <p:embed/>
                </p:oleObj>
              </mc:Choice>
              <mc:Fallback>
                <p:oleObj name="Equation" r:id="rId3" imgW="149832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743200"/>
                        <a:ext cx="2652713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04800" y="632013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/>
              <a:t>Mắt</a:t>
            </a:r>
            <a:r>
              <a:rPr lang="en-US" sz="2400"/>
              <a:t> </a:t>
            </a:r>
            <a:r>
              <a:rPr lang="en-US" sz="2400" err="1"/>
              <a:t>lọc</a:t>
            </a:r>
            <a:r>
              <a:rPr lang="en-US" sz="2400"/>
              <a:t> </a:t>
            </a:r>
            <a:r>
              <a:rPr lang="en-US" sz="2400" err="1"/>
              <a:t>loại</a:t>
            </a:r>
            <a:r>
              <a:rPr lang="en-US" sz="2400"/>
              <a:t> m</a:t>
            </a:r>
          </a:p>
        </p:txBody>
      </p:sp>
      <p:pic>
        <p:nvPicPr>
          <p:cNvPr id="1679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762000"/>
            <a:ext cx="18764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7941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685800"/>
            <a:ext cx="18859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5230813" y="762000"/>
          <a:ext cx="3617912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44440" imgH="965160" progId="Equation.DSMT4">
                  <p:embed/>
                </p:oleObj>
              </mc:Choice>
              <mc:Fallback>
                <p:oleObj name="Equation" r:id="rId7" imgW="204444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813" y="762000"/>
                        <a:ext cx="3617912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2971800" y="3048000"/>
          <a:ext cx="24717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431640" progId="Equation.DSMT4">
                  <p:embed/>
                </p:oleObj>
              </mc:Choice>
              <mc:Fallback>
                <p:oleObj name="Equation" r:id="rId9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048000"/>
                        <a:ext cx="247173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7944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28600" y="3743325"/>
            <a:ext cx="18954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7945" name="Picture 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209800" y="3810000"/>
            <a:ext cx="28956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6176963" y="2819400"/>
          <a:ext cx="27273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36480" imgH="241200" progId="Equation.DSMT4">
                  <p:embed/>
                </p:oleObj>
              </mc:Choice>
              <mc:Fallback>
                <p:oleObj name="Equation" r:id="rId13" imgW="1536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2819400"/>
                        <a:ext cx="27273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5732463" y="3276600"/>
          <a:ext cx="3106737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20760" imgH="850680" progId="Equation.DSMT4">
                  <p:embed/>
                </p:oleObj>
              </mc:Choice>
              <mc:Fallback>
                <p:oleObj name="Equation" r:id="rId15" imgW="21207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3276600"/>
                        <a:ext cx="3106737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775325" y="4495800"/>
          <a:ext cx="25304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26920" imgH="660240" progId="Equation.DSMT4">
                  <p:embed/>
                </p:oleObj>
              </mc:Choice>
              <mc:Fallback>
                <p:oleObj name="Equation" r:id="rId17" imgW="17269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325" y="4495800"/>
                        <a:ext cx="25304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782219" y="5486400"/>
          <a:ext cx="2752181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46040" imgH="660240" progId="Equation.DSMT4">
                  <p:embed/>
                </p:oleObj>
              </mc:Choice>
              <mc:Fallback>
                <p:oleObj name="Equation" r:id="rId19" imgW="134604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2219" y="5486400"/>
                        <a:ext cx="2752181" cy="1346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192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lọc thông thấp loại m</a:t>
            </a:r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" y="1447800"/>
            <a:ext cx="19907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3"/>
          <p:cNvGraphicFramePr>
            <a:graphicFrameLocks noChangeAspect="1"/>
          </p:cNvGraphicFramePr>
          <p:nvPr/>
        </p:nvGraphicFramePr>
        <p:xfrm>
          <a:off x="76200" y="3352800"/>
          <a:ext cx="3786189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507960" progId="Equation.DSMT4">
                  <p:embed/>
                </p:oleObj>
              </mc:Choice>
              <mc:Fallback>
                <p:oleObj name="Equation" r:id="rId3" imgW="1676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352800"/>
                        <a:ext cx="3786189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0" name="Object 6"/>
          <p:cNvGraphicFramePr>
            <a:graphicFrameLocks noChangeAspect="1"/>
          </p:cNvGraphicFramePr>
          <p:nvPr/>
        </p:nvGraphicFramePr>
        <p:xfrm>
          <a:off x="85724" y="4848225"/>
          <a:ext cx="4486276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93680" imgH="723600" progId="Equation.DSMT4">
                  <p:embed/>
                </p:oleObj>
              </mc:Choice>
              <mc:Fallback>
                <p:oleObj name="Equation" r:id="rId5" imgW="199368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4" y="4848225"/>
                        <a:ext cx="4486276" cy="16287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999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91300" y="1574800"/>
            <a:ext cx="24765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6263135" y="3403600"/>
          <a:ext cx="280466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660240" progId="Equation.DSMT4">
                  <p:embed/>
                </p:oleObj>
              </mc:Choice>
              <mc:Fallback>
                <p:oleObj name="Equation" r:id="rId8" imgW="134604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3135" y="3403600"/>
                        <a:ext cx="280466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4914900" y="5080000"/>
          <a:ext cx="40767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93680" imgH="685800" progId="Equation.DSMT4">
                  <p:embed/>
                </p:oleObj>
              </mc:Choice>
              <mc:Fallback>
                <p:oleObj name="Equation" r:id="rId10" imgW="19936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5080000"/>
                        <a:ext cx="4076700" cy="1397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1828800" y="990600"/>
          <a:ext cx="2361740" cy="784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560" imgH="482400" progId="Equation.DSMT4">
                  <p:embed/>
                </p:oleObj>
              </mc:Choice>
              <mc:Fallback>
                <p:oleObj name="Equation" r:id="rId12" imgW="1447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990600"/>
                        <a:ext cx="2361740" cy="784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4208463" y="2346325"/>
          <a:ext cx="143033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76240" imgH="431640" progId="Equation.DSMT4">
                  <p:embed/>
                </p:oleObj>
              </mc:Choice>
              <mc:Fallback>
                <p:oleObj name="Equation" r:id="rId14" imgW="876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2346325"/>
                        <a:ext cx="1430337" cy="7016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4035425" y="3206750"/>
          <a:ext cx="16795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520" imgH="558720" progId="Equation.DSMT4">
                  <p:embed/>
                </p:oleObj>
              </mc:Choice>
              <mc:Fallback>
                <p:oleObj name="Equation" r:id="rId16" imgW="10285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3206750"/>
                        <a:ext cx="1679575" cy="908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4876800" y="1060450"/>
          <a:ext cx="23622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47560" imgH="660240" progId="Equation.DSMT4">
                  <p:embed/>
                </p:oleObj>
              </mc:Choice>
              <mc:Fallback>
                <p:oleObj name="Equation" r:id="rId18" imgW="144756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060450"/>
                        <a:ext cx="23622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25736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9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733550"/>
            <a:ext cx="21336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lọc thông cao loại m</a:t>
            </a:r>
          </a:p>
        </p:txBody>
      </p:sp>
      <p:graphicFrame>
        <p:nvGraphicFramePr>
          <p:cNvPr id="385029" name="Object 3"/>
          <p:cNvGraphicFramePr>
            <a:graphicFrameLocks noChangeAspect="1"/>
          </p:cNvGraphicFramePr>
          <p:nvPr/>
        </p:nvGraphicFramePr>
        <p:xfrm>
          <a:off x="76200" y="3352800"/>
          <a:ext cx="3786189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507960" progId="Equation.DSMT4">
                  <p:embed/>
                </p:oleObj>
              </mc:Choice>
              <mc:Fallback>
                <p:oleObj name="Equation" r:id="rId3" imgW="1676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352800"/>
                        <a:ext cx="3786189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0" name="Object 6"/>
          <p:cNvGraphicFramePr>
            <a:graphicFrameLocks noChangeAspect="1"/>
          </p:cNvGraphicFramePr>
          <p:nvPr/>
        </p:nvGraphicFramePr>
        <p:xfrm>
          <a:off x="85725" y="4891088"/>
          <a:ext cx="448627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93680" imgH="685800" progId="Equation.DSMT4">
                  <p:embed/>
                </p:oleObj>
              </mc:Choice>
              <mc:Fallback>
                <p:oleObj name="Equation" r:id="rId5" imgW="19936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" y="4891088"/>
                        <a:ext cx="4486275" cy="1543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6263135" y="3403600"/>
          <a:ext cx="280466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040" imgH="660240" progId="Equation.DSMT4">
                  <p:embed/>
                </p:oleObj>
              </mc:Choice>
              <mc:Fallback>
                <p:oleObj name="Equation" r:id="rId7" imgW="134604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3135" y="3403600"/>
                        <a:ext cx="280466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4914900" y="5105400"/>
          <a:ext cx="40767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93680" imgH="660240" progId="Equation.DSMT4">
                  <p:embed/>
                </p:oleObj>
              </mc:Choice>
              <mc:Fallback>
                <p:oleObj name="Equation" r:id="rId9" imgW="19936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5105400"/>
                        <a:ext cx="4076700" cy="1346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2043113" y="1066800"/>
          <a:ext cx="230028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622080" progId="Equation.DSMT4">
                  <p:embed/>
                </p:oleObj>
              </mc:Choice>
              <mc:Fallback>
                <p:oleObj name="Equation" r:id="rId11" imgW="140940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1066800"/>
                        <a:ext cx="230028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4038600" y="2470150"/>
          <a:ext cx="1638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02960" imgH="279360" progId="Equation.DSMT4">
                  <p:embed/>
                </p:oleObj>
              </mc:Choice>
              <mc:Fallback>
                <p:oleObj name="Equation" r:id="rId13" imgW="1002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470150"/>
                        <a:ext cx="1638300" cy="4540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4035425" y="3206750"/>
          <a:ext cx="16795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28520" imgH="558720" progId="Equation.DSMT4">
                  <p:embed/>
                </p:oleObj>
              </mc:Choice>
              <mc:Fallback>
                <p:oleObj name="Equation" r:id="rId15" imgW="10285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3206750"/>
                        <a:ext cx="1679575" cy="908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4918075" y="1111250"/>
          <a:ext cx="22796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96800" imgH="596880" progId="Equation.DSMT4">
                  <p:embed/>
                </p:oleObj>
              </mc:Choice>
              <mc:Fallback>
                <p:oleObj name="Equation" r:id="rId17" imgW="139680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1111250"/>
                        <a:ext cx="2279650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1018" name="Picture 10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0" y="1466850"/>
            <a:ext cx="197167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366197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hất của mạch lọc loại m</a:t>
            </a:r>
          </a:p>
        </p:txBody>
      </p:sp>
      <p:pic>
        <p:nvPicPr>
          <p:cNvPr id="4" name="Picture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762000"/>
            <a:ext cx="27813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3200400" y="838200"/>
          <a:ext cx="3533916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507960" progId="Equation.DSMT4">
                  <p:embed/>
                </p:oleObj>
              </mc:Choice>
              <mc:Fallback>
                <p:oleObj name="Equation" r:id="rId3" imgW="16761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838200"/>
                        <a:ext cx="3533916" cy="1066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29" name="Object 4"/>
          <p:cNvGraphicFramePr>
            <a:graphicFrameLocks noChangeAspect="1"/>
          </p:cNvGraphicFramePr>
          <p:nvPr/>
        </p:nvGraphicFramePr>
        <p:xfrm>
          <a:off x="3165475" y="2033587"/>
          <a:ext cx="21685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520" imgH="228600" progId="Equation.DSMT4">
                  <p:embed/>
                </p:oleObj>
              </mc:Choice>
              <mc:Fallback>
                <p:oleObj name="Equation" r:id="rId5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5" y="2033587"/>
                        <a:ext cx="21685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3124200" y="2438400"/>
          <a:ext cx="35337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160" imgH="482400" progId="Equation.DSMT4">
                  <p:embed/>
                </p:oleObj>
              </mc:Choice>
              <mc:Fallback>
                <p:oleObj name="Equation" r:id="rId7" imgW="1676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438400"/>
                        <a:ext cx="353377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7" name="Object 7"/>
          <p:cNvGraphicFramePr>
            <a:graphicFrameLocks noChangeAspect="1"/>
          </p:cNvGraphicFramePr>
          <p:nvPr/>
        </p:nvGraphicFramePr>
        <p:xfrm>
          <a:off x="4648200" y="3416300"/>
          <a:ext cx="341563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680" imgH="482400" progId="Equation.DSMT4">
                  <p:embed/>
                </p:oleObj>
              </mc:Choice>
              <mc:Fallback>
                <p:oleObj name="Equation" r:id="rId9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416300"/>
                        <a:ext cx="341563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8968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6200" y="3429000"/>
            <a:ext cx="4419600" cy="3164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800600" y="4876800"/>
            <a:ext cx="419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hầu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thông</a:t>
            </a:r>
            <a:endParaRPr lang="en-US" sz="2400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824413" y="4446588"/>
          <a:ext cx="12049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320" imgH="203040" progId="Equation.DSMT4">
                  <p:embed/>
                </p:oleObj>
              </mc:Choice>
              <mc:Fallback>
                <p:oleObj name="Equation" r:id="rId12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4446588"/>
                        <a:ext cx="1204912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52322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" y="914400"/>
            <a:ext cx="196215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2325" y="762000"/>
            <a:ext cx="18954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2057400" y="717550"/>
          <a:ext cx="294798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419040" progId="Equation.DSMT4">
                  <p:embed/>
                </p:oleObj>
              </mc:Choice>
              <mc:Fallback>
                <p:oleObj name="Equation" r:id="rId4" imgW="1396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717550"/>
                        <a:ext cx="2947987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4195763" y="1524000"/>
          <a:ext cx="2786062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480" imgH="457200" progId="Equation.DSMT4">
                  <p:embed/>
                </p:oleObj>
              </mc:Choice>
              <mc:Fallback>
                <p:oleObj name="Equation" r:id="rId6" imgW="1320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1524000"/>
                        <a:ext cx="2786062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213100" y="2514600"/>
          <a:ext cx="24669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431640" progId="Equation.DSMT4">
                  <p:embed/>
                </p:oleObj>
              </mc:Choice>
              <mc:Fallback>
                <p:oleObj name="Equation" r:id="rId8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2514600"/>
                        <a:ext cx="2466975" cy="9096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2043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6200" y="3535083"/>
            <a:ext cx="5029200" cy="3221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4876800" y="4191000"/>
            <a:ext cx="4191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chỉnh hệ số </a:t>
            </a:r>
            <a:r>
              <a:rPr lang="en-US" sz="2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 tăng độ dốc hệ số suy giảm</a:t>
            </a:r>
          </a:p>
          <a:p>
            <a:r>
              <a:rPr lang="en-US" sz="22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Hệ số suy giảm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mạch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 dải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Tuy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b="1" i="1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ction Button: Return 18">
            <a:hlinkClick r:id="rId11" action="ppaction://hlinksldjump" highlightClick="1"/>
          </p:cNvPr>
          <p:cNvSpPr/>
          <p:nvPr/>
        </p:nvSpPr>
        <p:spPr>
          <a:xfrm>
            <a:off x="8763000" y="6477000"/>
            <a:ext cx="381000" cy="381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hất của mạch lọc loại m (tt)</a:t>
            </a:r>
          </a:p>
        </p:txBody>
      </p:sp>
    </p:spTree>
    <p:extLst>
      <p:ext uri="{BB962C8B-B14F-4D97-AF65-F5344CB8AC3E}">
        <p14:creationId xmlns:p14="http://schemas.microsoft.com/office/powerpoint/2010/main" val="3974663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ọc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hụ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ộng LC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ầy </a:t>
            </a:r>
            <a:r>
              <a:rPr lang="en-US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ủ</a:t>
            </a:r>
            <a:endParaRPr lang="en-US" sz="3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7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3025" y="838200"/>
            <a:ext cx="6457950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7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1125" y="4267200"/>
            <a:ext cx="63817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81000" y="3200400"/>
            <a:ext cx="830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mắt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T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k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m,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mắt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T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m = 0,6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kháng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đôi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gắn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7757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9144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điểm của thiết kế mạch lọc tham số</a:t>
            </a:r>
            <a:endParaRPr kumimoji="0"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99044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83058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Ưu điểm: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òi hỏi tính toán ít.</a:t>
            </a:r>
          </a:p>
          <a:p>
            <a:pPr>
              <a:buFont typeface="Wingdings" pitchFamily="2" charset="2"/>
              <a:buChar char="Ø"/>
            </a:pP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Nhược điểm: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ể thiết kế hoàn chỉnh một mạch lọc đòi hỏi thực nghiệm nhiều, đặc biệt: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mắt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Lựa chọn hệ số m cho mỗi mắt lọc sao cho bảo đảm được độ dốc bộ lọc thích hợp.</a:t>
            </a:r>
          </a:p>
          <a:p>
            <a:pPr lvl="1">
              <a:buFont typeface="Wingdings" pitchFamily="2" charset="2"/>
              <a:buChar char="Ø"/>
            </a:pP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Phải sử dụng mắt lọc loại k để tăng suy hao trong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dải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 chắn, và sử dụng các nửa mắt lọc loại m = 0.6 để phối hợp trở kháng.</a:t>
            </a:r>
          </a:p>
          <a:p>
            <a:pPr>
              <a:buFont typeface="Wingdings" pitchFamily="2" charset="2"/>
              <a:buChar char="Ø"/>
            </a:pP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ction Button: Return 4">
            <a:hlinkClick r:id="rId3" action="ppaction://hlinksldjump" highlightClick="1"/>
          </p:cNvPr>
          <p:cNvSpPr/>
          <p:nvPr/>
        </p:nvSpPr>
        <p:spPr>
          <a:xfrm>
            <a:off x="8763000" y="6477000"/>
            <a:ext cx="381000" cy="38100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63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13814</TotalTime>
  <Words>3299</Words>
  <Application>Microsoft Office PowerPoint</Application>
  <PresentationFormat>On-screen Show (4:3)</PresentationFormat>
  <Paragraphs>718</Paragraphs>
  <Slides>80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92" baseType="lpstr">
      <vt:lpstr>Arial</vt:lpstr>
      <vt:lpstr>Arial </vt:lpstr>
      <vt:lpstr>Calibri</vt:lpstr>
      <vt:lpstr>Franklin Gothic Book</vt:lpstr>
      <vt:lpstr>Perpetua</vt:lpstr>
      <vt:lpstr>Times New Roman</vt:lpstr>
      <vt:lpstr>VNarial</vt:lpstr>
      <vt:lpstr>Wingdings</vt:lpstr>
      <vt:lpstr>Wingdings 2</vt:lpstr>
      <vt:lpstr>Equity</vt:lpstr>
      <vt:lpstr>Equation</vt:lpstr>
      <vt:lpstr>Image</vt:lpstr>
      <vt:lpstr>Chương 6: MẠNG 4 CỰC</vt:lpstr>
      <vt:lpstr>6.1 KHÁI NIỆM &amp; PHÂN LOẠI MẠNG 4 CỰC</vt:lpstr>
      <vt:lpstr>6.1 KHÁI NIỆM &amp; PHÂN LOẠI MẠNG 4 CỰC</vt:lpstr>
      <vt:lpstr>6.1 KHÁI NIỆM &amp; PHÂN LOẠI MẠNG 4 CỰC</vt:lpstr>
      <vt:lpstr>6.2 CÁC HỆ PT ĐẶC TÍNH CỦA MẠNG 4 CỰC</vt:lpstr>
      <vt:lpstr>1. HỆ PHƯƠNG TRÌNH ĐẶC TÍNH TRỞ KHÁNG</vt:lpstr>
      <vt:lpstr>PowerPoint Presentation</vt:lpstr>
      <vt:lpstr>2. HỆ PHƯƠNG TRÌNH ĐẶC TÍNH DẪN NẠP</vt:lpstr>
      <vt:lpstr>PowerPoint Presentation</vt:lpstr>
      <vt:lpstr>3. HỆ PHƯƠNG TRÌNH ĐẶC TÍNH TRUYỀN ĐẠT</vt:lpstr>
      <vt:lpstr>PowerPoint Presentation</vt:lpstr>
      <vt:lpstr>PowerPoint Presentation</vt:lpstr>
      <vt:lpstr>4. HỆ PHƯƠNG TRÌNH ĐẶC TÍNH TRUYỀN ĐẠT NGƯỢC</vt:lpstr>
      <vt:lpstr>5. HỆ PHƯƠNG TRÌNH ĐẶC TÍNH HỖN HỢP</vt:lpstr>
      <vt:lpstr>6. HỆ PHƯƠNG TRÌNH ĐẶC TÍNH HỖN HỢP NGƯỢC</vt:lpstr>
      <vt:lpstr>7. QUAN HỆ GIỮA CÁC THÔNG SỐ CỦA M4C</vt:lpstr>
      <vt:lpstr>BẢNG QUAN HỆ GIỮA CÁC THÔNG SỐ </vt:lpstr>
      <vt:lpstr>6.3 CÁC SƠ ĐỒ TƯƠNG ĐƯƠNG CỦA M4C</vt:lpstr>
      <vt:lpstr>6.4 GHÉP NỐI CÁC MẠNG 4 CỰC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6.5 CÁC THÔNG SỐ LÀM VIỆC CỦA M4C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6.6 CÁC THÔNG SỐ SÓNG CỦA  M4C</vt:lpstr>
      <vt:lpstr>2. Trở kháng sóng:</vt:lpstr>
      <vt:lpstr>PowerPoint Presentation</vt:lpstr>
      <vt:lpstr>Hàm Hyperbolic </vt:lpstr>
      <vt:lpstr>3. Hệ số truyền đạt sóng</vt:lpstr>
      <vt:lpstr>PowerPoint Presentation</vt:lpstr>
      <vt:lpstr>PowerPoint Presentation</vt:lpstr>
      <vt:lpstr>PowerPoint Presentation</vt:lpstr>
      <vt:lpstr>4. Ý nghĩa của hệ số truyền đạt sóng</vt:lpstr>
      <vt:lpstr>PowerPoint Presentation</vt:lpstr>
      <vt:lpstr>PowerPoint Presentation</vt:lpstr>
      <vt:lpstr>PowerPoint Presentation</vt:lpstr>
      <vt:lpstr>PowerPoint Presentation</vt:lpstr>
      <vt:lpstr>6.7 ỨNG DỤNG CỦA MẠNG 4 CỰC</vt:lpstr>
      <vt:lpstr>1. Mạng bốn cực suy giảm</vt:lpstr>
      <vt:lpstr>Mạng bốn cực suy giảm hình T:</vt:lpstr>
      <vt:lpstr>Mạng bốn cực suy giảm hình :</vt:lpstr>
      <vt:lpstr>Ví dụ: Thiết kế mạng suy giảm hình T và  làm việc với nguồn có nội trở Rn = 600 và suy giảm 2,75 nep</vt:lpstr>
      <vt:lpstr>2. Mạng bốn cực phối hợp trở kháng</vt:lpstr>
      <vt:lpstr>Mạng phối hợp trở kháng hình T</vt:lpstr>
      <vt:lpstr>Mạng phối hợp trở kháng hình </vt:lpstr>
      <vt:lpstr>PowerPoint Presentation</vt:lpstr>
      <vt:lpstr>3. Mạch lọc tần số a. Khái niệm:</vt:lpstr>
      <vt:lpstr>b. Phân loại mạch lọc:</vt:lpstr>
      <vt:lpstr>PowerPoint Presentation</vt:lpstr>
      <vt:lpstr>PowerPoint Presentation</vt:lpstr>
      <vt:lpstr>Trở kháng sóng, Hệ số truyền đạt sóng của mạng bốn cực hình   và</vt:lpstr>
      <vt:lpstr>Trở kháng sóng, Hệ số truyền đạt sóng của mạng bốn cực T và </vt:lpstr>
      <vt:lpstr>Điều kiện dải thông</vt:lpstr>
      <vt:lpstr>4. Mạch lọc thụ động LC loại k</vt:lpstr>
      <vt:lpstr>Lọc thông thấp loại k</vt:lpstr>
      <vt:lpstr>Lọc thông cao loại k</vt:lpstr>
      <vt:lpstr>Lọc thông dải loại k</vt:lpstr>
      <vt:lpstr>Lọc chắn dải loại k</vt:lpstr>
      <vt:lpstr>Tính chất của mạch lọc thông thấp loại k</vt:lpstr>
      <vt:lpstr>Tính chất của mạch lọc thông cao loại k</vt:lpstr>
      <vt:lpstr>Tính chất của mạch lọc thông dải loại k</vt:lpstr>
      <vt:lpstr>Tính chất của mạch lọc chắn dải loại k</vt:lpstr>
      <vt:lpstr>Nhược điểm của mạch lọc loại k</vt:lpstr>
      <vt:lpstr>5. Mạch lọc thụ động LC loại m</vt:lpstr>
      <vt:lpstr>Chuyển nối tiếp – mắt lọc T</vt:lpstr>
      <vt:lpstr>Chuyển song song – mắt lọc </vt:lpstr>
      <vt:lpstr>Mạch lọc thông thấp loại m</vt:lpstr>
      <vt:lpstr>Mạch lọc thông cao loại m</vt:lpstr>
      <vt:lpstr>Tính chất của mạch lọc loại m</vt:lpstr>
      <vt:lpstr>Tính chất của mạch lọc loại m (tt)</vt:lpstr>
      <vt:lpstr>6. Bộ lọc thụ động LC đầy đủ</vt:lpstr>
      <vt:lpstr>Đặc điểm của thiết kế mạch lọc tham số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ĐO DÒNG DC</dc:title>
  <dc:creator>DTZ</dc:creator>
  <cp:lastModifiedBy>Admin</cp:lastModifiedBy>
  <cp:revision>520</cp:revision>
  <dcterms:created xsi:type="dcterms:W3CDTF">2012-02-20T01:11:37Z</dcterms:created>
  <dcterms:modified xsi:type="dcterms:W3CDTF">2023-01-01T03:34:07Z</dcterms:modified>
</cp:coreProperties>
</file>